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4"/>
    <p:sldMasterId id="2147483778" r:id="rId5"/>
  </p:sldMasterIdLst>
  <p:notesMasterIdLst>
    <p:notesMasterId r:id="rId225"/>
  </p:notesMasterIdLst>
  <p:handoutMasterIdLst>
    <p:handoutMasterId r:id="rId226"/>
  </p:handoutMasterIdLst>
  <p:sldIdLst>
    <p:sldId id="256" r:id="rId6"/>
    <p:sldId id="386" r:id="rId7"/>
    <p:sldId id="576" r:id="rId8"/>
    <p:sldId id="263" r:id="rId9"/>
    <p:sldId id="415" r:id="rId10"/>
    <p:sldId id="398" r:id="rId11"/>
    <p:sldId id="414" r:id="rId12"/>
    <p:sldId id="346" r:id="rId13"/>
    <p:sldId id="416" r:id="rId14"/>
    <p:sldId id="460" r:id="rId15"/>
    <p:sldId id="347" r:id="rId16"/>
    <p:sldId id="348" r:id="rId17"/>
    <p:sldId id="399" r:id="rId18"/>
    <p:sldId id="401" r:id="rId19"/>
    <p:sldId id="563" r:id="rId20"/>
    <p:sldId id="400" r:id="rId21"/>
    <p:sldId id="402" r:id="rId22"/>
    <p:sldId id="564" r:id="rId23"/>
    <p:sldId id="409" r:id="rId24"/>
    <p:sldId id="353" r:id="rId25"/>
    <p:sldId id="403" r:id="rId26"/>
    <p:sldId id="565" r:id="rId27"/>
    <p:sldId id="407" r:id="rId28"/>
    <p:sldId id="404" r:id="rId29"/>
    <p:sldId id="566" r:id="rId30"/>
    <p:sldId id="408" r:id="rId31"/>
    <p:sldId id="405" r:id="rId32"/>
    <p:sldId id="567" r:id="rId33"/>
    <p:sldId id="273" r:id="rId34"/>
    <p:sldId id="406" r:id="rId35"/>
    <p:sldId id="397" r:id="rId36"/>
    <p:sldId id="459" r:id="rId37"/>
    <p:sldId id="275" r:id="rId38"/>
    <p:sldId id="387" r:id="rId39"/>
    <p:sldId id="388" r:id="rId40"/>
    <p:sldId id="389" r:id="rId41"/>
    <p:sldId id="390" r:id="rId42"/>
    <p:sldId id="391" r:id="rId43"/>
    <p:sldId id="392" r:id="rId44"/>
    <p:sldId id="393" r:id="rId45"/>
    <p:sldId id="394" r:id="rId46"/>
    <p:sldId id="395" r:id="rId47"/>
    <p:sldId id="396" r:id="rId48"/>
    <p:sldId id="467" r:id="rId49"/>
    <p:sldId id="356" r:id="rId50"/>
    <p:sldId id="357" r:id="rId51"/>
    <p:sldId id="358" r:id="rId52"/>
    <p:sldId id="359" r:id="rId53"/>
    <p:sldId id="360" r:id="rId54"/>
    <p:sldId id="361" r:id="rId55"/>
    <p:sldId id="362" r:id="rId56"/>
    <p:sldId id="363" r:id="rId57"/>
    <p:sldId id="458" r:id="rId58"/>
    <p:sldId id="410" r:id="rId59"/>
    <p:sldId id="462" r:id="rId60"/>
    <p:sldId id="411" r:id="rId61"/>
    <p:sldId id="412" r:id="rId62"/>
    <p:sldId id="413" r:id="rId63"/>
    <p:sldId id="417" r:id="rId64"/>
    <p:sldId id="418" r:id="rId65"/>
    <p:sldId id="419" r:id="rId66"/>
    <p:sldId id="420" r:id="rId67"/>
    <p:sldId id="421" r:id="rId68"/>
    <p:sldId id="366" r:id="rId69"/>
    <p:sldId id="422" r:id="rId70"/>
    <p:sldId id="423" r:id="rId71"/>
    <p:sldId id="424" r:id="rId72"/>
    <p:sldId id="425" r:id="rId73"/>
    <p:sldId id="426" r:id="rId74"/>
    <p:sldId id="367" r:id="rId75"/>
    <p:sldId id="427" r:id="rId76"/>
    <p:sldId id="428" r:id="rId77"/>
    <p:sldId id="429" r:id="rId78"/>
    <p:sldId id="430" r:id="rId79"/>
    <p:sldId id="431" r:id="rId80"/>
    <p:sldId id="370" r:id="rId81"/>
    <p:sldId id="432" r:id="rId82"/>
    <p:sldId id="433" r:id="rId83"/>
    <p:sldId id="434" r:id="rId84"/>
    <p:sldId id="435" r:id="rId85"/>
    <p:sldId id="436" r:id="rId86"/>
    <p:sldId id="437" r:id="rId87"/>
    <p:sldId id="372" r:id="rId88"/>
    <p:sldId id="371" r:id="rId89"/>
    <p:sldId id="438" r:id="rId90"/>
    <p:sldId id="439" r:id="rId91"/>
    <p:sldId id="440" r:id="rId92"/>
    <p:sldId id="441" r:id="rId93"/>
    <p:sldId id="442" r:id="rId94"/>
    <p:sldId id="443" r:id="rId95"/>
    <p:sldId id="444" r:id="rId96"/>
    <p:sldId id="445" r:id="rId97"/>
    <p:sldId id="376" r:id="rId98"/>
    <p:sldId id="568" r:id="rId99"/>
    <p:sldId id="571" r:id="rId100"/>
    <p:sldId id="572" r:id="rId101"/>
    <p:sldId id="574" r:id="rId102"/>
    <p:sldId id="575" r:id="rId103"/>
    <p:sldId id="452" r:id="rId104"/>
    <p:sldId id="453" r:id="rId105"/>
    <p:sldId id="454" r:id="rId106"/>
    <p:sldId id="455" r:id="rId107"/>
    <p:sldId id="456" r:id="rId108"/>
    <p:sldId id="457" r:id="rId109"/>
    <p:sldId id="373" r:id="rId110"/>
    <p:sldId id="374" r:id="rId111"/>
    <p:sldId id="466" r:id="rId112"/>
    <p:sldId id="377" r:id="rId113"/>
    <p:sldId id="378" r:id="rId114"/>
    <p:sldId id="379" r:id="rId115"/>
    <p:sldId id="380" r:id="rId116"/>
    <p:sldId id="381" r:id="rId117"/>
    <p:sldId id="382" r:id="rId118"/>
    <p:sldId id="383" r:id="rId119"/>
    <p:sldId id="446" r:id="rId120"/>
    <p:sldId id="447" r:id="rId121"/>
    <p:sldId id="448" r:id="rId122"/>
    <p:sldId id="449" r:id="rId123"/>
    <p:sldId id="450" r:id="rId124"/>
    <p:sldId id="451" r:id="rId125"/>
    <p:sldId id="464" r:id="rId126"/>
    <p:sldId id="465" r:id="rId127"/>
    <p:sldId id="365" r:id="rId128"/>
    <p:sldId id="334" r:id="rId129"/>
    <p:sldId id="341" r:id="rId130"/>
    <p:sldId id="468" r:id="rId131"/>
    <p:sldId id="469" r:id="rId132"/>
    <p:sldId id="470" r:id="rId133"/>
    <p:sldId id="471" r:id="rId134"/>
    <p:sldId id="472" r:id="rId135"/>
    <p:sldId id="473" r:id="rId136"/>
    <p:sldId id="474" r:id="rId137"/>
    <p:sldId id="475" r:id="rId138"/>
    <p:sldId id="476" r:id="rId139"/>
    <p:sldId id="477" r:id="rId140"/>
    <p:sldId id="478" r:id="rId141"/>
    <p:sldId id="479" r:id="rId142"/>
    <p:sldId id="480" r:id="rId143"/>
    <p:sldId id="481" r:id="rId144"/>
    <p:sldId id="482" r:id="rId145"/>
    <p:sldId id="483" r:id="rId146"/>
    <p:sldId id="484" r:id="rId147"/>
    <p:sldId id="485" r:id="rId148"/>
    <p:sldId id="486" r:id="rId149"/>
    <p:sldId id="487" r:id="rId150"/>
    <p:sldId id="488" r:id="rId151"/>
    <p:sldId id="489" r:id="rId152"/>
    <p:sldId id="490" r:id="rId153"/>
    <p:sldId id="491" r:id="rId154"/>
    <p:sldId id="492" r:id="rId155"/>
    <p:sldId id="493" r:id="rId156"/>
    <p:sldId id="494" r:id="rId157"/>
    <p:sldId id="495" r:id="rId158"/>
    <p:sldId id="496" r:id="rId159"/>
    <p:sldId id="497" r:id="rId160"/>
    <p:sldId id="498" r:id="rId161"/>
    <p:sldId id="499" r:id="rId162"/>
    <p:sldId id="500" r:id="rId163"/>
    <p:sldId id="501" r:id="rId164"/>
    <p:sldId id="502" r:id="rId165"/>
    <p:sldId id="503" r:id="rId166"/>
    <p:sldId id="504" r:id="rId167"/>
    <p:sldId id="505" r:id="rId168"/>
    <p:sldId id="506" r:id="rId169"/>
    <p:sldId id="507" r:id="rId170"/>
    <p:sldId id="508" r:id="rId171"/>
    <p:sldId id="509" r:id="rId172"/>
    <p:sldId id="510" r:id="rId173"/>
    <p:sldId id="511" r:id="rId174"/>
    <p:sldId id="512" r:id="rId175"/>
    <p:sldId id="513" r:id="rId176"/>
    <p:sldId id="514" r:id="rId177"/>
    <p:sldId id="515" r:id="rId178"/>
    <p:sldId id="516" r:id="rId179"/>
    <p:sldId id="517" r:id="rId180"/>
    <p:sldId id="518" r:id="rId181"/>
    <p:sldId id="519" r:id="rId182"/>
    <p:sldId id="520" r:id="rId183"/>
    <p:sldId id="521" r:id="rId184"/>
    <p:sldId id="522" r:id="rId185"/>
    <p:sldId id="523" r:id="rId186"/>
    <p:sldId id="524" r:id="rId187"/>
    <p:sldId id="525" r:id="rId188"/>
    <p:sldId id="526" r:id="rId189"/>
    <p:sldId id="527" r:id="rId190"/>
    <p:sldId id="528" r:id="rId191"/>
    <p:sldId id="529" r:id="rId192"/>
    <p:sldId id="530" r:id="rId193"/>
    <p:sldId id="531" r:id="rId194"/>
    <p:sldId id="532" r:id="rId195"/>
    <p:sldId id="533" r:id="rId196"/>
    <p:sldId id="534" r:id="rId197"/>
    <p:sldId id="535" r:id="rId198"/>
    <p:sldId id="536" r:id="rId199"/>
    <p:sldId id="537" r:id="rId200"/>
    <p:sldId id="538" r:id="rId201"/>
    <p:sldId id="539" r:id="rId202"/>
    <p:sldId id="540" r:id="rId203"/>
    <p:sldId id="541" r:id="rId204"/>
    <p:sldId id="542" r:id="rId205"/>
    <p:sldId id="543" r:id="rId206"/>
    <p:sldId id="544" r:id="rId207"/>
    <p:sldId id="545" r:id="rId208"/>
    <p:sldId id="546" r:id="rId209"/>
    <p:sldId id="547" r:id="rId210"/>
    <p:sldId id="548" r:id="rId211"/>
    <p:sldId id="549" r:id="rId212"/>
    <p:sldId id="550" r:id="rId213"/>
    <p:sldId id="551" r:id="rId214"/>
    <p:sldId id="552" r:id="rId215"/>
    <p:sldId id="553" r:id="rId216"/>
    <p:sldId id="554" r:id="rId217"/>
    <p:sldId id="555" r:id="rId218"/>
    <p:sldId id="556" r:id="rId219"/>
    <p:sldId id="557" r:id="rId220"/>
    <p:sldId id="558" r:id="rId221"/>
    <p:sldId id="559" r:id="rId222"/>
    <p:sldId id="560" r:id="rId223"/>
    <p:sldId id="561" r:id="rId224"/>
  </p:sldIdLst>
  <p:sldSz cx="9144000" cy="6858000" type="screen4x3"/>
  <p:notesSz cx="6797675" cy="9926638"/>
  <p:defaultTextStyle>
    <a:defPPr>
      <a:defRPr lang="en-US"/>
    </a:defPPr>
    <a:lvl1pPr algn="l" rtl="0" fontAlgn="base">
      <a:spcBef>
        <a:spcPct val="0"/>
      </a:spcBef>
      <a:spcAft>
        <a:spcPct val="0"/>
      </a:spcAft>
      <a:defRPr sz="1600" kern="1200">
        <a:solidFill>
          <a:schemeClr val="tx1"/>
        </a:solidFill>
        <a:latin typeface="Verdana" pitchFamily="31" charset="0"/>
        <a:ea typeface="ＭＳ Ｐゴシック" pitchFamily="31" charset="-128"/>
        <a:cs typeface="+mn-cs"/>
      </a:defRPr>
    </a:lvl1pPr>
    <a:lvl2pPr marL="457200" algn="l" rtl="0" fontAlgn="base">
      <a:spcBef>
        <a:spcPct val="0"/>
      </a:spcBef>
      <a:spcAft>
        <a:spcPct val="0"/>
      </a:spcAft>
      <a:defRPr sz="1600" kern="1200">
        <a:solidFill>
          <a:schemeClr val="tx1"/>
        </a:solidFill>
        <a:latin typeface="Verdana" pitchFamily="31" charset="0"/>
        <a:ea typeface="ＭＳ Ｐゴシック" pitchFamily="31" charset="-128"/>
        <a:cs typeface="+mn-cs"/>
      </a:defRPr>
    </a:lvl2pPr>
    <a:lvl3pPr marL="914400" algn="l" rtl="0" fontAlgn="base">
      <a:spcBef>
        <a:spcPct val="0"/>
      </a:spcBef>
      <a:spcAft>
        <a:spcPct val="0"/>
      </a:spcAft>
      <a:defRPr sz="1600" kern="1200">
        <a:solidFill>
          <a:schemeClr val="tx1"/>
        </a:solidFill>
        <a:latin typeface="Verdana" pitchFamily="31" charset="0"/>
        <a:ea typeface="ＭＳ Ｐゴシック" pitchFamily="31" charset="-128"/>
        <a:cs typeface="+mn-cs"/>
      </a:defRPr>
    </a:lvl3pPr>
    <a:lvl4pPr marL="1371600" algn="l" rtl="0" fontAlgn="base">
      <a:spcBef>
        <a:spcPct val="0"/>
      </a:spcBef>
      <a:spcAft>
        <a:spcPct val="0"/>
      </a:spcAft>
      <a:defRPr sz="1600" kern="1200">
        <a:solidFill>
          <a:schemeClr val="tx1"/>
        </a:solidFill>
        <a:latin typeface="Verdana" pitchFamily="31" charset="0"/>
        <a:ea typeface="ＭＳ Ｐゴシック" pitchFamily="31" charset="-128"/>
        <a:cs typeface="+mn-cs"/>
      </a:defRPr>
    </a:lvl4pPr>
    <a:lvl5pPr marL="1828800" algn="l" rtl="0" fontAlgn="base">
      <a:spcBef>
        <a:spcPct val="0"/>
      </a:spcBef>
      <a:spcAft>
        <a:spcPct val="0"/>
      </a:spcAft>
      <a:defRPr sz="1600" kern="1200">
        <a:solidFill>
          <a:schemeClr val="tx1"/>
        </a:solidFill>
        <a:latin typeface="Verdana" pitchFamily="31" charset="0"/>
        <a:ea typeface="ＭＳ Ｐゴシック" pitchFamily="31" charset="-128"/>
        <a:cs typeface="+mn-cs"/>
      </a:defRPr>
    </a:lvl5pPr>
    <a:lvl6pPr marL="2286000" algn="l" defTabSz="914400" rtl="0" eaLnBrk="1" latinLnBrk="0" hangingPunct="1">
      <a:defRPr sz="1600" kern="1200">
        <a:solidFill>
          <a:schemeClr val="tx1"/>
        </a:solidFill>
        <a:latin typeface="Verdana" pitchFamily="31" charset="0"/>
        <a:ea typeface="ＭＳ Ｐゴシック" pitchFamily="31" charset="-128"/>
        <a:cs typeface="+mn-cs"/>
      </a:defRPr>
    </a:lvl6pPr>
    <a:lvl7pPr marL="2743200" algn="l" defTabSz="914400" rtl="0" eaLnBrk="1" latinLnBrk="0" hangingPunct="1">
      <a:defRPr sz="1600" kern="1200">
        <a:solidFill>
          <a:schemeClr val="tx1"/>
        </a:solidFill>
        <a:latin typeface="Verdana" pitchFamily="31" charset="0"/>
        <a:ea typeface="ＭＳ Ｐゴシック" pitchFamily="31" charset="-128"/>
        <a:cs typeface="+mn-cs"/>
      </a:defRPr>
    </a:lvl7pPr>
    <a:lvl8pPr marL="3200400" algn="l" defTabSz="914400" rtl="0" eaLnBrk="1" latinLnBrk="0" hangingPunct="1">
      <a:defRPr sz="1600" kern="1200">
        <a:solidFill>
          <a:schemeClr val="tx1"/>
        </a:solidFill>
        <a:latin typeface="Verdana" pitchFamily="31" charset="0"/>
        <a:ea typeface="ＭＳ Ｐゴシック" pitchFamily="31" charset="-128"/>
        <a:cs typeface="+mn-cs"/>
      </a:defRPr>
    </a:lvl8pPr>
    <a:lvl9pPr marL="3657600" algn="l" defTabSz="914400" rtl="0" eaLnBrk="1" latinLnBrk="0" hangingPunct="1">
      <a:defRPr sz="1600" kern="1200">
        <a:solidFill>
          <a:schemeClr val="tx1"/>
        </a:solidFill>
        <a:latin typeface="Verdana" pitchFamily="31" charset="0"/>
        <a:ea typeface="ＭＳ Ｐゴシック" pitchFamily="31"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81" autoAdjust="0"/>
    <p:restoredTop sz="87681" autoAdjust="0"/>
  </p:normalViewPr>
  <p:slideViewPr>
    <p:cSldViewPr snapToGrid="0">
      <p:cViewPr varScale="1">
        <p:scale>
          <a:sx n="100" d="100"/>
          <a:sy n="100" d="100"/>
        </p:scale>
        <p:origin x="153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7488"/>
    </p:cViewPr>
  </p:sorterViewPr>
  <p:notesViewPr>
    <p:cSldViewPr snapToGrid="0" showGuides="1">
      <p:cViewPr varScale="1">
        <p:scale>
          <a:sx n="48" d="100"/>
          <a:sy n="48" d="100"/>
        </p:scale>
        <p:origin x="-1914" y="-108"/>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70" Type="http://schemas.openxmlformats.org/officeDocument/2006/relationships/slide" Target="slides/slide165.xml"/><Relationship Id="rId191" Type="http://schemas.openxmlformats.org/officeDocument/2006/relationships/slide" Target="slides/slide186.xml"/><Relationship Id="rId205" Type="http://schemas.openxmlformats.org/officeDocument/2006/relationships/slide" Target="slides/slide200.xml"/><Relationship Id="rId226" Type="http://schemas.openxmlformats.org/officeDocument/2006/relationships/handoutMaster" Target="handoutMasters/handoutMaster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2.xml"/><Relationship Id="rId95" Type="http://schemas.openxmlformats.org/officeDocument/2006/relationships/slide" Target="slides/slide90.xml"/><Relationship Id="rId160" Type="http://schemas.openxmlformats.org/officeDocument/2006/relationships/slide" Target="slides/slide155.xml"/><Relationship Id="rId181" Type="http://schemas.openxmlformats.org/officeDocument/2006/relationships/slide" Target="slides/slide176.xml"/><Relationship Id="rId216" Type="http://schemas.openxmlformats.org/officeDocument/2006/relationships/slide" Target="slides/slide211.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92" Type="http://schemas.openxmlformats.org/officeDocument/2006/relationships/slide" Target="slides/slide187.xml"/><Relationship Id="rId206" Type="http://schemas.openxmlformats.org/officeDocument/2006/relationships/slide" Target="slides/slide201.xml"/><Relationship Id="rId227" Type="http://schemas.openxmlformats.org/officeDocument/2006/relationships/presProps" Target="presProps.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217" Type="http://schemas.openxmlformats.org/officeDocument/2006/relationships/slide" Target="slides/slide212.xml"/><Relationship Id="rId6" Type="http://schemas.openxmlformats.org/officeDocument/2006/relationships/slide" Target="slides/slide1.xml"/><Relationship Id="rId23" Type="http://schemas.openxmlformats.org/officeDocument/2006/relationships/slide" Target="slides/slide18.xml"/><Relationship Id="rId119" Type="http://schemas.openxmlformats.org/officeDocument/2006/relationships/slide" Target="slides/slide114.xml"/><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93" Type="http://schemas.openxmlformats.org/officeDocument/2006/relationships/slide" Target="slides/slide188.xml"/><Relationship Id="rId207" Type="http://schemas.openxmlformats.org/officeDocument/2006/relationships/slide" Target="slides/slide202.xml"/><Relationship Id="rId228" Type="http://schemas.openxmlformats.org/officeDocument/2006/relationships/viewProps" Target="viewProps.xml"/><Relationship Id="rId13" Type="http://schemas.openxmlformats.org/officeDocument/2006/relationships/slide" Target="slides/slide8.xml"/><Relationship Id="rId109" Type="http://schemas.openxmlformats.org/officeDocument/2006/relationships/slide" Target="slides/slide104.xml"/><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18" Type="http://schemas.openxmlformats.org/officeDocument/2006/relationships/slide" Target="slides/slide213.xml"/><Relationship Id="rId24" Type="http://schemas.openxmlformats.org/officeDocument/2006/relationships/slide" Target="slides/slide19.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31" Type="http://schemas.openxmlformats.org/officeDocument/2006/relationships/slide" Target="slides/slide126.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208" Type="http://schemas.openxmlformats.org/officeDocument/2006/relationships/slide" Target="slides/slide203.xml"/><Relationship Id="rId229" Type="http://schemas.openxmlformats.org/officeDocument/2006/relationships/theme" Target="theme/theme1.xml"/><Relationship Id="rId14" Type="http://schemas.openxmlformats.org/officeDocument/2006/relationships/slide" Target="slides/slide9.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8" Type="http://schemas.openxmlformats.org/officeDocument/2006/relationships/slide" Target="slides/slide3.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219" Type="http://schemas.openxmlformats.org/officeDocument/2006/relationships/slide" Target="slides/slide214.xml"/><Relationship Id="rId230" Type="http://schemas.openxmlformats.org/officeDocument/2006/relationships/tableStyles" Target="tableStyles.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79" Type="http://schemas.openxmlformats.org/officeDocument/2006/relationships/slide" Target="slides/slide174.xml"/><Relationship Id="rId195" Type="http://schemas.openxmlformats.org/officeDocument/2006/relationships/slide" Target="slides/slide190.xml"/><Relationship Id="rId209" Type="http://schemas.openxmlformats.org/officeDocument/2006/relationships/slide" Target="slides/slide204.xml"/><Relationship Id="rId190" Type="http://schemas.openxmlformats.org/officeDocument/2006/relationships/slide" Target="slides/slide185.xml"/><Relationship Id="rId204" Type="http://schemas.openxmlformats.org/officeDocument/2006/relationships/slide" Target="slides/slide199.xml"/><Relationship Id="rId220" Type="http://schemas.openxmlformats.org/officeDocument/2006/relationships/slide" Target="slides/slide215.xml"/><Relationship Id="rId225" Type="http://schemas.openxmlformats.org/officeDocument/2006/relationships/notesMaster" Target="notesMasters/notesMaster1.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slide" Target="slides/slide159.xml"/><Relationship Id="rId169" Type="http://schemas.openxmlformats.org/officeDocument/2006/relationships/slide" Target="slides/slide164.xml"/><Relationship Id="rId185" Type="http://schemas.openxmlformats.org/officeDocument/2006/relationships/slide" Target="slides/slide180.xml"/><Relationship Id="rId4" Type="http://schemas.openxmlformats.org/officeDocument/2006/relationships/slideMaster" Target="slideMasters/slideMaster1.xml"/><Relationship Id="rId9" Type="http://schemas.openxmlformats.org/officeDocument/2006/relationships/slide" Target="slides/slide4.xml"/><Relationship Id="rId180" Type="http://schemas.openxmlformats.org/officeDocument/2006/relationships/slide" Target="slides/slide175.xml"/><Relationship Id="rId210" Type="http://schemas.openxmlformats.org/officeDocument/2006/relationships/slide" Target="slides/slide205.xml"/><Relationship Id="rId215" Type="http://schemas.openxmlformats.org/officeDocument/2006/relationships/slide" Target="slides/slide210.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221" Type="http://schemas.openxmlformats.org/officeDocument/2006/relationships/slide" Target="slides/slide216.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11" Type="http://schemas.openxmlformats.org/officeDocument/2006/relationships/slide" Target="slides/slide206.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201" Type="http://schemas.openxmlformats.org/officeDocument/2006/relationships/slide" Target="slides/slide196.xml"/><Relationship Id="rId222" Type="http://schemas.openxmlformats.org/officeDocument/2006/relationships/slide" Target="slides/slide217.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customXml" Target="../customXml/item1.xml"/><Relationship Id="rId212" Type="http://schemas.openxmlformats.org/officeDocument/2006/relationships/slide" Target="slides/slide207.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202" Type="http://schemas.openxmlformats.org/officeDocument/2006/relationships/slide" Target="slides/slide197.xml"/><Relationship Id="rId223" Type="http://schemas.openxmlformats.org/officeDocument/2006/relationships/slide" Target="slides/slide218.xml"/><Relationship Id="rId18" Type="http://schemas.openxmlformats.org/officeDocument/2006/relationships/slide" Target="slides/slide13.xml"/><Relationship Id="rId39" Type="http://schemas.openxmlformats.org/officeDocument/2006/relationships/slide" Target="slides/slide34.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71" Type="http://schemas.openxmlformats.org/officeDocument/2006/relationships/slide" Target="slides/slide66.xml"/><Relationship Id="rId92" Type="http://schemas.openxmlformats.org/officeDocument/2006/relationships/slide" Target="slides/slide87.xml"/><Relationship Id="rId213" Type="http://schemas.openxmlformats.org/officeDocument/2006/relationships/slide" Target="slides/slide208.xml"/><Relationship Id="rId2" Type="http://schemas.openxmlformats.org/officeDocument/2006/relationships/customXml" Target="../customXml/item2.xml"/><Relationship Id="rId29" Type="http://schemas.openxmlformats.org/officeDocument/2006/relationships/slide" Target="slides/slide24.xml"/><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19" Type="http://schemas.openxmlformats.org/officeDocument/2006/relationships/slide" Target="slides/slide14.xml"/><Relationship Id="rId224" Type="http://schemas.openxmlformats.org/officeDocument/2006/relationships/slide" Target="slides/slide219.xml"/><Relationship Id="rId30" Type="http://schemas.openxmlformats.org/officeDocument/2006/relationships/slide" Target="slides/slide2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189" Type="http://schemas.openxmlformats.org/officeDocument/2006/relationships/slide" Target="slides/slide184.xml"/><Relationship Id="rId3" Type="http://schemas.openxmlformats.org/officeDocument/2006/relationships/customXml" Target="../customXml/item3.xml"/><Relationship Id="rId214" Type="http://schemas.openxmlformats.org/officeDocument/2006/relationships/slide" Target="slides/slide20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C145C-C1EA-49D3-AF7A-10FC07826E55}" type="doc">
      <dgm:prSet loTypeId="urn:microsoft.com/office/officeart/2005/8/layout/chevron1" loCatId="process" qsTypeId="urn:microsoft.com/office/officeart/2005/8/quickstyle/simple1" qsCatId="simple" csTypeId="urn:microsoft.com/office/officeart/2005/8/colors/accent1_2" csCatId="accent1" phldr="1"/>
      <dgm:spPr/>
    </dgm:pt>
    <dgm:pt modelId="{5DBA71B9-660D-4ABD-9DD5-07688FCEEE53}">
      <dgm:prSet phldrT="[Text]" custT="1"/>
      <dgm:spPr>
        <a:solidFill>
          <a:schemeClr val="accent1"/>
        </a:solidFill>
      </dgm:spPr>
      <dgm:t>
        <a:bodyPr/>
        <a:lstStyle/>
        <a:p>
          <a:r>
            <a:rPr lang="en-US" sz="1200" b="1" dirty="0">
              <a:latin typeface="Arial" pitchFamily="34" charset="0"/>
              <a:cs typeface="Arial" pitchFamily="34" charset="0"/>
            </a:rPr>
            <a:t>What is it? Why use it?</a:t>
          </a:r>
        </a:p>
      </dgm:t>
    </dgm:pt>
    <dgm:pt modelId="{C4AEE7AD-1303-4FCF-BD26-CB59910678EA}" type="parTrans" cxnId="{60FE3DC8-1377-4889-9831-FFE54D2B95A3}">
      <dgm:prSet/>
      <dgm:spPr/>
      <dgm:t>
        <a:bodyPr/>
        <a:lstStyle/>
        <a:p>
          <a:endParaRPr lang="en-US" sz="1200" b="1">
            <a:latin typeface="Arial" pitchFamily="34" charset="0"/>
            <a:cs typeface="Arial" pitchFamily="34" charset="0"/>
          </a:endParaRPr>
        </a:p>
      </dgm:t>
    </dgm:pt>
    <dgm:pt modelId="{D2A8EC26-DFC7-4CB3-93E0-EB21F48407DB}" type="sibTrans" cxnId="{60FE3DC8-1377-4889-9831-FFE54D2B95A3}">
      <dgm:prSet/>
      <dgm:spPr/>
      <dgm:t>
        <a:bodyPr/>
        <a:lstStyle/>
        <a:p>
          <a:endParaRPr lang="en-US" sz="1200" b="1">
            <a:latin typeface="Arial" pitchFamily="34" charset="0"/>
            <a:cs typeface="Arial" pitchFamily="34" charset="0"/>
          </a:endParaRPr>
        </a:p>
      </dgm:t>
    </dgm:pt>
    <dgm:pt modelId="{40B6CBC9-D811-477F-A17E-746512CDA590}">
      <dgm:prSet phldrT="[Text]" custT="1"/>
      <dgm:spPr>
        <a:solidFill>
          <a:schemeClr val="accent4"/>
        </a:solidFill>
      </dgm:spPr>
      <dgm:t>
        <a:bodyPr/>
        <a:lstStyle/>
        <a:p>
          <a:r>
            <a:rPr lang="en-US" sz="1200" b="1" dirty="0">
              <a:latin typeface="Arial" pitchFamily="34" charset="0"/>
              <a:cs typeface="Arial" pitchFamily="34" charset="0"/>
            </a:rPr>
            <a:t>Create:</a:t>
          </a:r>
        </a:p>
        <a:p>
          <a:r>
            <a:rPr lang="en-US" sz="1200" b="1" dirty="0">
              <a:latin typeface="Arial" pitchFamily="34" charset="0"/>
              <a:cs typeface="Arial" pitchFamily="34" charset="0"/>
            </a:rPr>
            <a:t>Field Types </a:t>
          </a:r>
        </a:p>
      </dgm:t>
    </dgm:pt>
    <dgm:pt modelId="{9322A3D9-616F-480A-AF87-7844E3C452EC}" type="parTrans" cxnId="{7A88E7D9-FAC3-4944-AF6A-2C61EB015C92}">
      <dgm:prSet/>
      <dgm:spPr/>
      <dgm:t>
        <a:bodyPr/>
        <a:lstStyle/>
        <a:p>
          <a:endParaRPr lang="en-US" sz="1200" b="1">
            <a:latin typeface="Arial" pitchFamily="34" charset="0"/>
            <a:cs typeface="Arial" pitchFamily="34" charset="0"/>
          </a:endParaRPr>
        </a:p>
      </dgm:t>
    </dgm:pt>
    <dgm:pt modelId="{A7B60D79-C81C-4B86-981C-7606D410CDD1}" type="sibTrans" cxnId="{7A88E7D9-FAC3-4944-AF6A-2C61EB015C92}">
      <dgm:prSet/>
      <dgm:spPr/>
      <dgm:t>
        <a:bodyPr/>
        <a:lstStyle/>
        <a:p>
          <a:endParaRPr lang="en-US" sz="1200" b="1">
            <a:latin typeface="Arial" pitchFamily="34" charset="0"/>
            <a:cs typeface="Arial" pitchFamily="34" charset="0"/>
          </a:endParaRPr>
        </a:p>
      </dgm:t>
    </dgm:pt>
    <dgm:pt modelId="{6CA264EE-0598-4972-926E-9A3B6FB099C0}">
      <dgm:prSet phldrT="[Text]" custT="1"/>
      <dgm:spPr>
        <a:solidFill>
          <a:schemeClr val="accent4"/>
        </a:solidFill>
      </dgm:spPr>
      <dgm:t>
        <a:bodyPr/>
        <a:lstStyle/>
        <a:p>
          <a:r>
            <a:rPr lang="en-US" sz="1200" b="1" dirty="0">
              <a:latin typeface="Arial" pitchFamily="34" charset="0"/>
              <a:cs typeface="Arial" pitchFamily="34" charset="0"/>
            </a:rPr>
            <a:t>Create:</a:t>
          </a:r>
        </a:p>
        <a:p>
          <a:r>
            <a:rPr lang="en-US" sz="1200" b="1" dirty="0">
              <a:latin typeface="Arial" pitchFamily="34" charset="0"/>
              <a:cs typeface="Arial" pitchFamily="34" charset="0"/>
            </a:rPr>
            <a:t>Data Types</a:t>
          </a:r>
        </a:p>
      </dgm:t>
    </dgm:pt>
    <dgm:pt modelId="{AF44FD27-2D92-4A2B-8B76-7BEBE599A6BA}" type="parTrans" cxnId="{0CE27C1F-2AE4-4D7C-B662-DB0116A44F87}">
      <dgm:prSet/>
      <dgm:spPr/>
      <dgm:t>
        <a:bodyPr/>
        <a:lstStyle/>
        <a:p>
          <a:endParaRPr lang="en-US" sz="1200" b="1">
            <a:latin typeface="Arial" pitchFamily="34" charset="0"/>
            <a:cs typeface="Arial" pitchFamily="34" charset="0"/>
          </a:endParaRPr>
        </a:p>
      </dgm:t>
    </dgm:pt>
    <dgm:pt modelId="{6551A98F-65D0-45A0-9940-D3FEEAAF85CC}" type="sibTrans" cxnId="{0CE27C1F-2AE4-4D7C-B662-DB0116A44F87}">
      <dgm:prSet/>
      <dgm:spPr/>
      <dgm:t>
        <a:bodyPr/>
        <a:lstStyle/>
        <a:p>
          <a:endParaRPr lang="en-US" sz="1200" b="1">
            <a:latin typeface="Arial" pitchFamily="34" charset="0"/>
            <a:cs typeface="Arial" pitchFamily="34" charset="0"/>
          </a:endParaRPr>
        </a:p>
      </dgm:t>
    </dgm:pt>
    <dgm:pt modelId="{C3773842-2492-425C-85C4-A9BCE837C076}">
      <dgm:prSet phldrT="[Text]" custT="1"/>
      <dgm:spPr/>
      <dgm:t>
        <a:bodyPr/>
        <a:lstStyle/>
        <a:p>
          <a:r>
            <a:rPr lang="en-US" sz="1200" b="1" dirty="0">
              <a:latin typeface="Arial" pitchFamily="34" charset="0"/>
              <a:cs typeface="Arial" pitchFamily="34" charset="0"/>
            </a:rPr>
            <a:t>CF Examples</a:t>
          </a:r>
        </a:p>
      </dgm:t>
    </dgm:pt>
    <dgm:pt modelId="{EE724449-03CA-462F-9B5B-0A0339AEB07A}" type="parTrans" cxnId="{D26B0FF3-3B53-49ED-996D-8BD71661EA8D}">
      <dgm:prSet/>
      <dgm:spPr/>
      <dgm:t>
        <a:bodyPr/>
        <a:lstStyle/>
        <a:p>
          <a:endParaRPr lang="en-US" sz="1200"/>
        </a:p>
      </dgm:t>
    </dgm:pt>
    <dgm:pt modelId="{49FDFCB0-9CDF-4B3B-BAC2-F65DFB1BEA16}" type="sibTrans" cxnId="{D26B0FF3-3B53-49ED-996D-8BD71661EA8D}">
      <dgm:prSet/>
      <dgm:spPr/>
      <dgm:t>
        <a:bodyPr/>
        <a:lstStyle/>
        <a:p>
          <a:endParaRPr lang="en-US" sz="1200"/>
        </a:p>
      </dgm:t>
    </dgm:pt>
    <dgm:pt modelId="{F0215667-8AD6-46DD-B926-38354278AB15}">
      <dgm:prSet phldrT="[Text]" custT="1"/>
      <dgm:spPr>
        <a:solidFill>
          <a:schemeClr val="accent4"/>
        </a:solidFill>
      </dgm:spPr>
      <dgm:t>
        <a:bodyPr/>
        <a:lstStyle/>
        <a:p>
          <a:r>
            <a:rPr lang="en-US" sz="1200" b="1" dirty="0">
              <a:latin typeface="Arial" pitchFamily="34" charset="0"/>
              <a:cs typeface="Arial" pitchFamily="34" charset="0"/>
            </a:rPr>
            <a:t>Create: </a:t>
          </a:r>
        </a:p>
        <a:p>
          <a:r>
            <a:rPr lang="en-US" sz="1200" b="1" dirty="0">
              <a:latin typeface="Arial" pitchFamily="34" charset="0"/>
              <a:cs typeface="Arial" pitchFamily="34" charset="0"/>
            </a:rPr>
            <a:t>Others</a:t>
          </a:r>
        </a:p>
      </dgm:t>
    </dgm:pt>
    <dgm:pt modelId="{BB3CA96B-F01C-4AF6-ADC2-7B11D7E1EF00}" type="parTrans" cxnId="{EF2BB435-5310-410D-B3B9-283481069433}">
      <dgm:prSet/>
      <dgm:spPr/>
      <dgm:t>
        <a:bodyPr/>
        <a:lstStyle/>
        <a:p>
          <a:endParaRPr lang="en-US" sz="1200"/>
        </a:p>
      </dgm:t>
    </dgm:pt>
    <dgm:pt modelId="{93F6F0AA-478B-40EF-90FB-4EBB0E2BDF52}" type="sibTrans" cxnId="{EF2BB435-5310-410D-B3B9-283481069433}">
      <dgm:prSet/>
      <dgm:spPr/>
      <dgm:t>
        <a:bodyPr/>
        <a:lstStyle/>
        <a:p>
          <a:endParaRPr lang="en-US" sz="1200"/>
        </a:p>
      </dgm:t>
    </dgm:pt>
    <dgm:pt modelId="{4DF76ABE-916A-4799-8355-41E0EE6EA75C}" type="pres">
      <dgm:prSet presAssocID="{D55C145C-C1EA-49D3-AF7A-10FC07826E55}" presName="Name0" presStyleCnt="0">
        <dgm:presLayoutVars>
          <dgm:dir/>
          <dgm:animLvl val="lvl"/>
          <dgm:resizeHandles val="exact"/>
        </dgm:presLayoutVars>
      </dgm:prSet>
      <dgm:spPr/>
    </dgm:pt>
    <dgm:pt modelId="{68B7DD49-A2E7-4149-B736-AEA38898245F}" type="pres">
      <dgm:prSet presAssocID="{5DBA71B9-660D-4ABD-9DD5-07688FCEEE53}" presName="parTxOnly" presStyleLbl="node1" presStyleIdx="0" presStyleCnt="5">
        <dgm:presLayoutVars>
          <dgm:chMax val="0"/>
          <dgm:chPref val="0"/>
          <dgm:bulletEnabled val="1"/>
        </dgm:presLayoutVars>
      </dgm:prSet>
      <dgm:spPr/>
    </dgm:pt>
    <dgm:pt modelId="{9EA38286-BC47-45AF-93A5-BD59D963CD81}" type="pres">
      <dgm:prSet presAssocID="{D2A8EC26-DFC7-4CB3-93E0-EB21F48407DB}" presName="parTxOnlySpace" presStyleCnt="0"/>
      <dgm:spPr/>
    </dgm:pt>
    <dgm:pt modelId="{40E5442F-3D59-48C6-AE48-128464F0AB1C}" type="pres">
      <dgm:prSet presAssocID="{40B6CBC9-D811-477F-A17E-746512CDA590}" presName="parTxOnly" presStyleLbl="node1" presStyleIdx="1" presStyleCnt="5">
        <dgm:presLayoutVars>
          <dgm:chMax val="0"/>
          <dgm:chPref val="0"/>
          <dgm:bulletEnabled val="1"/>
        </dgm:presLayoutVars>
      </dgm:prSet>
      <dgm:spPr/>
    </dgm:pt>
    <dgm:pt modelId="{C0792017-5FB6-4003-AF9C-3746C668F745}" type="pres">
      <dgm:prSet presAssocID="{A7B60D79-C81C-4B86-981C-7606D410CDD1}" presName="parTxOnlySpace" presStyleCnt="0"/>
      <dgm:spPr/>
    </dgm:pt>
    <dgm:pt modelId="{1F809EAB-37F7-44EA-9FD7-CD6ECC5052A6}" type="pres">
      <dgm:prSet presAssocID="{6CA264EE-0598-4972-926E-9A3B6FB099C0}" presName="parTxOnly" presStyleLbl="node1" presStyleIdx="2" presStyleCnt="5">
        <dgm:presLayoutVars>
          <dgm:chMax val="0"/>
          <dgm:chPref val="0"/>
          <dgm:bulletEnabled val="1"/>
        </dgm:presLayoutVars>
      </dgm:prSet>
      <dgm:spPr/>
    </dgm:pt>
    <dgm:pt modelId="{E9F2AB98-7C11-4BC0-8EC8-D8F02AD3E95A}" type="pres">
      <dgm:prSet presAssocID="{6551A98F-65D0-45A0-9940-D3FEEAAF85CC}" presName="parTxOnlySpace" presStyleCnt="0"/>
      <dgm:spPr/>
    </dgm:pt>
    <dgm:pt modelId="{FCCABAEC-95D4-4D25-A3EF-8DD8017AC7E7}" type="pres">
      <dgm:prSet presAssocID="{F0215667-8AD6-46DD-B926-38354278AB15}" presName="parTxOnly" presStyleLbl="node1" presStyleIdx="3" presStyleCnt="5">
        <dgm:presLayoutVars>
          <dgm:chMax val="0"/>
          <dgm:chPref val="0"/>
          <dgm:bulletEnabled val="1"/>
        </dgm:presLayoutVars>
      </dgm:prSet>
      <dgm:spPr/>
    </dgm:pt>
    <dgm:pt modelId="{6C9FC3A6-CEA6-4C4E-8D99-A9AA78A29C2C}" type="pres">
      <dgm:prSet presAssocID="{93F6F0AA-478B-40EF-90FB-4EBB0E2BDF52}" presName="parTxOnlySpace" presStyleCnt="0"/>
      <dgm:spPr/>
    </dgm:pt>
    <dgm:pt modelId="{87FD189D-4DA7-4073-8EA5-33170F22134E}" type="pres">
      <dgm:prSet presAssocID="{C3773842-2492-425C-85C4-A9BCE837C076}" presName="parTxOnly" presStyleLbl="node1" presStyleIdx="4" presStyleCnt="5">
        <dgm:presLayoutVars>
          <dgm:chMax val="0"/>
          <dgm:chPref val="0"/>
          <dgm:bulletEnabled val="1"/>
        </dgm:presLayoutVars>
      </dgm:prSet>
      <dgm:spPr/>
    </dgm:pt>
  </dgm:ptLst>
  <dgm:cxnLst>
    <dgm:cxn modelId="{13A48706-463C-4305-8AB4-44B572D1373C}" type="presOf" srcId="{D55C145C-C1EA-49D3-AF7A-10FC07826E55}" destId="{4DF76ABE-916A-4799-8355-41E0EE6EA75C}" srcOrd="0" destOrd="0" presId="urn:microsoft.com/office/officeart/2005/8/layout/chevron1"/>
    <dgm:cxn modelId="{01A53A19-5CD3-4479-9E09-2B89332BA0AE}" type="presOf" srcId="{5DBA71B9-660D-4ABD-9DD5-07688FCEEE53}" destId="{68B7DD49-A2E7-4149-B736-AEA38898245F}" srcOrd="0" destOrd="0" presId="urn:microsoft.com/office/officeart/2005/8/layout/chevron1"/>
    <dgm:cxn modelId="{0CE27C1F-2AE4-4D7C-B662-DB0116A44F87}" srcId="{D55C145C-C1EA-49D3-AF7A-10FC07826E55}" destId="{6CA264EE-0598-4972-926E-9A3B6FB099C0}" srcOrd="2" destOrd="0" parTransId="{AF44FD27-2D92-4A2B-8B76-7BEBE599A6BA}" sibTransId="{6551A98F-65D0-45A0-9940-D3FEEAAF85CC}"/>
    <dgm:cxn modelId="{DE46C626-6827-409B-83F8-C19342B919D1}" type="presOf" srcId="{6CA264EE-0598-4972-926E-9A3B6FB099C0}" destId="{1F809EAB-37F7-44EA-9FD7-CD6ECC5052A6}" srcOrd="0" destOrd="0" presId="urn:microsoft.com/office/officeart/2005/8/layout/chevron1"/>
    <dgm:cxn modelId="{EF2BB435-5310-410D-B3B9-283481069433}" srcId="{D55C145C-C1EA-49D3-AF7A-10FC07826E55}" destId="{F0215667-8AD6-46DD-B926-38354278AB15}" srcOrd="3" destOrd="0" parTransId="{BB3CA96B-F01C-4AF6-ADC2-7B11D7E1EF00}" sibTransId="{93F6F0AA-478B-40EF-90FB-4EBB0E2BDF52}"/>
    <dgm:cxn modelId="{59EF5E68-B4AE-4225-ACDB-9205AEC272BB}" type="presOf" srcId="{F0215667-8AD6-46DD-B926-38354278AB15}" destId="{FCCABAEC-95D4-4D25-A3EF-8DD8017AC7E7}" srcOrd="0" destOrd="0" presId="urn:microsoft.com/office/officeart/2005/8/layout/chevron1"/>
    <dgm:cxn modelId="{AC500252-BE25-4746-8D15-E6C19B0727F1}" type="presOf" srcId="{40B6CBC9-D811-477F-A17E-746512CDA590}" destId="{40E5442F-3D59-48C6-AE48-128464F0AB1C}" srcOrd="0" destOrd="0" presId="urn:microsoft.com/office/officeart/2005/8/layout/chevron1"/>
    <dgm:cxn modelId="{0E4B6F58-3AC8-440A-AA97-9E27CB9A975F}" type="presOf" srcId="{C3773842-2492-425C-85C4-A9BCE837C076}" destId="{87FD189D-4DA7-4073-8EA5-33170F22134E}" srcOrd="0" destOrd="0" presId="urn:microsoft.com/office/officeart/2005/8/layout/chevron1"/>
    <dgm:cxn modelId="{60FE3DC8-1377-4889-9831-FFE54D2B95A3}" srcId="{D55C145C-C1EA-49D3-AF7A-10FC07826E55}" destId="{5DBA71B9-660D-4ABD-9DD5-07688FCEEE53}" srcOrd="0" destOrd="0" parTransId="{C4AEE7AD-1303-4FCF-BD26-CB59910678EA}" sibTransId="{D2A8EC26-DFC7-4CB3-93E0-EB21F48407DB}"/>
    <dgm:cxn modelId="{7A88E7D9-FAC3-4944-AF6A-2C61EB015C92}" srcId="{D55C145C-C1EA-49D3-AF7A-10FC07826E55}" destId="{40B6CBC9-D811-477F-A17E-746512CDA590}" srcOrd="1" destOrd="0" parTransId="{9322A3D9-616F-480A-AF87-7844E3C452EC}" sibTransId="{A7B60D79-C81C-4B86-981C-7606D410CDD1}"/>
    <dgm:cxn modelId="{D26B0FF3-3B53-49ED-996D-8BD71661EA8D}" srcId="{D55C145C-C1EA-49D3-AF7A-10FC07826E55}" destId="{C3773842-2492-425C-85C4-A9BCE837C076}" srcOrd="4" destOrd="0" parTransId="{EE724449-03CA-462F-9B5B-0A0339AEB07A}" sibTransId="{49FDFCB0-9CDF-4B3B-BAC2-F65DFB1BEA16}"/>
    <dgm:cxn modelId="{8FE971FA-A236-43CC-B271-1A6DC958CC78}" type="presParOf" srcId="{4DF76ABE-916A-4799-8355-41E0EE6EA75C}" destId="{68B7DD49-A2E7-4149-B736-AEA38898245F}" srcOrd="0" destOrd="0" presId="urn:microsoft.com/office/officeart/2005/8/layout/chevron1"/>
    <dgm:cxn modelId="{0ABACF93-A35B-4D80-95A5-9C080FE83234}" type="presParOf" srcId="{4DF76ABE-916A-4799-8355-41E0EE6EA75C}" destId="{9EA38286-BC47-45AF-93A5-BD59D963CD81}" srcOrd="1" destOrd="0" presId="urn:microsoft.com/office/officeart/2005/8/layout/chevron1"/>
    <dgm:cxn modelId="{0C2A4F99-9054-4F1B-A97A-43603F016AE6}" type="presParOf" srcId="{4DF76ABE-916A-4799-8355-41E0EE6EA75C}" destId="{40E5442F-3D59-48C6-AE48-128464F0AB1C}" srcOrd="2" destOrd="0" presId="urn:microsoft.com/office/officeart/2005/8/layout/chevron1"/>
    <dgm:cxn modelId="{31CC269D-A169-4938-8D32-3B1680BAB238}" type="presParOf" srcId="{4DF76ABE-916A-4799-8355-41E0EE6EA75C}" destId="{C0792017-5FB6-4003-AF9C-3746C668F745}" srcOrd="3" destOrd="0" presId="urn:microsoft.com/office/officeart/2005/8/layout/chevron1"/>
    <dgm:cxn modelId="{4176FC60-B0C6-4FD5-AF1D-7B8C2E98FA8E}" type="presParOf" srcId="{4DF76ABE-916A-4799-8355-41E0EE6EA75C}" destId="{1F809EAB-37F7-44EA-9FD7-CD6ECC5052A6}" srcOrd="4" destOrd="0" presId="urn:microsoft.com/office/officeart/2005/8/layout/chevron1"/>
    <dgm:cxn modelId="{A3125FAC-553C-4AD7-8205-5CCCCBE4000C}" type="presParOf" srcId="{4DF76ABE-916A-4799-8355-41E0EE6EA75C}" destId="{E9F2AB98-7C11-4BC0-8EC8-D8F02AD3E95A}" srcOrd="5" destOrd="0" presId="urn:microsoft.com/office/officeart/2005/8/layout/chevron1"/>
    <dgm:cxn modelId="{C5DB3E07-33C3-4C00-8086-401D85CD1151}" type="presParOf" srcId="{4DF76ABE-916A-4799-8355-41E0EE6EA75C}" destId="{FCCABAEC-95D4-4D25-A3EF-8DD8017AC7E7}" srcOrd="6" destOrd="0" presId="urn:microsoft.com/office/officeart/2005/8/layout/chevron1"/>
    <dgm:cxn modelId="{2EB2523C-9958-42CD-8304-EF88D4A08CE9}" type="presParOf" srcId="{4DF76ABE-916A-4799-8355-41E0EE6EA75C}" destId="{6C9FC3A6-CEA6-4C4E-8D99-A9AA78A29C2C}" srcOrd="7" destOrd="0" presId="urn:microsoft.com/office/officeart/2005/8/layout/chevron1"/>
    <dgm:cxn modelId="{05B377A6-89CC-433E-8A62-9B33562A38B5}" type="presParOf" srcId="{4DF76ABE-916A-4799-8355-41E0EE6EA75C}" destId="{87FD189D-4DA7-4073-8EA5-33170F22134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5C145C-C1EA-49D3-AF7A-10FC07826E55}" type="doc">
      <dgm:prSet loTypeId="urn:microsoft.com/office/officeart/2005/8/layout/chevron1" loCatId="process" qsTypeId="urn:microsoft.com/office/officeart/2005/8/quickstyle/simple1" qsCatId="simple" csTypeId="urn:microsoft.com/office/officeart/2005/8/colors/accent1_2" csCatId="accent1" phldr="1"/>
      <dgm:spPr/>
    </dgm:pt>
    <dgm:pt modelId="{5DBA71B9-660D-4ABD-9DD5-07688FCEEE53}">
      <dgm:prSet phldrT="[Text]" custT="1"/>
      <dgm:spPr>
        <a:solidFill>
          <a:schemeClr val="accent1"/>
        </a:solidFill>
      </dgm:spPr>
      <dgm:t>
        <a:bodyPr/>
        <a:lstStyle/>
        <a:p>
          <a:r>
            <a:rPr lang="en-US" sz="1200" b="1" dirty="0">
              <a:latin typeface="Arial" pitchFamily="34" charset="0"/>
              <a:cs typeface="Arial" pitchFamily="34" charset="0"/>
            </a:rPr>
            <a:t>What is it? Why use it?</a:t>
          </a:r>
        </a:p>
      </dgm:t>
    </dgm:pt>
    <dgm:pt modelId="{C4AEE7AD-1303-4FCF-BD26-CB59910678EA}" type="parTrans" cxnId="{60FE3DC8-1377-4889-9831-FFE54D2B95A3}">
      <dgm:prSet/>
      <dgm:spPr/>
      <dgm:t>
        <a:bodyPr/>
        <a:lstStyle/>
        <a:p>
          <a:endParaRPr lang="en-US" sz="1200" b="1">
            <a:latin typeface="Arial" pitchFamily="34" charset="0"/>
            <a:cs typeface="Arial" pitchFamily="34" charset="0"/>
          </a:endParaRPr>
        </a:p>
      </dgm:t>
    </dgm:pt>
    <dgm:pt modelId="{D2A8EC26-DFC7-4CB3-93E0-EB21F48407DB}" type="sibTrans" cxnId="{60FE3DC8-1377-4889-9831-FFE54D2B95A3}">
      <dgm:prSet/>
      <dgm:spPr/>
      <dgm:t>
        <a:bodyPr/>
        <a:lstStyle/>
        <a:p>
          <a:endParaRPr lang="en-US" sz="1200" b="1">
            <a:latin typeface="Arial" pitchFamily="34" charset="0"/>
            <a:cs typeface="Arial" pitchFamily="34" charset="0"/>
          </a:endParaRPr>
        </a:p>
      </dgm:t>
    </dgm:pt>
    <dgm:pt modelId="{40B6CBC9-D811-477F-A17E-746512CDA590}">
      <dgm:prSet phldrT="[Text]" custT="1"/>
      <dgm:spPr>
        <a:solidFill>
          <a:schemeClr val="accent4"/>
        </a:solidFill>
      </dgm:spPr>
      <dgm:t>
        <a:bodyPr/>
        <a:lstStyle/>
        <a:p>
          <a:r>
            <a:rPr lang="en-US" sz="1200" b="1" dirty="0">
              <a:latin typeface="Arial" pitchFamily="34" charset="0"/>
              <a:cs typeface="Arial" pitchFamily="34" charset="0"/>
            </a:rPr>
            <a:t>Create:</a:t>
          </a:r>
        </a:p>
        <a:p>
          <a:r>
            <a:rPr lang="en-US" sz="1200" b="1" dirty="0">
              <a:latin typeface="Arial" pitchFamily="34" charset="0"/>
              <a:cs typeface="Arial" pitchFamily="34" charset="0"/>
            </a:rPr>
            <a:t>Field Types </a:t>
          </a:r>
        </a:p>
      </dgm:t>
    </dgm:pt>
    <dgm:pt modelId="{9322A3D9-616F-480A-AF87-7844E3C452EC}" type="parTrans" cxnId="{7A88E7D9-FAC3-4944-AF6A-2C61EB015C92}">
      <dgm:prSet/>
      <dgm:spPr/>
      <dgm:t>
        <a:bodyPr/>
        <a:lstStyle/>
        <a:p>
          <a:endParaRPr lang="en-US" sz="1200" b="1">
            <a:latin typeface="Arial" pitchFamily="34" charset="0"/>
            <a:cs typeface="Arial" pitchFamily="34" charset="0"/>
          </a:endParaRPr>
        </a:p>
      </dgm:t>
    </dgm:pt>
    <dgm:pt modelId="{A7B60D79-C81C-4B86-981C-7606D410CDD1}" type="sibTrans" cxnId="{7A88E7D9-FAC3-4944-AF6A-2C61EB015C92}">
      <dgm:prSet/>
      <dgm:spPr/>
      <dgm:t>
        <a:bodyPr/>
        <a:lstStyle/>
        <a:p>
          <a:endParaRPr lang="en-US" sz="1200" b="1">
            <a:latin typeface="Arial" pitchFamily="34" charset="0"/>
            <a:cs typeface="Arial" pitchFamily="34" charset="0"/>
          </a:endParaRPr>
        </a:p>
      </dgm:t>
    </dgm:pt>
    <dgm:pt modelId="{6CA264EE-0598-4972-926E-9A3B6FB099C0}">
      <dgm:prSet phldrT="[Text]" custT="1"/>
      <dgm:spPr>
        <a:solidFill>
          <a:schemeClr val="accent1"/>
        </a:solidFill>
      </dgm:spPr>
      <dgm:t>
        <a:bodyPr/>
        <a:lstStyle/>
        <a:p>
          <a:r>
            <a:rPr lang="en-US" sz="1200" b="1" dirty="0">
              <a:latin typeface="Arial" pitchFamily="34" charset="0"/>
              <a:cs typeface="Arial" pitchFamily="34" charset="0"/>
            </a:rPr>
            <a:t>Create:</a:t>
          </a:r>
        </a:p>
        <a:p>
          <a:r>
            <a:rPr lang="en-US" sz="1200" b="1" dirty="0">
              <a:latin typeface="Arial" pitchFamily="34" charset="0"/>
              <a:cs typeface="Arial" pitchFamily="34" charset="0"/>
            </a:rPr>
            <a:t>Data Types</a:t>
          </a:r>
        </a:p>
      </dgm:t>
    </dgm:pt>
    <dgm:pt modelId="{AF44FD27-2D92-4A2B-8B76-7BEBE599A6BA}" type="parTrans" cxnId="{0CE27C1F-2AE4-4D7C-B662-DB0116A44F87}">
      <dgm:prSet/>
      <dgm:spPr/>
      <dgm:t>
        <a:bodyPr/>
        <a:lstStyle/>
        <a:p>
          <a:endParaRPr lang="en-US" sz="1200" b="1">
            <a:latin typeface="Arial" pitchFamily="34" charset="0"/>
            <a:cs typeface="Arial" pitchFamily="34" charset="0"/>
          </a:endParaRPr>
        </a:p>
      </dgm:t>
    </dgm:pt>
    <dgm:pt modelId="{6551A98F-65D0-45A0-9940-D3FEEAAF85CC}" type="sibTrans" cxnId="{0CE27C1F-2AE4-4D7C-B662-DB0116A44F87}">
      <dgm:prSet/>
      <dgm:spPr/>
      <dgm:t>
        <a:bodyPr/>
        <a:lstStyle/>
        <a:p>
          <a:endParaRPr lang="en-US" sz="1200" b="1">
            <a:latin typeface="Arial" pitchFamily="34" charset="0"/>
            <a:cs typeface="Arial" pitchFamily="34" charset="0"/>
          </a:endParaRPr>
        </a:p>
      </dgm:t>
    </dgm:pt>
    <dgm:pt modelId="{C3773842-2492-425C-85C4-A9BCE837C076}">
      <dgm:prSet phldrT="[Text]" custT="1"/>
      <dgm:spPr/>
      <dgm:t>
        <a:bodyPr/>
        <a:lstStyle/>
        <a:p>
          <a:r>
            <a:rPr lang="en-US" sz="1200" b="1" dirty="0">
              <a:latin typeface="Arial" pitchFamily="34" charset="0"/>
              <a:cs typeface="Arial" pitchFamily="34" charset="0"/>
            </a:rPr>
            <a:t>CF Examples</a:t>
          </a:r>
        </a:p>
      </dgm:t>
    </dgm:pt>
    <dgm:pt modelId="{EE724449-03CA-462F-9B5B-0A0339AEB07A}" type="parTrans" cxnId="{D26B0FF3-3B53-49ED-996D-8BD71661EA8D}">
      <dgm:prSet/>
      <dgm:spPr/>
      <dgm:t>
        <a:bodyPr/>
        <a:lstStyle/>
        <a:p>
          <a:endParaRPr lang="en-US" sz="1200"/>
        </a:p>
      </dgm:t>
    </dgm:pt>
    <dgm:pt modelId="{49FDFCB0-9CDF-4B3B-BAC2-F65DFB1BEA16}" type="sibTrans" cxnId="{D26B0FF3-3B53-49ED-996D-8BD71661EA8D}">
      <dgm:prSet/>
      <dgm:spPr/>
      <dgm:t>
        <a:bodyPr/>
        <a:lstStyle/>
        <a:p>
          <a:endParaRPr lang="en-US" sz="1200"/>
        </a:p>
      </dgm:t>
    </dgm:pt>
    <dgm:pt modelId="{F0215667-8AD6-46DD-B926-38354278AB15}">
      <dgm:prSet phldrT="[Text]" custT="1"/>
      <dgm:spPr>
        <a:solidFill>
          <a:schemeClr val="accent1"/>
        </a:solidFill>
      </dgm:spPr>
      <dgm:t>
        <a:bodyPr/>
        <a:lstStyle/>
        <a:p>
          <a:r>
            <a:rPr lang="en-US" sz="1200" b="1" dirty="0">
              <a:latin typeface="Arial" pitchFamily="34" charset="0"/>
              <a:cs typeface="Arial" pitchFamily="34" charset="0"/>
            </a:rPr>
            <a:t>Create: </a:t>
          </a:r>
        </a:p>
        <a:p>
          <a:r>
            <a:rPr lang="en-US" sz="1200" b="1" dirty="0">
              <a:latin typeface="Arial" pitchFamily="34" charset="0"/>
              <a:cs typeface="Arial" pitchFamily="34" charset="0"/>
            </a:rPr>
            <a:t>Others</a:t>
          </a:r>
        </a:p>
      </dgm:t>
    </dgm:pt>
    <dgm:pt modelId="{BB3CA96B-F01C-4AF6-ADC2-7B11D7E1EF00}" type="parTrans" cxnId="{EF2BB435-5310-410D-B3B9-283481069433}">
      <dgm:prSet/>
      <dgm:spPr/>
      <dgm:t>
        <a:bodyPr/>
        <a:lstStyle/>
        <a:p>
          <a:endParaRPr lang="en-US" sz="1200"/>
        </a:p>
      </dgm:t>
    </dgm:pt>
    <dgm:pt modelId="{93F6F0AA-478B-40EF-90FB-4EBB0E2BDF52}" type="sibTrans" cxnId="{EF2BB435-5310-410D-B3B9-283481069433}">
      <dgm:prSet/>
      <dgm:spPr/>
      <dgm:t>
        <a:bodyPr/>
        <a:lstStyle/>
        <a:p>
          <a:endParaRPr lang="en-US" sz="1200"/>
        </a:p>
      </dgm:t>
    </dgm:pt>
    <dgm:pt modelId="{4DF76ABE-916A-4799-8355-41E0EE6EA75C}" type="pres">
      <dgm:prSet presAssocID="{D55C145C-C1EA-49D3-AF7A-10FC07826E55}" presName="Name0" presStyleCnt="0">
        <dgm:presLayoutVars>
          <dgm:dir/>
          <dgm:animLvl val="lvl"/>
          <dgm:resizeHandles val="exact"/>
        </dgm:presLayoutVars>
      </dgm:prSet>
      <dgm:spPr/>
    </dgm:pt>
    <dgm:pt modelId="{68B7DD49-A2E7-4149-B736-AEA38898245F}" type="pres">
      <dgm:prSet presAssocID="{5DBA71B9-660D-4ABD-9DD5-07688FCEEE53}" presName="parTxOnly" presStyleLbl="node1" presStyleIdx="0" presStyleCnt="5">
        <dgm:presLayoutVars>
          <dgm:chMax val="0"/>
          <dgm:chPref val="0"/>
          <dgm:bulletEnabled val="1"/>
        </dgm:presLayoutVars>
      </dgm:prSet>
      <dgm:spPr/>
    </dgm:pt>
    <dgm:pt modelId="{9EA38286-BC47-45AF-93A5-BD59D963CD81}" type="pres">
      <dgm:prSet presAssocID="{D2A8EC26-DFC7-4CB3-93E0-EB21F48407DB}" presName="parTxOnlySpace" presStyleCnt="0"/>
      <dgm:spPr/>
    </dgm:pt>
    <dgm:pt modelId="{40E5442F-3D59-48C6-AE48-128464F0AB1C}" type="pres">
      <dgm:prSet presAssocID="{40B6CBC9-D811-477F-A17E-746512CDA590}" presName="parTxOnly" presStyleLbl="node1" presStyleIdx="1" presStyleCnt="5">
        <dgm:presLayoutVars>
          <dgm:chMax val="0"/>
          <dgm:chPref val="0"/>
          <dgm:bulletEnabled val="1"/>
        </dgm:presLayoutVars>
      </dgm:prSet>
      <dgm:spPr/>
    </dgm:pt>
    <dgm:pt modelId="{C0792017-5FB6-4003-AF9C-3746C668F745}" type="pres">
      <dgm:prSet presAssocID="{A7B60D79-C81C-4B86-981C-7606D410CDD1}" presName="parTxOnlySpace" presStyleCnt="0"/>
      <dgm:spPr/>
    </dgm:pt>
    <dgm:pt modelId="{1F809EAB-37F7-44EA-9FD7-CD6ECC5052A6}" type="pres">
      <dgm:prSet presAssocID="{6CA264EE-0598-4972-926E-9A3B6FB099C0}" presName="parTxOnly" presStyleLbl="node1" presStyleIdx="2" presStyleCnt="5">
        <dgm:presLayoutVars>
          <dgm:chMax val="0"/>
          <dgm:chPref val="0"/>
          <dgm:bulletEnabled val="1"/>
        </dgm:presLayoutVars>
      </dgm:prSet>
      <dgm:spPr/>
    </dgm:pt>
    <dgm:pt modelId="{E9F2AB98-7C11-4BC0-8EC8-D8F02AD3E95A}" type="pres">
      <dgm:prSet presAssocID="{6551A98F-65D0-45A0-9940-D3FEEAAF85CC}" presName="parTxOnlySpace" presStyleCnt="0"/>
      <dgm:spPr/>
    </dgm:pt>
    <dgm:pt modelId="{FCCABAEC-95D4-4D25-A3EF-8DD8017AC7E7}" type="pres">
      <dgm:prSet presAssocID="{F0215667-8AD6-46DD-B926-38354278AB15}" presName="parTxOnly" presStyleLbl="node1" presStyleIdx="3" presStyleCnt="5">
        <dgm:presLayoutVars>
          <dgm:chMax val="0"/>
          <dgm:chPref val="0"/>
          <dgm:bulletEnabled val="1"/>
        </dgm:presLayoutVars>
      </dgm:prSet>
      <dgm:spPr/>
    </dgm:pt>
    <dgm:pt modelId="{6C9FC3A6-CEA6-4C4E-8D99-A9AA78A29C2C}" type="pres">
      <dgm:prSet presAssocID="{93F6F0AA-478B-40EF-90FB-4EBB0E2BDF52}" presName="parTxOnlySpace" presStyleCnt="0"/>
      <dgm:spPr/>
    </dgm:pt>
    <dgm:pt modelId="{87FD189D-4DA7-4073-8EA5-33170F22134E}" type="pres">
      <dgm:prSet presAssocID="{C3773842-2492-425C-85C4-A9BCE837C076}" presName="parTxOnly" presStyleLbl="node1" presStyleIdx="4" presStyleCnt="5">
        <dgm:presLayoutVars>
          <dgm:chMax val="0"/>
          <dgm:chPref val="0"/>
          <dgm:bulletEnabled val="1"/>
        </dgm:presLayoutVars>
      </dgm:prSet>
      <dgm:spPr/>
    </dgm:pt>
  </dgm:ptLst>
  <dgm:cxnLst>
    <dgm:cxn modelId="{D6967516-4684-40B2-ADB5-B71D2D5E9533}" type="presOf" srcId="{6CA264EE-0598-4972-926E-9A3B6FB099C0}" destId="{1F809EAB-37F7-44EA-9FD7-CD6ECC5052A6}" srcOrd="0" destOrd="0" presId="urn:microsoft.com/office/officeart/2005/8/layout/chevron1"/>
    <dgm:cxn modelId="{0CE27C1F-2AE4-4D7C-B662-DB0116A44F87}" srcId="{D55C145C-C1EA-49D3-AF7A-10FC07826E55}" destId="{6CA264EE-0598-4972-926E-9A3B6FB099C0}" srcOrd="2" destOrd="0" parTransId="{AF44FD27-2D92-4A2B-8B76-7BEBE599A6BA}" sibTransId="{6551A98F-65D0-45A0-9940-D3FEEAAF85CC}"/>
    <dgm:cxn modelId="{B95A6630-C74B-45A1-A008-36AE83BEA041}" type="presOf" srcId="{F0215667-8AD6-46DD-B926-38354278AB15}" destId="{FCCABAEC-95D4-4D25-A3EF-8DD8017AC7E7}" srcOrd="0" destOrd="0" presId="urn:microsoft.com/office/officeart/2005/8/layout/chevron1"/>
    <dgm:cxn modelId="{EF2BB435-5310-410D-B3B9-283481069433}" srcId="{D55C145C-C1EA-49D3-AF7A-10FC07826E55}" destId="{F0215667-8AD6-46DD-B926-38354278AB15}" srcOrd="3" destOrd="0" parTransId="{BB3CA96B-F01C-4AF6-ADC2-7B11D7E1EF00}" sibTransId="{93F6F0AA-478B-40EF-90FB-4EBB0E2BDF52}"/>
    <dgm:cxn modelId="{2221D446-DA3C-46D4-8E43-213AABF96EE6}" type="presOf" srcId="{D55C145C-C1EA-49D3-AF7A-10FC07826E55}" destId="{4DF76ABE-916A-4799-8355-41E0EE6EA75C}" srcOrd="0" destOrd="0" presId="urn:microsoft.com/office/officeart/2005/8/layout/chevron1"/>
    <dgm:cxn modelId="{D3BE9B52-031A-4329-9568-BF8FFBF5F94F}" type="presOf" srcId="{C3773842-2492-425C-85C4-A9BCE837C076}" destId="{87FD189D-4DA7-4073-8EA5-33170F22134E}" srcOrd="0" destOrd="0" presId="urn:microsoft.com/office/officeart/2005/8/layout/chevron1"/>
    <dgm:cxn modelId="{60FE3DC8-1377-4889-9831-FFE54D2B95A3}" srcId="{D55C145C-C1EA-49D3-AF7A-10FC07826E55}" destId="{5DBA71B9-660D-4ABD-9DD5-07688FCEEE53}" srcOrd="0" destOrd="0" parTransId="{C4AEE7AD-1303-4FCF-BD26-CB59910678EA}" sibTransId="{D2A8EC26-DFC7-4CB3-93E0-EB21F48407DB}"/>
    <dgm:cxn modelId="{DC69E9CB-3EA4-4535-A48E-846D76DCBDA3}" type="presOf" srcId="{5DBA71B9-660D-4ABD-9DD5-07688FCEEE53}" destId="{68B7DD49-A2E7-4149-B736-AEA38898245F}" srcOrd="0" destOrd="0" presId="urn:microsoft.com/office/officeart/2005/8/layout/chevron1"/>
    <dgm:cxn modelId="{46D81ECE-C572-4606-8DE9-FC214F020115}" type="presOf" srcId="{40B6CBC9-D811-477F-A17E-746512CDA590}" destId="{40E5442F-3D59-48C6-AE48-128464F0AB1C}" srcOrd="0" destOrd="0" presId="urn:microsoft.com/office/officeart/2005/8/layout/chevron1"/>
    <dgm:cxn modelId="{7A88E7D9-FAC3-4944-AF6A-2C61EB015C92}" srcId="{D55C145C-C1EA-49D3-AF7A-10FC07826E55}" destId="{40B6CBC9-D811-477F-A17E-746512CDA590}" srcOrd="1" destOrd="0" parTransId="{9322A3D9-616F-480A-AF87-7844E3C452EC}" sibTransId="{A7B60D79-C81C-4B86-981C-7606D410CDD1}"/>
    <dgm:cxn modelId="{D26B0FF3-3B53-49ED-996D-8BD71661EA8D}" srcId="{D55C145C-C1EA-49D3-AF7A-10FC07826E55}" destId="{C3773842-2492-425C-85C4-A9BCE837C076}" srcOrd="4" destOrd="0" parTransId="{EE724449-03CA-462F-9B5B-0A0339AEB07A}" sibTransId="{49FDFCB0-9CDF-4B3B-BAC2-F65DFB1BEA16}"/>
    <dgm:cxn modelId="{C0D5CD9A-F064-4F26-ACE9-63E1E3AD9262}" type="presParOf" srcId="{4DF76ABE-916A-4799-8355-41E0EE6EA75C}" destId="{68B7DD49-A2E7-4149-B736-AEA38898245F}" srcOrd="0" destOrd="0" presId="urn:microsoft.com/office/officeart/2005/8/layout/chevron1"/>
    <dgm:cxn modelId="{51CF2B20-B6BE-4482-9EE7-D1C02B9B8DD0}" type="presParOf" srcId="{4DF76ABE-916A-4799-8355-41E0EE6EA75C}" destId="{9EA38286-BC47-45AF-93A5-BD59D963CD81}" srcOrd="1" destOrd="0" presId="urn:microsoft.com/office/officeart/2005/8/layout/chevron1"/>
    <dgm:cxn modelId="{74BE19B9-3721-4CE1-AD0A-3136CBDDA212}" type="presParOf" srcId="{4DF76ABE-916A-4799-8355-41E0EE6EA75C}" destId="{40E5442F-3D59-48C6-AE48-128464F0AB1C}" srcOrd="2" destOrd="0" presId="urn:microsoft.com/office/officeart/2005/8/layout/chevron1"/>
    <dgm:cxn modelId="{6398851F-7206-41FB-AC9D-8C055ED37536}" type="presParOf" srcId="{4DF76ABE-916A-4799-8355-41E0EE6EA75C}" destId="{C0792017-5FB6-4003-AF9C-3746C668F745}" srcOrd="3" destOrd="0" presId="urn:microsoft.com/office/officeart/2005/8/layout/chevron1"/>
    <dgm:cxn modelId="{572DA6FA-DA68-45E5-9458-873E3584A6E1}" type="presParOf" srcId="{4DF76ABE-916A-4799-8355-41E0EE6EA75C}" destId="{1F809EAB-37F7-44EA-9FD7-CD6ECC5052A6}" srcOrd="4" destOrd="0" presId="urn:microsoft.com/office/officeart/2005/8/layout/chevron1"/>
    <dgm:cxn modelId="{E761F9ED-0B9F-4D9F-A227-A95EAE8D0B6D}" type="presParOf" srcId="{4DF76ABE-916A-4799-8355-41E0EE6EA75C}" destId="{E9F2AB98-7C11-4BC0-8EC8-D8F02AD3E95A}" srcOrd="5" destOrd="0" presId="urn:microsoft.com/office/officeart/2005/8/layout/chevron1"/>
    <dgm:cxn modelId="{97B990BA-8F18-48C5-92F2-1EE49FC63FB5}" type="presParOf" srcId="{4DF76ABE-916A-4799-8355-41E0EE6EA75C}" destId="{FCCABAEC-95D4-4D25-A3EF-8DD8017AC7E7}" srcOrd="6" destOrd="0" presId="urn:microsoft.com/office/officeart/2005/8/layout/chevron1"/>
    <dgm:cxn modelId="{C9EB29D6-C534-4D51-93C4-3F0A460765E9}" type="presParOf" srcId="{4DF76ABE-916A-4799-8355-41E0EE6EA75C}" destId="{6C9FC3A6-CEA6-4C4E-8D99-A9AA78A29C2C}" srcOrd="7" destOrd="0" presId="urn:microsoft.com/office/officeart/2005/8/layout/chevron1"/>
    <dgm:cxn modelId="{ABF02E79-9D99-4BB4-9897-A76068427DDC}" type="presParOf" srcId="{4DF76ABE-916A-4799-8355-41E0EE6EA75C}" destId="{87FD189D-4DA7-4073-8EA5-33170F22134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5C145C-C1EA-49D3-AF7A-10FC07826E55}" type="doc">
      <dgm:prSet loTypeId="urn:microsoft.com/office/officeart/2005/8/layout/chevron1" loCatId="process" qsTypeId="urn:microsoft.com/office/officeart/2005/8/quickstyle/simple1" qsCatId="simple" csTypeId="urn:microsoft.com/office/officeart/2005/8/colors/accent1_2" csCatId="accent1" phldr="1"/>
      <dgm:spPr/>
    </dgm:pt>
    <dgm:pt modelId="{5DBA71B9-660D-4ABD-9DD5-07688FCEEE53}">
      <dgm:prSet phldrT="[Text]" custT="1"/>
      <dgm:spPr>
        <a:solidFill>
          <a:schemeClr val="accent1"/>
        </a:solidFill>
      </dgm:spPr>
      <dgm:t>
        <a:bodyPr/>
        <a:lstStyle/>
        <a:p>
          <a:r>
            <a:rPr lang="en-US" sz="1200" b="1" dirty="0">
              <a:latin typeface="Arial" pitchFamily="34" charset="0"/>
              <a:cs typeface="Arial" pitchFamily="34" charset="0"/>
            </a:rPr>
            <a:t>What is it? Why use it?</a:t>
          </a:r>
        </a:p>
      </dgm:t>
    </dgm:pt>
    <dgm:pt modelId="{C4AEE7AD-1303-4FCF-BD26-CB59910678EA}" type="parTrans" cxnId="{60FE3DC8-1377-4889-9831-FFE54D2B95A3}">
      <dgm:prSet/>
      <dgm:spPr/>
      <dgm:t>
        <a:bodyPr/>
        <a:lstStyle/>
        <a:p>
          <a:endParaRPr lang="en-US" sz="1200" b="1">
            <a:latin typeface="Arial" pitchFamily="34" charset="0"/>
            <a:cs typeface="Arial" pitchFamily="34" charset="0"/>
          </a:endParaRPr>
        </a:p>
      </dgm:t>
    </dgm:pt>
    <dgm:pt modelId="{D2A8EC26-DFC7-4CB3-93E0-EB21F48407DB}" type="sibTrans" cxnId="{60FE3DC8-1377-4889-9831-FFE54D2B95A3}">
      <dgm:prSet/>
      <dgm:spPr/>
      <dgm:t>
        <a:bodyPr/>
        <a:lstStyle/>
        <a:p>
          <a:endParaRPr lang="en-US" sz="1200" b="1">
            <a:latin typeface="Arial" pitchFamily="34" charset="0"/>
            <a:cs typeface="Arial" pitchFamily="34" charset="0"/>
          </a:endParaRPr>
        </a:p>
      </dgm:t>
    </dgm:pt>
    <dgm:pt modelId="{40B6CBC9-D811-477F-A17E-746512CDA590}">
      <dgm:prSet phldrT="[Text]" custT="1"/>
      <dgm:spPr>
        <a:solidFill>
          <a:schemeClr val="accent1"/>
        </a:solidFill>
      </dgm:spPr>
      <dgm:t>
        <a:bodyPr/>
        <a:lstStyle/>
        <a:p>
          <a:r>
            <a:rPr lang="en-US" sz="1200" b="1" dirty="0">
              <a:latin typeface="Arial" pitchFamily="34" charset="0"/>
              <a:cs typeface="Arial" pitchFamily="34" charset="0"/>
            </a:rPr>
            <a:t>Create:</a:t>
          </a:r>
        </a:p>
        <a:p>
          <a:r>
            <a:rPr lang="en-US" sz="1200" b="1" dirty="0">
              <a:latin typeface="Arial" pitchFamily="34" charset="0"/>
              <a:cs typeface="Arial" pitchFamily="34" charset="0"/>
            </a:rPr>
            <a:t>Field Types </a:t>
          </a:r>
        </a:p>
      </dgm:t>
    </dgm:pt>
    <dgm:pt modelId="{9322A3D9-616F-480A-AF87-7844E3C452EC}" type="parTrans" cxnId="{7A88E7D9-FAC3-4944-AF6A-2C61EB015C92}">
      <dgm:prSet/>
      <dgm:spPr/>
      <dgm:t>
        <a:bodyPr/>
        <a:lstStyle/>
        <a:p>
          <a:endParaRPr lang="en-US" sz="1200" b="1">
            <a:latin typeface="Arial" pitchFamily="34" charset="0"/>
            <a:cs typeface="Arial" pitchFamily="34" charset="0"/>
          </a:endParaRPr>
        </a:p>
      </dgm:t>
    </dgm:pt>
    <dgm:pt modelId="{A7B60D79-C81C-4B86-981C-7606D410CDD1}" type="sibTrans" cxnId="{7A88E7D9-FAC3-4944-AF6A-2C61EB015C92}">
      <dgm:prSet/>
      <dgm:spPr/>
      <dgm:t>
        <a:bodyPr/>
        <a:lstStyle/>
        <a:p>
          <a:endParaRPr lang="en-US" sz="1200" b="1">
            <a:latin typeface="Arial" pitchFamily="34" charset="0"/>
            <a:cs typeface="Arial" pitchFamily="34" charset="0"/>
          </a:endParaRPr>
        </a:p>
      </dgm:t>
    </dgm:pt>
    <dgm:pt modelId="{6CA264EE-0598-4972-926E-9A3B6FB099C0}">
      <dgm:prSet phldrT="[Text]" custT="1"/>
      <dgm:spPr>
        <a:solidFill>
          <a:schemeClr val="accent4"/>
        </a:solidFill>
      </dgm:spPr>
      <dgm:t>
        <a:bodyPr/>
        <a:lstStyle/>
        <a:p>
          <a:r>
            <a:rPr lang="en-US" sz="1200" b="1" dirty="0">
              <a:latin typeface="Arial" pitchFamily="34" charset="0"/>
              <a:cs typeface="Arial" pitchFamily="34" charset="0"/>
            </a:rPr>
            <a:t>Create:</a:t>
          </a:r>
        </a:p>
        <a:p>
          <a:r>
            <a:rPr lang="en-US" sz="1200" b="1" dirty="0">
              <a:latin typeface="Arial" pitchFamily="34" charset="0"/>
              <a:cs typeface="Arial" pitchFamily="34" charset="0"/>
            </a:rPr>
            <a:t>Data Types</a:t>
          </a:r>
        </a:p>
      </dgm:t>
    </dgm:pt>
    <dgm:pt modelId="{AF44FD27-2D92-4A2B-8B76-7BEBE599A6BA}" type="parTrans" cxnId="{0CE27C1F-2AE4-4D7C-B662-DB0116A44F87}">
      <dgm:prSet/>
      <dgm:spPr/>
      <dgm:t>
        <a:bodyPr/>
        <a:lstStyle/>
        <a:p>
          <a:endParaRPr lang="en-US" sz="1200" b="1">
            <a:latin typeface="Arial" pitchFamily="34" charset="0"/>
            <a:cs typeface="Arial" pitchFamily="34" charset="0"/>
          </a:endParaRPr>
        </a:p>
      </dgm:t>
    </dgm:pt>
    <dgm:pt modelId="{6551A98F-65D0-45A0-9940-D3FEEAAF85CC}" type="sibTrans" cxnId="{0CE27C1F-2AE4-4D7C-B662-DB0116A44F87}">
      <dgm:prSet/>
      <dgm:spPr/>
      <dgm:t>
        <a:bodyPr/>
        <a:lstStyle/>
        <a:p>
          <a:endParaRPr lang="en-US" sz="1200" b="1">
            <a:latin typeface="Arial" pitchFamily="34" charset="0"/>
            <a:cs typeface="Arial" pitchFamily="34" charset="0"/>
          </a:endParaRPr>
        </a:p>
      </dgm:t>
    </dgm:pt>
    <dgm:pt modelId="{C3773842-2492-425C-85C4-A9BCE837C076}">
      <dgm:prSet phldrT="[Text]" custT="1"/>
      <dgm:spPr/>
      <dgm:t>
        <a:bodyPr/>
        <a:lstStyle/>
        <a:p>
          <a:r>
            <a:rPr lang="en-US" sz="1200" b="1" dirty="0">
              <a:latin typeface="Arial" pitchFamily="34" charset="0"/>
              <a:cs typeface="Arial" pitchFamily="34" charset="0"/>
            </a:rPr>
            <a:t>CF Examples</a:t>
          </a:r>
        </a:p>
      </dgm:t>
    </dgm:pt>
    <dgm:pt modelId="{EE724449-03CA-462F-9B5B-0A0339AEB07A}" type="parTrans" cxnId="{D26B0FF3-3B53-49ED-996D-8BD71661EA8D}">
      <dgm:prSet/>
      <dgm:spPr/>
      <dgm:t>
        <a:bodyPr/>
        <a:lstStyle/>
        <a:p>
          <a:endParaRPr lang="en-US" sz="1200"/>
        </a:p>
      </dgm:t>
    </dgm:pt>
    <dgm:pt modelId="{49FDFCB0-9CDF-4B3B-BAC2-F65DFB1BEA16}" type="sibTrans" cxnId="{D26B0FF3-3B53-49ED-996D-8BD71661EA8D}">
      <dgm:prSet/>
      <dgm:spPr/>
      <dgm:t>
        <a:bodyPr/>
        <a:lstStyle/>
        <a:p>
          <a:endParaRPr lang="en-US" sz="1200"/>
        </a:p>
      </dgm:t>
    </dgm:pt>
    <dgm:pt modelId="{F0215667-8AD6-46DD-B926-38354278AB15}">
      <dgm:prSet phldrT="[Text]" custT="1"/>
      <dgm:spPr>
        <a:solidFill>
          <a:schemeClr val="accent1"/>
        </a:solidFill>
      </dgm:spPr>
      <dgm:t>
        <a:bodyPr/>
        <a:lstStyle/>
        <a:p>
          <a:r>
            <a:rPr lang="en-US" sz="1200" b="1" dirty="0">
              <a:latin typeface="Arial" pitchFamily="34" charset="0"/>
              <a:cs typeface="Arial" pitchFamily="34" charset="0"/>
            </a:rPr>
            <a:t>Create: </a:t>
          </a:r>
        </a:p>
        <a:p>
          <a:r>
            <a:rPr lang="en-US" sz="1200" b="1" dirty="0">
              <a:latin typeface="Arial" pitchFamily="34" charset="0"/>
              <a:cs typeface="Arial" pitchFamily="34" charset="0"/>
            </a:rPr>
            <a:t>Others</a:t>
          </a:r>
        </a:p>
      </dgm:t>
    </dgm:pt>
    <dgm:pt modelId="{BB3CA96B-F01C-4AF6-ADC2-7B11D7E1EF00}" type="parTrans" cxnId="{EF2BB435-5310-410D-B3B9-283481069433}">
      <dgm:prSet/>
      <dgm:spPr/>
      <dgm:t>
        <a:bodyPr/>
        <a:lstStyle/>
        <a:p>
          <a:endParaRPr lang="en-US" sz="1200"/>
        </a:p>
      </dgm:t>
    </dgm:pt>
    <dgm:pt modelId="{93F6F0AA-478B-40EF-90FB-4EBB0E2BDF52}" type="sibTrans" cxnId="{EF2BB435-5310-410D-B3B9-283481069433}">
      <dgm:prSet/>
      <dgm:spPr/>
      <dgm:t>
        <a:bodyPr/>
        <a:lstStyle/>
        <a:p>
          <a:endParaRPr lang="en-US" sz="1200"/>
        </a:p>
      </dgm:t>
    </dgm:pt>
    <dgm:pt modelId="{4DF76ABE-916A-4799-8355-41E0EE6EA75C}" type="pres">
      <dgm:prSet presAssocID="{D55C145C-C1EA-49D3-AF7A-10FC07826E55}" presName="Name0" presStyleCnt="0">
        <dgm:presLayoutVars>
          <dgm:dir/>
          <dgm:animLvl val="lvl"/>
          <dgm:resizeHandles val="exact"/>
        </dgm:presLayoutVars>
      </dgm:prSet>
      <dgm:spPr/>
    </dgm:pt>
    <dgm:pt modelId="{68B7DD49-A2E7-4149-B736-AEA38898245F}" type="pres">
      <dgm:prSet presAssocID="{5DBA71B9-660D-4ABD-9DD5-07688FCEEE53}" presName="parTxOnly" presStyleLbl="node1" presStyleIdx="0" presStyleCnt="5">
        <dgm:presLayoutVars>
          <dgm:chMax val="0"/>
          <dgm:chPref val="0"/>
          <dgm:bulletEnabled val="1"/>
        </dgm:presLayoutVars>
      </dgm:prSet>
      <dgm:spPr/>
    </dgm:pt>
    <dgm:pt modelId="{9EA38286-BC47-45AF-93A5-BD59D963CD81}" type="pres">
      <dgm:prSet presAssocID="{D2A8EC26-DFC7-4CB3-93E0-EB21F48407DB}" presName="parTxOnlySpace" presStyleCnt="0"/>
      <dgm:spPr/>
    </dgm:pt>
    <dgm:pt modelId="{40E5442F-3D59-48C6-AE48-128464F0AB1C}" type="pres">
      <dgm:prSet presAssocID="{40B6CBC9-D811-477F-A17E-746512CDA590}" presName="parTxOnly" presStyleLbl="node1" presStyleIdx="1" presStyleCnt="5">
        <dgm:presLayoutVars>
          <dgm:chMax val="0"/>
          <dgm:chPref val="0"/>
          <dgm:bulletEnabled val="1"/>
        </dgm:presLayoutVars>
      </dgm:prSet>
      <dgm:spPr/>
    </dgm:pt>
    <dgm:pt modelId="{C0792017-5FB6-4003-AF9C-3746C668F745}" type="pres">
      <dgm:prSet presAssocID="{A7B60D79-C81C-4B86-981C-7606D410CDD1}" presName="parTxOnlySpace" presStyleCnt="0"/>
      <dgm:spPr/>
    </dgm:pt>
    <dgm:pt modelId="{1F809EAB-37F7-44EA-9FD7-CD6ECC5052A6}" type="pres">
      <dgm:prSet presAssocID="{6CA264EE-0598-4972-926E-9A3B6FB099C0}" presName="parTxOnly" presStyleLbl="node1" presStyleIdx="2" presStyleCnt="5">
        <dgm:presLayoutVars>
          <dgm:chMax val="0"/>
          <dgm:chPref val="0"/>
          <dgm:bulletEnabled val="1"/>
        </dgm:presLayoutVars>
      </dgm:prSet>
      <dgm:spPr/>
    </dgm:pt>
    <dgm:pt modelId="{E9F2AB98-7C11-4BC0-8EC8-D8F02AD3E95A}" type="pres">
      <dgm:prSet presAssocID="{6551A98F-65D0-45A0-9940-D3FEEAAF85CC}" presName="parTxOnlySpace" presStyleCnt="0"/>
      <dgm:spPr/>
    </dgm:pt>
    <dgm:pt modelId="{FCCABAEC-95D4-4D25-A3EF-8DD8017AC7E7}" type="pres">
      <dgm:prSet presAssocID="{F0215667-8AD6-46DD-B926-38354278AB15}" presName="parTxOnly" presStyleLbl="node1" presStyleIdx="3" presStyleCnt="5">
        <dgm:presLayoutVars>
          <dgm:chMax val="0"/>
          <dgm:chPref val="0"/>
          <dgm:bulletEnabled val="1"/>
        </dgm:presLayoutVars>
      </dgm:prSet>
      <dgm:spPr/>
    </dgm:pt>
    <dgm:pt modelId="{6C9FC3A6-CEA6-4C4E-8D99-A9AA78A29C2C}" type="pres">
      <dgm:prSet presAssocID="{93F6F0AA-478B-40EF-90FB-4EBB0E2BDF52}" presName="parTxOnlySpace" presStyleCnt="0"/>
      <dgm:spPr/>
    </dgm:pt>
    <dgm:pt modelId="{87FD189D-4DA7-4073-8EA5-33170F22134E}" type="pres">
      <dgm:prSet presAssocID="{C3773842-2492-425C-85C4-A9BCE837C076}" presName="parTxOnly" presStyleLbl="node1" presStyleIdx="4" presStyleCnt="5">
        <dgm:presLayoutVars>
          <dgm:chMax val="0"/>
          <dgm:chPref val="0"/>
          <dgm:bulletEnabled val="1"/>
        </dgm:presLayoutVars>
      </dgm:prSet>
      <dgm:spPr/>
    </dgm:pt>
  </dgm:ptLst>
  <dgm:cxnLst>
    <dgm:cxn modelId="{0CE27C1F-2AE4-4D7C-B662-DB0116A44F87}" srcId="{D55C145C-C1EA-49D3-AF7A-10FC07826E55}" destId="{6CA264EE-0598-4972-926E-9A3B6FB099C0}" srcOrd="2" destOrd="0" parTransId="{AF44FD27-2D92-4A2B-8B76-7BEBE599A6BA}" sibTransId="{6551A98F-65D0-45A0-9940-D3FEEAAF85CC}"/>
    <dgm:cxn modelId="{18EC572B-112E-4D7D-8DFA-C8A14B2BA3C0}" type="presOf" srcId="{C3773842-2492-425C-85C4-A9BCE837C076}" destId="{87FD189D-4DA7-4073-8EA5-33170F22134E}" srcOrd="0" destOrd="0" presId="urn:microsoft.com/office/officeart/2005/8/layout/chevron1"/>
    <dgm:cxn modelId="{EF2BB435-5310-410D-B3B9-283481069433}" srcId="{D55C145C-C1EA-49D3-AF7A-10FC07826E55}" destId="{F0215667-8AD6-46DD-B926-38354278AB15}" srcOrd="3" destOrd="0" parTransId="{BB3CA96B-F01C-4AF6-ADC2-7B11D7E1EF00}" sibTransId="{93F6F0AA-478B-40EF-90FB-4EBB0E2BDF52}"/>
    <dgm:cxn modelId="{B2C83F42-989A-4730-B2C5-45E3D4971615}" type="presOf" srcId="{5DBA71B9-660D-4ABD-9DD5-07688FCEEE53}" destId="{68B7DD49-A2E7-4149-B736-AEA38898245F}" srcOrd="0" destOrd="0" presId="urn:microsoft.com/office/officeart/2005/8/layout/chevron1"/>
    <dgm:cxn modelId="{AB247364-5F72-49C8-8931-F8B65857D790}" type="presOf" srcId="{6CA264EE-0598-4972-926E-9A3B6FB099C0}" destId="{1F809EAB-37F7-44EA-9FD7-CD6ECC5052A6}" srcOrd="0" destOrd="0" presId="urn:microsoft.com/office/officeart/2005/8/layout/chevron1"/>
    <dgm:cxn modelId="{3CCB1A76-C2B2-4302-A770-C302C3FF1280}" type="presOf" srcId="{F0215667-8AD6-46DD-B926-38354278AB15}" destId="{FCCABAEC-95D4-4D25-A3EF-8DD8017AC7E7}" srcOrd="0" destOrd="0" presId="urn:microsoft.com/office/officeart/2005/8/layout/chevron1"/>
    <dgm:cxn modelId="{60FE3DC8-1377-4889-9831-FFE54D2B95A3}" srcId="{D55C145C-C1EA-49D3-AF7A-10FC07826E55}" destId="{5DBA71B9-660D-4ABD-9DD5-07688FCEEE53}" srcOrd="0" destOrd="0" parTransId="{C4AEE7AD-1303-4FCF-BD26-CB59910678EA}" sibTransId="{D2A8EC26-DFC7-4CB3-93E0-EB21F48407DB}"/>
    <dgm:cxn modelId="{7A88E7D9-FAC3-4944-AF6A-2C61EB015C92}" srcId="{D55C145C-C1EA-49D3-AF7A-10FC07826E55}" destId="{40B6CBC9-D811-477F-A17E-746512CDA590}" srcOrd="1" destOrd="0" parTransId="{9322A3D9-616F-480A-AF87-7844E3C452EC}" sibTransId="{A7B60D79-C81C-4B86-981C-7606D410CDD1}"/>
    <dgm:cxn modelId="{F1EDCCE3-816F-4604-9949-D52E0CA43D36}" type="presOf" srcId="{40B6CBC9-D811-477F-A17E-746512CDA590}" destId="{40E5442F-3D59-48C6-AE48-128464F0AB1C}" srcOrd="0" destOrd="0" presId="urn:microsoft.com/office/officeart/2005/8/layout/chevron1"/>
    <dgm:cxn modelId="{D26B0FF3-3B53-49ED-996D-8BD71661EA8D}" srcId="{D55C145C-C1EA-49D3-AF7A-10FC07826E55}" destId="{C3773842-2492-425C-85C4-A9BCE837C076}" srcOrd="4" destOrd="0" parTransId="{EE724449-03CA-462F-9B5B-0A0339AEB07A}" sibTransId="{49FDFCB0-9CDF-4B3B-BAC2-F65DFB1BEA16}"/>
    <dgm:cxn modelId="{AF8D2EFC-F6F3-4B85-BDCC-38B955989FB6}" type="presOf" srcId="{D55C145C-C1EA-49D3-AF7A-10FC07826E55}" destId="{4DF76ABE-916A-4799-8355-41E0EE6EA75C}" srcOrd="0" destOrd="0" presId="urn:microsoft.com/office/officeart/2005/8/layout/chevron1"/>
    <dgm:cxn modelId="{2B5114B5-BA60-4245-9DB2-EF6353FBF58A}" type="presParOf" srcId="{4DF76ABE-916A-4799-8355-41E0EE6EA75C}" destId="{68B7DD49-A2E7-4149-B736-AEA38898245F}" srcOrd="0" destOrd="0" presId="urn:microsoft.com/office/officeart/2005/8/layout/chevron1"/>
    <dgm:cxn modelId="{7ED412ED-E176-4442-B38F-A4282EDB3FB7}" type="presParOf" srcId="{4DF76ABE-916A-4799-8355-41E0EE6EA75C}" destId="{9EA38286-BC47-45AF-93A5-BD59D963CD81}" srcOrd="1" destOrd="0" presId="urn:microsoft.com/office/officeart/2005/8/layout/chevron1"/>
    <dgm:cxn modelId="{7D55A8F6-D4E0-45BA-B739-974AA8D72B22}" type="presParOf" srcId="{4DF76ABE-916A-4799-8355-41E0EE6EA75C}" destId="{40E5442F-3D59-48C6-AE48-128464F0AB1C}" srcOrd="2" destOrd="0" presId="urn:microsoft.com/office/officeart/2005/8/layout/chevron1"/>
    <dgm:cxn modelId="{3AB81755-3A12-4640-9D01-CFE13B649D83}" type="presParOf" srcId="{4DF76ABE-916A-4799-8355-41E0EE6EA75C}" destId="{C0792017-5FB6-4003-AF9C-3746C668F745}" srcOrd="3" destOrd="0" presId="urn:microsoft.com/office/officeart/2005/8/layout/chevron1"/>
    <dgm:cxn modelId="{08E7CE5D-5D8A-488D-BD67-79039D0E623D}" type="presParOf" srcId="{4DF76ABE-916A-4799-8355-41E0EE6EA75C}" destId="{1F809EAB-37F7-44EA-9FD7-CD6ECC5052A6}" srcOrd="4" destOrd="0" presId="urn:microsoft.com/office/officeart/2005/8/layout/chevron1"/>
    <dgm:cxn modelId="{3EC9DABC-AACA-40F0-9845-CD81474CD8B3}" type="presParOf" srcId="{4DF76ABE-916A-4799-8355-41E0EE6EA75C}" destId="{E9F2AB98-7C11-4BC0-8EC8-D8F02AD3E95A}" srcOrd="5" destOrd="0" presId="urn:microsoft.com/office/officeart/2005/8/layout/chevron1"/>
    <dgm:cxn modelId="{7F5D65A7-70E0-4838-9E49-A15D8C560348}" type="presParOf" srcId="{4DF76ABE-916A-4799-8355-41E0EE6EA75C}" destId="{FCCABAEC-95D4-4D25-A3EF-8DD8017AC7E7}" srcOrd="6" destOrd="0" presId="urn:microsoft.com/office/officeart/2005/8/layout/chevron1"/>
    <dgm:cxn modelId="{48C129E0-1561-4739-BD3A-58ED788C0CBC}" type="presParOf" srcId="{4DF76ABE-916A-4799-8355-41E0EE6EA75C}" destId="{6C9FC3A6-CEA6-4C4E-8D99-A9AA78A29C2C}" srcOrd="7" destOrd="0" presId="urn:microsoft.com/office/officeart/2005/8/layout/chevron1"/>
    <dgm:cxn modelId="{2E53380D-F911-4C8A-A691-724055C6285A}" type="presParOf" srcId="{4DF76ABE-916A-4799-8355-41E0EE6EA75C}" destId="{87FD189D-4DA7-4073-8EA5-33170F22134E}"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5C145C-C1EA-49D3-AF7A-10FC07826E55}" type="doc">
      <dgm:prSet loTypeId="urn:microsoft.com/office/officeart/2005/8/layout/chevron1" loCatId="process" qsTypeId="urn:microsoft.com/office/officeart/2005/8/quickstyle/simple1" qsCatId="simple" csTypeId="urn:microsoft.com/office/officeart/2005/8/colors/accent1_2" csCatId="accent1" phldr="1"/>
      <dgm:spPr/>
    </dgm:pt>
    <dgm:pt modelId="{5DBA71B9-660D-4ABD-9DD5-07688FCEEE53}">
      <dgm:prSet phldrT="[Text]" custT="1"/>
      <dgm:spPr>
        <a:solidFill>
          <a:schemeClr val="accent1"/>
        </a:solidFill>
      </dgm:spPr>
      <dgm:t>
        <a:bodyPr/>
        <a:lstStyle/>
        <a:p>
          <a:r>
            <a:rPr lang="en-US" sz="1300" b="1" dirty="0">
              <a:latin typeface="Arial" pitchFamily="34" charset="0"/>
              <a:cs typeface="Arial" pitchFamily="34" charset="0"/>
            </a:rPr>
            <a:t>What is it?</a:t>
          </a:r>
        </a:p>
      </dgm:t>
    </dgm:pt>
    <dgm:pt modelId="{C4AEE7AD-1303-4FCF-BD26-CB59910678EA}" type="parTrans" cxnId="{60FE3DC8-1377-4889-9831-FFE54D2B95A3}">
      <dgm:prSet/>
      <dgm:spPr/>
      <dgm:t>
        <a:bodyPr/>
        <a:lstStyle/>
        <a:p>
          <a:endParaRPr lang="en-US" sz="1300" b="1">
            <a:latin typeface="Arial" pitchFamily="34" charset="0"/>
            <a:cs typeface="Arial" pitchFamily="34" charset="0"/>
          </a:endParaRPr>
        </a:p>
      </dgm:t>
    </dgm:pt>
    <dgm:pt modelId="{D2A8EC26-DFC7-4CB3-93E0-EB21F48407DB}" type="sibTrans" cxnId="{60FE3DC8-1377-4889-9831-FFE54D2B95A3}">
      <dgm:prSet/>
      <dgm:spPr/>
      <dgm:t>
        <a:bodyPr/>
        <a:lstStyle/>
        <a:p>
          <a:endParaRPr lang="en-US" sz="1300" b="1">
            <a:latin typeface="Arial" pitchFamily="34" charset="0"/>
            <a:cs typeface="Arial" pitchFamily="34" charset="0"/>
          </a:endParaRPr>
        </a:p>
      </dgm:t>
    </dgm:pt>
    <dgm:pt modelId="{40B6CBC9-D811-477F-A17E-746512CDA590}">
      <dgm:prSet phldrT="[Text]" custT="1"/>
      <dgm:spPr>
        <a:solidFill>
          <a:schemeClr val="accent1"/>
        </a:solidFill>
      </dgm:spPr>
      <dgm:t>
        <a:bodyPr/>
        <a:lstStyle/>
        <a:p>
          <a:r>
            <a:rPr lang="en-US" sz="1300" b="1" dirty="0">
              <a:latin typeface="Arial" pitchFamily="34" charset="0"/>
              <a:cs typeface="Arial" pitchFamily="34" charset="0"/>
            </a:rPr>
            <a:t>Field Types </a:t>
          </a:r>
        </a:p>
      </dgm:t>
    </dgm:pt>
    <dgm:pt modelId="{9322A3D9-616F-480A-AF87-7844E3C452EC}" type="parTrans" cxnId="{7A88E7D9-FAC3-4944-AF6A-2C61EB015C92}">
      <dgm:prSet/>
      <dgm:spPr/>
      <dgm:t>
        <a:bodyPr/>
        <a:lstStyle/>
        <a:p>
          <a:endParaRPr lang="en-US" sz="1300" b="1">
            <a:latin typeface="Arial" pitchFamily="34" charset="0"/>
            <a:cs typeface="Arial" pitchFamily="34" charset="0"/>
          </a:endParaRPr>
        </a:p>
      </dgm:t>
    </dgm:pt>
    <dgm:pt modelId="{A7B60D79-C81C-4B86-981C-7606D410CDD1}" type="sibTrans" cxnId="{7A88E7D9-FAC3-4944-AF6A-2C61EB015C92}">
      <dgm:prSet/>
      <dgm:spPr/>
      <dgm:t>
        <a:bodyPr/>
        <a:lstStyle/>
        <a:p>
          <a:endParaRPr lang="en-US" sz="1300" b="1">
            <a:latin typeface="Arial" pitchFamily="34" charset="0"/>
            <a:cs typeface="Arial" pitchFamily="34" charset="0"/>
          </a:endParaRPr>
        </a:p>
      </dgm:t>
    </dgm:pt>
    <dgm:pt modelId="{6CA264EE-0598-4972-926E-9A3B6FB099C0}">
      <dgm:prSet phldrT="[Text]" custT="1"/>
      <dgm:spPr>
        <a:solidFill>
          <a:schemeClr val="accent4"/>
        </a:solidFill>
      </dgm:spPr>
      <dgm:t>
        <a:bodyPr/>
        <a:lstStyle/>
        <a:p>
          <a:r>
            <a:rPr lang="en-US" sz="1300" b="1" dirty="0">
              <a:latin typeface="Arial" pitchFamily="34" charset="0"/>
              <a:cs typeface="Arial" pitchFamily="34" charset="0"/>
            </a:rPr>
            <a:t>Data Types</a:t>
          </a:r>
        </a:p>
      </dgm:t>
    </dgm:pt>
    <dgm:pt modelId="{AF44FD27-2D92-4A2B-8B76-7BEBE599A6BA}" type="parTrans" cxnId="{0CE27C1F-2AE4-4D7C-B662-DB0116A44F87}">
      <dgm:prSet/>
      <dgm:spPr/>
      <dgm:t>
        <a:bodyPr/>
        <a:lstStyle/>
        <a:p>
          <a:endParaRPr lang="en-US" sz="1300" b="1">
            <a:latin typeface="Arial" pitchFamily="34" charset="0"/>
            <a:cs typeface="Arial" pitchFamily="34" charset="0"/>
          </a:endParaRPr>
        </a:p>
      </dgm:t>
    </dgm:pt>
    <dgm:pt modelId="{6551A98F-65D0-45A0-9940-D3FEEAAF85CC}" type="sibTrans" cxnId="{0CE27C1F-2AE4-4D7C-B662-DB0116A44F87}">
      <dgm:prSet/>
      <dgm:spPr/>
      <dgm:t>
        <a:bodyPr/>
        <a:lstStyle/>
        <a:p>
          <a:endParaRPr lang="en-US" sz="1300" b="1">
            <a:latin typeface="Arial" pitchFamily="34" charset="0"/>
            <a:cs typeface="Arial" pitchFamily="34" charset="0"/>
          </a:endParaRPr>
        </a:p>
      </dgm:t>
    </dgm:pt>
    <dgm:pt modelId="{2B43F0AD-EB54-4EEC-A9E9-567E3CA871CA}">
      <dgm:prSet phldrT="[Text]" custT="1"/>
      <dgm:spPr/>
      <dgm:t>
        <a:bodyPr/>
        <a:lstStyle/>
        <a:p>
          <a:r>
            <a:rPr lang="en-US" sz="1300" b="1" dirty="0">
              <a:latin typeface="Arial" pitchFamily="34" charset="0"/>
              <a:cs typeface="Arial" pitchFamily="34" charset="0"/>
            </a:rPr>
            <a:t>Creation</a:t>
          </a:r>
        </a:p>
      </dgm:t>
    </dgm:pt>
    <dgm:pt modelId="{BED545D0-CA98-4AC0-801A-3B22924239E4}" type="parTrans" cxnId="{9A2CD09D-30B6-4D0A-AACD-792B41F17C36}">
      <dgm:prSet/>
      <dgm:spPr/>
      <dgm:t>
        <a:bodyPr/>
        <a:lstStyle/>
        <a:p>
          <a:endParaRPr lang="en-US" sz="1300" b="1"/>
        </a:p>
      </dgm:t>
    </dgm:pt>
    <dgm:pt modelId="{DA143253-7FA8-46A6-B339-16C8D7534F24}" type="sibTrans" cxnId="{9A2CD09D-30B6-4D0A-AACD-792B41F17C36}">
      <dgm:prSet/>
      <dgm:spPr/>
      <dgm:t>
        <a:bodyPr/>
        <a:lstStyle/>
        <a:p>
          <a:endParaRPr lang="en-US" sz="1300" b="1"/>
        </a:p>
      </dgm:t>
    </dgm:pt>
    <dgm:pt modelId="{4DF76ABE-916A-4799-8355-41E0EE6EA75C}" type="pres">
      <dgm:prSet presAssocID="{D55C145C-C1EA-49D3-AF7A-10FC07826E55}" presName="Name0" presStyleCnt="0">
        <dgm:presLayoutVars>
          <dgm:dir/>
          <dgm:animLvl val="lvl"/>
          <dgm:resizeHandles val="exact"/>
        </dgm:presLayoutVars>
      </dgm:prSet>
      <dgm:spPr/>
    </dgm:pt>
    <dgm:pt modelId="{68B7DD49-A2E7-4149-B736-AEA38898245F}" type="pres">
      <dgm:prSet presAssocID="{5DBA71B9-660D-4ABD-9DD5-07688FCEEE53}" presName="parTxOnly" presStyleLbl="node1" presStyleIdx="0" presStyleCnt="4">
        <dgm:presLayoutVars>
          <dgm:chMax val="0"/>
          <dgm:chPref val="0"/>
          <dgm:bulletEnabled val="1"/>
        </dgm:presLayoutVars>
      </dgm:prSet>
      <dgm:spPr/>
    </dgm:pt>
    <dgm:pt modelId="{9EA38286-BC47-45AF-93A5-BD59D963CD81}" type="pres">
      <dgm:prSet presAssocID="{D2A8EC26-DFC7-4CB3-93E0-EB21F48407DB}" presName="parTxOnlySpace" presStyleCnt="0"/>
      <dgm:spPr/>
    </dgm:pt>
    <dgm:pt modelId="{40E5442F-3D59-48C6-AE48-128464F0AB1C}" type="pres">
      <dgm:prSet presAssocID="{40B6CBC9-D811-477F-A17E-746512CDA590}" presName="parTxOnly" presStyleLbl="node1" presStyleIdx="1" presStyleCnt="4">
        <dgm:presLayoutVars>
          <dgm:chMax val="0"/>
          <dgm:chPref val="0"/>
          <dgm:bulletEnabled val="1"/>
        </dgm:presLayoutVars>
      </dgm:prSet>
      <dgm:spPr/>
    </dgm:pt>
    <dgm:pt modelId="{C0792017-5FB6-4003-AF9C-3746C668F745}" type="pres">
      <dgm:prSet presAssocID="{A7B60D79-C81C-4B86-981C-7606D410CDD1}" presName="parTxOnlySpace" presStyleCnt="0"/>
      <dgm:spPr/>
    </dgm:pt>
    <dgm:pt modelId="{1F809EAB-37F7-44EA-9FD7-CD6ECC5052A6}" type="pres">
      <dgm:prSet presAssocID="{6CA264EE-0598-4972-926E-9A3B6FB099C0}" presName="parTxOnly" presStyleLbl="node1" presStyleIdx="2" presStyleCnt="4">
        <dgm:presLayoutVars>
          <dgm:chMax val="0"/>
          <dgm:chPref val="0"/>
          <dgm:bulletEnabled val="1"/>
        </dgm:presLayoutVars>
      </dgm:prSet>
      <dgm:spPr/>
    </dgm:pt>
    <dgm:pt modelId="{E9F2AB98-7C11-4BC0-8EC8-D8F02AD3E95A}" type="pres">
      <dgm:prSet presAssocID="{6551A98F-65D0-45A0-9940-D3FEEAAF85CC}" presName="parTxOnlySpace" presStyleCnt="0"/>
      <dgm:spPr/>
    </dgm:pt>
    <dgm:pt modelId="{C17B95D7-2C36-477C-906B-C2FCA9155DDE}" type="pres">
      <dgm:prSet presAssocID="{2B43F0AD-EB54-4EEC-A9E9-567E3CA871CA}" presName="parTxOnly" presStyleLbl="node1" presStyleIdx="3" presStyleCnt="4">
        <dgm:presLayoutVars>
          <dgm:chMax val="0"/>
          <dgm:chPref val="0"/>
          <dgm:bulletEnabled val="1"/>
        </dgm:presLayoutVars>
      </dgm:prSet>
      <dgm:spPr/>
    </dgm:pt>
  </dgm:ptLst>
  <dgm:cxnLst>
    <dgm:cxn modelId="{6F0A0C0C-832D-4D98-B996-B6C67A232183}" type="presOf" srcId="{40B6CBC9-D811-477F-A17E-746512CDA590}" destId="{40E5442F-3D59-48C6-AE48-128464F0AB1C}" srcOrd="0" destOrd="0" presId="urn:microsoft.com/office/officeart/2005/8/layout/chevron1"/>
    <dgm:cxn modelId="{0CE27C1F-2AE4-4D7C-B662-DB0116A44F87}" srcId="{D55C145C-C1EA-49D3-AF7A-10FC07826E55}" destId="{6CA264EE-0598-4972-926E-9A3B6FB099C0}" srcOrd="2" destOrd="0" parTransId="{AF44FD27-2D92-4A2B-8B76-7BEBE599A6BA}" sibTransId="{6551A98F-65D0-45A0-9940-D3FEEAAF85CC}"/>
    <dgm:cxn modelId="{D71B886F-4815-4892-BE52-BF918763A0E5}" type="presOf" srcId="{2B43F0AD-EB54-4EEC-A9E9-567E3CA871CA}" destId="{C17B95D7-2C36-477C-906B-C2FCA9155DDE}" srcOrd="0" destOrd="0" presId="urn:microsoft.com/office/officeart/2005/8/layout/chevron1"/>
    <dgm:cxn modelId="{F3A62682-0518-4E35-81EB-FA4B4C227FC1}" type="presOf" srcId="{D55C145C-C1EA-49D3-AF7A-10FC07826E55}" destId="{4DF76ABE-916A-4799-8355-41E0EE6EA75C}" srcOrd="0" destOrd="0" presId="urn:microsoft.com/office/officeart/2005/8/layout/chevron1"/>
    <dgm:cxn modelId="{9A2CD09D-30B6-4D0A-AACD-792B41F17C36}" srcId="{D55C145C-C1EA-49D3-AF7A-10FC07826E55}" destId="{2B43F0AD-EB54-4EEC-A9E9-567E3CA871CA}" srcOrd="3" destOrd="0" parTransId="{BED545D0-CA98-4AC0-801A-3B22924239E4}" sibTransId="{DA143253-7FA8-46A6-B339-16C8D7534F24}"/>
    <dgm:cxn modelId="{057EC4AE-E4D0-4BFA-8B13-5253FA9DEA7C}" type="presOf" srcId="{5DBA71B9-660D-4ABD-9DD5-07688FCEEE53}" destId="{68B7DD49-A2E7-4149-B736-AEA38898245F}" srcOrd="0" destOrd="0" presId="urn:microsoft.com/office/officeart/2005/8/layout/chevron1"/>
    <dgm:cxn modelId="{60FE3DC8-1377-4889-9831-FFE54D2B95A3}" srcId="{D55C145C-C1EA-49D3-AF7A-10FC07826E55}" destId="{5DBA71B9-660D-4ABD-9DD5-07688FCEEE53}" srcOrd="0" destOrd="0" parTransId="{C4AEE7AD-1303-4FCF-BD26-CB59910678EA}" sibTransId="{D2A8EC26-DFC7-4CB3-93E0-EB21F48407DB}"/>
    <dgm:cxn modelId="{7A88E7D9-FAC3-4944-AF6A-2C61EB015C92}" srcId="{D55C145C-C1EA-49D3-AF7A-10FC07826E55}" destId="{40B6CBC9-D811-477F-A17E-746512CDA590}" srcOrd="1" destOrd="0" parTransId="{9322A3D9-616F-480A-AF87-7844E3C452EC}" sibTransId="{A7B60D79-C81C-4B86-981C-7606D410CDD1}"/>
    <dgm:cxn modelId="{1651E0E9-20A2-41CC-ACB9-B0B842A44B85}" type="presOf" srcId="{6CA264EE-0598-4972-926E-9A3B6FB099C0}" destId="{1F809EAB-37F7-44EA-9FD7-CD6ECC5052A6}" srcOrd="0" destOrd="0" presId="urn:microsoft.com/office/officeart/2005/8/layout/chevron1"/>
    <dgm:cxn modelId="{D264019D-4A66-490D-89DD-19137DC4D256}" type="presParOf" srcId="{4DF76ABE-916A-4799-8355-41E0EE6EA75C}" destId="{68B7DD49-A2E7-4149-B736-AEA38898245F}" srcOrd="0" destOrd="0" presId="urn:microsoft.com/office/officeart/2005/8/layout/chevron1"/>
    <dgm:cxn modelId="{939E3838-3AA6-4C23-8FD0-323BAF520775}" type="presParOf" srcId="{4DF76ABE-916A-4799-8355-41E0EE6EA75C}" destId="{9EA38286-BC47-45AF-93A5-BD59D963CD81}" srcOrd="1" destOrd="0" presId="urn:microsoft.com/office/officeart/2005/8/layout/chevron1"/>
    <dgm:cxn modelId="{C969C081-EB67-4DC5-A6A7-CCD75D4890FC}" type="presParOf" srcId="{4DF76ABE-916A-4799-8355-41E0EE6EA75C}" destId="{40E5442F-3D59-48C6-AE48-128464F0AB1C}" srcOrd="2" destOrd="0" presId="urn:microsoft.com/office/officeart/2005/8/layout/chevron1"/>
    <dgm:cxn modelId="{B0B14969-EB63-45D0-9477-DB7FCED5226C}" type="presParOf" srcId="{4DF76ABE-916A-4799-8355-41E0EE6EA75C}" destId="{C0792017-5FB6-4003-AF9C-3746C668F745}" srcOrd="3" destOrd="0" presId="urn:microsoft.com/office/officeart/2005/8/layout/chevron1"/>
    <dgm:cxn modelId="{A944FCB7-FE44-40AE-B869-7A7ECCDE3F51}" type="presParOf" srcId="{4DF76ABE-916A-4799-8355-41E0EE6EA75C}" destId="{1F809EAB-37F7-44EA-9FD7-CD6ECC5052A6}" srcOrd="4" destOrd="0" presId="urn:microsoft.com/office/officeart/2005/8/layout/chevron1"/>
    <dgm:cxn modelId="{1A80BAE5-3A11-4610-8747-38D941426305}" type="presParOf" srcId="{4DF76ABE-916A-4799-8355-41E0EE6EA75C}" destId="{E9F2AB98-7C11-4BC0-8EC8-D8F02AD3E95A}" srcOrd="5" destOrd="0" presId="urn:microsoft.com/office/officeart/2005/8/layout/chevron1"/>
    <dgm:cxn modelId="{56BE98B2-D0BC-483F-AAE0-488F32F26C82}" type="presParOf" srcId="{4DF76ABE-916A-4799-8355-41E0EE6EA75C}" destId="{C17B95D7-2C36-477C-906B-C2FCA9155DDE}"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55C145C-C1EA-49D3-AF7A-10FC07826E55}" type="doc">
      <dgm:prSet loTypeId="urn:microsoft.com/office/officeart/2005/8/layout/chevron1" loCatId="process" qsTypeId="urn:microsoft.com/office/officeart/2005/8/quickstyle/simple1" qsCatId="simple" csTypeId="urn:microsoft.com/office/officeart/2005/8/colors/accent1_2" csCatId="accent1" phldr="1"/>
      <dgm:spPr/>
    </dgm:pt>
    <dgm:pt modelId="{5DBA71B9-660D-4ABD-9DD5-07688FCEEE53}">
      <dgm:prSet phldrT="[Text]" custT="1"/>
      <dgm:spPr>
        <a:solidFill>
          <a:schemeClr val="accent1"/>
        </a:solidFill>
      </dgm:spPr>
      <dgm:t>
        <a:bodyPr/>
        <a:lstStyle/>
        <a:p>
          <a:r>
            <a:rPr lang="en-US" sz="1200" b="1" dirty="0">
              <a:latin typeface="Arial" pitchFamily="34" charset="0"/>
              <a:cs typeface="Arial" pitchFamily="34" charset="0"/>
            </a:rPr>
            <a:t>What is it? Why use it?</a:t>
          </a:r>
        </a:p>
      </dgm:t>
    </dgm:pt>
    <dgm:pt modelId="{C4AEE7AD-1303-4FCF-BD26-CB59910678EA}" type="parTrans" cxnId="{60FE3DC8-1377-4889-9831-FFE54D2B95A3}">
      <dgm:prSet/>
      <dgm:spPr/>
      <dgm:t>
        <a:bodyPr/>
        <a:lstStyle/>
        <a:p>
          <a:endParaRPr lang="en-US" sz="1200" b="1">
            <a:latin typeface="Arial" pitchFamily="34" charset="0"/>
            <a:cs typeface="Arial" pitchFamily="34" charset="0"/>
          </a:endParaRPr>
        </a:p>
      </dgm:t>
    </dgm:pt>
    <dgm:pt modelId="{D2A8EC26-DFC7-4CB3-93E0-EB21F48407DB}" type="sibTrans" cxnId="{60FE3DC8-1377-4889-9831-FFE54D2B95A3}">
      <dgm:prSet/>
      <dgm:spPr/>
      <dgm:t>
        <a:bodyPr/>
        <a:lstStyle/>
        <a:p>
          <a:endParaRPr lang="en-US" sz="1200" b="1">
            <a:latin typeface="Arial" pitchFamily="34" charset="0"/>
            <a:cs typeface="Arial" pitchFamily="34" charset="0"/>
          </a:endParaRPr>
        </a:p>
      </dgm:t>
    </dgm:pt>
    <dgm:pt modelId="{40B6CBC9-D811-477F-A17E-746512CDA590}">
      <dgm:prSet phldrT="[Text]" custT="1"/>
      <dgm:spPr>
        <a:solidFill>
          <a:schemeClr val="accent1"/>
        </a:solidFill>
      </dgm:spPr>
      <dgm:t>
        <a:bodyPr/>
        <a:lstStyle/>
        <a:p>
          <a:r>
            <a:rPr lang="en-US" sz="1200" b="1" dirty="0">
              <a:latin typeface="Arial" pitchFamily="34" charset="0"/>
              <a:cs typeface="Arial" pitchFamily="34" charset="0"/>
            </a:rPr>
            <a:t>Create:</a:t>
          </a:r>
        </a:p>
        <a:p>
          <a:r>
            <a:rPr lang="en-US" sz="1200" b="1" dirty="0">
              <a:latin typeface="Arial" pitchFamily="34" charset="0"/>
              <a:cs typeface="Arial" pitchFamily="34" charset="0"/>
            </a:rPr>
            <a:t>Field Types </a:t>
          </a:r>
        </a:p>
      </dgm:t>
    </dgm:pt>
    <dgm:pt modelId="{9322A3D9-616F-480A-AF87-7844E3C452EC}" type="parTrans" cxnId="{7A88E7D9-FAC3-4944-AF6A-2C61EB015C92}">
      <dgm:prSet/>
      <dgm:spPr/>
      <dgm:t>
        <a:bodyPr/>
        <a:lstStyle/>
        <a:p>
          <a:endParaRPr lang="en-US" sz="1200" b="1">
            <a:latin typeface="Arial" pitchFamily="34" charset="0"/>
            <a:cs typeface="Arial" pitchFamily="34" charset="0"/>
          </a:endParaRPr>
        </a:p>
      </dgm:t>
    </dgm:pt>
    <dgm:pt modelId="{A7B60D79-C81C-4B86-981C-7606D410CDD1}" type="sibTrans" cxnId="{7A88E7D9-FAC3-4944-AF6A-2C61EB015C92}">
      <dgm:prSet/>
      <dgm:spPr/>
      <dgm:t>
        <a:bodyPr/>
        <a:lstStyle/>
        <a:p>
          <a:endParaRPr lang="en-US" sz="1200" b="1">
            <a:latin typeface="Arial" pitchFamily="34" charset="0"/>
            <a:cs typeface="Arial" pitchFamily="34" charset="0"/>
          </a:endParaRPr>
        </a:p>
      </dgm:t>
    </dgm:pt>
    <dgm:pt modelId="{6CA264EE-0598-4972-926E-9A3B6FB099C0}">
      <dgm:prSet phldrT="[Text]" custT="1"/>
      <dgm:spPr>
        <a:solidFill>
          <a:schemeClr val="accent4"/>
        </a:solidFill>
      </dgm:spPr>
      <dgm:t>
        <a:bodyPr/>
        <a:lstStyle/>
        <a:p>
          <a:r>
            <a:rPr lang="en-US" sz="1200" b="1" dirty="0">
              <a:latin typeface="Arial" pitchFamily="34" charset="0"/>
              <a:cs typeface="Arial" pitchFamily="34" charset="0"/>
            </a:rPr>
            <a:t>Create:</a:t>
          </a:r>
        </a:p>
        <a:p>
          <a:r>
            <a:rPr lang="en-US" sz="1200" b="1" dirty="0">
              <a:latin typeface="Arial" pitchFamily="34" charset="0"/>
              <a:cs typeface="Arial" pitchFamily="34" charset="0"/>
            </a:rPr>
            <a:t>Data Types</a:t>
          </a:r>
        </a:p>
      </dgm:t>
    </dgm:pt>
    <dgm:pt modelId="{AF44FD27-2D92-4A2B-8B76-7BEBE599A6BA}" type="parTrans" cxnId="{0CE27C1F-2AE4-4D7C-B662-DB0116A44F87}">
      <dgm:prSet/>
      <dgm:spPr/>
      <dgm:t>
        <a:bodyPr/>
        <a:lstStyle/>
        <a:p>
          <a:endParaRPr lang="en-US" sz="1200" b="1">
            <a:latin typeface="Arial" pitchFamily="34" charset="0"/>
            <a:cs typeface="Arial" pitchFamily="34" charset="0"/>
          </a:endParaRPr>
        </a:p>
      </dgm:t>
    </dgm:pt>
    <dgm:pt modelId="{6551A98F-65D0-45A0-9940-D3FEEAAF85CC}" type="sibTrans" cxnId="{0CE27C1F-2AE4-4D7C-B662-DB0116A44F87}">
      <dgm:prSet/>
      <dgm:spPr/>
      <dgm:t>
        <a:bodyPr/>
        <a:lstStyle/>
        <a:p>
          <a:endParaRPr lang="en-US" sz="1200" b="1">
            <a:latin typeface="Arial" pitchFamily="34" charset="0"/>
            <a:cs typeface="Arial" pitchFamily="34" charset="0"/>
          </a:endParaRPr>
        </a:p>
      </dgm:t>
    </dgm:pt>
    <dgm:pt modelId="{C3773842-2492-425C-85C4-A9BCE837C076}">
      <dgm:prSet phldrT="[Text]" custT="1"/>
      <dgm:spPr/>
      <dgm:t>
        <a:bodyPr/>
        <a:lstStyle/>
        <a:p>
          <a:r>
            <a:rPr lang="en-US" sz="1200" b="1" dirty="0">
              <a:latin typeface="Arial" pitchFamily="34" charset="0"/>
              <a:cs typeface="Arial" pitchFamily="34" charset="0"/>
            </a:rPr>
            <a:t>CF Examples</a:t>
          </a:r>
        </a:p>
      </dgm:t>
    </dgm:pt>
    <dgm:pt modelId="{EE724449-03CA-462F-9B5B-0A0339AEB07A}" type="parTrans" cxnId="{D26B0FF3-3B53-49ED-996D-8BD71661EA8D}">
      <dgm:prSet/>
      <dgm:spPr/>
      <dgm:t>
        <a:bodyPr/>
        <a:lstStyle/>
        <a:p>
          <a:endParaRPr lang="en-US" sz="1200"/>
        </a:p>
      </dgm:t>
    </dgm:pt>
    <dgm:pt modelId="{49FDFCB0-9CDF-4B3B-BAC2-F65DFB1BEA16}" type="sibTrans" cxnId="{D26B0FF3-3B53-49ED-996D-8BD71661EA8D}">
      <dgm:prSet/>
      <dgm:spPr/>
      <dgm:t>
        <a:bodyPr/>
        <a:lstStyle/>
        <a:p>
          <a:endParaRPr lang="en-US" sz="1200"/>
        </a:p>
      </dgm:t>
    </dgm:pt>
    <dgm:pt modelId="{F0215667-8AD6-46DD-B926-38354278AB15}">
      <dgm:prSet phldrT="[Text]" custT="1"/>
      <dgm:spPr>
        <a:solidFill>
          <a:schemeClr val="accent1"/>
        </a:solidFill>
      </dgm:spPr>
      <dgm:t>
        <a:bodyPr/>
        <a:lstStyle/>
        <a:p>
          <a:r>
            <a:rPr lang="en-US" sz="1200" b="1" dirty="0">
              <a:latin typeface="Arial" pitchFamily="34" charset="0"/>
              <a:cs typeface="Arial" pitchFamily="34" charset="0"/>
            </a:rPr>
            <a:t>Create: </a:t>
          </a:r>
        </a:p>
        <a:p>
          <a:r>
            <a:rPr lang="en-US" sz="1200" b="1" dirty="0">
              <a:latin typeface="Arial" pitchFamily="34" charset="0"/>
              <a:cs typeface="Arial" pitchFamily="34" charset="0"/>
            </a:rPr>
            <a:t>Others</a:t>
          </a:r>
        </a:p>
      </dgm:t>
    </dgm:pt>
    <dgm:pt modelId="{BB3CA96B-F01C-4AF6-ADC2-7B11D7E1EF00}" type="parTrans" cxnId="{EF2BB435-5310-410D-B3B9-283481069433}">
      <dgm:prSet/>
      <dgm:spPr/>
      <dgm:t>
        <a:bodyPr/>
        <a:lstStyle/>
        <a:p>
          <a:endParaRPr lang="en-US" sz="1200"/>
        </a:p>
      </dgm:t>
    </dgm:pt>
    <dgm:pt modelId="{93F6F0AA-478B-40EF-90FB-4EBB0E2BDF52}" type="sibTrans" cxnId="{EF2BB435-5310-410D-B3B9-283481069433}">
      <dgm:prSet/>
      <dgm:spPr/>
      <dgm:t>
        <a:bodyPr/>
        <a:lstStyle/>
        <a:p>
          <a:endParaRPr lang="en-US" sz="1200"/>
        </a:p>
      </dgm:t>
    </dgm:pt>
    <dgm:pt modelId="{4DF76ABE-916A-4799-8355-41E0EE6EA75C}" type="pres">
      <dgm:prSet presAssocID="{D55C145C-C1EA-49D3-AF7A-10FC07826E55}" presName="Name0" presStyleCnt="0">
        <dgm:presLayoutVars>
          <dgm:dir/>
          <dgm:animLvl val="lvl"/>
          <dgm:resizeHandles val="exact"/>
        </dgm:presLayoutVars>
      </dgm:prSet>
      <dgm:spPr/>
    </dgm:pt>
    <dgm:pt modelId="{68B7DD49-A2E7-4149-B736-AEA38898245F}" type="pres">
      <dgm:prSet presAssocID="{5DBA71B9-660D-4ABD-9DD5-07688FCEEE53}" presName="parTxOnly" presStyleLbl="node1" presStyleIdx="0" presStyleCnt="5">
        <dgm:presLayoutVars>
          <dgm:chMax val="0"/>
          <dgm:chPref val="0"/>
          <dgm:bulletEnabled val="1"/>
        </dgm:presLayoutVars>
      </dgm:prSet>
      <dgm:spPr/>
    </dgm:pt>
    <dgm:pt modelId="{9EA38286-BC47-45AF-93A5-BD59D963CD81}" type="pres">
      <dgm:prSet presAssocID="{D2A8EC26-DFC7-4CB3-93E0-EB21F48407DB}" presName="parTxOnlySpace" presStyleCnt="0"/>
      <dgm:spPr/>
    </dgm:pt>
    <dgm:pt modelId="{40E5442F-3D59-48C6-AE48-128464F0AB1C}" type="pres">
      <dgm:prSet presAssocID="{40B6CBC9-D811-477F-A17E-746512CDA590}" presName="parTxOnly" presStyleLbl="node1" presStyleIdx="1" presStyleCnt="5">
        <dgm:presLayoutVars>
          <dgm:chMax val="0"/>
          <dgm:chPref val="0"/>
          <dgm:bulletEnabled val="1"/>
        </dgm:presLayoutVars>
      </dgm:prSet>
      <dgm:spPr/>
    </dgm:pt>
    <dgm:pt modelId="{C0792017-5FB6-4003-AF9C-3746C668F745}" type="pres">
      <dgm:prSet presAssocID="{A7B60D79-C81C-4B86-981C-7606D410CDD1}" presName="parTxOnlySpace" presStyleCnt="0"/>
      <dgm:spPr/>
    </dgm:pt>
    <dgm:pt modelId="{1F809EAB-37F7-44EA-9FD7-CD6ECC5052A6}" type="pres">
      <dgm:prSet presAssocID="{6CA264EE-0598-4972-926E-9A3B6FB099C0}" presName="parTxOnly" presStyleLbl="node1" presStyleIdx="2" presStyleCnt="5">
        <dgm:presLayoutVars>
          <dgm:chMax val="0"/>
          <dgm:chPref val="0"/>
          <dgm:bulletEnabled val="1"/>
        </dgm:presLayoutVars>
      </dgm:prSet>
      <dgm:spPr/>
    </dgm:pt>
    <dgm:pt modelId="{E9F2AB98-7C11-4BC0-8EC8-D8F02AD3E95A}" type="pres">
      <dgm:prSet presAssocID="{6551A98F-65D0-45A0-9940-D3FEEAAF85CC}" presName="parTxOnlySpace" presStyleCnt="0"/>
      <dgm:spPr/>
    </dgm:pt>
    <dgm:pt modelId="{FCCABAEC-95D4-4D25-A3EF-8DD8017AC7E7}" type="pres">
      <dgm:prSet presAssocID="{F0215667-8AD6-46DD-B926-38354278AB15}" presName="parTxOnly" presStyleLbl="node1" presStyleIdx="3" presStyleCnt="5">
        <dgm:presLayoutVars>
          <dgm:chMax val="0"/>
          <dgm:chPref val="0"/>
          <dgm:bulletEnabled val="1"/>
        </dgm:presLayoutVars>
      </dgm:prSet>
      <dgm:spPr/>
    </dgm:pt>
    <dgm:pt modelId="{6C9FC3A6-CEA6-4C4E-8D99-A9AA78A29C2C}" type="pres">
      <dgm:prSet presAssocID="{93F6F0AA-478B-40EF-90FB-4EBB0E2BDF52}" presName="parTxOnlySpace" presStyleCnt="0"/>
      <dgm:spPr/>
    </dgm:pt>
    <dgm:pt modelId="{87FD189D-4DA7-4073-8EA5-33170F22134E}" type="pres">
      <dgm:prSet presAssocID="{C3773842-2492-425C-85C4-A9BCE837C076}" presName="parTxOnly" presStyleLbl="node1" presStyleIdx="4" presStyleCnt="5">
        <dgm:presLayoutVars>
          <dgm:chMax val="0"/>
          <dgm:chPref val="0"/>
          <dgm:bulletEnabled val="1"/>
        </dgm:presLayoutVars>
      </dgm:prSet>
      <dgm:spPr/>
    </dgm:pt>
  </dgm:ptLst>
  <dgm:cxnLst>
    <dgm:cxn modelId="{D3A93108-5656-4C4E-B884-6B6003E0B307}" type="presOf" srcId="{5DBA71B9-660D-4ABD-9DD5-07688FCEEE53}" destId="{68B7DD49-A2E7-4149-B736-AEA38898245F}" srcOrd="0" destOrd="0" presId="urn:microsoft.com/office/officeart/2005/8/layout/chevron1"/>
    <dgm:cxn modelId="{0CE27C1F-2AE4-4D7C-B662-DB0116A44F87}" srcId="{D55C145C-C1EA-49D3-AF7A-10FC07826E55}" destId="{6CA264EE-0598-4972-926E-9A3B6FB099C0}" srcOrd="2" destOrd="0" parTransId="{AF44FD27-2D92-4A2B-8B76-7BEBE599A6BA}" sibTransId="{6551A98F-65D0-45A0-9940-D3FEEAAF85CC}"/>
    <dgm:cxn modelId="{346DF22D-C73C-4CB3-8E75-0AB1FD7A3958}" type="presOf" srcId="{6CA264EE-0598-4972-926E-9A3B6FB099C0}" destId="{1F809EAB-37F7-44EA-9FD7-CD6ECC5052A6}" srcOrd="0" destOrd="0" presId="urn:microsoft.com/office/officeart/2005/8/layout/chevron1"/>
    <dgm:cxn modelId="{EF2BB435-5310-410D-B3B9-283481069433}" srcId="{D55C145C-C1EA-49D3-AF7A-10FC07826E55}" destId="{F0215667-8AD6-46DD-B926-38354278AB15}" srcOrd="3" destOrd="0" parTransId="{BB3CA96B-F01C-4AF6-ADC2-7B11D7E1EF00}" sibTransId="{93F6F0AA-478B-40EF-90FB-4EBB0E2BDF52}"/>
    <dgm:cxn modelId="{EFF44371-192D-43CC-8B6E-07AB50F279AF}" type="presOf" srcId="{40B6CBC9-D811-477F-A17E-746512CDA590}" destId="{40E5442F-3D59-48C6-AE48-128464F0AB1C}" srcOrd="0" destOrd="0" presId="urn:microsoft.com/office/officeart/2005/8/layout/chevron1"/>
    <dgm:cxn modelId="{E89C1453-3724-4601-9F47-EF62F12A60B2}" type="presOf" srcId="{D55C145C-C1EA-49D3-AF7A-10FC07826E55}" destId="{4DF76ABE-916A-4799-8355-41E0EE6EA75C}" srcOrd="0" destOrd="0" presId="urn:microsoft.com/office/officeart/2005/8/layout/chevron1"/>
    <dgm:cxn modelId="{55EB378A-B0BA-4E68-AC85-66E93D1BFC0D}" type="presOf" srcId="{F0215667-8AD6-46DD-B926-38354278AB15}" destId="{FCCABAEC-95D4-4D25-A3EF-8DD8017AC7E7}" srcOrd="0" destOrd="0" presId="urn:microsoft.com/office/officeart/2005/8/layout/chevron1"/>
    <dgm:cxn modelId="{60FE3DC8-1377-4889-9831-FFE54D2B95A3}" srcId="{D55C145C-C1EA-49D3-AF7A-10FC07826E55}" destId="{5DBA71B9-660D-4ABD-9DD5-07688FCEEE53}" srcOrd="0" destOrd="0" parTransId="{C4AEE7AD-1303-4FCF-BD26-CB59910678EA}" sibTransId="{D2A8EC26-DFC7-4CB3-93E0-EB21F48407DB}"/>
    <dgm:cxn modelId="{438947D6-8B16-46FD-8A44-3CC055956F38}" type="presOf" srcId="{C3773842-2492-425C-85C4-A9BCE837C076}" destId="{87FD189D-4DA7-4073-8EA5-33170F22134E}" srcOrd="0" destOrd="0" presId="urn:microsoft.com/office/officeart/2005/8/layout/chevron1"/>
    <dgm:cxn modelId="{7A88E7D9-FAC3-4944-AF6A-2C61EB015C92}" srcId="{D55C145C-C1EA-49D3-AF7A-10FC07826E55}" destId="{40B6CBC9-D811-477F-A17E-746512CDA590}" srcOrd="1" destOrd="0" parTransId="{9322A3D9-616F-480A-AF87-7844E3C452EC}" sibTransId="{A7B60D79-C81C-4B86-981C-7606D410CDD1}"/>
    <dgm:cxn modelId="{D26B0FF3-3B53-49ED-996D-8BD71661EA8D}" srcId="{D55C145C-C1EA-49D3-AF7A-10FC07826E55}" destId="{C3773842-2492-425C-85C4-A9BCE837C076}" srcOrd="4" destOrd="0" parTransId="{EE724449-03CA-462F-9B5B-0A0339AEB07A}" sibTransId="{49FDFCB0-9CDF-4B3B-BAC2-F65DFB1BEA16}"/>
    <dgm:cxn modelId="{7A41F340-F8CE-4E53-8261-DDE5F8BE7CD7}" type="presParOf" srcId="{4DF76ABE-916A-4799-8355-41E0EE6EA75C}" destId="{68B7DD49-A2E7-4149-B736-AEA38898245F}" srcOrd="0" destOrd="0" presId="urn:microsoft.com/office/officeart/2005/8/layout/chevron1"/>
    <dgm:cxn modelId="{25AB0FD6-BD90-40D9-B6F7-B109687C4805}" type="presParOf" srcId="{4DF76ABE-916A-4799-8355-41E0EE6EA75C}" destId="{9EA38286-BC47-45AF-93A5-BD59D963CD81}" srcOrd="1" destOrd="0" presId="urn:microsoft.com/office/officeart/2005/8/layout/chevron1"/>
    <dgm:cxn modelId="{359F073C-F97B-4007-82D6-B9EB40802CC5}" type="presParOf" srcId="{4DF76ABE-916A-4799-8355-41E0EE6EA75C}" destId="{40E5442F-3D59-48C6-AE48-128464F0AB1C}" srcOrd="2" destOrd="0" presId="urn:microsoft.com/office/officeart/2005/8/layout/chevron1"/>
    <dgm:cxn modelId="{E89A4A59-8869-4B39-8711-363163F66284}" type="presParOf" srcId="{4DF76ABE-916A-4799-8355-41E0EE6EA75C}" destId="{C0792017-5FB6-4003-AF9C-3746C668F745}" srcOrd="3" destOrd="0" presId="urn:microsoft.com/office/officeart/2005/8/layout/chevron1"/>
    <dgm:cxn modelId="{F709F60C-589F-4AC9-9C9A-06CB5C037252}" type="presParOf" srcId="{4DF76ABE-916A-4799-8355-41E0EE6EA75C}" destId="{1F809EAB-37F7-44EA-9FD7-CD6ECC5052A6}" srcOrd="4" destOrd="0" presId="urn:microsoft.com/office/officeart/2005/8/layout/chevron1"/>
    <dgm:cxn modelId="{A8F449F8-880D-41CF-99E9-045934D82C88}" type="presParOf" srcId="{4DF76ABE-916A-4799-8355-41E0EE6EA75C}" destId="{E9F2AB98-7C11-4BC0-8EC8-D8F02AD3E95A}" srcOrd="5" destOrd="0" presId="urn:microsoft.com/office/officeart/2005/8/layout/chevron1"/>
    <dgm:cxn modelId="{13E59FD4-B5B8-4686-8272-5849F78D17A6}" type="presParOf" srcId="{4DF76ABE-916A-4799-8355-41E0EE6EA75C}" destId="{FCCABAEC-95D4-4D25-A3EF-8DD8017AC7E7}" srcOrd="6" destOrd="0" presId="urn:microsoft.com/office/officeart/2005/8/layout/chevron1"/>
    <dgm:cxn modelId="{6408EEC2-F23F-407E-8A06-FBF6F46526CE}" type="presParOf" srcId="{4DF76ABE-916A-4799-8355-41E0EE6EA75C}" destId="{6C9FC3A6-CEA6-4C4E-8D99-A9AA78A29C2C}" srcOrd="7" destOrd="0" presId="urn:microsoft.com/office/officeart/2005/8/layout/chevron1"/>
    <dgm:cxn modelId="{3930BC05-9598-4A02-9EDF-261C74618A62}" type="presParOf" srcId="{4DF76ABE-916A-4799-8355-41E0EE6EA75C}" destId="{87FD189D-4DA7-4073-8EA5-33170F22134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5C145C-C1EA-49D3-AF7A-10FC07826E55}" type="doc">
      <dgm:prSet loTypeId="urn:microsoft.com/office/officeart/2005/8/layout/chevron1" loCatId="process" qsTypeId="urn:microsoft.com/office/officeart/2005/8/quickstyle/simple1" qsCatId="simple" csTypeId="urn:microsoft.com/office/officeart/2005/8/colors/accent1_2" csCatId="accent1" phldr="1"/>
      <dgm:spPr/>
    </dgm:pt>
    <dgm:pt modelId="{5DBA71B9-660D-4ABD-9DD5-07688FCEEE53}">
      <dgm:prSet phldrT="[Text]" custT="1"/>
      <dgm:spPr>
        <a:solidFill>
          <a:schemeClr val="accent1"/>
        </a:solidFill>
      </dgm:spPr>
      <dgm:t>
        <a:bodyPr/>
        <a:lstStyle/>
        <a:p>
          <a:r>
            <a:rPr lang="en-US" sz="1200" b="1" dirty="0">
              <a:latin typeface="Arial" pitchFamily="34" charset="0"/>
              <a:cs typeface="Arial" pitchFamily="34" charset="0"/>
            </a:rPr>
            <a:t>What is it? Why use it?</a:t>
          </a:r>
        </a:p>
      </dgm:t>
    </dgm:pt>
    <dgm:pt modelId="{C4AEE7AD-1303-4FCF-BD26-CB59910678EA}" type="parTrans" cxnId="{60FE3DC8-1377-4889-9831-FFE54D2B95A3}">
      <dgm:prSet/>
      <dgm:spPr/>
      <dgm:t>
        <a:bodyPr/>
        <a:lstStyle/>
        <a:p>
          <a:endParaRPr lang="en-US" sz="1200" b="1">
            <a:latin typeface="Arial" pitchFamily="34" charset="0"/>
            <a:cs typeface="Arial" pitchFamily="34" charset="0"/>
          </a:endParaRPr>
        </a:p>
      </dgm:t>
    </dgm:pt>
    <dgm:pt modelId="{D2A8EC26-DFC7-4CB3-93E0-EB21F48407DB}" type="sibTrans" cxnId="{60FE3DC8-1377-4889-9831-FFE54D2B95A3}">
      <dgm:prSet/>
      <dgm:spPr/>
      <dgm:t>
        <a:bodyPr/>
        <a:lstStyle/>
        <a:p>
          <a:endParaRPr lang="en-US" sz="1200" b="1">
            <a:latin typeface="Arial" pitchFamily="34" charset="0"/>
            <a:cs typeface="Arial" pitchFamily="34" charset="0"/>
          </a:endParaRPr>
        </a:p>
      </dgm:t>
    </dgm:pt>
    <dgm:pt modelId="{40B6CBC9-D811-477F-A17E-746512CDA590}">
      <dgm:prSet phldrT="[Text]" custT="1"/>
      <dgm:spPr>
        <a:solidFill>
          <a:schemeClr val="accent1"/>
        </a:solidFill>
      </dgm:spPr>
      <dgm:t>
        <a:bodyPr/>
        <a:lstStyle/>
        <a:p>
          <a:r>
            <a:rPr lang="en-US" sz="1200" b="1" dirty="0">
              <a:latin typeface="Arial" pitchFamily="34" charset="0"/>
              <a:cs typeface="Arial" pitchFamily="34" charset="0"/>
            </a:rPr>
            <a:t>Create:</a:t>
          </a:r>
        </a:p>
        <a:p>
          <a:r>
            <a:rPr lang="en-US" sz="1200" b="1" dirty="0">
              <a:latin typeface="Arial" pitchFamily="34" charset="0"/>
              <a:cs typeface="Arial" pitchFamily="34" charset="0"/>
            </a:rPr>
            <a:t>Field Types </a:t>
          </a:r>
        </a:p>
      </dgm:t>
    </dgm:pt>
    <dgm:pt modelId="{9322A3D9-616F-480A-AF87-7844E3C452EC}" type="parTrans" cxnId="{7A88E7D9-FAC3-4944-AF6A-2C61EB015C92}">
      <dgm:prSet/>
      <dgm:spPr/>
      <dgm:t>
        <a:bodyPr/>
        <a:lstStyle/>
        <a:p>
          <a:endParaRPr lang="en-US" sz="1200" b="1">
            <a:latin typeface="Arial" pitchFamily="34" charset="0"/>
            <a:cs typeface="Arial" pitchFamily="34" charset="0"/>
          </a:endParaRPr>
        </a:p>
      </dgm:t>
    </dgm:pt>
    <dgm:pt modelId="{A7B60D79-C81C-4B86-981C-7606D410CDD1}" type="sibTrans" cxnId="{7A88E7D9-FAC3-4944-AF6A-2C61EB015C92}">
      <dgm:prSet/>
      <dgm:spPr/>
      <dgm:t>
        <a:bodyPr/>
        <a:lstStyle/>
        <a:p>
          <a:endParaRPr lang="en-US" sz="1200" b="1">
            <a:latin typeface="Arial" pitchFamily="34" charset="0"/>
            <a:cs typeface="Arial" pitchFamily="34" charset="0"/>
          </a:endParaRPr>
        </a:p>
      </dgm:t>
    </dgm:pt>
    <dgm:pt modelId="{6CA264EE-0598-4972-926E-9A3B6FB099C0}">
      <dgm:prSet phldrT="[Text]" custT="1"/>
      <dgm:spPr>
        <a:solidFill>
          <a:schemeClr val="accent1"/>
        </a:solidFill>
      </dgm:spPr>
      <dgm:t>
        <a:bodyPr/>
        <a:lstStyle/>
        <a:p>
          <a:r>
            <a:rPr lang="en-US" sz="1200" b="1" dirty="0">
              <a:latin typeface="Arial" pitchFamily="34" charset="0"/>
              <a:cs typeface="Arial" pitchFamily="34" charset="0"/>
            </a:rPr>
            <a:t>Create:</a:t>
          </a:r>
        </a:p>
        <a:p>
          <a:r>
            <a:rPr lang="en-US" sz="1200" b="1" dirty="0">
              <a:latin typeface="Arial" pitchFamily="34" charset="0"/>
              <a:cs typeface="Arial" pitchFamily="34" charset="0"/>
            </a:rPr>
            <a:t>Data Types</a:t>
          </a:r>
        </a:p>
      </dgm:t>
    </dgm:pt>
    <dgm:pt modelId="{AF44FD27-2D92-4A2B-8B76-7BEBE599A6BA}" type="parTrans" cxnId="{0CE27C1F-2AE4-4D7C-B662-DB0116A44F87}">
      <dgm:prSet/>
      <dgm:spPr/>
      <dgm:t>
        <a:bodyPr/>
        <a:lstStyle/>
        <a:p>
          <a:endParaRPr lang="en-US" sz="1200" b="1">
            <a:latin typeface="Arial" pitchFamily="34" charset="0"/>
            <a:cs typeface="Arial" pitchFamily="34" charset="0"/>
          </a:endParaRPr>
        </a:p>
      </dgm:t>
    </dgm:pt>
    <dgm:pt modelId="{6551A98F-65D0-45A0-9940-D3FEEAAF85CC}" type="sibTrans" cxnId="{0CE27C1F-2AE4-4D7C-B662-DB0116A44F87}">
      <dgm:prSet/>
      <dgm:spPr/>
      <dgm:t>
        <a:bodyPr/>
        <a:lstStyle/>
        <a:p>
          <a:endParaRPr lang="en-US" sz="1200" b="1">
            <a:latin typeface="Arial" pitchFamily="34" charset="0"/>
            <a:cs typeface="Arial" pitchFamily="34" charset="0"/>
          </a:endParaRPr>
        </a:p>
      </dgm:t>
    </dgm:pt>
    <dgm:pt modelId="{C3773842-2492-425C-85C4-A9BCE837C076}">
      <dgm:prSet phldrT="[Text]" custT="1"/>
      <dgm:spPr>
        <a:solidFill>
          <a:schemeClr val="accent4"/>
        </a:solidFill>
      </dgm:spPr>
      <dgm:t>
        <a:bodyPr/>
        <a:lstStyle/>
        <a:p>
          <a:r>
            <a:rPr lang="en-US" sz="1200" b="1" dirty="0">
              <a:latin typeface="Arial" pitchFamily="34" charset="0"/>
              <a:cs typeface="Arial" pitchFamily="34" charset="0"/>
            </a:rPr>
            <a:t>CF Examples</a:t>
          </a:r>
        </a:p>
      </dgm:t>
    </dgm:pt>
    <dgm:pt modelId="{EE724449-03CA-462F-9B5B-0A0339AEB07A}" type="parTrans" cxnId="{D26B0FF3-3B53-49ED-996D-8BD71661EA8D}">
      <dgm:prSet/>
      <dgm:spPr/>
      <dgm:t>
        <a:bodyPr/>
        <a:lstStyle/>
        <a:p>
          <a:endParaRPr lang="en-US" sz="1200"/>
        </a:p>
      </dgm:t>
    </dgm:pt>
    <dgm:pt modelId="{49FDFCB0-9CDF-4B3B-BAC2-F65DFB1BEA16}" type="sibTrans" cxnId="{D26B0FF3-3B53-49ED-996D-8BD71661EA8D}">
      <dgm:prSet/>
      <dgm:spPr/>
      <dgm:t>
        <a:bodyPr/>
        <a:lstStyle/>
        <a:p>
          <a:endParaRPr lang="en-US" sz="1200"/>
        </a:p>
      </dgm:t>
    </dgm:pt>
    <dgm:pt modelId="{F0215667-8AD6-46DD-B926-38354278AB15}">
      <dgm:prSet phldrT="[Text]" custT="1"/>
      <dgm:spPr>
        <a:solidFill>
          <a:schemeClr val="accent1"/>
        </a:solidFill>
      </dgm:spPr>
      <dgm:t>
        <a:bodyPr/>
        <a:lstStyle/>
        <a:p>
          <a:r>
            <a:rPr lang="en-US" sz="1200" b="1" dirty="0">
              <a:latin typeface="Arial" pitchFamily="34" charset="0"/>
              <a:cs typeface="Arial" pitchFamily="34" charset="0"/>
            </a:rPr>
            <a:t>Create: </a:t>
          </a:r>
        </a:p>
        <a:p>
          <a:r>
            <a:rPr lang="en-US" sz="1200" b="1" dirty="0">
              <a:latin typeface="Arial" pitchFamily="34" charset="0"/>
              <a:cs typeface="Arial" pitchFamily="34" charset="0"/>
            </a:rPr>
            <a:t>Others</a:t>
          </a:r>
        </a:p>
      </dgm:t>
    </dgm:pt>
    <dgm:pt modelId="{BB3CA96B-F01C-4AF6-ADC2-7B11D7E1EF00}" type="parTrans" cxnId="{EF2BB435-5310-410D-B3B9-283481069433}">
      <dgm:prSet/>
      <dgm:spPr/>
      <dgm:t>
        <a:bodyPr/>
        <a:lstStyle/>
        <a:p>
          <a:endParaRPr lang="en-US" sz="1200"/>
        </a:p>
      </dgm:t>
    </dgm:pt>
    <dgm:pt modelId="{93F6F0AA-478B-40EF-90FB-4EBB0E2BDF52}" type="sibTrans" cxnId="{EF2BB435-5310-410D-B3B9-283481069433}">
      <dgm:prSet/>
      <dgm:spPr/>
      <dgm:t>
        <a:bodyPr/>
        <a:lstStyle/>
        <a:p>
          <a:endParaRPr lang="en-US" sz="1200"/>
        </a:p>
      </dgm:t>
    </dgm:pt>
    <dgm:pt modelId="{4DF76ABE-916A-4799-8355-41E0EE6EA75C}" type="pres">
      <dgm:prSet presAssocID="{D55C145C-C1EA-49D3-AF7A-10FC07826E55}" presName="Name0" presStyleCnt="0">
        <dgm:presLayoutVars>
          <dgm:dir/>
          <dgm:animLvl val="lvl"/>
          <dgm:resizeHandles val="exact"/>
        </dgm:presLayoutVars>
      </dgm:prSet>
      <dgm:spPr/>
    </dgm:pt>
    <dgm:pt modelId="{68B7DD49-A2E7-4149-B736-AEA38898245F}" type="pres">
      <dgm:prSet presAssocID="{5DBA71B9-660D-4ABD-9DD5-07688FCEEE53}" presName="parTxOnly" presStyleLbl="node1" presStyleIdx="0" presStyleCnt="5">
        <dgm:presLayoutVars>
          <dgm:chMax val="0"/>
          <dgm:chPref val="0"/>
          <dgm:bulletEnabled val="1"/>
        </dgm:presLayoutVars>
      </dgm:prSet>
      <dgm:spPr/>
    </dgm:pt>
    <dgm:pt modelId="{9EA38286-BC47-45AF-93A5-BD59D963CD81}" type="pres">
      <dgm:prSet presAssocID="{D2A8EC26-DFC7-4CB3-93E0-EB21F48407DB}" presName="parTxOnlySpace" presStyleCnt="0"/>
      <dgm:spPr/>
    </dgm:pt>
    <dgm:pt modelId="{40E5442F-3D59-48C6-AE48-128464F0AB1C}" type="pres">
      <dgm:prSet presAssocID="{40B6CBC9-D811-477F-A17E-746512CDA590}" presName="parTxOnly" presStyleLbl="node1" presStyleIdx="1" presStyleCnt="5">
        <dgm:presLayoutVars>
          <dgm:chMax val="0"/>
          <dgm:chPref val="0"/>
          <dgm:bulletEnabled val="1"/>
        </dgm:presLayoutVars>
      </dgm:prSet>
      <dgm:spPr/>
    </dgm:pt>
    <dgm:pt modelId="{C0792017-5FB6-4003-AF9C-3746C668F745}" type="pres">
      <dgm:prSet presAssocID="{A7B60D79-C81C-4B86-981C-7606D410CDD1}" presName="parTxOnlySpace" presStyleCnt="0"/>
      <dgm:spPr/>
    </dgm:pt>
    <dgm:pt modelId="{1F809EAB-37F7-44EA-9FD7-CD6ECC5052A6}" type="pres">
      <dgm:prSet presAssocID="{6CA264EE-0598-4972-926E-9A3B6FB099C0}" presName="parTxOnly" presStyleLbl="node1" presStyleIdx="2" presStyleCnt="5">
        <dgm:presLayoutVars>
          <dgm:chMax val="0"/>
          <dgm:chPref val="0"/>
          <dgm:bulletEnabled val="1"/>
        </dgm:presLayoutVars>
      </dgm:prSet>
      <dgm:spPr/>
    </dgm:pt>
    <dgm:pt modelId="{E9F2AB98-7C11-4BC0-8EC8-D8F02AD3E95A}" type="pres">
      <dgm:prSet presAssocID="{6551A98F-65D0-45A0-9940-D3FEEAAF85CC}" presName="parTxOnlySpace" presStyleCnt="0"/>
      <dgm:spPr/>
    </dgm:pt>
    <dgm:pt modelId="{FCCABAEC-95D4-4D25-A3EF-8DD8017AC7E7}" type="pres">
      <dgm:prSet presAssocID="{F0215667-8AD6-46DD-B926-38354278AB15}" presName="parTxOnly" presStyleLbl="node1" presStyleIdx="3" presStyleCnt="5">
        <dgm:presLayoutVars>
          <dgm:chMax val="0"/>
          <dgm:chPref val="0"/>
          <dgm:bulletEnabled val="1"/>
        </dgm:presLayoutVars>
      </dgm:prSet>
      <dgm:spPr/>
    </dgm:pt>
    <dgm:pt modelId="{6C9FC3A6-CEA6-4C4E-8D99-A9AA78A29C2C}" type="pres">
      <dgm:prSet presAssocID="{93F6F0AA-478B-40EF-90FB-4EBB0E2BDF52}" presName="parTxOnlySpace" presStyleCnt="0"/>
      <dgm:spPr/>
    </dgm:pt>
    <dgm:pt modelId="{87FD189D-4DA7-4073-8EA5-33170F22134E}" type="pres">
      <dgm:prSet presAssocID="{C3773842-2492-425C-85C4-A9BCE837C076}" presName="parTxOnly" presStyleLbl="node1" presStyleIdx="4" presStyleCnt="5">
        <dgm:presLayoutVars>
          <dgm:chMax val="0"/>
          <dgm:chPref val="0"/>
          <dgm:bulletEnabled val="1"/>
        </dgm:presLayoutVars>
      </dgm:prSet>
      <dgm:spPr/>
    </dgm:pt>
  </dgm:ptLst>
  <dgm:cxnLst>
    <dgm:cxn modelId="{0CE27C1F-2AE4-4D7C-B662-DB0116A44F87}" srcId="{D55C145C-C1EA-49D3-AF7A-10FC07826E55}" destId="{6CA264EE-0598-4972-926E-9A3B6FB099C0}" srcOrd="2" destOrd="0" parTransId="{AF44FD27-2D92-4A2B-8B76-7BEBE599A6BA}" sibTransId="{6551A98F-65D0-45A0-9940-D3FEEAAF85CC}"/>
    <dgm:cxn modelId="{F7362835-8B48-4285-8016-ADFE560CA5D3}" type="presOf" srcId="{F0215667-8AD6-46DD-B926-38354278AB15}" destId="{FCCABAEC-95D4-4D25-A3EF-8DD8017AC7E7}" srcOrd="0" destOrd="0" presId="urn:microsoft.com/office/officeart/2005/8/layout/chevron1"/>
    <dgm:cxn modelId="{EF2BB435-5310-410D-B3B9-283481069433}" srcId="{D55C145C-C1EA-49D3-AF7A-10FC07826E55}" destId="{F0215667-8AD6-46DD-B926-38354278AB15}" srcOrd="3" destOrd="0" parTransId="{BB3CA96B-F01C-4AF6-ADC2-7B11D7E1EF00}" sibTransId="{93F6F0AA-478B-40EF-90FB-4EBB0E2BDF52}"/>
    <dgm:cxn modelId="{0384945B-5053-4BAD-801C-C4B30440E1E8}" type="presOf" srcId="{D55C145C-C1EA-49D3-AF7A-10FC07826E55}" destId="{4DF76ABE-916A-4799-8355-41E0EE6EA75C}" srcOrd="0" destOrd="0" presId="urn:microsoft.com/office/officeart/2005/8/layout/chevron1"/>
    <dgm:cxn modelId="{175B895D-9602-48DD-AC69-8F2434AFDF6D}" type="presOf" srcId="{40B6CBC9-D811-477F-A17E-746512CDA590}" destId="{40E5442F-3D59-48C6-AE48-128464F0AB1C}" srcOrd="0" destOrd="0" presId="urn:microsoft.com/office/officeart/2005/8/layout/chevron1"/>
    <dgm:cxn modelId="{8AB2936D-CF54-473E-A0C4-791B3397CD14}" type="presOf" srcId="{C3773842-2492-425C-85C4-A9BCE837C076}" destId="{87FD189D-4DA7-4073-8EA5-33170F22134E}" srcOrd="0" destOrd="0" presId="urn:microsoft.com/office/officeart/2005/8/layout/chevron1"/>
    <dgm:cxn modelId="{39252F9C-C0BD-47DD-8127-F8F92EDF0BC4}" type="presOf" srcId="{6CA264EE-0598-4972-926E-9A3B6FB099C0}" destId="{1F809EAB-37F7-44EA-9FD7-CD6ECC5052A6}" srcOrd="0" destOrd="0" presId="urn:microsoft.com/office/officeart/2005/8/layout/chevron1"/>
    <dgm:cxn modelId="{60FE3DC8-1377-4889-9831-FFE54D2B95A3}" srcId="{D55C145C-C1EA-49D3-AF7A-10FC07826E55}" destId="{5DBA71B9-660D-4ABD-9DD5-07688FCEEE53}" srcOrd="0" destOrd="0" parTransId="{C4AEE7AD-1303-4FCF-BD26-CB59910678EA}" sibTransId="{D2A8EC26-DFC7-4CB3-93E0-EB21F48407DB}"/>
    <dgm:cxn modelId="{1D5279D6-9289-4CA6-96A0-512B6A017712}" type="presOf" srcId="{5DBA71B9-660D-4ABD-9DD5-07688FCEEE53}" destId="{68B7DD49-A2E7-4149-B736-AEA38898245F}" srcOrd="0" destOrd="0" presId="urn:microsoft.com/office/officeart/2005/8/layout/chevron1"/>
    <dgm:cxn modelId="{7A88E7D9-FAC3-4944-AF6A-2C61EB015C92}" srcId="{D55C145C-C1EA-49D3-AF7A-10FC07826E55}" destId="{40B6CBC9-D811-477F-A17E-746512CDA590}" srcOrd="1" destOrd="0" parTransId="{9322A3D9-616F-480A-AF87-7844E3C452EC}" sibTransId="{A7B60D79-C81C-4B86-981C-7606D410CDD1}"/>
    <dgm:cxn modelId="{D26B0FF3-3B53-49ED-996D-8BD71661EA8D}" srcId="{D55C145C-C1EA-49D3-AF7A-10FC07826E55}" destId="{C3773842-2492-425C-85C4-A9BCE837C076}" srcOrd="4" destOrd="0" parTransId="{EE724449-03CA-462F-9B5B-0A0339AEB07A}" sibTransId="{49FDFCB0-9CDF-4B3B-BAC2-F65DFB1BEA16}"/>
    <dgm:cxn modelId="{B767F7B9-C5AB-49A1-8D9E-DFC7DB1BEE3B}" type="presParOf" srcId="{4DF76ABE-916A-4799-8355-41E0EE6EA75C}" destId="{68B7DD49-A2E7-4149-B736-AEA38898245F}" srcOrd="0" destOrd="0" presId="urn:microsoft.com/office/officeart/2005/8/layout/chevron1"/>
    <dgm:cxn modelId="{85057781-318D-46D9-9446-D22EBC46ABD7}" type="presParOf" srcId="{4DF76ABE-916A-4799-8355-41E0EE6EA75C}" destId="{9EA38286-BC47-45AF-93A5-BD59D963CD81}" srcOrd="1" destOrd="0" presId="urn:microsoft.com/office/officeart/2005/8/layout/chevron1"/>
    <dgm:cxn modelId="{B3861254-A75D-490C-89D6-2621BA50F51A}" type="presParOf" srcId="{4DF76ABE-916A-4799-8355-41E0EE6EA75C}" destId="{40E5442F-3D59-48C6-AE48-128464F0AB1C}" srcOrd="2" destOrd="0" presId="urn:microsoft.com/office/officeart/2005/8/layout/chevron1"/>
    <dgm:cxn modelId="{E7A484D4-6D8F-40CD-86CF-C82279D7426D}" type="presParOf" srcId="{4DF76ABE-916A-4799-8355-41E0EE6EA75C}" destId="{C0792017-5FB6-4003-AF9C-3746C668F745}" srcOrd="3" destOrd="0" presId="urn:microsoft.com/office/officeart/2005/8/layout/chevron1"/>
    <dgm:cxn modelId="{D8690B74-18BA-4BEE-AB77-CF52EACD11CE}" type="presParOf" srcId="{4DF76ABE-916A-4799-8355-41E0EE6EA75C}" destId="{1F809EAB-37F7-44EA-9FD7-CD6ECC5052A6}" srcOrd="4" destOrd="0" presId="urn:microsoft.com/office/officeart/2005/8/layout/chevron1"/>
    <dgm:cxn modelId="{62523876-E6A3-4283-B103-36B7A246376C}" type="presParOf" srcId="{4DF76ABE-916A-4799-8355-41E0EE6EA75C}" destId="{E9F2AB98-7C11-4BC0-8EC8-D8F02AD3E95A}" srcOrd="5" destOrd="0" presId="urn:microsoft.com/office/officeart/2005/8/layout/chevron1"/>
    <dgm:cxn modelId="{D9609161-14EF-425D-AFE0-4DE3F6B59E37}" type="presParOf" srcId="{4DF76ABE-916A-4799-8355-41E0EE6EA75C}" destId="{FCCABAEC-95D4-4D25-A3EF-8DD8017AC7E7}" srcOrd="6" destOrd="0" presId="urn:microsoft.com/office/officeart/2005/8/layout/chevron1"/>
    <dgm:cxn modelId="{649B101F-D368-4A1B-BF34-F14D7DFB4B69}" type="presParOf" srcId="{4DF76ABE-916A-4799-8355-41E0EE6EA75C}" destId="{6C9FC3A6-CEA6-4C4E-8D99-A9AA78A29C2C}" srcOrd="7" destOrd="0" presId="urn:microsoft.com/office/officeart/2005/8/layout/chevron1"/>
    <dgm:cxn modelId="{583EF892-5279-4D87-B032-20ACD5C001DE}" type="presParOf" srcId="{4DF76ABE-916A-4799-8355-41E0EE6EA75C}" destId="{87FD189D-4DA7-4073-8EA5-33170F22134E}"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7DD49-A2E7-4149-B736-AEA38898245F}">
      <dsp:nvSpPr>
        <dsp:cNvPr id="0" name=""/>
        <dsp:cNvSpPr/>
      </dsp:nvSpPr>
      <dsp:spPr>
        <a:xfrm>
          <a:off x="1623"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What is it? Why use it?</a:t>
          </a:r>
        </a:p>
      </dsp:txBody>
      <dsp:txXfrm>
        <a:off x="232367" y="0"/>
        <a:ext cx="983179" cy="461487"/>
      </dsp:txXfrm>
    </dsp:sp>
    <dsp:sp modelId="{40E5442F-3D59-48C6-AE48-128464F0AB1C}">
      <dsp:nvSpPr>
        <dsp:cNvPr id="0" name=""/>
        <dsp:cNvSpPr/>
      </dsp:nvSpPr>
      <dsp:spPr>
        <a:xfrm>
          <a:off x="1301823" y="0"/>
          <a:ext cx="1444666" cy="461487"/>
        </a:xfrm>
        <a:prstGeom prst="chevr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Field Types </a:t>
          </a:r>
        </a:p>
      </dsp:txBody>
      <dsp:txXfrm>
        <a:off x="1532567" y="0"/>
        <a:ext cx="983179" cy="461487"/>
      </dsp:txXfrm>
    </dsp:sp>
    <dsp:sp modelId="{1F809EAB-37F7-44EA-9FD7-CD6ECC5052A6}">
      <dsp:nvSpPr>
        <dsp:cNvPr id="0" name=""/>
        <dsp:cNvSpPr/>
      </dsp:nvSpPr>
      <dsp:spPr>
        <a:xfrm>
          <a:off x="2602022" y="0"/>
          <a:ext cx="1444666" cy="461487"/>
        </a:xfrm>
        <a:prstGeom prst="chevr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Data Types</a:t>
          </a:r>
        </a:p>
      </dsp:txBody>
      <dsp:txXfrm>
        <a:off x="2832766" y="0"/>
        <a:ext cx="983179" cy="461487"/>
      </dsp:txXfrm>
    </dsp:sp>
    <dsp:sp modelId="{FCCABAEC-95D4-4D25-A3EF-8DD8017AC7E7}">
      <dsp:nvSpPr>
        <dsp:cNvPr id="0" name=""/>
        <dsp:cNvSpPr/>
      </dsp:nvSpPr>
      <dsp:spPr>
        <a:xfrm>
          <a:off x="3902222" y="0"/>
          <a:ext cx="1444666" cy="461487"/>
        </a:xfrm>
        <a:prstGeom prst="chevr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 </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Others</a:t>
          </a:r>
        </a:p>
      </dsp:txBody>
      <dsp:txXfrm>
        <a:off x="4132966" y="0"/>
        <a:ext cx="983179" cy="461487"/>
      </dsp:txXfrm>
    </dsp:sp>
    <dsp:sp modelId="{87FD189D-4DA7-4073-8EA5-33170F22134E}">
      <dsp:nvSpPr>
        <dsp:cNvPr id="0" name=""/>
        <dsp:cNvSpPr/>
      </dsp:nvSpPr>
      <dsp:spPr>
        <a:xfrm>
          <a:off x="5202422" y="0"/>
          <a:ext cx="1444666" cy="4614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CF Examples</a:t>
          </a:r>
        </a:p>
      </dsp:txBody>
      <dsp:txXfrm>
        <a:off x="5433166" y="0"/>
        <a:ext cx="983179" cy="4614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7DD49-A2E7-4149-B736-AEA38898245F}">
      <dsp:nvSpPr>
        <dsp:cNvPr id="0" name=""/>
        <dsp:cNvSpPr/>
      </dsp:nvSpPr>
      <dsp:spPr>
        <a:xfrm>
          <a:off x="1623"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What is it? Why use it?</a:t>
          </a:r>
        </a:p>
      </dsp:txBody>
      <dsp:txXfrm>
        <a:off x="232367" y="0"/>
        <a:ext cx="983179" cy="461487"/>
      </dsp:txXfrm>
    </dsp:sp>
    <dsp:sp modelId="{40E5442F-3D59-48C6-AE48-128464F0AB1C}">
      <dsp:nvSpPr>
        <dsp:cNvPr id="0" name=""/>
        <dsp:cNvSpPr/>
      </dsp:nvSpPr>
      <dsp:spPr>
        <a:xfrm>
          <a:off x="1301823" y="0"/>
          <a:ext cx="1444666" cy="461487"/>
        </a:xfrm>
        <a:prstGeom prst="chevr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Field Types </a:t>
          </a:r>
        </a:p>
      </dsp:txBody>
      <dsp:txXfrm>
        <a:off x="1532567" y="0"/>
        <a:ext cx="983179" cy="461487"/>
      </dsp:txXfrm>
    </dsp:sp>
    <dsp:sp modelId="{1F809EAB-37F7-44EA-9FD7-CD6ECC5052A6}">
      <dsp:nvSpPr>
        <dsp:cNvPr id="0" name=""/>
        <dsp:cNvSpPr/>
      </dsp:nvSpPr>
      <dsp:spPr>
        <a:xfrm>
          <a:off x="2602022"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Data Types</a:t>
          </a:r>
        </a:p>
      </dsp:txBody>
      <dsp:txXfrm>
        <a:off x="2832766" y="0"/>
        <a:ext cx="983179" cy="461487"/>
      </dsp:txXfrm>
    </dsp:sp>
    <dsp:sp modelId="{FCCABAEC-95D4-4D25-A3EF-8DD8017AC7E7}">
      <dsp:nvSpPr>
        <dsp:cNvPr id="0" name=""/>
        <dsp:cNvSpPr/>
      </dsp:nvSpPr>
      <dsp:spPr>
        <a:xfrm>
          <a:off x="3902222"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 </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Others</a:t>
          </a:r>
        </a:p>
      </dsp:txBody>
      <dsp:txXfrm>
        <a:off x="4132966" y="0"/>
        <a:ext cx="983179" cy="461487"/>
      </dsp:txXfrm>
    </dsp:sp>
    <dsp:sp modelId="{87FD189D-4DA7-4073-8EA5-33170F22134E}">
      <dsp:nvSpPr>
        <dsp:cNvPr id="0" name=""/>
        <dsp:cNvSpPr/>
      </dsp:nvSpPr>
      <dsp:spPr>
        <a:xfrm>
          <a:off x="5202422" y="0"/>
          <a:ext cx="1444666" cy="4614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CF Examples</a:t>
          </a:r>
        </a:p>
      </dsp:txBody>
      <dsp:txXfrm>
        <a:off x="5433166" y="0"/>
        <a:ext cx="983179" cy="4614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7DD49-A2E7-4149-B736-AEA38898245F}">
      <dsp:nvSpPr>
        <dsp:cNvPr id="0" name=""/>
        <dsp:cNvSpPr/>
      </dsp:nvSpPr>
      <dsp:spPr>
        <a:xfrm>
          <a:off x="1623"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What is it? Why use it?</a:t>
          </a:r>
        </a:p>
      </dsp:txBody>
      <dsp:txXfrm>
        <a:off x="232367" y="0"/>
        <a:ext cx="983179" cy="461487"/>
      </dsp:txXfrm>
    </dsp:sp>
    <dsp:sp modelId="{40E5442F-3D59-48C6-AE48-128464F0AB1C}">
      <dsp:nvSpPr>
        <dsp:cNvPr id="0" name=""/>
        <dsp:cNvSpPr/>
      </dsp:nvSpPr>
      <dsp:spPr>
        <a:xfrm>
          <a:off x="1301823"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Field Types </a:t>
          </a:r>
        </a:p>
      </dsp:txBody>
      <dsp:txXfrm>
        <a:off x="1532567" y="0"/>
        <a:ext cx="983179" cy="461487"/>
      </dsp:txXfrm>
    </dsp:sp>
    <dsp:sp modelId="{1F809EAB-37F7-44EA-9FD7-CD6ECC5052A6}">
      <dsp:nvSpPr>
        <dsp:cNvPr id="0" name=""/>
        <dsp:cNvSpPr/>
      </dsp:nvSpPr>
      <dsp:spPr>
        <a:xfrm>
          <a:off x="2602022" y="0"/>
          <a:ext cx="1444666" cy="461487"/>
        </a:xfrm>
        <a:prstGeom prst="chevr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Data Types</a:t>
          </a:r>
        </a:p>
      </dsp:txBody>
      <dsp:txXfrm>
        <a:off x="2832766" y="0"/>
        <a:ext cx="983179" cy="461487"/>
      </dsp:txXfrm>
    </dsp:sp>
    <dsp:sp modelId="{FCCABAEC-95D4-4D25-A3EF-8DD8017AC7E7}">
      <dsp:nvSpPr>
        <dsp:cNvPr id="0" name=""/>
        <dsp:cNvSpPr/>
      </dsp:nvSpPr>
      <dsp:spPr>
        <a:xfrm>
          <a:off x="3902222"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 </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Others</a:t>
          </a:r>
        </a:p>
      </dsp:txBody>
      <dsp:txXfrm>
        <a:off x="4132966" y="0"/>
        <a:ext cx="983179" cy="461487"/>
      </dsp:txXfrm>
    </dsp:sp>
    <dsp:sp modelId="{87FD189D-4DA7-4073-8EA5-33170F22134E}">
      <dsp:nvSpPr>
        <dsp:cNvPr id="0" name=""/>
        <dsp:cNvSpPr/>
      </dsp:nvSpPr>
      <dsp:spPr>
        <a:xfrm>
          <a:off x="5202422" y="0"/>
          <a:ext cx="1444666" cy="4614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CF Examples</a:t>
          </a:r>
        </a:p>
      </dsp:txBody>
      <dsp:txXfrm>
        <a:off x="5433166" y="0"/>
        <a:ext cx="983179" cy="4614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7DD49-A2E7-4149-B736-AEA38898245F}">
      <dsp:nvSpPr>
        <dsp:cNvPr id="0" name=""/>
        <dsp:cNvSpPr/>
      </dsp:nvSpPr>
      <dsp:spPr>
        <a:xfrm>
          <a:off x="2827" y="0"/>
          <a:ext cx="1646039"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itchFamily="34" charset="0"/>
              <a:cs typeface="Arial" pitchFamily="34" charset="0"/>
            </a:rPr>
            <a:t>What is it?</a:t>
          </a:r>
        </a:p>
      </dsp:txBody>
      <dsp:txXfrm>
        <a:off x="233571" y="0"/>
        <a:ext cx="1184552" cy="461487"/>
      </dsp:txXfrm>
    </dsp:sp>
    <dsp:sp modelId="{40E5442F-3D59-48C6-AE48-128464F0AB1C}">
      <dsp:nvSpPr>
        <dsp:cNvPr id="0" name=""/>
        <dsp:cNvSpPr/>
      </dsp:nvSpPr>
      <dsp:spPr>
        <a:xfrm>
          <a:off x="1484262" y="0"/>
          <a:ext cx="1646039"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itchFamily="34" charset="0"/>
              <a:cs typeface="Arial" pitchFamily="34" charset="0"/>
            </a:rPr>
            <a:t>Field Types </a:t>
          </a:r>
        </a:p>
      </dsp:txBody>
      <dsp:txXfrm>
        <a:off x="1715006" y="0"/>
        <a:ext cx="1184552" cy="461487"/>
      </dsp:txXfrm>
    </dsp:sp>
    <dsp:sp modelId="{1F809EAB-37F7-44EA-9FD7-CD6ECC5052A6}">
      <dsp:nvSpPr>
        <dsp:cNvPr id="0" name=""/>
        <dsp:cNvSpPr/>
      </dsp:nvSpPr>
      <dsp:spPr>
        <a:xfrm>
          <a:off x="2965698" y="0"/>
          <a:ext cx="1646039" cy="461487"/>
        </a:xfrm>
        <a:prstGeom prst="chevr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itchFamily="34" charset="0"/>
              <a:cs typeface="Arial" pitchFamily="34" charset="0"/>
            </a:rPr>
            <a:t>Data Types</a:t>
          </a:r>
        </a:p>
      </dsp:txBody>
      <dsp:txXfrm>
        <a:off x="3196442" y="0"/>
        <a:ext cx="1184552" cy="461487"/>
      </dsp:txXfrm>
    </dsp:sp>
    <dsp:sp modelId="{C17B95D7-2C36-477C-906B-C2FCA9155DDE}">
      <dsp:nvSpPr>
        <dsp:cNvPr id="0" name=""/>
        <dsp:cNvSpPr/>
      </dsp:nvSpPr>
      <dsp:spPr>
        <a:xfrm>
          <a:off x="4447133" y="0"/>
          <a:ext cx="1646039" cy="4614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Arial" pitchFamily="34" charset="0"/>
              <a:cs typeface="Arial" pitchFamily="34" charset="0"/>
            </a:rPr>
            <a:t>Creation</a:t>
          </a:r>
        </a:p>
      </dsp:txBody>
      <dsp:txXfrm>
        <a:off x="4677877" y="0"/>
        <a:ext cx="1184552" cy="46148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7DD49-A2E7-4149-B736-AEA38898245F}">
      <dsp:nvSpPr>
        <dsp:cNvPr id="0" name=""/>
        <dsp:cNvSpPr/>
      </dsp:nvSpPr>
      <dsp:spPr>
        <a:xfrm>
          <a:off x="1623"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What is it? Why use it?</a:t>
          </a:r>
        </a:p>
      </dsp:txBody>
      <dsp:txXfrm>
        <a:off x="232367" y="0"/>
        <a:ext cx="983179" cy="461487"/>
      </dsp:txXfrm>
    </dsp:sp>
    <dsp:sp modelId="{40E5442F-3D59-48C6-AE48-128464F0AB1C}">
      <dsp:nvSpPr>
        <dsp:cNvPr id="0" name=""/>
        <dsp:cNvSpPr/>
      </dsp:nvSpPr>
      <dsp:spPr>
        <a:xfrm>
          <a:off x="1301823"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Field Types </a:t>
          </a:r>
        </a:p>
      </dsp:txBody>
      <dsp:txXfrm>
        <a:off x="1532567" y="0"/>
        <a:ext cx="983179" cy="461487"/>
      </dsp:txXfrm>
    </dsp:sp>
    <dsp:sp modelId="{1F809EAB-37F7-44EA-9FD7-CD6ECC5052A6}">
      <dsp:nvSpPr>
        <dsp:cNvPr id="0" name=""/>
        <dsp:cNvSpPr/>
      </dsp:nvSpPr>
      <dsp:spPr>
        <a:xfrm>
          <a:off x="2602022" y="0"/>
          <a:ext cx="1444666" cy="461487"/>
        </a:xfrm>
        <a:prstGeom prst="chevr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Data Types</a:t>
          </a:r>
        </a:p>
      </dsp:txBody>
      <dsp:txXfrm>
        <a:off x="2832766" y="0"/>
        <a:ext cx="983179" cy="461487"/>
      </dsp:txXfrm>
    </dsp:sp>
    <dsp:sp modelId="{FCCABAEC-95D4-4D25-A3EF-8DD8017AC7E7}">
      <dsp:nvSpPr>
        <dsp:cNvPr id="0" name=""/>
        <dsp:cNvSpPr/>
      </dsp:nvSpPr>
      <dsp:spPr>
        <a:xfrm>
          <a:off x="3902222"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 </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Others</a:t>
          </a:r>
        </a:p>
      </dsp:txBody>
      <dsp:txXfrm>
        <a:off x="4132966" y="0"/>
        <a:ext cx="983179" cy="461487"/>
      </dsp:txXfrm>
    </dsp:sp>
    <dsp:sp modelId="{87FD189D-4DA7-4073-8EA5-33170F22134E}">
      <dsp:nvSpPr>
        <dsp:cNvPr id="0" name=""/>
        <dsp:cNvSpPr/>
      </dsp:nvSpPr>
      <dsp:spPr>
        <a:xfrm>
          <a:off x="5202422" y="0"/>
          <a:ext cx="1444666" cy="461487"/>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CF Examples</a:t>
          </a:r>
        </a:p>
      </dsp:txBody>
      <dsp:txXfrm>
        <a:off x="5433166" y="0"/>
        <a:ext cx="983179" cy="4614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7DD49-A2E7-4149-B736-AEA38898245F}">
      <dsp:nvSpPr>
        <dsp:cNvPr id="0" name=""/>
        <dsp:cNvSpPr/>
      </dsp:nvSpPr>
      <dsp:spPr>
        <a:xfrm>
          <a:off x="1623"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What is it? Why use it?</a:t>
          </a:r>
        </a:p>
      </dsp:txBody>
      <dsp:txXfrm>
        <a:off x="232367" y="0"/>
        <a:ext cx="983179" cy="461487"/>
      </dsp:txXfrm>
    </dsp:sp>
    <dsp:sp modelId="{40E5442F-3D59-48C6-AE48-128464F0AB1C}">
      <dsp:nvSpPr>
        <dsp:cNvPr id="0" name=""/>
        <dsp:cNvSpPr/>
      </dsp:nvSpPr>
      <dsp:spPr>
        <a:xfrm>
          <a:off x="1301823"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Field Types </a:t>
          </a:r>
        </a:p>
      </dsp:txBody>
      <dsp:txXfrm>
        <a:off x="1532567" y="0"/>
        <a:ext cx="983179" cy="461487"/>
      </dsp:txXfrm>
    </dsp:sp>
    <dsp:sp modelId="{1F809EAB-37F7-44EA-9FD7-CD6ECC5052A6}">
      <dsp:nvSpPr>
        <dsp:cNvPr id="0" name=""/>
        <dsp:cNvSpPr/>
      </dsp:nvSpPr>
      <dsp:spPr>
        <a:xfrm>
          <a:off x="2602022"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Data Types</a:t>
          </a:r>
        </a:p>
      </dsp:txBody>
      <dsp:txXfrm>
        <a:off x="2832766" y="0"/>
        <a:ext cx="983179" cy="461487"/>
      </dsp:txXfrm>
    </dsp:sp>
    <dsp:sp modelId="{FCCABAEC-95D4-4D25-A3EF-8DD8017AC7E7}">
      <dsp:nvSpPr>
        <dsp:cNvPr id="0" name=""/>
        <dsp:cNvSpPr/>
      </dsp:nvSpPr>
      <dsp:spPr>
        <a:xfrm>
          <a:off x="3902222" y="0"/>
          <a:ext cx="1444666" cy="461487"/>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Create: </a:t>
          </a:r>
        </a:p>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Others</a:t>
          </a:r>
        </a:p>
      </dsp:txBody>
      <dsp:txXfrm>
        <a:off x="4132966" y="0"/>
        <a:ext cx="983179" cy="461487"/>
      </dsp:txXfrm>
    </dsp:sp>
    <dsp:sp modelId="{87FD189D-4DA7-4073-8EA5-33170F22134E}">
      <dsp:nvSpPr>
        <dsp:cNvPr id="0" name=""/>
        <dsp:cNvSpPr/>
      </dsp:nvSpPr>
      <dsp:spPr>
        <a:xfrm>
          <a:off x="5202422" y="0"/>
          <a:ext cx="1444666" cy="461487"/>
        </a:xfrm>
        <a:prstGeom prst="chevron">
          <a:avLst/>
        </a:prstGeom>
        <a:solidFill>
          <a:schemeClr val="accent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Arial" pitchFamily="34" charset="0"/>
              <a:cs typeface="Arial" pitchFamily="34" charset="0"/>
            </a:rPr>
            <a:t>CF Examples</a:t>
          </a:r>
        </a:p>
      </dsp:txBody>
      <dsp:txXfrm>
        <a:off x="5433166" y="0"/>
        <a:ext cx="983179" cy="46148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557" cy="49599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582" y="0"/>
            <a:ext cx="2945557" cy="495994"/>
          </a:xfrm>
          <a:prstGeom prst="rect">
            <a:avLst/>
          </a:prstGeom>
        </p:spPr>
        <p:txBody>
          <a:bodyPr vert="horz" lIns="91440" tIns="45720" rIns="91440" bIns="45720" rtlCol="0"/>
          <a:lstStyle>
            <a:lvl1pPr algn="r">
              <a:defRPr sz="1200"/>
            </a:lvl1pPr>
          </a:lstStyle>
          <a:p>
            <a:r>
              <a:rPr lang="en-US"/>
              <a:t>Introduction to Custom Fields</a:t>
            </a:r>
          </a:p>
        </p:txBody>
      </p:sp>
      <p:sp>
        <p:nvSpPr>
          <p:cNvPr id="4" name="Footer Placeholder 3"/>
          <p:cNvSpPr>
            <a:spLocks noGrp="1"/>
          </p:cNvSpPr>
          <p:nvPr>
            <p:ph type="ftr" sz="quarter" idx="2"/>
          </p:nvPr>
        </p:nvSpPr>
        <p:spPr>
          <a:xfrm>
            <a:off x="0" y="9428952"/>
            <a:ext cx="2945557" cy="495994"/>
          </a:xfrm>
          <a:prstGeom prst="rect">
            <a:avLst/>
          </a:prstGeom>
        </p:spPr>
        <p:txBody>
          <a:bodyPr vert="horz" lIns="91440" tIns="45720" rIns="91440" bIns="45720" rtlCol="0" anchor="b"/>
          <a:lstStyle>
            <a:lvl1pPr algn="l">
              <a:defRPr sz="1200"/>
            </a:lvl1pPr>
          </a:lstStyle>
          <a:p>
            <a:r>
              <a:rPr lang="en-US"/>
              <a:t>Rev. 21314</a:t>
            </a:r>
          </a:p>
        </p:txBody>
      </p:sp>
      <p:sp>
        <p:nvSpPr>
          <p:cNvPr id="5" name="Slide Number Placeholder 4"/>
          <p:cNvSpPr>
            <a:spLocks noGrp="1"/>
          </p:cNvSpPr>
          <p:nvPr>
            <p:ph type="sldNum" sz="quarter" idx="3"/>
          </p:nvPr>
        </p:nvSpPr>
        <p:spPr>
          <a:xfrm>
            <a:off x="3850582" y="9428952"/>
            <a:ext cx="2945557" cy="495994"/>
          </a:xfrm>
          <a:prstGeom prst="rect">
            <a:avLst/>
          </a:prstGeom>
        </p:spPr>
        <p:txBody>
          <a:bodyPr vert="horz" lIns="91440" tIns="45720" rIns="91440" bIns="45720" rtlCol="0" anchor="b"/>
          <a:lstStyle>
            <a:lvl1pPr algn="r">
              <a:defRPr sz="1200"/>
            </a:lvl1pPr>
          </a:lstStyle>
          <a:p>
            <a:fld id="{B3922002-1745-41B5-B12E-B3C7A819C889}" type="slidenum">
              <a:rPr lang="en-US" smtClean="0"/>
              <a:pPr/>
              <a:t>‹#›</a:t>
            </a:fld>
            <a:endParaRPr lang="en-US"/>
          </a:p>
        </p:txBody>
      </p:sp>
    </p:spTree>
    <p:extLst>
      <p:ext uri="{BB962C8B-B14F-4D97-AF65-F5344CB8AC3E}">
        <p14:creationId xmlns:p14="http://schemas.microsoft.com/office/powerpoint/2010/main" val="2388286771"/>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557" cy="49599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582" y="0"/>
            <a:ext cx="2945557" cy="495994"/>
          </a:xfrm>
          <a:prstGeom prst="rect">
            <a:avLst/>
          </a:prstGeom>
        </p:spPr>
        <p:txBody>
          <a:bodyPr vert="horz" lIns="91440" tIns="45720" rIns="91440" bIns="45720" rtlCol="0"/>
          <a:lstStyle>
            <a:lvl1pPr algn="r">
              <a:defRPr sz="1200"/>
            </a:lvl1pPr>
          </a:lstStyle>
          <a:p>
            <a:r>
              <a:rPr lang="en-US"/>
              <a:t>Introduction to Custom Fields</a:t>
            </a:r>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153" y="4714477"/>
            <a:ext cx="5439369" cy="446732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351083"/>
            <a:ext cx="2945557" cy="495994"/>
          </a:xfrm>
          <a:prstGeom prst="rect">
            <a:avLst/>
          </a:prstGeom>
        </p:spPr>
        <p:txBody>
          <a:bodyPr vert="horz" lIns="91440" tIns="45720" rIns="91440" bIns="45720" rtlCol="0" anchor="b"/>
          <a:lstStyle>
            <a:lvl1pPr algn="l">
              <a:defRPr sz="1200"/>
            </a:lvl1pPr>
          </a:lstStyle>
          <a:p>
            <a:r>
              <a:rPr lang="en-US"/>
              <a:t>Rev. 21314</a:t>
            </a:r>
          </a:p>
        </p:txBody>
      </p:sp>
      <p:sp>
        <p:nvSpPr>
          <p:cNvPr id="7" name="Slide Number Placeholder 6"/>
          <p:cNvSpPr>
            <a:spLocks noGrp="1"/>
          </p:cNvSpPr>
          <p:nvPr>
            <p:ph type="sldNum" sz="quarter" idx="5"/>
          </p:nvPr>
        </p:nvSpPr>
        <p:spPr>
          <a:xfrm>
            <a:off x="3850582" y="9351083"/>
            <a:ext cx="2945557" cy="495994"/>
          </a:xfrm>
          <a:prstGeom prst="rect">
            <a:avLst/>
          </a:prstGeom>
        </p:spPr>
        <p:txBody>
          <a:bodyPr vert="horz" lIns="91440" tIns="45720" rIns="91440" bIns="45720" rtlCol="0" anchor="b"/>
          <a:lstStyle>
            <a:lvl1pPr algn="r">
              <a:defRPr sz="1200"/>
            </a:lvl1pPr>
          </a:lstStyle>
          <a:p>
            <a:r>
              <a:rPr lang="en-US" b="1" dirty="0"/>
              <a:t>Chapter One</a:t>
            </a:r>
            <a:r>
              <a:rPr lang="en-US" dirty="0"/>
              <a:t>: Page </a:t>
            </a:r>
            <a:fld id="{3242409A-B053-4208-A245-A8F1D7E49324}" type="slidenum">
              <a:rPr lang="en-US" smtClean="0"/>
              <a:pPr/>
              <a:t>‹#›</a:t>
            </a:fld>
            <a:r>
              <a:rPr lang="en-US" dirty="0"/>
              <a:t> of 88</a:t>
            </a:r>
          </a:p>
        </p:txBody>
      </p:sp>
      <p:pic>
        <p:nvPicPr>
          <p:cNvPr id="8" name="Picture 8" descr="Waters Brand Stacked-wht"/>
          <p:cNvPicPr>
            <a:picLocks noChangeAspect="1" noChangeArrowheads="1"/>
          </p:cNvPicPr>
          <p:nvPr/>
        </p:nvPicPr>
        <p:blipFill>
          <a:blip r:embed="rId2"/>
          <a:srcRect/>
          <a:stretch>
            <a:fillRect/>
          </a:stretch>
        </p:blipFill>
        <p:spPr bwMode="auto">
          <a:xfrm>
            <a:off x="2366280" y="9210579"/>
            <a:ext cx="1902243" cy="546778"/>
          </a:xfrm>
          <a:prstGeom prst="rect">
            <a:avLst/>
          </a:prstGeom>
          <a:noFill/>
          <a:ln w="9525">
            <a:noFill/>
            <a:miter lim="800000"/>
            <a:headEnd/>
            <a:tailEnd/>
          </a:ln>
        </p:spPr>
      </p:pic>
      <p:sp>
        <p:nvSpPr>
          <p:cNvPr id="9" name="Rectangle 6"/>
          <p:cNvSpPr txBox="1">
            <a:spLocks noChangeArrowheads="1"/>
          </p:cNvSpPr>
          <p:nvPr/>
        </p:nvSpPr>
        <p:spPr bwMode="auto">
          <a:xfrm>
            <a:off x="1481230" y="9594847"/>
            <a:ext cx="3804858" cy="487529"/>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bodyPr>
          <a:lstStyle>
            <a:lvl1pPr algn="ctr">
              <a:defRPr sz="1000" smtClean="0">
                <a:latin typeface="Verdana" pitchFamily="34" charset="0"/>
                <a:ea typeface="Verdana" pitchFamily="34" charset="0"/>
                <a:cs typeface="Verdana"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Waters Confidential and Proprietary Information</a:t>
            </a:r>
          </a:p>
        </p:txBody>
      </p:sp>
    </p:spTree>
    <p:extLst>
      <p:ext uri="{BB962C8B-B14F-4D97-AF65-F5344CB8AC3E}">
        <p14:creationId xmlns:p14="http://schemas.microsoft.com/office/powerpoint/2010/main" val="3959595751"/>
      </p:ext>
    </p:extLst>
  </p:cSld>
  <p:clrMap bg1="lt1" tx1="dk1" bg2="lt2" tx2="dk2" accent1="accent1" accent2="accent2" accent3="accent3" accent4="accent4" accent5="accent5" accent6="accent6" hlink="hlink" folHlink="folHlink"/>
  <p:hf hdr="0"/>
  <p:notesStyle>
    <a:lvl1pPr marL="225425" indent="-225425" algn="ctr" defTabSz="914400" rtl="0" eaLnBrk="1" latinLnBrk="0" hangingPunct="1">
      <a:buClr>
        <a:srgbClr val="0070C0"/>
      </a:buClr>
      <a:buFont typeface="Wingdings 2" pitchFamily="18" charset="2"/>
      <a:buNone/>
      <a:defRPr sz="1200" b="1" i="1" kern="1200">
        <a:solidFill>
          <a:schemeClr val="tx1"/>
        </a:solidFill>
        <a:latin typeface="Verdana" pitchFamily="34" charset="0"/>
        <a:ea typeface="Verdana" pitchFamily="34" charset="0"/>
        <a:cs typeface="Verdana" pitchFamily="34" charset="0"/>
      </a:defRPr>
    </a:lvl1pPr>
    <a:lvl2pPr marL="457200" indent="-231775" algn="l" defTabSz="914400" rtl="0" eaLnBrk="1" latinLnBrk="0" hangingPunct="1">
      <a:buClr>
        <a:srgbClr val="0070C0"/>
      </a:buClr>
      <a:buSzPct val="150000"/>
      <a:buFont typeface="Wingdings" pitchFamily="2" charset="2"/>
      <a:buChar char="§"/>
      <a:defRPr sz="1200" kern="1200">
        <a:solidFill>
          <a:schemeClr val="tx1"/>
        </a:solidFill>
        <a:latin typeface="Verdana" pitchFamily="34" charset="0"/>
        <a:ea typeface="Verdana" pitchFamily="34" charset="0"/>
        <a:cs typeface="Verdana" pitchFamily="34" charset="0"/>
      </a:defRPr>
    </a:lvl2pPr>
    <a:lvl3pPr marL="688975" indent="-225425" algn="l" defTabSz="914400" rtl="0" eaLnBrk="1" latinLnBrk="0" hangingPunct="1">
      <a:buClr>
        <a:srgbClr val="0070C0"/>
      </a:buClr>
      <a:buFont typeface="Verdana" pitchFamily="34" charset="0"/>
      <a:buChar char="•"/>
      <a:defRPr sz="1200" kern="1200">
        <a:solidFill>
          <a:schemeClr val="tx1"/>
        </a:solidFill>
        <a:latin typeface="Verdana" pitchFamily="34" charset="0"/>
        <a:ea typeface="Verdana" pitchFamily="34" charset="0"/>
        <a:cs typeface="Verdana" pitchFamily="34" charset="0"/>
      </a:defRPr>
    </a:lvl3pPr>
    <a:lvl4pPr marL="920750" indent="-231775" algn="l" defTabSz="914400" rtl="0" eaLnBrk="1" latinLnBrk="0" hangingPunct="1">
      <a:buClr>
        <a:srgbClr val="0070C0"/>
      </a:buClr>
      <a:buFont typeface="Arial" pitchFamily="34" charset="0"/>
      <a:buChar char="•"/>
      <a:defRPr sz="1200" kern="1200">
        <a:solidFill>
          <a:schemeClr val="tx1"/>
        </a:solidFill>
        <a:latin typeface="Verdana" pitchFamily="34" charset="0"/>
        <a:ea typeface="Verdana" pitchFamily="34" charset="0"/>
        <a:cs typeface="Verdana" pitchFamily="34" charset="0"/>
      </a:defRPr>
    </a:lvl4pPr>
    <a:lvl5pPr marL="1139825" indent="-225425" algn="l" defTabSz="914400" rtl="0" eaLnBrk="1" latinLnBrk="0" hangingPunct="1">
      <a:buClr>
        <a:srgbClr val="0070C0"/>
      </a:buClr>
      <a:buFont typeface="Arial" pitchFamily="34" charset="0"/>
      <a:buChar char="•"/>
      <a:defRPr sz="1200" kern="1200">
        <a:solidFill>
          <a:schemeClr val="tx1"/>
        </a:solidFill>
        <a:latin typeface="Verdana" pitchFamily="34" charset="0"/>
        <a:ea typeface="Verdana" pitchFamily="34" charset="0"/>
        <a:cs typeface="Verdana"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pic>
        <p:nvPicPr>
          <p:cNvPr id="7" name="Picture 8" descr="Waters Brand Stacked-wht"/>
          <p:cNvPicPr>
            <a:picLocks noChangeAspect="1" noChangeArrowheads="1"/>
          </p:cNvPicPr>
          <p:nvPr/>
        </p:nvPicPr>
        <p:blipFill>
          <a:blip r:embed="rId3"/>
          <a:srcRect/>
          <a:stretch>
            <a:fillRect/>
          </a:stretch>
        </p:blipFill>
        <p:spPr bwMode="auto">
          <a:xfrm>
            <a:off x="2366280" y="9210579"/>
            <a:ext cx="1902243" cy="546778"/>
          </a:xfrm>
          <a:prstGeom prst="rect">
            <a:avLst/>
          </a:prstGeom>
          <a:noFill/>
          <a:ln w="9525">
            <a:noFill/>
            <a:miter lim="800000"/>
            <a:headEnd/>
            <a:tailEnd/>
          </a:ln>
        </p:spPr>
      </p:pic>
      <p:sp>
        <p:nvSpPr>
          <p:cNvPr id="8" name="Rectangle 6"/>
          <p:cNvSpPr txBox="1">
            <a:spLocks noChangeArrowheads="1"/>
          </p:cNvSpPr>
          <p:nvPr/>
        </p:nvSpPr>
        <p:spPr bwMode="auto">
          <a:xfrm>
            <a:off x="1481230" y="9594847"/>
            <a:ext cx="3804858" cy="487529"/>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bodyPr>
          <a:lstStyle>
            <a:lvl1pPr algn="ctr">
              <a:defRPr sz="1000" smtClean="0">
                <a:latin typeface="Verdana" pitchFamily="34" charset="0"/>
                <a:ea typeface="Verdana" pitchFamily="34" charset="0"/>
                <a:cs typeface="Verdana"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Waters Confidential and Proprietary Information</a:t>
            </a:r>
          </a:p>
        </p:txBody>
      </p:sp>
      <p:sp>
        <p:nvSpPr>
          <p:cNvPr id="12" name="Notes Placeholder 4"/>
          <p:cNvSpPr>
            <a:spLocks noGrp="1"/>
          </p:cNvSpPr>
          <p:nvPr>
            <p:ph type="body" idx="1"/>
          </p:nvPr>
        </p:nvSpPr>
        <p:spPr>
          <a:prstGeom prst="rect">
            <a:avLst/>
          </a:prstGeom>
        </p:spPr>
        <p:txBody>
          <a:bodyPr vert="horz" lIns="91440" tIns="45720" rIns="91440" bIns="45720" rtlCol="0">
            <a:normAutofit/>
          </a:bodyPr>
          <a:lstStyle/>
          <a:p>
            <a:pPr marL="225425" lvl="0" indent="-225425">
              <a:buClr>
                <a:srgbClr val="0070C0"/>
              </a:buClr>
              <a:buFont typeface="Wingdings 2" pitchFamily="18" charset="2"/>
              <a:buChar char="¡"/>
            </a:pPr>
            <a:endParaRPr lang="en-US">
              <a:latin typeface="Verdana" pitchFamily="34" charset="0"/>
              <a:ea typeface="Verdana" pitchFamily="34" charset="0"/>
              <a:cs typeface="Verdana" pitchFamily="34" charset="0"/>
            </a:endParaRPr>
          </a:p>
        </p:txBody>
      </p:sp>
      <p:sp>
        <p:nvSpPr>
          <p:cNvPr id="10" name="Date Placeholder 9"/>
          <p:cNvSpPr>
            <a:spLocks noGrp="1"/>
          </p:cNvSpPr>
          <p:nvPr>
            <p:ph type="dt" idx="10"/>
          </p:nvPr>
        </p:nvSpPr>
        <p:spPr/>
        <p:txBody>
          <a:bodyPr/>
          <a:lstStyle/>
          <a:p>
            <a:r>
              <a:rPr lang="en-US"/>
              <a:t>Introduction to Custom Fields</a:t>
            </a:r>
          </a:p>
        </p:txBody>
      </p:sp>
      <p:sp>
        <p:nvSpPr>
          <p:cNvPr id="13" name="Footer Placeholder 12"/>
          <p:cNvSpPr>
            <a:spLocks noGrp="1"/>
          </p:cNvSpPr>
          <p:nvPr>
            <p:ph type="ftr" sz="quarter" idx="12"/>
          </p:nvPr>
        </p:nvSpPr>
        <p:spPr/>
        <p:txBody>
          <a:bodyPr/>
          <a:lstStyle/>
          <a:p>
            <a:r>
              <a:rPr lang="en-US"/>
              <a:t>Rev. 21314</a:t>
            </a:r>
          </a:p>
        </p:txBody>
      </p:sp>
      <p:sp>
        <p:nvSpPr>
          <p:cNvPr id="14" name="Slide Number Placeholder 13"/>
          <p:cNvSpPr>
            <a:spLocks noGrp="1"/>
          </p:cNvSpPr>
          <p:nvPr>
            <p:ph type="sldNum" sz="quarter" idx="13"/>
          </p:nvPr>
        </p:nvSpPr>
        <p:spPr/>
        <p:txBody>
          <a:bodyPr/>
          <a:lstStyle/>
          <a:p>
            <a:r>
              <a:rPr lang="en-US" b="1"/>
              <a:t>Chapter One</a:t>
            </a:r>
            <a:r>
              <a:rPr lang="en-US"/>
              <a:t>: Page </a:t>
            </a:r>
            <a:fld id="{3242409A-B053-4208-A245-A8F1D7E49324}" type="slidenum">
              <a:rPr lang="en-US" smtClean="0"/>
              <a:pPr/>
              <a:t>1</a:t>
            </a:fld>
            <a:r>
              <a:rPr lang="en-US"/>
              <a:t> of 88</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Content</a:t>
            </a:r>
            <a:br>
              <a:rPr lang="en-US" b="1" i="1" dirty="0"/>
            </a:br>
            <a:endParaRPr lang="en-US" b="1" i="1" dirty="0"/>
          </a:p>
          <a:p>
            <a:pPr algn="l">
              <a:buFont typeface="Wingdings" pitchFamily="2" charset="2"/>
              <a:buChar char="§"/>
            </a:pPr>
            <a:r>
              <a:rPr lang="en-US" b="0" i="0" dirty="0"/>
              <a:t>In this chapter</a:t>
            </a:r>
            <a:r>
              <a:rPr lang="en-US" b="0" i="0" baseline="0" dirty="0"/>
              <a:t> you will learn about the different types of custom fields and how to create basic custom fields.</a:t>
            </a:r>
            <a:endParaRPr lang="en-US" b="0" i="0" dirty="0"/>
          </a:p>
          <a:p>
            <a:pPr algn="ctr">
              <a:buNone/>
            </a:pPr>
            <a:endParaRPr lang="en-US" b="1" i="1"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2</a:t>
            </a:fld>
            <a:r>
              <a:rPr lang="en-US"/>
              <a:t> of 88</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050"/>
          <p:cNvSpPr>
            <a:spLocks noGrp="1" noRot="1" noChangeAspect="1" noChangeArrowheads="1" noTextEdit="1"/>
          </p:cNvSpPr>
          <p:nvPr>
            <p:ph type="sldImg"/>
          </p:nvPr>
        </p:nvSpPr>
        <p:spPr>
          <a:ln/>
        </p:spPr>
      </p:sp>
      <p:sp>
        <p:nvSpPr>
          <p:cNvPr id="92163" name="Rectangle 2051"/>
          <p:cNvSpPr>
            <a:spLocks noGrp="1" noChangeArrowheads="1"/>
          </p:cNvSpPr>
          <p:nvPr>
            <p:ph type="body" idx="1"/>
          </p:nvPr>
        </p:nvSpPr>
        <p:spPr>
          <a:noFill/>
          <a:ln/>
        </p:spPr>
        <p:txBody>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What</a:t>
            </a:r>
            <a:r>
              <a:rPr lang="en-US" b="1" i="1" baseline="0" dirty="0"/>
              <a:t> is a Custom Field</a:t>
            </a:r>
            <a:br>
              <a:rPr lang="en-US" b="1" i="1" baseline="0" dirty="0"/>
            </a:br>
            <a:endParaRPr lang="en-US" b="1" i="1" dirty="0"/>
          </a:p>
          <a:p>
            <a:pPr marL="225425" marR="0" indent="-225425" algn="l" defTabSz="914400" rtl="0" eaLnBrk="1" fontAlgn="auto" latinLnBrk="0" hangingPunct="1">
              <a:lnSpc>
                <a:spcPct val="100000"/>
              </a:lnSpc>
              <a:spcBef>
                <a:spcPts val="0"/>
              </a:spcBef>
              <a:spcAft>
                <a:spcPts val="0"/>
              </a:spcAft>
              <a:buClr>
                <a:srgbClr val="0070C0"/>
              </a:buClr>
              <a:buSzTx/>
              <a:buFont typeface="Wingdings 2" pitchFamily="18" charset="2"/>
              <a:buChar char="¡"/>
              <a:tabLst/>
              <a:defRPr/>
            </a:pPr>
            <a:r>
              <a:rPr lang="en-US" b="0" i="0" dirty="0"/>
              <a:t>A</a:t>
            </a:r>
            <a:r>
              <a:rPr lang="en-US" b="0" i="0" baseline="0" dirty="0"/>
              <a:t> field in Empower terms is a field in the underlying Oracle database. It will show up as a column in various tables in Empower.</a:t>
            </a:r>
            <a:br>
              <a:rPr lang="en-US" b="0" i="0" baseline="0" dirty="0"/>
            </a:br>
            <a:endParaRPr lang="en-US" b="0" i="0" baseline="0" dirty="0"/>
          </a:p>
          <a:p>
            <a:pPr marL="225425" marR="0" indent="-225425" algn="l" defTabSz="914400" rtl="0" eaLnBrk="1" fontAlgn="auto" latinLnBrk="0" hangingPunct="1">
              <a:lnSpc>
                <a:spcPct val="100000"/>
              </a:lnSpc>
              <a:spcBef>
                <a:spcPts val="0"/>
              </a:spcBef>
              <a:spcAft>
                <a:spcPts val="0"/>
              </a:spcAft>
              <a:buClr>
                <a:srgbClr val="0070C0"/>
              </a:buClr>
              <a:buSzTx/>
              <a:buFont typeface="Wingdings 2" pitchFamily="18" charset="2"/>
              <a:buChar char="¡"/>
              <a:tabLst/>
              <a:defRPr/>
            </a:pPr>
            <a:r>
              <a:rPr lang="en-US" b="0" i="0" baseline="0" dirty="0"/>
              <a:t>A large amount of fields are embedded in the database as standard, like Sample Name, Peak Retention Time or Peak Area.</a:t>
            </a:r>
            <a:br>
              <a:rPr lang="en-US" b="0" i="0" baseline="0" dirty="0"/>
            </a:br>
            <a:endParaRPr lang="en-US" b="0" i="0" dirty="0"/>
          </a:p>
          <a:p>
            <a:pPr marL="225425" marR="0" indent="-225425" algn="l" defTabSz="914400" rtl="0" eaLnBrk="1" fontAlgn="auto" latinLnBrk="0" hangingPunct="1">
              <a:lnSpc>
                <a:spcPct val="100000"/>
              </a:lnSpc>
              <a:spcBef>
                <a:spcPts val="0"/>
              </a:spcBef>
              <a:spcAft>
                <a:spcPts val="0"/>
              </a:spcAft>
              <a:buClr>
                <a:srgbClr val="0070C0"/>
              </a:buClr>
              <a:buSzTx/>
              <a:buFont typeface="Wingdings 2" pitchFamily="18" charset="2"/>
              <a:buChar char="¡"/>
              <a:tabLst/>
              <a:defRPr/>
            </a:pPr>
            <a:r>
              <a:rPr lang="en-US" b="0" i="0" dirty="0"/>
              <a:t>You can create new fields called Custom Fields to customize Empower to track, manage, and calculate information about results, samples, and chromatographic applications beyond what is already provided. </a:t>
            </a:r>
          </a:p>
          <a:p>
            <a:pPr algn="ctr"/>
            <a:endParaRPr lang="en-US" dirty="0"/>
          </a:p>
          <a:p>
            <a:pPr algn="ctr"/>
            <a:endParaRPr lang="en-US" dirty="0"/>
          </a:p>
        </p:txBody>
      </p:sp>
      <p:sp>
        <p:nvSpPr>
          <p:cNvPr id="8" name="Date Placeholder 7"/>
          <p:cNvSpPr>
            <a:spLocks noGrp="1"/>
          </p:cNvSpPr>
          <p:nvPr>
            <p:ph type="dt" idx="10"/>
          </p:nvPr>
        </p:nvSpPr>
        <p:spPr/>
        <p:txBody>
          <a:bodyPr/>
          <a:lstStyle/>
          <a:p>
            <a:r>
              <a:rPr lang="en-US"/>
              <a:t>Introduction to Custom Fields</a:t>
            </a:r>
          </a:p>
        </p:txBody>
      </p:sp>
      <p:sp>
        <p:nvSpPr>
          <p:cNvPr id="13" name="Footer Placeholder 12"/>
          <p:cNvSpPr>
            <a:spLocks noGrp="1"/>
          </p:cNvSpPr>
          <p:nvPr>
            <p:ph type="ftr" sz="quarter" idx="12"/>
          </p:nvPr>
        </p:nvSpPr>
        <p:spPr/>
        <p:txBody>
          <a:bodyPr/>
          <a:lstStyle/>
          <a:p>
            <a:r>
              <a:rPr lang="en-US"/>
              <a:t>Rev. 21314</a:t>
            </a:r>
          </a:p>
        </p:txBody>
      </p:sp>
      <p:sp>
        <p:nvSpPr>
          <p:cNvPr id="10" name="Slide Number Placeholder 9"/>
          <p:cNvSpPr>
            <a:spLocks noGrp="1"/>
          </p:cNvSpPr>
          <p:nvPr>
            <p:ph type="sldNum" sz="quarter" idx="13"/>
          </p:nvPr>
        </p:nvSpPr>
        <p:spPr/>
        <p:txBody>
          <a:bodyPr/>
          <a:lstStyle/>
          <a:p>
            <a:r>
              <a:rPr lang="en-US" b="1"/>
              <a:t>Chapter One</a:t>
            </a:r>
            <a:r>
              <a:rPr lang="en-US"/>
              <a:t>: Page </a:t>
            </a:r>
            <a:fld id="{3242409A-B053-4208-A245-A8F1D7E49324}" type="slidenum">
              <a:rPr lang="en-US" smtClean="0"/>
              <a:pPr/>
              <a:t>4</a:t>
            </a:fld>
            <a:r>
              <a:rPr lang="en-US"/>
              <a:t> of 88</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eaLnBrk="1" hangingPunct="1">
              <a:buNone/>
            </a:pPr>
            <a:r>
              <a:rPr lang="en-US" b="1" i="1" dirty="0"/>
              <a:t>Why use</a:t>
            </a:r>
            <a:r>
              <a:rPr lang="en-US" b="1" i="1" baseline="0" dirty="0"/>
              <a:t> Custom Fields</a:t>
            </a:r>
            <a:br>
              <a:rPr lang="en-US" b="1" i="1" baseline="0" dirty="0"/>
            </a:br>
            <a:endParaRPr lang="en-US" b="1" i="1" baseline="0" dirty="0"/>
          </a:p>
          <a:p>
            <a:pPr marL="0" algn="l" eaLnBrk="1" hangingPunct="1"/>
            <a:r>
              <a:rPr lang="en-US" b="0" i="0" baseline="0" dirty="0"/>
              <a:t>There can be numerous reasons why you would want to create</a:t>
            </a:r>
            <a:r>
              <a:rPr lang="en-US" b="0" i="0" dirty="0"/>
              <a:t> </a:t>
            </a:r>
            <a:r>
              <a:rPr lang="en-US" b="0" i="0" baseline="0" dirty="0"/>
              <a:t>and use custom fields. The most important are:</a:t>
            </a:r>
            <a:br>
              <a:rPr lang="en-US" b="0" i="0" baseline="0" dirty="0"/>
            </a:br>
            <a:endParaRPr lang="en-US" b="0" i="0" baseline="0" dirty="0"/>
          </a:p>
          <a:p>
            <a:pPr marL="360000" lvl="1" algn="l" eaLnBrk="1" hangingPunct="1"/>
            <a:r>
              <a:rPr lang="en-US" b="0" i="0" baseline="0" dirty="0"/>
              <a:t>If you want more information about you samples stored in the database.</a:t>
            </a:r>
            <a:br>
              <a:rPr lang="en-US" b="0" i="0" baseline="0" dirty="0"/>
            </a:br>
            <a:endParaRPr lang="en-US" b="0" i="0" baseline="0" dirty="0"/>
          </a:p>
          <a:p>
            <a:pPr marL="360000" lvl="1" algn="l" eaLnBrk="1" hangingPunct="1"/>
            <a:r>
              <a:rPr lang="en-US" b="0" i="0" baseline="0" dirty="0"/>
              <a:t>To report information about your samples in a report.</a:t>
            </a:r>
            <a:br>
              <a:rPr lang="en-US" b="0" i="0" baseline="0" dirty="0"/>
            </a:br>
            <a:endParaRPr lang="en-US" b="0" i="0" baseline="0" dirty="0"/>
          </a:p>
          <a:p>
            <a:pPr marL="360000" lvl="1" algn="l" eaLnBrk="1" hangingPunct="1"/>
            <a:r>
              <a:rPr lang="en-US" b="0" i="0" baseline="0" dirty="0"/>
              <a:t>To use the custom fields to sort or search for information.</a:t>
            </a:r>
            <a:br>
              <a:rPr lang="en-US" b="0" i="0" baseline="0" dirty="0"/>
            </a:br>
            <a:endParaRPr lang="en-US" b="0" i="0" baseline="0" dirty="0"/>
          </a:p>
          <a:p>
            <a:pPr marL="360000" lvl="1" algn="l" eaLnBrk="1" hangingPunct="1"/>
            <a:r>
              <a:rPr lang="en-US" b="0" i="0" baseline="0" dirty="0"/>
              <a:t>To set Empower to do calculations that are not performed as standard in Empower.</a:t>
            </a:r>
            <a:endParaRPr lang="en-US" b="0" i="0" dirty="0"/>
          </a:p>
          <a:p>
            <a:pPr algn="ctr" eaLnBrk="1" hangingPunct="1"/>
            <a:endParaRPr lang="en-US" dirty="0"/>
          </a:p>
          <a:p>
            <a:endParaRPr lang="en-US"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6" name="Slide Number Placeholder 5"/>
          <p:cNvSpPr>
            <a:spLocks noGrp="1"/>
          </p:cNvSpPr>
          <p:nvPr>
            <p:ph type="sldNum" sz="quarter" idx="12"/>
          </p:nvPr>
        </p:nvSpPr>
        <p:spPr/>
        <p:txBody>
          <a:bodyPr/>
          <a:lstStyle/>
          <a:p>
            <a:r>
              <a:rPr lang="en-US" b="1"/>
              <a:t>Chapter One</a:t>
            </a:r>
            <a:r>
              <a:rPr lang="en-US"/>
              <a:t>: Page </a:t>
            </a:r>
            <a:fld id="{3242409A-B053-4208-A245-A8F1D7E49324}" type="slidenum">
              <a:rPr lang="en-US" smtClean="0"/>
              <a:pPr/>
              <a:t>5</a:t>
            </a:fld>
            <a:r>
              <a:rPr lang="en-US"/>
              <a:t> of 88</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eaLnBrk="1" hangingPunct="1">
              <a:buNone/>
            </a:pPr>
            <a:r>
              <a:rPr lang="en-US" b="1" i="1" dirty="0"/>
              <a:t>Location of Custom Fields</a:t>
            </a:r>
            <a:br>
              <a:rPr lang="en-US" b="1" i="1" dirty="0"/>
            </a:br>
            <a:endParaRPr lang="en-US" b="1" i="1" dirty="0"/>
          </a:p>
          <a:p>
            <a:pPr algn="l" eaLnBrk="1" hangingPunct="1"/>
            <a:r>
              <a:rPr lang="en-US" b="0" i="0" dirty="0"/>
              <a:t>Custom Fields reside in a project.</a:t>
            </a:r>
            <a:br>
              <a:rPr lang="en-US" b="0" i="0" dirty="0"/>
            </a:br>
            <a:endParaRPr lang="en-US" b="0" i="0" dirty="0"/>
          </a:p>
          <a:p>
            <a:pPr marL="0" algn="l" eaLnBrk="1" hangingPunct="1"/>
            <a:r>
              <a:rPr lang="en-US" b="0" i="0" dirty="0"/>
              <a:t>To create a custom field a user needs the </a:t>
            </a:r>
            <a:r>
              <a:rPr lang="en-US" b="1" i="1" dirty="0"/>
              <a:t>Alter Any Project </a:t>
            </a:r>
            <a:r>
              <a:rPr lang="en-US" b="0" i="0" dirty="0"/>
              <a:t>and </a:t>
            </a:r>
            <a:r>
              <a:rPr lang="en-US" b="1" i="1" dirty="0"/>
              <a:t>Create</a:t>
            </a:r>
            <a:r>
              <a:rPr lang="en-US" b="1" i="1" baseline="0" dirty="0"/>
              <a:t> Custom Field </a:t>
            </a:r>
            <a:r>
              <a:rPr lang="en-US" b="0" i="0" baseline="0" dirty="0"/>
              <a:t>privilege.</a:t>
            </a:r>
            <a:br>
              <a:rPr lang="en-US" b="0" i="0" baseline="0" dirty="0"/>
            </a:br>
            <a:endParaRPr lang="en-US" b="0" i="0" baseline="0" dirty="0"/>
          </a:p>
          <a:p>
            <a:pPr algn="l" eaLnBrk="1" hangingPunct="1"/>
            <a:r>
              <a:rPr lang="en-US" b="0" i="0" baseline="0" dirty="0"/>
              <a:t>There are 5 specific privileges associated with Custom Fields:</a:t>
            </a:r>
          </a:p>
          <a:p>
            <a:pPr lvl="1" algn="l" eaLnBrk="1" hangingPunct="1"/>
            <a:r>
              <a:rPr lang="en-US" b="0" i="0" baseline="0" dirty="0"/>
              <a:t>Create Custom Field</a:t>
            </a:r>
          </a:p>
          <a:p>
            <a:pPr lvl="1" algn="l" eaLnBrk="1" hangingPunct="1"/>
            <a:r>
              <a:rPr lang="en-US" b="0" i="0" baseline="0" dirty="0"/>
              <a:t>Alter Custom Field</a:t>
            </a:r>
          </a:p>
          <a:p>
            <a:pPr lvl="1" algn="l" eaLnBrk="1" hangingPunct="1"/>
            <a:r>
              <a:rPr lang="en-US" b="0" i="0" baseline="0" dirty="0"/>
              <a:t>Delete Custom Field</a:t>
            </a:r>
          </a:p>
          <a:p>
            <a:pPr lvl="1" algn="l" eaLnBrk="1" hangingPunct="1"/>
            <a:r>
              <a:rPr lang="en-US" b="0" i="0" baseline="0" dirty="0"/>
              <a:t>Lock Custom Field</a:t>
            </a:r>
          </a:p>
          <a:p>
            <a:pPr lvl="1" algn="l" eaLnBrk="1" hangingPunct="1"/>
            <a:r>
              <a:rPr lang="en-US" b="0" i="0" baseline="0" dirty="0"/>
              <a:t>Unlock Custom Field</a:t>
            </a:r>
            <a:br>
              <a:rPr lang="en-US" b="0" i="0" baseline="0" dirty="0"/>
            </a:br>
            <a:endParaRPr lang="en-US" b="0" i="0" baseline="0" dirty="0"/>
          </a:p>
          <a:p>
            <a:pPr marL="0" lvl="0" algn="l" eaLnBrk="1" hangingPunct="1"/>
            <a:r>
              <a:rPr lang="en-US" b="0" i="0" baseline="0" dirty="0"/>
              <a:t>You can view custom fields in the various tables in the project and also include them in reports.</a:t>
            </a:r>
            <a:endParaRPr lang="en-US" b="0" i="0" dirty="0"/>
          </a:p>
          <a:p>
            <a:pPr algn="ctr" eaLnBrk="1" hangingPunct="1"/>
            <a:endParaRPr lang="en-US" dirty="0"/>
          </a:p>
          <a:p>
            <a:endParaRPr lang="en-US"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6" name="Slide Number Placeholder 5"/>
          <p:cNvSpPr>
            <a:spLocks noGrp="1"/>
          </p:cNvSpPr>
          <p:nvPr>
            <p:ph type="sldNum" sz="quarter" idx="12"/>
          </p:nvPr>
        </p:nvSpPr>
        <p:spPr/>
        <p:txBody>
          <a:bodyPr/>
          <a:lstStyle/>
          <a:p>
            <a:r>
              <a:rPr lang="en-US" b="1"/>
              <a:t>Chapter One</a:t>
            </a:r>
            <a:r>
              <a:rPr lang="en-US"/>
              <a:t>: Page </a:t>
            </a:r>
            <a:fld id="{3242409A-B053-4208-A245-A8F1D7E49324}" type="slidenum">
              <a:rPr lang="en-US" smtClean="0"/>
              <a:pPr/>
              <a:t>6</a:t>
            </a:fld>
            <a:r>
              <a:rPr lang="en-US"/>
              <a:t> of 88</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eaLnBrk="1" hangingPunct="1">
              <a:buNone/>
            </a:pPr>
            <a:r>
              <a:rPr lang="en-US" b="1" i="1" dirty="0"/>
              <a:t>Creating Custom Fields</a:t>
            </a:r>
            <a:br>
              <a:rPr lang="en-US" b="1" i="1" dirty="0"/>
            </a:br>
            <a:endParaRPr lang="en-US" b="1" i="1" dirty="0"/>
          </a:p>
          <a:p>
            <a:pPr marL="0" algn="l" eaLnBrk="1" hangingPunct="1">
              <a:buSzPct val="150000"/>
              <a:buFont typeface="Wingdings" pitchFamily="2" charset="2"/>
              <a:buChar char="§"/>
            </a:pPr>
            <a:r>
              <a:rPr lang="en-US" b="0" i="0" dirty="0"/>
              <a:t>The best way to create custom fields is</a:t>
            </a:r>
            <a:r>
              <a:rPr lang="en-US" b="0" i="0" baseline="0" dirty="0"/>
              <a:t> to first plan it on  </a:t>
            </a:r>
            <a:br>
              <a:rPr lang="en-US" b="0" i="0" baseline="0" dirty="0"/>
            </a:br>
            <a:r>
              <a:rPr lang="en-US" b="0" i="0" baseline="0" dirty="0"/>
              <a:t>     paper. If it is a calculation write down the formula.</a:t>
            </a:r>
            <a:br>
              <a:rPr lang="en-US" b="0" i="0" baseline="0" dirty="0"/>
            </a:br>
            <a:endParaRPr lang="en-US" b="0" i="0" baseline="0" dirty="0"/>
          </a:p>
          <a:p>
            <a:pPr marL="0" algn="l" eaLnBrk="1" hangingPunct="1">
              <a:buSzPct val="150000"/>
              <a:buFont typeface="Wingdings" pitchFamily="2" charset="2"/>
              <a:buChar char="§"/>
            </a:pPr>
            <a:r>
              <a:rPr lang="en-US" b="0" i="0" baseline="0" dirty="0"/>
              <a:t>Then create the custom field in a test project and then </a:t>
            </a:r>
            <a:br>
              <a:rPr lang="en-US" b="0" i="0" baseline="0" dirty="0"/>
            </a:br>
            <a:r>
              <a:rPr lang="en-US" b="0" i="0" baseline="0" dirty="0"/>
              <a:t>     test/validate that it performs as expected.</a:t>
            </a:r>
            <a:br>
              <a:rPr lang="en-US" b="0" i="0" baseline="0" dirty="0"/>
            </a:br>
            <a:endParaRPr lang="en-US" b="0" i="0" baseline="0" dirty="0"/>
          </a:p>
          <a:p>
            <a:pPr algn="l" eaLnBrk="1" hangingPunct="1">
              <a:buSzPct val="150000"/>
              <a:buFont typeface="Wingdings" pitchFamily="2" charset="2"/>
              <a:buChar char="§"/>
            </a:pPr>
            <a:r>
              <a:rPr lang="en-US" b="0" i="0" baseline="0" dirty="0"/>
              <a:t>Copy the custom filed to the project where it will be used.</a:t>
            </a:r>
            <a:br>
              <a:rPr lang="en-US" b="0" i="0" baseline="0" dirty="0"/>
            </a:br>
            <a:endParaRPr lang="en-US" b="0" i="0" baseline="0" dirty="0"/>
          </a:p>
          <a:p>
            <a:pPr marL="216000" algn="l" eaLnBrk="1" hangingPunct="1">
              <a:buSzPct val="150000"/>
              <a:buFont typeface="Wingdings" pitchFamily="2" charset="2"/>
              <a:buChar char="§"/>
            </a:pPr>
            <a:r>
              <a:rPr lang="en-US" b="0" i="0" baseline="0" dirty="0"/>
              <a:t>Do not blindly copy all your custom fields to all projects, since all custom fields in a project will be calculated each time you process a sample. If for some reason a custom field can not be calculated because some part of the formula does not exist in a particular project an error message will be produced.</a:t>
            </a:r>
            <a:endParaRPr lang="en-US" b="0" i="0" dirty="0"/>
          </a:p>
          <a:p>
            <a:pPr algn="ctr" eaLnBrk="1" hangingPunct="1"/>
            <a:endParaRPr lang="en-US" dirty="0"/>
          </a:p>
          <a:p>
            <a:endParaRPr lang="en-US"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6" name="Slide Number Placeholder 5"/>
          <p:cNvSpPr>
            <a:spLocks noGrp="1"/>
          </p:cNvSpPr>
          <p:nvPr>
            <p:ph type="sldNum" sz="quarter" idx="12"/>
          </p:nvPr>
        </p:nvSpPr>
        <p:spPr/>
        <p:txBody>
          <a:bodyPr/>
          <a:lstStyle/>
          <a:p>
            <a:r>
              <a:rPr lang="en-US" b="1"/>
              <a:t>Chapter One</a:t>
            </a:r>
            <a:r>
              <a:rPr lang="en-US"/>
              <a:t>: Page </a:t>
            </a:r>
            <a:fld id="{3242409A-B053-4208-A245-A8F1D7E49324}" type="slidenum">
              <a:rPr lang="en-US" smtClean="0"/>
              <a:pPr/>
              <a:t>7</a:t>
            </a:fld>
            <a:r>
              <a:rPr lang="en-US"/>
              <a:t> of 88</a:t>
            </a: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bwMode="auto">
          <a:noFill/>
          <a:ln>
            <a:solidFill>
              <a:schemeClr val="tx1"/>
            </a:solidFill>
            <a:miter lim="800000"/>
            <a:headEnd/>
            <a:tailEnd/>
          </a:ln>
        </p:spPr>
      </p:sp>
      <p:sp>
        <p:nvSpPr>
          <p:cNvPr id="96259" name="Rectangle 3"/>
          <p:cNvSpPr>
            <a:spLocks noGrp="1" noChangeArrowheads="1"/>
          </p:cNvSpPr>
          <p:nvPr>
            <p:ph type="body" idx="1"/>
          </p:nvPr>
        </p:nvSpPr>
        <p:spPr>
          <a:xfrm>
            <a:off x="810407" y="4714477"/>
            <a:ext cx="5171678" cy="4467325"/>
          </a:xfrm>
          <a:noFill/>
        </p:spPr>
        <p:txBody>
          <a:bodyPr/>
          <a:lstStyle/>
          <a:p>
            <a:pPr algn="ctr" eaLnBrk="1" hangingPunct="1">
              <a:buNone/>
            </a:pPr>
            <a:r>
              <a:rPr lang="en-US" b="1" i="1" dirty="0"/>
              <a:t>Default Custom Fields</a:t>
            </a:r>
            <a:br>
              <a:rPr lang="en-US" b="1" i="1" dirty="0"/>
            </a:br>
            <a:endParaRPr lang="en-US" b="1" i="1" dirty="0"/>
          </a:p>
          <a:p>
            <a:pPr marL="216000" indent="-228600" algn="l" eaLnBrk="1" hangingPunct="1">
              <a:buSzPct val="150000"/>
              <a:buFont typeface="Wingdings" pitchFamily="2" charset="2"/>
              <a:buChar char="§"/>
            </a:pPr>
            <a:r>
              <a:rPr lang="en-US" b="0" i="0" dirty="0"/>
              <a:t>The reason that these 7 are created as Default Custom Fields is that they can then be edited.</a:t>
            </a:r>
            <a:r>
              <a:rPr lang="en-US" b="0" i="0" baseline="0" dirty="0"/>
              <a:t> You can change the width of these fields if you for example want more than 32 characters for the Sample Name. </a:t>
            </a:r>
            <a:br>
              <a:rPr lang="en-US" b="0" i="0" baseline="0" dirty="0"/>
            </a:br>
            <a:endParaRPr lang="en-US" b="0" i="0" baseline="0" dirty="0"/>
          </a:p>
          <a:p>
            <a:pPr marL="216000" indent="-228600" algn="l" eaLnBrk="1" hangingPunct="1">
              <a:buSzPct val="150000"/>
              <a:buFont typeface="Wingdings" pitchFamily="2" charset="2"/>
              <a:buChar char="§"/>
            </a:pPr>
            <a:r>
              <a:rPr lang="en-US" b="0" i="0" baseline="0" dirty="0"/>
              <a:t>For the Enumerated types you can add, edit or delete the default entries in the translation table.</a:t>
            </a:r>
            <a:endParaRPr lang="nl-NL" b="0" i="0" dirty="0"/>
          </a:p>
        </p:txBody>
      </p:sp>
      <p:sp>
        <p:nvSpPr>
          <p:cNvPr id="7" name="Slide Number Placeholder 6"/>
          <p:cNvSpPr>
            <a:spLocks noGrp="1"/>
          </p:cNvSpPr>
          <p:nvPr>
            <p:ph type="sldNum" sz="quarter" idx="10"/>
          </p:nvPr>
        </p:nvSpPr>
        <p:spPr/>
        <p:txBody>
          <a:bodyPr/>
          <a:lstStyle/>
          <a:p>
            <a:r>
              <a:rPr lang="en-US" b="1"/>
              <a:t>Chapter One</a:t>
            </a:r>
            <a:r>
              <a:rPr lang="en-US"/>
              <a:t>: Page </a:t>
            </a:r>
            <a:fld id="{3242409A-B053-4208-A245-A8F1D7E49324}" type="slidenum">
              <a:rPr lang="en-US" smtClean="0"/>
              <a:pPr/>
              <a:t>8</a:t>
            </a:fld>
            <a:r>
              <a:rPr lang="en-US"/>
              <a:t> of 88</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type="dt" sz="quarter" idx="1"/>
          </p:nvPr>
        </p:nvSpPr>
        <p:spPr>
          <a:noFill/>
        </p:spPr>
        <p:txBody>
          <a:bodyPr/>
          <a:lstStyle/>
          <a:p>
            <a:r>
              <a:rPr lang="en-US"/>
              <a:t>Introduction to Custom Fields</a:t>
            </a:r>
          </a:p>
        </p:txBody>
      </p:sp>
      <p:sp>
        <p:nvSpPr>
          <p:cNvPr id="56324" name="Rectangle 2"/>
          <p:cNvSpPr>
            <a:spLocks noGrp="1" noRot="1" noChangeAspect="1" noChangeArrowheads="1" noTextEdit="1"/>
          </p:cNvSpPr>
          <p:nvPr>
            <p:ph type="sldImg"/>
          </p:nvPr>
        </p:nvSpPr>
        <p:spPr>
          <a:xfrm>
            <a:off x="920750" y="744538"/>
            <a:ext cx="4965700" cy="3724275"/>
          </a:xfrm>
          <a:ln/>
        </p:spPr>
      </p:sp>
      <p:sp>
        <p:nvSpPr>
          <p:cNvPr id="56325" name="Rectangle 3"/>
          <p:cNvSpPr>
            <a:spLocks noGrp="1" noChangeArrowheads="1"/>
          </p:cNvSpPr>
          <p:nvPr>
            <p:ph type="body" idx="1"/>
          </p:nvPr>
        </p:nvSpPr>
        <p:spPr>
          <a:xfrm>
            <a:off x="906463" y="4716464"/>
            <a:ext cx="4984750" cy="2528887"/>
          </a:xfrm>
          <a:noFill/>
          <a:ln/>
        </p:spPr>
        <p:txBody>
          <a:bodyPr/>
          <a:lstStyle/>
          <a:p>
            <a:pPr algn="ctr" eaLnBrk="1" hangingPunct="1">
              <a:buNone/>
            </a:pPr>
            <a:r>
              <a:rPr lang="en-US" b="1" i="1" dirty="0"/>
              <a:t>Field Type</a:t>
            </a:r>
            <a:br>
              <a:rPr lang="en-US" b="1" i="1" dirty="0"/>
            </a:br>
            <a:endParaRPr lang="en-US" b="1" i="1" dirty="0"/>
          </a:p>
          <a:p>
            <a:pPr algn="l" eaLnBrk="1" hangingPunct="1">
              <a:buSzPct val="150000"/>
              <a:buFont typeface="Wingdings" pitchFamily="2" charset="2"/>
              <a:buChar char="§"/>
            </a:pPr>
            <a:r>
              <a:rPr lang="en-US" b="0" i="0" dirty="0"/>
              <a:t>The screen shown above is the first part of the New</a:t>
            </a:r>
            <a:r>
              <a:rPr lang="en-US" b="0" i="0" baseline="0" dirty="0"/>
              <a:t> Custom Field wizard. The first thing you need to consider is what type of field you want to create.</a:t>
            </a:r>
            <a:endParaRPr lang="en-US" b="0" i="0" dirty="0"/>
          </a:p>
          <a:p>
            <a:pPr algn="ctr" eaLnBrk="1" hangingPunct="1"/>
            <a:endParaRPr lang="en-US"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11</a:t>
            </a:fld>
            <a:r>
              <a:rPr lang="en-US"/>
              <a:t> of 88</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type="dt" sz="quarter" idx="1"/>
          </p:nvPr>
        </p:nvSpPr>
        <p:spPr>
          <a:noFill/>
        </p:spPr>
        <p:txBody>
          <a:bodyPr/>
          <a:lstStyle/>
          <a:p>
            <a:r>
              <a:rPr lang="en-US"/>
              <a:t>Introduction to Custom Fields</a:t>
            </a:r>
          </a:p>
        </p:txBody>
      </p:sp>
      <p:sp>
        <p:nvSpPr>
          <p:cNvPr id="57348" name="Rectangle 2"/>
          <p:cNvSpPr>
            <a:spLocks noGrp="1" noRot="1" noChangeAspect="1" noChangeArrowheads="1" noTextEdit="1"/>
          </p:cNvSpPr>
          <p:nvPr>
            <p:ph type="sldImg"/>
          </p:nvPr>
        </p:nvSpPr>
        <p:spPr>
          <a:xfrm>
            <a:off x="920750" y="744538"/>
            <a:ext cx="4965700" cy="3724275"/>
          </a:xfrm>
          <a:ln/>
        </p:spPr>
      </p:sp>
      <p:sp>
        <p:nvSpPr>
          <p:cNvPr id="57349" name="Rectangle 3"/>
          <p:cNvSpPr>
            <a:spLocks noGrp="1" noChangeArrowheads="1"/>
          </p:cNvSpPr>
          <p:nvPr>
            <p:ph type="body" idx="1"/>
          </p:nvPr>
        </p:nvSpPr>
        <p:spPr>
          <a:xfrm>
            <a:off x="906463" y="4594499"/>
            <a:ext cx="5060950" cy="4584700"/>
          </a:xfrm>
          <a:noFill/>
          <a:ln/>
        </p:spPr>
        <p:txBody>
          <a:bodyPr>
            <a:normAutofit/>
          </a:bodyPr>
          <a:lstStyle/>
          <a:p>
            <a:pPr algn="ctr" eaLnBrk="1" hangingPunct="1">
              <a:buNone/>
            </a:pPr>
            <a:r>
              <a:rPr lang="en-US" b="1" i="1" dirty="0"/>
              <a:t>Types of Custom Fields </a:t>
            </a:r>
            <a:br>
              <a:rPr lang="en-US" b="1" i="1" dirty="0"/>
            </a:br>
            <a:endParaRPr lang="en-US" b="1" i="1" dirty="0"/>
          </a:p>
          <a:p>
            <a:pPr algn="l" eaLnBrk="1" hangingPunct="1"/>
            <a:r>
              <a:rPr lang="en-US" b="0" i="0" dirty="0"/>
              <a:t>There are six types of custom fields in Empower:</a:t>
            </a:r>
            <a:br>
              <a:rPr lang="en-US" dirty="0"/>
            </a:br>
            <a:endParaRPr lang="en-US" dirty="0"/>
          </a:p>
          <a:p>
            <a:pPr lvl="1"/>
            <a:r>
              <a:rPr lang="en-US" sz="1200" dirty="0"/>
              <a:t>Sample – </a:t>
            </a:r>
            <a:r>
              <a:rPr lang="en-US" dirty="0"/>
              <a:t>Identifier of a sample, used where information is different for each sample.</a:t>
            </a:r>
            <a:br>
              <a:rPr lang="en-US" dirty="0"/>
            </a:br>
            <a:endParaRPr lang="en-US" sz="1200" dirty="0"/>
          </a:p>
          <a:p>
            <a:pPr marL="457200" marR="0" lvl="1" indent="-225425" algn="l" defTabSz="914400" rtl="0" eaLnBrk="1" fontAlgn="auto" latinLnBrk="0" hangingPunct="1">
              <a:lnSpc>
                <a:spcPct val="100000"/>
              </a:lnSpc>
              <a:spcBef>
                <a:spcPts val="0"/>
              </a:spcBef>
              <a:spcAft>
                <a:spcPts val="0"/>
              </a:spcAft>
              <a:buClr>
                <a:srgbClr val="0070C0"/>
              </a:buClr>
              <a:tabLst/>
              <a:defRPr/>
            </a:pPr>
            <a:r>
              <a:rPr lang="en-US" dirty="0"/>
              <a:t>Sample Set – Identifier of an entire sample set and not specific parameters.</a:t>
            </a:r>
            <a:br>
              <a:rPr lang="en-US" dirty="0"/>
            </a:br>
            <a:endParaRPr lang="en-US" dirty="0"/>
          </a:p>
          <a:p>
            <a:pPr marL="457200" marR="0" lvl="1" indent="-225425" algn="l" defTabSz="914400" rtl="0" eaLnBrk="1" fontAlgn="auto" latinLnBrk="0" hangingPunct="1">
              <a:lnSpc>
                <a:spcPct val="100000"/>
              </a:lnSpc>
              <a:spcBef>
                <a:spcPts val="0"/>
              </a:spcBef>
              <a:spcAft>
                <a:spcPts val="0"/>
              </a:spcAft>
              <a:buClr>
                <a:srgbClr val="0070C0"/>
              </a:buClr>
              <a:tabLst/>
              <a:defRPr/>
            </a:pPr>
            <a:r>
              <a:rPr lang="en-US" sz="1200" dirty="0"/>
              <a:t>Component – Identifier that pertains to a particular component in th</a:t>
            </a:r>
            <a:r>
              <a:rPr lang="en-US" dirty="0"/>
              <a:t>e sample as identified in the component table of the processing method.</a:t>
            </a:r>
            <a:br>
              <a:rPr lang="en-US" dirty="0"/>
            </a:br>
            <a:endParaRPr lang="en-US" sz="1200" dirty="0"/>
          </a:p>
          <a:p>
            <a:pPr marL="457200" marR="0" lvl="1" indent="-225425" algn="l" defTabSz="914400" rtl="0" eaLnBrk="1" fontAlgn="auto" latinLnBrk="0" hangingPunct="1">
              <a:lnSpc>
                <a:spcPct val="100000"/>
              </a:lnSpc>
              <a:spcBef>
                <a:spcPts val="0"/>
              </a:spcBef>
              <a:spcAft>
                <a:spcPts val="0"/>
              </a:spcAft>
              <a:buClr>
                <a:srgbClr val="0070C0"/>
              </a:buClr>
              <a:tabLst/>
              <a:defRPr/>
            </a:pPr>
            <a:r>
              <a:rPr lang="en-US" sz="1200" dirty="0"/>
              <a:t>Peak – Custom calculation of a peak-level parameter, including an </a:t>
            </a:r>
            <a:r>
              <a:rPr lang="en-US" sz="1200" dirty="0" err="1"/>
              <a:t>interpeak</a:t>
            </a:r>
            <a:r>
              <a:rPr lang="en-US" sz="1200" dirty="0"/>
              <a:t> calculation capability (for example, Area[Ratio] = Area/Peak1[Area]).</a:t>
            </a:r>
            <a:br>
              <a:rPr lang="en-US" sz="1200" dirty="0"/>
            </a:br>
            <a:endParaRPr lang="en-US" sz="1200" dirty="0"/>
          </a:p>
          <a:p>
            <a:pPr lvl="1"/>
            <a:r>
              <a:rPr lang="en-US" sz="1200" dirty="0"/>
              <a:t>Result – Custom calculation of a result-level parameter (for example, the total area of all peaks with a %Area less than 2% = Sum(Area*LTE(%Area,2.0)).</a:t>
            </a:r>
            <a:br>
              <a:rPr lang="en-US" sz="1200" dirty="0"/>
            </a:br>
            <a:endParaRPr lang="en-US" sz="1200" dirty="0"/>
          </a:p>
          <a:p>
            <a:pPr lvl="1"/>
            <a:r>
              <a:rPr lang="en-US" sz="1200" dirty="0"/>
              <a:t>Distribution – Custom calculation of a distribution slice-level parameter for GPC/V data.</a:t>
            </a:r>
          </a:p>
          <a:p>
            <a:pPr lvl="1" eaLnBrk="1" hangingPunct="1"/>
            <a:endParaRPr lang="en-US"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12</a:t>
            </a:fld>
            <a:r>
              <a:rPr lang="en-US"/>
              <a:t> of 88</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a:ln/>
        </p:spPr>
        <p:txBody>
          <a:bodyPr/>
          <a:lstStyle/>
          <a:p>
            <a:pPr algn="ctr"/>
            <a:endParaRPr lang="en-US" dirty="0"/>
          </a:p>
          <a:p>
            <a:pPr algn="ctr"/>
            <a:endParaRPr lang="en-US" dirty="0"/>
          </a:p>
        </p:txBody>
      </p:sp>
      <p:sp>
        <p:nvSpPr>
          <p:cNvPr id="686084" name="Rectangle 4"/>
          <p:cNvSpPr>
            <a:spLocks noChangeArrowheads="1"/>
          </p:cNvSpPr>
          <p:nvPr/>
        </p:nvSpPr>
        <p:spPr bwMode="auto">
          <a:xfrm>
            <a:off x="906358" y="4880598"/>
            <a:ext cx="4984961" cy="3794871"/>
          </a:xfrm>
          <a:prstGeom prst="rect">
            <a:avLst/>
          </a:prstGeom>
          <a:noFill/>
          <a:ln w="9525">
            <a:noFill/>
            <a:miter lim="800000"/>
            <a:headEnd/>
            <a:tailEnd/>
          </a:ln>
          <a:effectLst/>
        </p:spPr>
        <p:txBody>
          <a:bodyPr lIns="93050" tIns="46525" rIns="93050" bIns="46525"/>
          <a:lstStyle/>
          <a:p>
            <a:pPr defTabSz="930259">
              <a:spcBef>
                <a:spcPct val="30000"/>
              </a:spcBef>
              <a:defRPr/>
            </a:pPr>
            <a:r>
              <a:rPr lang="en-US" sz="1200" b="1" dirty="0"/>
              <a:t>Examples of Sample Type Fields:</a:t>
            </a:r>
          </a:p>
          <a:p>
            <a:pPr defTabSz="930259">
              <a:spcBef>
                <a:spcPct val="30000"/>
              </a:spcBef>
              <a:defRPr/>
            </a:pPr>
            <a:endParaRPr lang="en-US" sz="1200" b="1" i="1" dirty="0"/>
          </a:p>
          <a:p>
            <a:pPr defTabSz="930259">
              <a:spcBef>
                <a:spcPct val="30000"/>
              </a:spcBef>
              <a:defRPr/>
            </a:pPr>
            <a:r>
              <a:rPr lang="en-US" sz="1200" b="1" dirty="0"/>
              <a:t>Where else can you find Sample Type Fields?</a:t>
            </a:r>
          </a:p>
          <a:p>
            <a:pPr marL="233309" indent="-233309" defTabSz="930259">
              <a:spcBef>
                <a:spcPct val="30000"/>
              </a:spcBef>
              <a:buClr>
                <a:srgbClr val="3874D4"/>
              </a:buClr>
              <a:buFont typeface="Wingdings 2" pitchFamily="18" charset="2"/>
              <a:buChar char="¡"/>
              <a:defRPr/>
            </a:pPr>
            <a:r>
              <a:rPr lang="en-US" sz="1200" dirty="0"/>
              <a:t>Review's Chromatogram Result table and Channels tab</a:t>
            </a:r>
          </a:p>
          <a:p>
            <a:pPr marL="233309" indent="-233309" defTabSz="930259">
              <a:spcBef>
                <a:spcPct val="30000"/>
              </a:spcBef>
              <a:buClr>
                <a:srgbClr val="3874D4"/>
              </a:buClr>
              <a:buFont typeface="Wingdings 2" pitchFamily="18" charset="2"/>
              <a:buChar char="¡"/>
              <a:defRPr/>
            </a:pPr>
            <a:r>
              <a:rPr lang="en-US" sz="1200" dirty="0"/>
              <a:t>The Project Window in</a:t>
            </a:r>
          </a:p>
          <a:p>
            <a:pPr marL="463550" lvl="1" indent="-231775" defTabSz="930259">
              <a:spcBef>
                <a:spcPct val="30000"/>
              </a:spcBef>
              <a:buClr>
                <a:srgbClr val="3874D4"/>
              </a:buClr>
              <a:buFont typeface="Verdana" pitchFamily="34" charset="0"/>
              <a:buChar char="—"/>
              <a:defRPr/>
            </a:pPr>
            <a:r>
              <a:rPr lang="en-US" sz="1200" dirty="0"/>
              <a:t>Injections</a:t>
            </a:r>
          </a:p>
          <a:p>
            <a:pPr marL="463550" lvl="1" indent="-231775" defTabSz="930259">
              <a:spcBef>
                <a:spcPct val="30000"/>
              </a:spcBef>
              <a:buClr>
                <a:srgbClr val="3874D4"/>
              </a:buClr>
              <a:buFont typeface="Verdana" pitchFamily="34" charset="0"/>
              <a:buChar char="—"/>
              <a:defRPr/>
            </a:pPr>
            <a:r>
              <a:rPr lang="en-US" sz="1200" dirty="0"/>
              <a:t>Channels</a:t>
            </a:r>
          </a:p>
          <a:p>
            <a:pPr marL="463550" lvl="1" indent="-231775" defTabSz="930259">
              <a:spcBef>
                <a:spcPct val="30000"/>
              </a:spcBef>
              <a:buClr>
                <a:srgbClr val="3874D4"/>
              </a:buClr>
              <a:buFont typeface="Verdana" pitchFamily="34" charset="0"/>
              <a:buChar char="—"/>
              <a:defRPr/>
            </a:pPr>
            <a:r>
              <a:rPr lang="en-US" sz="1200" dirty="0"/>
              <a:t>Results</a:t>
            </a:r>
          </a:p>
          <a:p>
            <a:pPr marL="463550" lvl="1" indent="-231775" defTabSz="930259">
              <a:spcBef>
                <a:spcPct val="30000"/>
              </a:spcBef>
              <a:buClr>
                <a:srgbClr val="3874D4"/>
              </a:buClr>
              <a:buFont typeface="Verdana" pitchFamily="34" charset="0"/>
              <a:buChar char="—"/>
              <a:defRPr/>
            </a:pPr>
            <a:r>
              <a:rPr lang="en-US" sz="1200" dirty="0"/>
              <a:t>Peaks</a:t>
            </a:r>
          </a:p>
          <a:p>
            <a:pPr marL="463550" lvl="1" indent="-231775" defTabSz="930259">
              <a:spcBef>
                <a:spcPct val="30000"/>
              </a:spcBef>
              <a:buClr>
                <a:srgbClr val="3874D4"/>
              </a:buClr>
              <a:buFont typeface="Verdana" pitchFamily="34" charset="0"/>
              <a:buChar char="—"/>
              <a:defRPr/>
            </a:pPr>
            <a:r>
              <a:rPr lang="en-US" sz="1200" dirty="0"/>
              <a:t>Sign Offs</a:t>
            </a:r>
          </a:p>
          <a:p>
            <a:pPr marL="463550" lvl="1" indent="-231775" defTabSz="930259">
              <a:spcBef>
                <a:spcPct val="30000"/>
              </a:spcBef>
              <a:buClr>
                <a:srgbClr val="3874D4"/>
              </a:buClr>
              <a:buFont typeface="Verdana" pitchFamily="34" charset="0"/>
              <a:buChar char="—"/>
              <a:defRPr/>
            </a:pPr>
            <a:r>
              <a:rPr lang="en-US" sz="1200" dirty="0"/>
              <a:t>Custom Fields</a:t>
            </a:r>
            <a:r>
              <a:rPr lang="en-US" sz="1200" b="1" dirty="0"/>
              <a:t>	</a:t>
            </a:r>
          </a:p>
          <a:p>
            <a:pPr marL="232948" lvl="1" indent="-116474" defTabSz="930259">
              <a:spcBef>
                <a:spcPct val="30000"/>
              </a:spcBef>
              <a:defRPr/>
            </a:pPr>
            <a:endParaRPr lang="en-US" sz="1200" b="1" dirty="0"/>
          </a:p>
          <a:p>
            <a:pPr defTabSz="930259">
              <a:spcBef>
                <a:spcPct val="30000"/>
              </a:spcBef>
              <a:defRPr/>
            </a:pPr>
            <a:endParaRPr lang="en-US" sz="1200" b="1" dirty="0"/>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13</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Sample Type</a:t>
            </a:r>
            <a:r>
              <a:rPr lang="en-US" b="1" i="1" baseline="0" dirty="0"/>
              <a:t> CF</a:t>
            </a:r>
          </a:p>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dirty="0"/>
          </a:p>
          <a:p>
            <a:pPr algn="l">
              <a:buSzPct val="150000"/>
              <a:buFont typeface="Wingdings" pitchFamily="2" charset="2"/>
              <a:buChar char="§"/>
              <a:defRPr/>
            </a:pPr>
            <a:r>
              <a:rPr lang="en-US" b="0" i="0" dirty="0"/>
              <a:t>Examples of Sample Type custom fields are shown above.</a:t>
            </a:r>
            <a:br>
              <a:rPr lang="en-US" b="0" i="0" dirty="0"/>
            </a:br>
            <a:endParaRPr lang="en-US" b="0" i="0" dirty="0"/>
          </a:p>
          <a:p>
            <a:pPr algn="l">
              <a:buSzPct val="150000"/>
              <a:buFont typeface="Wingdings" pitchFamily="2" charset="2"/>
              <a:buChar char="§"/>
              <a:defRPr/>
            </a:pPr>
            <a:r>
              <a:rPr lang="en-US" b="0" i="0" dirty="0"/>
              <a:t>Custom fields such as these could all be tracked as a Sample Type custom field and, like </a:t>
            </a:r>
            <a:r>
              <a:rPr lang="en-US" b="0" i="0" dirty="0" err="1"/>
              <a:t>SampleName</a:t>
            </a:r>
            <a:r>
              <a:rPr lang="en-US" b="0" i="0" dirty="0"/>
              <a:t>, the field would appear in the Run Sample’s Sample tab, allowing the user to enter appropriate information.  After data is acquired, this information is displayed in the Alter Sample window where it can be modified, if necessary.  The field can also be added to the project window’s Injections, </a:t>
            </a:r>
            <a:r>
              <a:rPr lang="en-US" b="0" i="0" dirty="0" err="1"/>
              <a:t>Channesl</a:t>
            </a:r>
            <a:r>
              <a:rPr lang="en-US" b="0" i="0" dirty="0"/>
              <a:t>,</a:t>
            </a:r>
            <a:r>
              <a:rPr lang="en-US" b="0" i="0" baseline="0" dirty="0"/>
              <a:t> </a:t>
            </a:r>
            <a:r>
              <a:rPr lang="en-US" b="0" i="0" dirty="0"/>
              <a:t>Results, Peaks, sign Offs and Custom Fields  views and can be printed in a customized report.</a:t>
            </a:r>
          </a:p>
          <a:p>
            <a:pPr marL="225425" marR="0" indent="-225425" algn="l"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b="0" i="0" dirty="0"/>
          </a:p>
          <a:p>
            <a:pPr algn="l" eaLnBrk="1" hangingPunct="1">
              <a:buNone/>
            </a:pPr>
            <a:endParaRPr lang="en-US" b="1" i="1"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14</a:t>
            </a:fld>
            <a:r>
              <a:rPr lang="en-US"/>
              <a:t> of 88</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Sample Type</a:t>
            </a:r>
            <a:r>
              <a:rPr lang="en-US" b="1" i="1" baseline="0" dirty="0"/>
              <a:t> CF</a:t>
            </a:r>
          </a:p>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dirty="0"/>
          </a:p>
          <a:p>
            <a:pPr algn="l">
              <a:buSzPct val="150000"/>
              <a:buFont typeface="Wingdings" pitchFamily="2" charset="2"/>
              <a:buChar char="§"/>
              <a:defRPr/>
            </a:pPr>
            <a:r>
              <a:rPr lang="en-US" b="0" i="0" dirty="0"/>
              <a:t>Examples of Sample Type custom fields are shown above.</a:t>
            </a:r>
            <a:br>
              <a:rPr lang="en-US" b="0" i="0" dirty="0"/>
            </a:br>
            <a:endParaRPr lang="en-US" b="0" i="0" dirty="0"/>
          </a:p>
          <a:p>
            <a:pPr algn="l">
              <a:buSzPct val="150000"/>
              <a:buFont typeface="Wingdings" pitchFamily="2" charset="2"/>
              <a:buChar char="§"/>
              <a:defRPr/>
            </a:pPr>
            <a:r>
              <a:rPr lang="en-US" b="0" i="0" dirty="0"/>
              <a:t>Custom fields such as these could all be tracked as a Sample Type custom field and, like </a:t>
            </a:r>
            <a:r>
              <a:rPr lang="en-US" b="0" i="0" dirty="0" err="1"/>
              <a:t>SampleName</a:t>
            </a:r>
            <a:r>
              <a:rPr lang="en-US" b="0" i="0" dirty="0"/>
              <a:t>, the field would appear in the Run Sample’s Sample tab, allowing the user to enter appropriate information.  After data is acquired, this information is displayed in the Alter Sample window where it can be modified, if necessary.  The field can also be added to the project window’s Injections, </a:t>
            </a:r>
            <a:r>
              <a:rPr lang="en-US" b="0" i="0" dirty="0" err="1"/>
              <a:t>Channesl</a:t>
            </a:r>
            <a:r>
              <a:rPr lang="en-US" b="0" i="0" dirty="0"/>
              <a:t>,</a:t>
            </a:r>
            <a:r>
              <a:rPr lang="en-US" b="0" i="0" baseline="0" dirty="0"/>
              <a:t> </a:t>
            </a:r>
            <a:r>
              <a:rPr lang="en-US" b="0" i="0" dirty="0"/>
              <a:t>Results, Peaks, sign Offs and Custom Fields  views and can be printed in a customized report.</a:t>
            </a:r>
          </a:p>
          <a:p>
            <a:pPr marL="225425" marR="0" indent="-225425" algn="l"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b="0" i="0" dirty="0"/>
          </a:p>
          <a:p>
            <a:pPr algn="l" eaLnBrk="1" hangingPunct="1">
              <a:buNone/>
            </a:pPr>
            <a:endParaRPr lang="en-US" b="1" i="1"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15</a:t>
            </a:fld>
            <a:r>
              <a:rPr lang="en-US"/>
              <a:t> of 88</a:t>
            </a:r>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a:noFill/>
          <a:ln/>
        </p:spPr>
        <p:txBody>
          <a:bodyPr/>
          <a:lstStyle/>
          <a:p>
            <a:pPr algn="ctr"/>
            <a:endParaRPr lang="en-US" dirty="0"/>
          </a:p>
          <a:p>
            <a:pPr algn="ctr"/>
            <a:endParaRPr lang="en-US" dirty="0"/>
          </a:p>
        </p:txBody>
      </p:sp>
      <p:sp>
        <p:nvSpPr>
          <p:cNvPr id="688132" name="Rectangle 4"/>
          <p:cNvSpPr>
            <a:spLocks noChangeArrowheads="1"/>
          </p:cNvSpPr>
          <p:nvPr/>
        </p:nvSpPr>
        <p:spPr bwMode="auto">
          <a:xfrm>
            <a:off x="896916" y="4777195"/>
            <a:ext cx="4984961" cy="3942615"/>
          </a:xfrm>
          <a:prstGeom prst="rect">
            <a:avLst/>
          </a:prstGeom>
          <a:noFill/>
          <a:ln w="9525">
            <a:noFill/>
            <a:miter lim="800000"/>
            <a:headEnd/>
            <a:tailEnd/>
          </a:ln>
          <a:effectLst/>
        </p:spPr>
        <p:txBody>
          <a:bodyPr lIns="93050" tIns="46525" rIns="93050" bIns="46525"/>
          <a:lstStyle/>
          <a:p>
            <a:pPr defTabSz="930259">
              <a:spcBef>
                <a:spcPct val="30000"/>
              </a:spcBef>
              <a:defRPr/>
            </a:pPr>
            <a:r>
              <a:rPr lang="en-US" sz="1200" b="1" dirty="0"/>
              <a:t>Examples of Sample Set Type Fields:</a:t>
            </a:r>
          </a:p>
          <a:p>
            <a:pPr defTabSz="930259">
              <a:spcBef>
                <a:spcPct val="30000"/>
              </a:spcBef>
              <a:defRPr/>
            </a:pPr>
            <a:endParaRPr lang="en-US" sz="1200" b="1" i="1" dirty="0"/>
          </a:p>
          <a:p>
            <a:pPr defTabSz="930259">
              <a:spcBef>
                <a:spcPct val="30000"/>
              </a:spcBef>
              <a:defRPr/>
            </a:pPr>
            <a:r>
              <a:rPr lang="en-US" sz="1200" b="1" dirty="0"/>
              <a:t>Where else can you find Sample Set Type Fields?</a:t>
            </a:r>
          </a:p>
          <a:p>
            <a:pPr marL="233309" indent="-233309" defTabSz="930259">
              <a:spcBef>
                <a:spcPct val="30000"/>
              </a:spcBef>
              <a:buClr>
                <a:srgbClr val="3874D4"/>
              </a:buClr>
              <a:buFont typeface="Wingdings 2" pitchFamily="18" charset="2"/>
              <a:buChar char="¡"/>
              <a:defRPr/>
            </a:pPr>
            <a:r>
              <a:rPr lang="en-US" sz="1200" dirty="0"/>
              <a:t>Sample Set Method Editor</a:t>
            </a:r>
          </a:p>
          <a:p>
            <a:pPr marL="233309" indent="-233309" defTabSz="930259">
              <a:spcBef>
                <a:spcPct val="30000"/>
              </a:spcBef>
              <a:buClr>
                <a:srgbClr val="3874D4"/>
              </a:buClr>
              <a:buFont typeface="Wingdings 2" pitchFamily="18" charset="2"/>
              <a:buChar char="¡"/>
              <a:defRPr/>
            </a:pPr>
            <a:r>
              <a:rPr lang="en-US" sz="1200" dirty="0"/>
              <a:t>The Project Window in</a:t>
            </a:r>
          </a:p>
          <a:p>
            <a:pPr marL="463550" lvl="1" indent="-231775" defTabSz="930259">
              <a:spcBef>
                <a:spcPct val="30000"/>
              </a:spcBef>
              <a:buClr>
                <a:srgbClr val="3874D4"/>
              </a:buClr>
              <a:buFont typeface="Verdana" pitchFamily="34" charset="0"/>
              <a:buChar char="—"/>
              <a:defRPr/>
            </a:pPr>
            <a:r>
              <a:rPr lang="en-US" sz="1200" dirty="0"/>
              <a:t>Sample Sets</a:t>
            </a:r>
          </a:p>
          <a:p>
            <a:pPr marL="463550" lvl="1" indent="-231775" defTabSz="930259">
              <a:spcBef>
                <a:spcPct val="30000"/>
              </a:spcBef>
              <a:buClr>
                <a:srgbClr val="3874D4"/>
              </a:buClr>
              <a:buFont typeface="Verdana" pitchFamily="34" charset="0"/>
              <a:buChar char="—"/>
              <a:defRPr/>
            </a:pPr>
            <a:r>
              <a:rPr lang="en-US" sz="1200" dirty="0"/>
              <a:t>Injections</a:t>
            </a:r>
          </a:p>
          <a:p>
            <a:pPr marL="463550" lvl="1" indent="-231775" defTabSz="930259">
              <a:spcBef>
                <a:spcPct val="30000"/>
              </a:spcBef>
              <a:buClr>
                <a:srgbClr val="3874D4"/>
              </a:buClr>
              <a:buFont typeface="Verdana" pitchFamily="34" charset="0"/>
              <a:buChar char="—"/>
              <a:defRPr/>
            </a:pPr>
            <a:r>
              <a:rPr lang="en-US" sz="1200" dirty="0"/>
              <a:t>Channels</a:t>
            </a:r>
          </a:p>
          <a:p>
            <a:pPr marL="463550" lvl="1" indent="-231775" defTabSz="930259">
              <a:spcBef>
                <a:spcPct val="30000"/>
              </a:spcBef>
              <a:buClr>
                <a:srgbClr val="3874D4"/>
              </a:buClr>
              <a:buFont typeface="Verdana" pitchFamily="34" charset="0"/>
              <a:buChar char="—"/>
              <a:defRPr/>
            </a:pPr>
            <a:r>
              <a:rPr lang="en-US" sz="1200" dirty="0"/>
              <a:t>Result Sets</a:t>
            </a:r>
          </a:p>
          <a:p>
            <a:pPr marL="463550" lvl="1" indent="-231775" defTabSz="930259">
              <a:spcBef>
                <a:spcPct val="30000"/>
              </a:spcBef>
              <a:buClr>
                <a:srgbClr val="3874D4"/>
              </a:buClr>
              <a:buFont typeface="Verdana" pitchFamily="34" charset="0"/>
              <a:buChar char="—"/>
              <a:defRPr/>
            </a:pPr>
            <a:r>
              <a:rPr lang="en-US" sz="1200" dirty="0"/>
              <a:t>Results</a:t>
            </a:r>
          </a:p>
          <a:p>
            <a:pPr marL="463550" lvl="1" indent="-231775" defTabSz="930259">
              <a:spcBef>
                <a:spcPct val="30000"/>
              </a:spcBef>
              <a:buClr>
                <a:srgbClr val="3874D4"/>
              </a:buClr>
              <a:buFont typeface="Verdana" pitchFamily="34" charset="0"/>
              <a:buChar char="—"/>
              <a:defRPr/>
            </a:pPr>
            <a:r>
              <a:rPr lang="en-US" sz="1200" dirty="0"/>
              <a:t>Peaks</a:t>
            </a:r>
          </a:p>
          <a:p>
            <a:pPr marL="463550" lvl="1" indent="-231775" defTabSz="930259">
              <a:spcBef>
                <a:spcPct val="30000"/>
              </a:spcBef>
              <a:buClr>
                <a:srgbClr val="3874D4"/>
              </a:buClr>
              <a:buFont typeface="Verdana" pitchFamily="34" charset="0"/>
              <a:buChar char="—"/>
              <a:defRPr/>
            </a:pPr>
            <a:r>
              <a:rPr lang="en-US" sz="1200" dirty="0"/>
              <a:t>Sign Offs</a:t>
            </a:r>
          </a:p>
          <a:p>
            <a:pPr marL="463550" lvl="1" indent="-231775" defTabSz="930259">
              <a:spcBef>
                <a:spcPct val="30000"/>
              </a:spcBef>
              <a:buClr>
                <a:srgbClr val="3874D4"/>
              </a:buClr>
              <a:buFont typeface="Verdana" pitchFamily="34" charset="0"/>
              <a:buChar char="—"/>
              <a:defRPr/>
            </a:pPr>
            <a:r>
              <a:rPr lang="en-US" sz="1200" dirty="0"/>
              <a:t>Custom Fields	</a:t>
            </a:r>
          </a:p>
          <a:p>
            <a:pPr marL="232948" lvl="1" indent="-116474" defTabSz="930259">
              <a:spcBef>
                <a:spcPct val="30000"/>
              </a:spcBef>
              <a:defRPr/>
            </a:pPr>
            <a:endParaRPr lang="en-US" sz="1200" i="1" dirty="0"/>
          </a:p>
          <a:p>
            <a:pPr defTabSz="930259">
              <a:spcBef>
                <a:spcPct val="30000"/>
              </a:spcBef>
              <a:defRPr/>
            </a:pPr>
            <a:endParaRPr lang="en-US" sz="1200" i="1" dirty="0"/>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16</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Sample Set Type CF</a:t>
            </a:r>
          </a:p>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dirty="0"/>
          </a:p>
          <a:p>
            <a:pPr algn="l">
              <a:buSzPct val="150000"/>
              <a:buFont typeface="Wingdings" pitchFamily="2" charset="2"/>
              <a:buChar char="§"/>
              <a:defRPr/>
            </a:pPr>
            <a:r>
              <a:rPr lang="en-US" b="0" i="0" dirty="0"/>
              <a:t>Examples of Sample Set Type custom fields are shown above.</a:t>
            </a:r>
            <a:br>
              <a:rPr lang="en-US" b="0" i="0" dirty="0"/>
            </a:br>
            <a:endParaRPr lang="en-US" b="0" i="0" dirty="0"/>
          </a:p>
          <a:p>
            <a:pPr algn="l">
              <a:buSzPct val="150000"/>
              <a:buFont typeface="Wingdings" pitchFamily="2" charset="2"/>
              <a:buChar char="§"/>
              <a:defRPr/>
            </a:pPr>
            <a:r>
              <a:rPr lang="en-US" b="0" i="0" dirty="0"/>
              <a:t>Custom fields such as these are entered in the Sample Set Information dialog, in the Run Samples window allowing the user to enter appropriate information.  After data is acquired, this information is displayed in the Alter Sample window where it can be modified, if necessary.  The field can also be added to the project window’s Sample Set, Injections, Channels,</a:t>
            </a:r>
            <a:r>
              <a:rPr lang="en-US" b="0" i="0" baseline="0" dirty="0"/>
              <a:t> </a:t>
            </a:r>
            <a:r>
              <a:rPr lang="en-US" b="0" i="0" dirty="0"/>
              <a:t>Result Sets, Results,</a:t>
            </a:r>
            <a:r>
              <a:rPr lang="en-US" b="0" i="0" baseline="0" dirty="0"/>
              <a:t> Peaks, Sign Offs and Custom Fields</a:t>
            </a:r>
            <a:r>
              <a:rPr lang="en-US" b="0" i="0" dirty="0"/>
              <a:t> views and can be printed in a customized report.</a:t>
            </a:r>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17</a:t>
            </a:fld>
            <a:r>
              <a:rPr lang="en-US"/>
              <a:t> of 88</a:t>
            </a:r>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Sample Set Type CF</a:t>
            </a:r>
          </a:p>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dirty="0"/>
          </a:p>
          <a:p>
            <a:pPr algn="l">
              <a:buSzPct val="150000"/>
              <a:buFont typeface="Wingdings" pitchFamily="2" charset="2"/>
              <a:buChar char="§"/>
              <a:defRPr/>
            </a:pPr>
            <a:r>
              <a:rPr lang="en-US" b="0" i="0" dirty="0"/>
              <a:t>Examples of Sample Set Type custom fields are shown above.</a:t>
            </a:r>
            <a:br>
              <a:rPr lang="en-US" b="0" i="0" dirty="0"/>
            </a:br>
            <a:endParaRPr lang="en-US" b="0" i="0" dirty="0"/>
          </a:p>
          <a:p>
            <a:pPr algn="l">
              <a:buSzPct val="150000"/>
              <a:buFont typeface="Wingdings" pitchFamily="2" charset="2"/>
              <a:buChar char="§"/>
              <a:defRPr/>
            </a:pPr>
            <a:r>
              <a:rPr lang="en-US" b="0" i="0" dirty="0"/>
              <a:t>Custom fields such as these are entered in the Sample Set Information dialog, in the Run Samples window allowing the user to enter appropriate information.  After data is acquired, this information is displayed in the Alter Sample window where it can be modified, if necessary.  The field can also be added to the project window’s Sample Set, Injections, Channels,</a:t>
            </a:r>
            <a:r>
              <a:rPr lang="en-US" b="0" i="0" baseline="0" dirty="0"/>
              <a:t> </a:t>
            </a:r>
            <a:r>
              <a:rPr lang="en-US" b="0" i="0" dirty="0"/>
              <a:t>Result Sets, Results,</a:t>
            </a:r>
            <a:r>
              <a:rPr lang="en-US" b="0" i="0" baseline="0" dirty="0"/>
              <a:t> Peaks, Sign Offs and Custom Fields</a:t>
            </a:r>
            <a:r>
              <a:rPr lang="en-US" b="0" i="0" dirty="0"/>
              <a:t> views and can be printed in a customized report.</a:t>
            </a:r>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18</a:t>
            </a:fld>
            <a:r>
              <a:rPr lang="en-US"/>
              <a:t> of 88</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a:noFill/>
          <a:ln/>
        </p:spPr>
        <p:txBody>
          <a:bodyPr/>
          <a:lstStyle/>
          <a:p>
            <a:pPr algn="ctr"/>
            <a:endParaRPr lang="en-US" dirty="0"/>
          </a:p>
          <a:p>
            <a:pPr algn="ctr"/>
            <a:endParaRPr lang="en-US" dirty="0"/>
          </a:p>
        </p:txBody>
      </p:sp>
      <p:sp>
        <p:nvSpPr>
          <p:cNvPr id="690180" name="Rectangle 4"/>
          <p:cNvSpPr>
            <a:spLocks noChangeArrowheads="1"/>
          </p:cNvSpPr>
          <p:nvPr/>
        </p:nvSpPr>
        <p:spPr bwMode="auto">
          <a:xfrm>
            <a:off x="896916" y="4880597"/>
            <a:ext cx="4984961" cy="3412282"/>
          </a:xfrm>
          <a:prstGeom prst="rect">
            <a:avLst/>
          </a:prstGeom>
          <a:noFill/>
          <a:ln w="9525">
            <a:noFill/>
            <a:miter lim="800000"/>
            <a:headEnd/>
            <a:tailEnd/>
          </a:ln>
          <a:effectLst/>
        </p:spPr>
        <p:txBody>
          <a:bodyPr lIns="93050" tIns="46525" rIns="93050" bIns="46525"/>
          <a:lstStyle/>
          <a:p>
            <a:pPr defTabSz="930259">
              <a:spcBef>
                <a:spcPct val="30000"/>
              </a:spcBef>
              <a:defRPr/>
            </a:pPr>
            <a:r>
              <a:rPr lang="en-US" sz="1200" b="1" dirty="0"/>
              <a:t>Examples of Peak Type Fields:</a:t>
            </a:r>
          </a:p>
          <a:p>
            <a:pPr defTabSz="930259">
              <a:spcBef>
                <a:spcPct val="30000"/>
              </a:spcBef>
              <a:defRPr/>
            </a:pPr>
            <a:endParaRPr lang="en-US" sz="1200" b="1" dirty="0"/>
          </a:p>
          <a:p>
            <a:pPr defTabSz="930259">
              <a:spcBef>
                <a:spcPct val="30000"/>
              </a:spcBef>
              <a:defRPr/>
            </a:pPr>
            <a:r>
              <a:rPr lang="en-US" sz="1200" b="1" dirty="0"/>
              <a:t>Where else can you find Peak Type Fields?</a:t>
            </a:r>
          </a:p>
          <a:p>
            <a:pPr marL="233309" indent="-233309" defTabSz="930259">
              <a:spcBef>
                <a:spcPct val="30000"/>
              </a:spcBef>
              <a:buClr>
                <a:srgbClr val="3874D4"/>
              </a:buClr>
              <a:buFont typeface="Wingdings 2" pitchFamily="18" charset="2"/>
              <a:buChar char="¡"/>
              <a:defRPr/>
            </a:pPr>
            <a:r>
              <a:rPr lang="en-US" sz="1200" dirty="0"/>
              <a:t>These tabs of the Project Window:</a:t>
            </a:r>
          </a:p>
          <a:p>
            <a:pPr marL="463550" lvl="1" indent="-231775" defTabSz="930259">
              <a:spcBef>
                <a:spcPct val="30000"/>
              </a:spcBef>
              <a:buClr>
                <a:srgbClr val="3874D4"/>
              </a:buClr>
              <a:buFont typeface="Verdana" pitchFamily="34" charset="0"/>
              <a:buChar char="—"/>
              <a:defRPr/>
            </a:pPr>
            <a:r>
              <a:rPr lang="en-US" sz="1200" dirty="0"/>
              <a:t>Results</a:t>
            </a:r>
          </a:p>
          <a:p>
            <a:pPr marL="463550" lvl="1" indent="-231775" defTabSz="930259">
              <a:spcBef>
                <a:spcPct val="30000"/>
              </a:spcBef>
              <a:buClr>
                <a:srgbClr val="3874D4"/>
              </a:buClr>
              <a:buFont typeface="Verdana" pitchFamily="34" charset="0"/>
              <a:buChar char="—"/>
              <a:defRPr/>
            </a:pPr>
            <a:r>
              <a:rPr lang="en-US" sz="1200" dirty="0"/>
              <a:t>Peaks</a:t>
            </a:r>
          </a:p>
          <a:p>
            <a:pPr marL="463550" lvl="1" indent="-231775" defTabSz="930259">
              <a:spcBef>
                <a:spcPct val="30000"/>
              </a:spcBef>
              <a:buClr>
                <a:srgbClr val="3874D4"/>
              </a:buClr>
              <a:buFont typeface="Verdana" pitchFamily="34" charset="0"/>
              <a:buChar char="—"/>
              <a:defRPr/>
            </a:pPr>
            <a:r>
              <a:rPr lang="en-US" sz="1200" dirty="0"/>
              <a:t>Signoffs </a:t>
            </a:r>
          </a:p>
          <a:p>
            <a:pPr defTabSz="930259">
              <a:spcBef>
                <a:spcPct val="30000"/>
              </a:spcBef>
              <a:defRPr/>
            </a:pPr>
            <a:r>
              <a:rPr lang="en-US" sz="1200" i="1" dirty="0"/>
              <a:t>	</a:t>
            </a:r>
          </a:p>
          <a:p>
            <a:pPr marL="232948" lvl="1" indent="-116474" defTabSz="930259">
              <a:spcBef>
                <a:spcPct val="30000"/>
              </a:spcBef>
              <a:defRPr/>
            </a:pPr>
            <a:endParaRPr lang="en-US" sz="1200" b="1" i="1" dirty="0"/>
          </a:p>
          <a:p>
            <a:pPr defTabSz="930259">
              <a:spcBef>
                <a:spcPct val="30000"/>
              </a:spcBef>
              <a:defRPr/>
            </a:pPr>
            <a:endParaRPr lang="en-US" sz="1200" b="1" i="1" dirty="0"/>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19</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p:cNvSpPr>
            <a:spLocks noGrp="1" noChangeArrowheads="1"/>
          </p:cNvSpPr>
          <p:nvPr>
            <p:ph type="dt" sz="quarter" idx="1"/>
          </p:nvPr>
        </p:nvSpPr>
        <p:spPr>
          <a:noFill/>
        </p:spPr>
        <p:txBody>
          <a:bodyPr/>
          <a:lstStyle/>
          <a:p>
            <a:r>
              <a:rPr lang="en-US"/>
              <a:t>Introduction to Custom Fields</a:t>
            </a:r>
          </a:p>
        </p:txBody>
      </p:sp>
      <p:sp>
        <p:nvSpPr>
          <p:cNvPr id="68612" name="Rectangle 2"/>
          <p:cNvSpPr>
            <a:spLocks noGrp="1" noRot="1" noChangeAspect="1" noChangeArrowheads="1" noTextEdit="1"/>
          </p:cNvSpPr>
          <p:nvPr>
            <p:ph type="sldImg"/>
          </p:nvPr>
        </p:nvSpPr>
        <p:spPr>
          <a:xfrm>
            <a:off x="920750" y="742950"/>
            <a:ext cx="4967288" cy="3725863"/>
          </a:xfrm>
          <a:ln/>
        </p:spPr>
      </p:sp>
      <p:sp>
        <p:nvSpPr>
          <p:cNvPr id="68613" name="Rectangle 3"/>
          <p:cNvSpPr>
            <a:spLocks noGrp="1" noChangeArrowheads="1"/>
          </p:cNvSpPr>
          <p:nvPr>
            <p:ph type="body" idx="1"/>
          </p:nvPr>
        </p:nvSpPr>
        <p:spPr>
          <a:xfrm>
            <a:off x="906463" y="4714876"/>
            <a:ext cx="4984750" cy="2528888"/>
          </a:xfrm>
          <a:noFill/>
          <a:ln/>
        </p:spPr>
        <p:txBody>
          <a:bodyPr lIns="86594" tIns="43297" rIns="86594" bIns="43297"/>
          <a:lstStyle/>
          <a:p>
            <a:pPr algn="ctr" eaLnBrk="1" hangingPunct="1">
              <a:buNone/>
            </a:pPr>
            <a:r>
              <a:rPr lang="en-US" b="1" i="1" noProof="0" dirty="0"/>
              <a:t>Peak Type CF Syntax</a:t>
            </a:r>
            <a:br>
              <a:rPr lang="en-US" b="1" i="1" noProof="0" dirty="0"/>
            </a:br>
            <a:endParaRPr lang="en-US" b="1" i="1" noProof="0" dirty="0"/>
          </a:p>
          <a:p>
            <a:pPr algn="l" eaLnBrk="1" hangingPunct="1"/>
            <a:r>
              <a:rPr lang="en-US" b="0" i="0" noProof="0" dirty="0"/>
              <a:t>The syntax needed</a:t>
            </a:r>
            <a:r>
              <a:rPr lang="en-US" b="0" i="0" baseline="0" noProof="0" dirty="0"/>
              <a:t> to reference a specific named peak is</a:t>
            </a:r>
            <a:br>
              <a:rPr lang="en-US" b="0" i="0" baseline="0" noProof="0" dirty="0"/>
            </a:br>
            <a:endParaRPr lang="en-US" b="0" i="0" baseline="0" noProof="0" dirty="0"/>
          </a:p>
          <a:p>
            <a:pPr lvl="1" algn="l" eaLnBrk="1" hangingPunct="1"/>
            <a:r>
              <a:rPr lang="en-US" b="0" i="0" baseline="0" noProof="0" dirty="0"/>
              <a:t>Peak Name[Field]</a:t>
            </a:r>
            <a:br>
              <a:rPr lang="en-US" b="0" i="0" baseline="0" noProof="0" dirty="0"/>
            </a:br>
            <a:endParaRPr lang="en-US" b="0" i="0" baseline="0" noProof="0" dirty="0"/>
          </a:p>
          <a:p>
            <a:pPr marL="0" lvl="0" algn="l" eaLnBrk="1" hangingPunct="1"/>
            <a:r>
              <a:rPr lang="en-US" b="0" i="0" baseline="0" noProof="0" dirty="0"/>
              <a:t>Remember that the spelling of the peak name in the custom field must match the spelling in the component table of the processing method.</a:t>
            </a:r>
            <a:endParaRPr lang="en-US" b="0" i="0" noProof="0"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20</a:t>
            </a:fld>
            <a:r>
              <a:rPr lang="en-US"/>
              <a:t> of 88</a:t>
            </a:r>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algn="ctr" eaLnBrk="1" hangingPunct="1">
              <a:buNone/>
            </a:pPr>
            <a:r>
              <a:rPr lang="en-US" b="1" i="1" noProof="0" dirty="0"/>
              <a:t>Peak Type CF </a:t>
            </a:r>
          </a:p>
          <a:p>
            <a:pPr algn="ctr" eaLnBrk="1" hangingPunct="1">
              <a:buNone/>
            </a:pPr>
            <a:endParaRPr lang="en-US" b="1" i="1" noProof="0" dirty="0"/>
          </a:p>
          <a:p>
            <a:pPr algn="l">
              <a:buSzPct val="150000"/>
              <a:buFont typeface="Wingdings" pitchFamily="2" charset="2"/>
              <a:buChar char="§"/>
            </a:pPr>
            <a:r>
              <a:rPr lang="en-US" b="0" i="0" dirty="0"/>
              <a:t>Examples of Peak Type custom fields are shown above.</a:t>
            </a:r>
            <a:br>
              <a:rPr lang="en-US" b="0" i="0" dirty="0"/>
            </a:br>
            <a:endParaRPr lang="en-US" sz="1200" b="0" i="0" kern="1200" dirty="0">
              <a:solidFill>
                <a:schemeClr val="tx1"/>
              </a:solidFill>
              <a:latin typeface="Verdana" pitchFamily="34" charset="0"/>
              <a:ea typeface="Verdana" pitchFamily="34" charset="0"/>
              <a:cs typeface="Verdana" pitchFamily="34" charset="0"/>
            </a:endParaRPr>
          </a:p>
          <a:p>
            <a:pPr algn="l" eaLnBrk="1" hangingPunct="1">
              <a:buSzPct val="150000"/>
              <a:buFont typeface="Wingdings" pitchFamily="2" charset="2"/>
              <a:buChar char="§"/>
            </a:pPr>
            <a:r>
              <a:rPr lang="en-US" sz="1200" b="0" i="0" kern="1200" dirty="0">
                <a:solidFill>
                  <a:schemeClr val="tx1"/>
                </a:solidFill>
                <a:latin typeface="Verdana" pitchFamily="34" charset="0"/>
                <a:ea typeface="Verdana" pitchFamily="34" charset="0"/>
                <a:cs typeface="Verdana" pitchFamily="34" charset="0"/>
              </a:rPr>
              <a:t>This information is then located in the Peaks tab of the Result window of Review and can be placed in the project window’s Peak View or on a customized report. </a:t>
            </a:r>
          </a:p>
          <a:p>
            <a:pPr algn="l" eaLnBrk="1" hangingPunct="1">
              <a:buSzPct val="150000"/>
            </a:pPr>
            <a:endParaRPr lang="en-US" b="0" i="0"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21</a:t>
            </a:fld>
            <a:r>
              <a:rPr lang="en-US"/>
              <a:t> of 88</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algn="ctr" eaLnBrk="1" hangingPunct="1">
              <a:buNone/>
            </a:pPr>
            <a:r>
              <a:rPr lang="en-US" b="1" i="1" noProof="0" dirty="0"/>
              <a:t>Peak Type CF </a:t>
            </a:r>
          </a:p>
          <a:p>
            <a:pPr algn="ctr" eaLnBrk="1" hangingPunct="1">
              <a:buNone/>
            </a:pPr>
            <a:endParaRPr lang="en-US" b="1" i="1" noProof="0" dirty="0"/>
          </a:p>
          <a:p>
            <a:pPr algn="l">
              <a:buSzPct val="150000"/>
              <a:buFont typeface="Wingdings" pitchFamily="2" charset="2"/>
              <a:buChar char="§"/>
            </a:pPr>
            <a:r>
              <a:rPr lang="en-US" b="0" i="0" dirty="0"/>
              <a:t>Examples of Peak Type custom fields are shown above.</a:t>
            </a:r>
            <a:br>
              <a:rPr lang="en-US" b="0" i="0" dirty="0"/>
            </a:br>
            <a:endParaRPr lang="en-US" sz="1200" b="0" i="0" kern="1200" dirty="0">
              <a:solidFill>
                <a:schemeClr val="tx1"/>
              </a:solidFill>
              <a:latin typeface="Verdana" pitchFamily="34" charset="0"/>
              <a:ea typeface="Verdana" pitchFamily="34" charset="0"/>
              <a:cs typeface="Verdana" pitchFamily="34" charset="0"/>
            </a:endParaRPr>
          </a:p>
          <a:p>
            <a:pPr algn="l" eaLnBrk="1" hangingPunct="1">
              <a:buSzPct val="150000"/>
              <a:buFont typeface="Wingdings" pitchFamily="2" charset="2"/>
              <a:buChar char="§"/>
            </a:pPr>
            <a:r>
              <a:rPr lang="en-US" sz="1200" b="0" i="0" kern="1200" dirty="0">
                <a:solidFill>
                  <a:schemeClr val="tx1"/>
                </a:solidFill>
                <a:latin typeface="Verdana" pitchFamily="34" charset="0"/>
                <a:ea typeface="Verdana" pitchFamily="34" charset="0"/>
                <a:cs typeface="Verdana" pitchFamily="34" charset="0"/>
              </a:rPr>
              <a:t>This information is then located in the Peaks tab of the Result window of Review and can be placed in the project window’s Peak View or on a customized report. </a:t>
            </a:r>
          </a:p>
          <a:p>
            <a:pPr algn="l" eaLnBrk="1" hangingPunct="1">
              <a:buSzPct val="150000"/>
            </a:pPr>
            <a:endParaRPr lang="en-US" b="0" i="0"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22</a:t>
            </a:fld>
            <a:r>
              <a:rPr lang="en-US"/>
              <a:t> of 88</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928688" y="741363"/>
            <a:ext cx="4965700" cy="3724275"/>
          </a:xfrm>
          <a:ln/>
        </p:spPr>
      </p:sp>
      <p:sp>
        <p:nvSpPr>
          <p:cNvPr id="101379" name="Rectangle 3"/>
          <p:cNvSpPr>
            <a:spLocks noGrp="1" noChangeArrowheads="1"/>
          </p:cNvSpPr>
          <p:nvPr>
            <p:ph type="body" idx="1"/>
          </p:nvPr>
        </p:nvSpPr>
        <p:spPr>
          <a:noFill/>
          <a:ln/>
        </p:spPr>
        <p:txBody>
          <a:bodyPr/>
          <a:lstStyle/>
          <a:p>
            <a:pPr algn="ctr"/>
            <a:endParaRPr lang="en-US" dirty="0"/>
          </a:p>
          <a:p>
            <a:pPr algn="ctr"/>
            <a:endParaRPr lang="en-US" dirty="0"/>
          </a:p>
        </p:txBody>
      </p:sp>
      <p:sp>
        <p:nvSpPr>
          <p:cNvPr id="694276" name="Rectangle 4"/>
          <p:cNvSpPr>
            <a:spLocks noChangeArrowheads="1"/>
          </p:cNvSpPr>
          <p:nvPr/>
        </p:nvSpPr>
        <p:spPr bwMode="auto">
          <a:xfrm>
            <a:off x="1057417" y="4880598"/>
            <a:ext cx="4984961" cy="3474323"/>
          </a:xfrm>
          <a:prstGeom prst="rect">
            <a:avLst/>
          </a:prstGeom>
          <a:noFill/>
          <a:ln w="9525">
            <a:noFill/>
            <a:miter lim="800000"/>
            <a:headEnd/>
            <a:tailEnd/>
          </a:ln>
          <a:effectLst/>
        </p:spPr>
        <p:txBody>
          <a:bodyPr lIns="93050" tIns="46525" rIns="93050" bIns="46525"/>
          <a:lstStyle/>
          <a:p>
            <a:pPr defTabSz="930259">
              <a:spcBef>
                <a:spcPct val="30000"/>
              </a:spcBef>
              <a:defRPr/>
            </a:pPr>
            <a:r>
              <a:rPr lang="en-US" sz="1200" b="1" dirty="0"/>
              <a:t>Examples of Result Type Fields:</a:t>
            </a:r>
          </a:p>
          <a:p>
            <a:pPr defTabSz="930259">
              <a:spcBef>
                <a:spcPct val="30000"/>
              </a:spcBef>
              <a:defRPr/>
            </a:pPr>
            <a:endParaRPr lang="en-US" sz="1200" b="1" dirty="0"/>
          </a:p>
          <a:p>
            <a:pPr defTabSz="930259">
              <a:spcBef>
                <a:spcPct val="30000"/>
              </a:spcBef>
              <a:defRPr/>
            </a:pPr>
            <a:r>
              <a:rPr lang="en-US" sz="1200" b="1" dirty="0"/>
              <a:t>Where else can you find Peak Type Fields?</a:t>
            </a:r>
          </a:p>
          <a:p>
            <a:pPr marL="233309" indent="-233309" defTabSz="930259">
              <a:spcBef>
                <a:spcPct val="30000"/>
              </a:spcBef>
              <a:buClr>
                <a:srgbClr val="3874D4"/>
              </a:buClr>
              <a:buFont typeface="Wingdings 2" pitchFamily="18" charset="2"/>
              <a:buChar char="¡"/>
              <a:defRPr/>
            </a:pPr>
            <a:r>
              <a:rPr lang="en-US" sz="1200" dirty="0"/>
              <a:t>These tabs of the Project Window:</a:t>
            </a:r>
          </a:p>
          <a:p>
            <a:pPr marL="463550" lvl="1" indent="-231775" defTabSz="930259">
              <a:spcBef>
                <a:spcPct val="30000"/>
              </a:spcBef>
              <a:buClr>
                <a:srgbClr val="3874D4"/>
              </a:buClr>
              <a:buFont typeface="Verdana" pitchFamily="34" charset="0"/>
              <a:buChar char="—"/>
              <a:defRPr/>
            </a:pPr>
            <a:r>
              <a:rPr lang="en-US" sz="1200" dirty="0"/>
              <a:t>Results</a:t>
            </a:r>
          </a:p>
          <a:p>
            <a:pPr marL="463550" lvl="1" indent="-231775" defTabSz="930259">
              <a:spcBef>
                <a:spcPct val="30000"/>
              </a:spcBef>
              <a:buClr>
                <a:srgbClr val="3874D4"/>
              </a:buClr>
              <a:buFont typeface="Verdana" pitchFamily="34" charset="0"/>
              <a:buChar char="—"/>
              <a:defRPr/>
            </a:pPr>
            <a:r>
              <a:rPr lang="en-US" sz="1200" dirty="0"/>
              <a:t>Peaks</a:t>
            </a:r>
          </a:p>
          <a:p>
            <a:pPr marL="463550" lvl="1" indent="-231775" defTabSz="930259">
              <a:spcBef>
                <a:spcPct val="30000"/>
              </a:spcBef>
              <a:buClr>
                <a:srgbClr val="3874D4"/>
              </a:buClr>
              <a:buFont typeface="Verdana" pitchFamily="34" charset="0"/>
              <a:buChar char="—"/>
              <a:defRPr/>
            </a:pPr>
            <a:r>
              <a:rPr lang="en-US" sz="1200" dirty="0"/>
              <a:t>Signoffs </a:t>
            </a:r>
          </a:p>
          <a:p>
            <a:pPr defTabSz="930259">
              <a:spcBef>
                <a:spcPct val="30000"/>
              </a:spcBef>
              <a:defRPr/>
            </a:pPr>
            <a:r>
              <a:rPr lang="en-US" sz="1200" dirty="0"/>
              <a:t>	</a:t>
            </a:r>
          </a:p>
          <a:p>
            <a:pPr marL="232948" lvl="1" indent="-116474" defTabSz="930259">
              <a:spcBef>
                <a:spcPct val="30000"/>
              </a:spcBef>
              <a:defRPr/>
            </a:pPr>
            <a:endParaRPr lang="en-US" sz="1200" b="1" dirty="0"/>
          </a:p>
          <a:p>
            <a:pPr defTabSz="930259">
              <a:spcBef>
                <a:spcPct val="30000"/>
              </a:spcBef>
              <a:defRPr/>
            </a:pPr>
            <a:endParaRPr lang="en-US" sz="1200" b="1" dirty="0"/>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23</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sz="1200" b="1" i="1" kern="1200" dirty="0">
                <a:solidFill>
                  <a:schemeClr val="tx1"/>
                </a:solidFill>
                <a:latin typeface="Verdana" pitchFamily="34" charset="0"/>
                <a:ea typeface="Verdana" pitchFamily="34" charset="0"/>
                <a:cs typeface="Verdana" pitchFamily="34" charset="0"/>
              </a:rPr>
              <a:t>Result Type CF</a:t>
            </a:r>
          </a:p>
          <a:p>
            <a:endParaRPr lang="en-US" dirty="0"/>
          </a:p>
          <a:p>
            <a:pPr algn="l">
              <a:buSzPct val="150000"/>
              <a:buFont typeface="Wingdings" pitchFamily="2" charset="2"/>
              <a:buChar char="§"/>
            </a:pPr>
            <a:r>
              <a:rPr lang="en-US" b="0" i="0" dirty="0"/>
              <a:t>Examples of Result Type custom fields are shown above.</a:t>
            </a:r>
            <a:br>
              <a:rPr lang="en-US" b="0" i="0" dirty="0"/>
            </a:br>
            <a:endParaRPr lang="en-US" b="0" i="0" dirty="0"/>
          </a:p>
          <a:p>
            <a:pPr algn="l">
              <a:buSzPct val="150000"/>
              <a:buFont typeface="Wingdings" pitchFamily="2" charset="2"/>
              <a:buChar char="§"/>
            </a:pPr>
            <a:r>
              <a:rPr lang="en-US" b="0" i="0" dirty="0"/>
              <a:t>Fields such as these are displayed in the Chromatogram Result table of the Result window of Review and can be placed in the project window’s Results, Peaks, Sign Offs and Custom Fields views and can also be included in custom reports.</a:t>
            </a:r>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24</a:t>
            </a:fld>
            <a:r>
              <a:rPr lang="en-US"/>
              <a:t> of 88</a:t>
            </a:r>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sz="1200" b="1" i="1" kern="1200" dirty="0">
                <a:solidFill>
                  <a:schemeClr val="tx1"/>
                </a:solidFill>
                <a:latin typeface="Verdana" pitchFamily="34" charset="0"/>
                <a:ea typeface="Verdana" pitchFamily="34" charset="0"/>
                <a:cs typeface="Verdana" pitchFamily="34" charset="0"/>
              </a:rPr>
              <a:t>Result Type CF</a:t>
            </a:r>
          </a:p>
          <a:p>
            <a:endParaRPr lang="en-US" dirty="0"/>
          </a:p>
          <a:p>
            <a:pPr algn="l">
              <a:buSzPct val="150000"/>
              <a:buFont typeface="Wingdings" pitchFamily="2" charset="2"/>
              <a:buChar char="§"/>
            </a:pPr>
            <a:r>
              <a:rPr lang="en-US" b="0" i="0" dirty="0"/>
              <a:t>Examples of Result Type custom fields are shown above.</a:t>
            </a:r>
            <a:br>
              <a:rPr lang="en-US" b="0" i="0" dirty="0"/>
            </a:br>
            <a:endParaRPr lang="en-US" b="0" i="0" dirty="0"/>
          </a:p>
          <a:p>
            <a:pPr algn="l">
              <a:buSzPct val="150000"/>
              <a:buFont typeface="Wingdings" pitchFamily="2" charset="2"/>
              <a:buChar char="§"/>
            </a:pPr>
            <a:r>
              <a:rPr lang="en-US" b="0" i="0" dirty="0"/>
              <a:t>Fields such as these are displayed in the Chromatogram Result table of the Result window of Review and can be placed in the project window’s Results, Peaks, Sign Offs and Custom Fields views and can also be included in custom reports.</a:t>
            </a:r>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25</a:t>
            </a:fld>
            <a:r>
              <a:rPr lang="en-US"/>
              <a:t> of 88</a:t>
            </a:r>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a:noFill/>
          <a:ln/>
        </p:spPr>
        <p:txBody>
          <a:bodyPr/>
          <a:lstStyle/>
          <a:p>
            <a:pPr algn="ctr"/>
            <a:endParaRPr lang="en-US" dirty="0"/>
          </a:p>
          <a:p>
            <a:pPr algn="ctr"/>
            <a:endParaRPr lang="en-US" dirty="0"/>
          </a:p>
        </p:txBody>
      </p:sp>
      <p:sp>
        <p:nvSpPr>
          <p:cNvPr id="692228" name="Rectangle 4"/>
          <p:cNvSpPr>
            <a:spLocks noChangeArrowheads="1"/>
          </p:cNvSpPr>
          <p:nvPr/>
        </p:nvSpPr>
        <p:spPr bwMode="auto">
          <a:xfrm>
            <a:off x="896916" y="4880598"/>
            <a:ext cx="4984961" cy="2528191"/>
          </a:xfrm>
          <a:prstGeom prst="rect">
            <a:avLst/>
          </a:prstGeom>
          <a:noFill/>
          <a:ln w="9525">
            <a:noFill/>
            <a:miter lim="800000"/>
            <a:headEnd/>
            <a:tailEnd/>
          </a:ln>
          <a:effectLst/>
        </p:spPr>
        <p:txBody>
          <a:bodyPr lIns="93050" tIns="46525" rIns="93050" bIns="46525"/>
          <a:lstStyle/>
          <a:p>
            <a:pPr defTabSz="930259">
              <a:spcBef>
                <a:spcPct val="30000"/>
              </a:spcBef>
              <a:defRPr/>
            </a:pPr>
            <a:r>
              <a:rPr lang="en-US" sz="1200" b="1" dirty="0"/>
              <a:t>Examples of Component Type Fields:</a:t>
            </a:r>
          </a:p>
          <a:p>
            <a:pPr defTabSz="930259">
              <a:spcBef>
                <a:spcPct val="30000"/>
              </a:spcBef>
              <a:defRPr/>
            </a:pPr>
            <a:endParaRPr lang="en-US" sz="1200" b="1" dirty="0"/>
          </a:p>
          <a:p>
            <a:pPr defTabSz="930259">
              <a:spcBef>
                <a:spcPct val="30000"/>
              </a:spcBef>
              <a:defRPr/>
            </a:pPr>
            <a:r>
              <a:rPr lang="en-US" sz="1200" b="1" dirty="0"/>
              <a:t>Where else can you find Component Type Fields?</a:t>
            </a:r>
          </a:p>
          <a:p>
            <a:pPr marL="233309" indent="-233309" defTabSz="930259">
              <a:spcBef>
                <a:spcPct val="30000"/>
              </a:spcBef>
              <a:buClr>
                <a:srgbClr val="3874D4"/>
              </a:buClr>
              <a:buFont typeface="Wingdings 2" pitchFamily="18" charset="2"/>
              <a:buChar char="¡"/>
              <a:defRPr/>
            </a:pPr>
            <a:r>
              <a:rPr lang="en-US" sz="1200" dirty="0"/>
              <a:t>Sample Set Method Editor</a:t>
            </a:r>
          </a:p>
          <a:p>
            <a:pPr defTabSz="930259">
              <a:spcBef>
                <a:spcPct val="30000"/>
              </a:spcBef>
              <a:defRPr/>
            </a:pPr>
            <a:r>
              <a:rPr lang="en-US" sz="1200" b="1" dirty="0"/>
              <a:t>	</a:t>
            </a:r>
          </a:p>
          <a:p>
            <a:pPr marL="232948" lvl="1" indent="-116474" defTabSz="930259">
              <a:spcBef>
                <a:spcPct val="30000"/>
              </a:spcBef>
              <a:defRPr/>
            </a:pPr>
            <a:endParaRPr lang="en-US" sz="1200" b="1" dirty="0"/>
          </a:p>
          <a:p>
            <a:pPr defTabSz="930259">
              <a:spcBef>
                <a:spcPct val="30000"/>
              </a:spcBef>
              <a:defRPr/>
            </a:pPr>
            <a:endParaRPr lang="en-US" sz="1200" b="1" i="1" dirty="0"/>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26</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Component Type CF</a:t>
            </a:r>
          </a:p>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dirty="0"/>
          </a:p>
          <a:p>
            <a:pPr algn="l">
              <a:buSzPct val="150000"/>
              <a:buFont typeface="Wingdings" pitchFamily="2" charset="2"/>
              <a:buChar char="§"/>
              <a:defRPr/>
            </a:pPr>
            <a:r>
              <a:rPr lang="en-US" b="0" i="0" dirty="0"/>
              <a:t>Examples of Result Type custom fields are shown above.</a:t>
            </a:r>
            <a:br>
              <a:rPr lang="en-US" b="0" i="0" dirty="0"/>
            </a:br>
            <a:endParaRPr lang="en-US" b="0" i="0" dirty="0"/>
          </a:p>
          <a:p>
            <a:pPr algn="l">
              <a:buSzPct val="150000"/>
              <a:buFont typeface="Wingdings" pitchFamily="2" charset="2"/>
              <a:buChar char="§"/>
              <a:defRPr/>
            </a:pPr>
            <a:r>
              <a:rPr lang="en-US" b="0" i="0" dirty="0"/>
              <a:t>Component Type Custom Fields can be entered an viewed in the Component Editor in Run Samples, Alter Samples and method Set Editor. It can also be viewed in the Custom Fields view in the project window and included in Reports.</a:t>
            </a:r>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27</a:t>
            </a:fld>
            <a:r>
              <a:rPr lang="en-US"/>
              <a:t> of 88</a:t>
            </a:r>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Component Type CF</a:t>
            </a:r>
          </a:p>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dirty="0"/>
          </a:p>
          <a:p>
            <a:pPr algn="l">
              <a:buSzPct val="150000"/>
              <a:buFont typeface="Wingdings" pitchFamily="2" charset="2"/>
              <a:buChar char="§"/>
              <a:defRPr/>
            </a:pPr>
            <a:r>
              <a:rPr lang="en-US" b="0" i="0" dirty="0"/>
              <a:t>Examples of Result Type custom fields are shown above.</a:t>
            </a:r>
            <a:br>
              <a:rPr lang="en-US" b="0" i="0" dirty="0"/>
            </a:br>
            <a:endParaRPr lang="en-US" b="0" i="0" dirty="0"/>
          </a:p>
          <a:p>
            <a:pPr algn="l">
              <a:buSzPct val="150000"/>
              <a:buFont typeface="Wingdings" pitchFamily="2" charset="2"/>
              <a:buChar char="§"/>
              <a:defRPr/>
            </a:pPr>
            <a:r>
              <a:rPr lang="en-US" b="0" i="0" dirty="0"/>
              <a:t>Component Type Custom Fields can be entered an viewed in the Component Editor in Run Samples, Alter Samples and method Set Editor. It can also be viewed in the Custom Fields view in the project window and included in Reports.</a:t>
            </a:r>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28</a:t>
            </a:fld>
            <a:r>
              <a:rPr lang="en-US"/>
              <a:t> of 88</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928688" y="741363"/>
            <a:ext cx="4965700" cy="3724275"/>
          </a:xfrm>
          <a:ln/>
        </p:spPr>
      </p:sp>
      <p:sp>
        <p:nvSpPr>
          <p:cNvPr id="102403" name="Rectangle 3"/>
          <p:cNvSpPr>
            <a:spLocks noGrp="1" noChangeArrowheads="1"/>
          </p:cNvSpPr>
          <p:nvPr>
            <p:ph type="body" idx="1"/>
          </p:nvPr>
        </p:nvSpPr>
        <p:spPr>
          <a:noFill/>
          <a:ln/>
        </p:spPr>
        <p:txBody>
          <a:bodyPr/>
          <a:lstStyle/>
          <a:p>
            <a:pPr algn="ctr">
              <a:buNone/>
            </a:pPr>
            <a:r>
              <a:rPr lang="en-US" b="1" i="1" dirty="0"/>
              <a:t>Distribution Type</a:t>
            </a:r>
            <a:r>
              <a:rPr lang="en-US" b="1" i="1" baseline="0" dirty="0"/>
              <a:t> CF</a:t>
            </a:r>
            <a:br>
              <a:rPr lang="en-US" b="1" i="1" baseline="0" dirty="0"/>
            </a:br>
            <a:endParaRPr lang="en-US" b="1" i="1" baseline="0" dirty="0"/>
          </a:p>
          <a:p>
            <a:pPr algn="l">
              <a:buSzPct val="150000"/>
              <a:buFont typeface="Wingdings" pitchFamily="2" charset="2"/>
              <a:buChar char="§"/>
            </a:pPr>
            <a:r>
              <a:rPr lang="en-US" b="0" i="0" dirty="0"/>
              <a:t>The Distribution type field is a user-defined mathematical calculation pertaining to a distribution slice-level parameter for GPC/V data.  Distribution type fields, include fields such as Slice Area, Slice Log MW and Slice Adj. RT.  </a:t>
            </a:r>
          </a:p>
          <a:p>
            <a:pPr algn="l">
              <a:buSzPct val="150000"/>
              <a:buFont typeface="Wingdings" pitchFamily="2" charset="2"/>
              <a:buChar char="§"/>
            </a:pPr>
            <a:endParaRPr lang="en-US" b="0" i="0" baseline="0" dirty="0"/>
          </a:p>
          <a:p>
            <a:pPr algn="l">
              <a:buSzPct val="150000"/>
              <a:buFont typeface="Wingdings" pitchFamily="2" charset="2"/>
              <a:buChar char="§"/>
            </a:pPr>
            <a:r>
              <a:rPr lang="en-US" b="0" i="0" baseline="0" dirty="0"/>
              <a:t>This type of CF is only available if the GPC option for Empower is installed.</a:t>
            </a:r>
            <a:endParaRPr lang="en-US" b="0" i="0" dirty="0"/>
          </a:p>
          <a:p>
            <a:pPr algn="ctr"/>
            <a:endParaRPr lang="en-US" dirty="0"/>
          </a:p>
        </p:txBody>
      </p:sp>
      <p:sp>
        <p:nvSpPr>
          <p:cNvPr id="8" name="Date Placeholder 7"/>
          <p:cNvSpPr>
            <a:spLocks noGrp="1"/>
          </p:cNvSpPr>
          <p:nvPr>
            <p:ph type="dt" idx="10"/>
          </p:nvPr>
        </p:nvSpPr>
        <p:spPr/>
        <p:txBody>
          <a:bodyPr/>
          <a:lstStyle/>
          <a:p>
            <a:r>
              <a:rPr lang="en-US"/>
              <a:t>Introduction to Custom Fields</a:t>
            </a:r>
          </a:p>
        </p:txBody>
      </p:sp>
      <p:sp>
        <p:nvSpPr>
          <p:cNvPr id="13" name="Footer Placeholder 12"/>
          <p:cNvSpPr>
            <a:spLocks noGrp="1"/>
          </p:cNvSpPr>
          <p:nvPr>
            <p:ph type="ftr" sz="quarter" idx="12"/>
          </p:nvPr>
        </p:nvSpPr>
        <p:spPr/>
        <p:txBody>
          <a:bodyPr/>
          <a:lstStyle/>
          <a:p>
            <a:r>
              <a:rPr lang="en-US"/>
              <a:t>Rev. 21314</a:t>
            </a:r>
          </a:p>
        </p:txBody>
      </p:sp>
      <p:sp>
        <p:nvSpPr>
          <p:cNvPr id="10" name="Slide Number Placeholder 9"/>
          <p:cNvSpPr>
            <a:spLocks noGrp="1"/>
          </p:cNvSpPr>
          <p:nvPr>
            <p:ph type="sldNum" sz="quarter" idx="13"/>
          </p:nvPr>
        </p:nvSpPr>
        <p:spPr/>
        <p:txBody>
          <a:bodyPr/>
          <a:lstStyle/>
          <a:p>
            <a:r>
              <a:rPr lang="en-US" b="1"/>
              <a:t>Chapter One</a:t>
            </a:r>
            <a:r>
              <a:rPr lang="en-US"/>
              <a:t>: Page </a:t>
            </a:r>
            <a:fld id="{3242409A-B053-4208-A245-A8F1D7E49324}" type="slidenum">
              <a:rPr lang="en-US" smtClean="0"/>
              <a:pPr/>
              <a:t>29</a:t>
            </a:fld>
            <a:r>
              <a:rPr lang="en-US"/>
              <a:t> of 88</a:t>
            </a:r>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p:cNvSpPr>
            <a:spLocks noGrp="1" noChangeArrowheads="1"/>
          </p:cNvSpPr>
          <p:nvPr>
            <p:ph type="dt" sz="quarter" idx="1"/>
          </p:nvPr>
        </p:nvSpPr>
        <p:spPr>
          <a:noFill/>
        </p:spPr>
        <p:txBody>
          <a:bodyPr/>
          <a:lstStyle/>
          <a:p>
            <a:r>
              <a:rPr lang="en-US"/>
              <a:t>Introduction to Custom Fields</a:t>
            </a:r>
          </a:p>
        </p:txBody>
      </p:sp>
      <p:sp>
        <p:nvSpPr>
          <p:cNvPr id="59396" name="Rectangle 2"/>
          <p:cNvSpPr>
            <a:spLocks noGrp="1" noRot="1" noChangeAspect="1" noChangeArrowheads="1" noTextEdit="1"/>
          </p:cNvSpPr>
          <p:nvPr>
            <p:ph type="sldImg"/>
          </p:nvPr>
        </p:nvSpPr>
        <p:spPr>
          <a:xfrm>
            <a:off x="919163" y="742950"/>
            <a:ext cx="4967287" cy="3725863"/>
          </a:xfrm>
          <a:ln/>
        </p:spPr>
      </p:sp>
      <p:sp>
        <p:nvSpPr>
          <p:cNvPr id="59397" name="Rectangle 3"/>
          <p:cNvSpPr>
            <a:spLocks noGrp="1" noChangeArrowheads="1"/>
          </p:cNvSpPr>
          <p:nvPr>
            <p:ph type="body" idx="1"/>
          </p:nvPr>
        </p:nvSpPr>
        <p:spPr>
          <a:xfrm>
            <a:off x="906463" y="4714876"/>
            <a:ext cx="4984750" cy="2528888"/>
          </a:xfrm>
          <a:noFill/>
          <a:ln/>
        </p:spPr>
        <p:txBody>
          <a:bodyPr lIns="86594" tIns="43297" rIns="86594" bIns="43297">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Distribution Type</a:t>
            </a:r>
            <a:r>
              <a:rPr lang="en-US" b="1" i="1" baseline="0" dirty="0"/>
              <a:t> CF</a:t>
            </a:r>
          </a:p>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dirty="0"/>
          </a:p>
          <a:p>
            <a:pPr algn="l">
              <a:buSzPct val="150000"/>
              <a:buFont typeface="Wingdings" pitchFamily="2" charset="2"/>
              <a:buChar char="§"/>
              <a:defRPr/>
            </a:pPr>
            <a:r>
              <a:rPr lang="en-US" b="0" i="0" dirty="0"/>
              <a:t>Example of Distribution type Custom Field is shown above.</a:t>
            </a:r>
            <a:br>
              <a:rPr lang="en-US" b="0" i="0" dirty="0"/>
            </a:br>
            <a:endParaRPr lang="en-US" b="0" i="0" dirty="0"/>
          </a:p>
          <a:p>
            <a:pPr algn="l">
              <a:buSzPct val="150000"/>
              <a:buFont typeface="Wingdings" pitchFamily="2" charset="2"/>
              <a:buChar char="§"/>
              <a:defRPr/>
            </a:pPr>
            <a:r>
              <a:rPr lang="en-US" b="0" i="0" dirty="0"/>
              <a:t>These fields are displayed in the Distribution tab of the Result window of Review and can also be included in the project window’s Molecular Weight Distributions view and in custom reports.</a:t>
            </a:r>
            <a:endParaRPr lang="en-US" b="0" i="0" baseline="0" dirty="0"/>
          </a:p>
          <a:p>
            <a:pPr eaLnBrk="1" hangingPunct="1"/>
            <a:endParaRPr lang="en-US"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30</a:t>
            </a:fld>
            <a:r>
              <a:rPr lang="en-US"/>
              <a:t> of 88</a:t>
            </a:r>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a:xfrm>
            <a:off x="1011487" y="4714477"/>
            <a:ext cx="4741338" cy="4467325"/>
          </a:xfrm>
          <a:noFill/>
          <a:ln/>
        </p:spPr>
        <p:txBody>
          <a:bodyPr/>
          <a:lstStyle/>
          <a:p>
            <a:pPr algn="ctr"/>
            <a:endParaRPr lang="en-US" dirty="0"/>
          </a:p>
          <a:p>
            <a:pPr algn="ctr"/>
            <a:endParaRPr lang="en-US" dirty="0"/>
          </a:p>
        </p:txBody>
      </p:sp>
      <p:sp>
        <p:nvSpPr>
          <p:cNvPr id="103428" name="Rectangle 4"/>
          <p:cNvSpPr>
            <a:spLocks noChangeArrowheads="1"/>
          </p:cNvSpPr>
          <p:nvPr/>
        </p:nvSpPr>
        <p:spPr bwMode="auto">
          <a:xfrm>
            <a:off x="906357" y="4750783"/>
            <a:ext cx="4984961" cy="3936718"/>
          </a:xfrm>
          <a:prstGeom prst="rect">
            <a:avLst/>
          </a:prstGeom>
          <a:noFill/>
          <a:ln w="9525">
            <a:noFill/>
            <a:miter lim="800000"/>
            <a:headEnd/>
            <a:tailEnd/>
          </a:ln>
        </p:spPr>
        <p:txBody>
          <a:bodyPr lIns="93050" tIns="46525" rIns="93050" bIns="46525"/>
          <a:lstStyle/>
          <a:p>
            <a:pPr marL="228600" indent="-228600" defTabSz="929996">
              <a:spcBef>
                <a:spcPct val="30000"/>
              </a:spcBef>
              <a:buClr>
                <a:srgbClr val="0070C0"/>
              </a:buClr>
              <a:buFont typeface="Wingdings 2" pitchFamily="18" charset="2"/>
              <a:buChar char="¡"/>
            </a:pPr>
            <a:r>
              <a:rPr lang="en-US" sz="1200" dirty="0"/>
              <a:t>After you determine the Field Type, you must determine the </a:t>
            </a:r>
            <a:r>
              <a:rPr lang="en-US" sz="1200" b="1" dirty="0"/>
              <a:t>Data Type</a:t>
            </a:r>
            <a:r>
              <a:rPr lang="en-US" sz="1200" dirty="0"/>
              <a:t> for your custom field.</a:t>
            </a: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31</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928688" y="741363"/>
            <a:ext cx="4965700" cy="3724275"/>
          </a:xfrm>
          <a:ln/>
        </p:spPr>
      </p:sp>
      <p:sp>
        <p:nvSpPr>
          <p:cNvPr id="104451" name="Rectangle 3"/>
          <p:cNvSpPr>
            <a:spLocks noGrp="1" noChangeArrowheads="1"/>
          </p:cNvSpPr>
          <p:nvPr>
            <p:ph type="body" idx="1"/>
          </p:nvPr>
        </p:nvSpPr>
        <p:spPr>
          <a:noFill/>
          <a:ln/>
        </p:spPr>
        <p:txBody>
          <a:bodyPr/>
          <a:lstStyle/>
          <a:p>
            <a:pPr algn="ctr">
              <a:buNone/>
            </a:pPr>
            <a:r>
              <a:rPr lang="en-US" b="1" i="1" dirty="0"/>
              <a:t>Data Type</a:t>
            </a:r>
            <a:br>
              <a:rPr lang="en-US" b="1" i="1" dirty="0"/>
            </a:br>
            <a:endParaRPr lang="en-US" b="1" i="1" dirty="0"/>
          </a:p>
          <a:p>
            <a:pPr algn="l">
              <a:buSzPct val="100000"/>
              <a:buFont typeface="Wingdings 2" pitchFamily="18" charset="2"/>
              <a:buChar char=""/>
            </a:pPr>
            <a:r>
              <a:rPr lang="en-US" sz="1200" b="0" i="0" kern="1200" dirty="0">
                <a:solidFill>
                  <a:schemeClr val="tx1"/>
                </a:solidFill>
                <a:latin typeface="Verdana" pitchFamily="34" charset="0"/>
                <a:ea typeface="Verdana" pitchFamily="34" charset="0"/>
                <a:cs typeface="Verdana" pitchFamily="34" charset="0"/>
              </a:rPr>
              <a:t>Different choices for Data Type are available depending on the Field Type (Sample, Sample Set, Component, Peak, Result or Distribution) chosen. </a:t>
            </a:r>
            <a:br>
              <a:rPr lang="en-US" sz="1200" b="0" i="0" kern="1200" dirty="0">
                <a:solidFill>
                  <a:schemeClr val="tx1"/>
                </a:solidFill>
                <a:latin typeface="Verdana" pitchFamily="34" charset="0"/>
                <a:ea typeface="Verdana" pitchFamily="34" charset="0"/>
                <a:cs typeface="Verdana" pitchFamily="34" charset="0"/>
              </a:rPr>
            </a:br>
            <a:endParaRPr lang="en-US" sz="1200" b="0" i="0" kern="1200" dirty="0">
              <a:solidFill>
                <a:schemeClr val="tx1"/>
              </a:solidFill>
              <a:latin typeface="Verdana" pitchFamily="34" charset="0"/>
              <a:ea typeface="Verdana" pitchFamily="34" charset="0"/>
              <a:cs typeface="Verdana" pitchFamily="34" charset="0"/>
            </a:endParaRPr>
          </a:p>
          <a:p>
            <a:pPr algn="l">
              <a:buSzPct val="100000"/>
              <a:buFont typeface="Wingdings 2" pitchFamily="18" charset="2"/>
              <a:buChar char=""/>
            </a:pPr>
            <a:r>
              <a:rPr lang="en-US" sz="1200" b="0" i="0" kern="1200" dirty="0">
                <a:solidFill>
                  <a:schemeClr val="tx1"/>
                </a:solidFill>
                <a:latin typeface="Verdana" pitchFamily="34" charset="0"/>
                <a:ea typeface="Verdana" pitchFamily="34" charset="0"/>
                <a:cs typeface="Verdana" pitchFamily="34" charset="0"/>
              </a:rPr>
              <a:t>Most Data Type choices are self-explanatory with the exception of </a:t>
            </a:r>
            <a:r>
              <a:rPr lang="en-US" sz="1200" b="0" i="0" kern="1200" dirty="0" err="1">
                <a:solidFill>
                  <a:schemeClr val="tx1"/>
                </a:solidFill>
                <a:latin typeface="Verdana" pitchFamily="34" charset="0"/>
                <a:ea typeface="Verdana" pitchFamily="34" charset="0"/>
                <a:cs typeface="Verdana" pitchFamily="34" charset="0"/>
              </a:rPr>
              <a:t>Bool</a:t>
            </a:r>
            <a:r>
              <a:rPr lang="en-US" sz="1200" b="0" i="0" kern="1200" dirty="0">
                <a:solidFill>
                  <a:schemeClr val="tx1"/>
                </a:solidFill>
                <a:latin typeface="Verdana" pitchFamily="34" charset="0"/>
                <a:ea typeface="Verdana" pitchFamily="34" charset="0"/>
                <a:cs typeface="Verdana" pitchFamily="34" charset="0"/>
              </a:rPr>
              <a:t> (Boolean) and </a:t>
            </a:r>
            <a:r>
              <a:rPr lang="en-US" sz="1200" b="0" i="0" kern="1200" dirty="0" err="1">
                <a:solidFill>
                  <a:schemeClr val="tx1"/>
                </a:solidFill>
                <a:latin typeface="Verdana" pitchFamily="34" charset="0"/>
                <a:ea typeface="Verdana" pitchFamily="34" charset="0"/>
                <a:cs typeface="Verdana" pitchFamily="34" charset="0"/>
              </a:rPr>
              <a:t>Enum</a:t>
            </a:r>
            <a:r>
              <a:rPr lang="en-US" sz="1200" b="0" i="0" kern="1200" dirty="0">
                <a:solidFill>
                  <a:schemeClr val="tx1"/>
                </a:solidFill>
                <a:latin typeface="Verdana" pitchFamily="34" charset="0"/>
                <a:ea typeface="Verdana" pitchFamily="34" charset="0"/>
                <a:cs typeface="Verdana" pitchFamily="34" charset="0"/>
              </a:rPr>
              <a:t> (Enumerated).</a:t>
            </a:r>
            <a:endParaRPr lang="en-US" b="0" i="0" dirty="0"/>
          </a:p>
        </p:txBody>
      </p:sp>
      <p:sp>
        <p:nvSpPr>
          <p:cNvPr id="8" name="Date Placeholder 7"/>
          <p:cNvSpPr>
            <a:spLocks noGrp="1"/>
          </p:cNvSpPr>
          <p:nvPr>
            <p:ph type="dt" idx="10"/>
          </p:nvPr>
        </p:nvSpPr>
        <p:spPr/>
        <p:txBody>
          <a:bodyPr/>
          <a:lstStyle/>
          <a:p>
            <a:r>
              <a:rPr lang="en-US"/>
              <a:t>Introduction to Custom Fields</a:t>
            </a:r>
          </a:p>
        </p:txBody>
      </p:sp>
      <p:sp>
        <p:nvSpPr>
          <p:cNvPr id="13" name="Footer Placeholder 12"/>
          <p:cNvSpPr>
            <a:spLocks noGrp="1"/>
          </p:cNvSpPr>
          <p:nvPr>
            <p:ph type="ftr" sz="quarter" idx="12"/>
          </p:nvPr>
        </p:nvSpPr>
        <p:spPr/>
        <p:txBody>
          <a:bodyPr/>
          <a:lstStyle/>
          <a:p>
            <a:r>
              <a:rPr lang="en-US"/>
              <a:t>Rev. 21314</a:t>
            </a:r>
          </a:p>
        </p:txBody>
      </p:sp>
      <p:sp>
        <p:nvSpPr>
          <p:cNvPr id="10" name="Slide Number Placeholder 9"/>
          <p:cNvSpPr>
            <a:spLocks noGrp="1"/>
          </p:cNvSpPr>
          <p:nvPr>
            <p:ph type="sldNum" sz="quarter" idx="13"/>
          </p:nvPr>
        </p:nvSpPr>
        <p:spPr/>
        <p:txBody>
          <a:bodyPr/>
          <a:lstStyle/>
          <a:p>
            <a:r>
              <a:rPr lang="en-US" b="1"/>
              <a:t>Chapter One</a:t>
            </a:r>
            <a:r>
              <a:rPr lang="en-US"/>
              <a:t>: Page </a:t>
            </a:r>
            <a:fld id="{3242409A-B053-4208-A245-A8F1D7E49324}" type="slidenum">
              <a:rPr lang="en-US" smtClean="0"/>
              <a:pPr/>
              <a:t>33</a:t>
            </a:fld>
            <a:r>
              <a:rPr lang="en-US"/>
              <a:t> of 88</a:t>
            </a:r>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928688" y="741363"/>
            <a:ext cx="4965700" cy="3724275"/>
          </a:xfrm>
          <a:ln/>
        </p:spPr>
      </p:sp>
      <p:sp>
        <p:nvSpPr>
          <p:cNvPr id="105475" name="Rectangle 3"/>
          <p:cNvSpPr>
            <a:spLocks noGrp="1" noChangeArrowheads="1"/>
          </p:cNvSpPr>
          <p:nvPr>
            <p:ph type="body" idx="1"/>
          </p:nvPr>
        </p:nvSpPr>
        <p:spPr>
          <a:noFill/>
          <a:ln/>
        </p:spPr>
        <p:txBody>
          <a:bodyPr/>
          <a:lstStyle/>
          <a:p>
            <a:pPr algn="ctr"/>
            <a:endParaRPr lang="en-US" dirty="0"/>
          </a:p>
          <a:p>
            <a:pPr algn="ctr"/>
            <a:endParaRPr lang="en-US" dirty="0"/>
          </a:p>
        </p:txBody>
      </p:sp>
      <p:sp>
        <p:nvSpPr>
          <p:cNvPr id="702468" name="Rectangle 4"/>
          <p:cNvSpPr>
            <a:spLocks noChangeArrowheads="1"/>
          </p:cNvSpPr>
          <p:nvPr/>
        </p:nvSpPr>
        <p:spPr bwMode="auto">
          <a:xfrm>
            <a:off x="1057417" y="4880598"/>
            <a:ext cx="4984961" cy="2528191"/>
          </a:xfrm>
          <a:prstGeom prst="rect">
            <a:avLst/>
          </a:prstGeom>
          <a:noFill/>
          <a:ln w="9525">
            <a:noFill/>
            <a:miter lim="800000"/>
            <a:headEnd/>
            <a:tailEnd/>
          </a:ln>
          <a:effectLst/>
        </p:spPr>
        <p:txBody>
          <a:bodyPr lIns="93050" tIns="46525" rIns="93050" bIns="46525"/>
          <a:lstStyle/>
          <a:p>
            <a:pPr defTabSz="930259">
              <a:spcBef>
                <a:spcPct val="30000"/>
              </a:spcBef>
              <a:defRPr/>
            </a:pPr>
            <a:r>
              <a:rPr lang="en-US" sz="1200" b="1" dirty="0"/>
              <a:t>Boolean Operators:</a:t>
            </a:r>
          </a:p>
          <a:p>
            <a:pPr marL="233309" indent="-233309" defTabSz="930259">
              <a:spcBef>
                <a:spcPct val="30000"/>
              </a:spcBef>
              <a:buClr>
                <a:srgbClr val="3874D4"/>
              </a:buClr>
              <a:buFont typeface="Wingdings 2" pitchFamily="18" charset="2"/>
              <a:buChar char="¡"/>
              <a:defRPr/>
            </a:pPr>
            <a:r>
              <a:rPr lang="en-US" sz="1200" b="1" dirty="0"/>
              <a:t>LT – </a:t>
            </a:r>
            <a:r>
              <a:rPr lang="en-US" sz="1200" dirty="0"/>
              <a:t>Less than</a:t>
            </a:r>
          </a:p>
          <a:p>
            <a:pPr marL="233309" indent="-233309" defTabSz="930259">
              <a:spcBef>
                <a:spcPct val="30000"/>
              </a:spcBef>
              <a:buClr>
                <a:srgbClr val="3874D4"/>
              </a:buClr>
              <a:buFont typeface="Wingdings 2" pitchFamily="18" charset="2"/>
              <a:buChar char="¡"/>
              <a:defRPr/>
            </a:pPr>
            <a:r>
              <a:rPr lang="en-US" sz="1200" b="1" dirty="0"/>
              <a:t>LTE – </a:t>
            </a:r>
            <a:r>
              <a:rPr lang="en-US" sz="1200" dirty="0"/>
              <a:t>Less than or equal to</a:t>
            </a:r>
          </a:p>
          <a:p>
            <a:pPr marL="233309" indent="-233309" defTabSz="930259">
              <a:spcBef>
                <a:spcPct val="30000"/>
              </a:spcBef>
              <a:buClr>
                <a:srgbClr val="3874D4"/>
              </a:buClr>
              <a:buFont typeface="Wingdings 2" pitchFamily="18" charset="2"/>
              <a:buChar char="¡"/>
              <a:defRPr/>
            </a:pPr>
            <a:r>
              <a:rPr lang="en-US" sz="1200" b="1" dirty="0"/>
              <a:t>GT – </a:t>
            </a:r>
            <a:r>
              <a:rPr lang="en-US" sz="1200" dirty="0"/>
              <a:t>Greater than</a:t>
            </a:r>
          </a:p>
          <a:p>
            <a:pPr marL="233309" indent="-233309" defTabSz="930259">
              <a:spcBef>
                <a:spcPct val="30000"/>
              </a:spcBef>
              <a:buClr>
                <a:srgbClr val="3874D4"/>
              </a:buClr>
              <a:buFont typeface="Wingdings 2" pitchFamily="18" charset="2"/>
              <a:buChar char="¡"/>
              <a:defRPr/>
            </a:pPr>
            <a:r>
              <a:rPr lang="en-US" sz="1200" b="1" dirty="0"/>
              <a:t>GTE – </a:t>
            </a:r>
            <a:r>
              <a:rPr lang="en-US" sz="1200" dirty="0"/>
              <a:t>Greater than or equal to</a:t>
            </a:r>
          </a:p>
          <a:p>
            <a:pPr marL="233309" indent="-233309" defTabSz="930259">
              <a:spcBef>
                <a:spcPct val="30000"/>
              </a:spcBef>
              <a:buClr>
                <a:srgbClr val="3874D4"/>
              </a:buClr>
              <a:buFont typeface="Wingdings 2" pitchFamily="18" charset="2"/>
              <a:buChar char="¡"/>
              <a:defRPr/>
            </a:pPr>
            <a:r>
              <a:rPr lang="en-US" sz="1200" b="1" dirty="0"/>
              <a:t>EQ – </a:t>
            </a:r>
            <a:r>
              <a:rPr lang="en-US" sz="1200" dirty="0"/>
              <a:t>Equal to</a:t>
            </a:r>
          </a:p>
          <a:p>
            <a:pPr marL="233309" indent="-233309" defTabSz="930259">
              <a:spcBef>
                <a:spcPct val="30000"/>
              </a:spcBef>
              <a:buClr>
                <a:srgbClr val="3874D4"/>
              </a:buClr>
              <a:buFont typeface="Wingdings 2" pitchFamily="18" charset="2"/>
              <a:buChar char="¡"/>
              <a:defRPr/>
            </a:pPr>
            <a:r>
              <a:rPr lang="en-US" sz="1200" b="1" dirty="0"/>
              <a:t>NEQ – </a:t>
            </a:r>
            <a:r>
              <a:rPr lang="en-US" sz="1200" dirty="0"/>
              <a:t>Not equal to</a:t>
            </a:r>
            <a:r>
              <a:rPr lang="en-US" sz="1200" b="1" dirty="0"/>
              <a:t> </a:t>
            </a:r>
          </a:p>
          <a:p>
            <a:pPr marL="233309" indent="-233309" defTabSz="930259">
              <a:spcBef>
                <a:spcPct val="30000"/>
              </a:spcBef>
              <a:buClr>
                <a:srgbClr val="3874D4"/>
              </a:buClr>
              <a:buFont typeface="Wingdings 2" pitchFamily="18" charset="2"/>
              <a:buChar char="¡"/>
              <a:defRPr/>
            </a:pPr>
            <a:r>
              <a:rPr lang="en-US" sz="1200" b="1" dirty="0"/>
              <a:t>RANGE – </a:t>
            </a:r>
            <a:r>
              <a:rPr lang="en-US" sz="1200" dirty="0"/>
              <a:t>Range</a:t>
            </a:r>
          </a:p>
          <a:p>
            <a:pPr marL="233309" indent="-233309" defTabSz="930259">
              <a:spcBef>
                <a:spcPct val="30000"/>
              </a:spcBef>
              <a:buClr>
                <a:srgbClr val="3874D4"/>
              </a:buClr>
              <a:buFont typeface="Wingdings 2" pitchFamily="18" charset="2"/>
              <a:buChar char="¡"/>
              <a:defRPr/>
            </a:pPr>
            <a:r>
              <a:rPr lang="en-US" sz="1200" b="1" dirty="0"/>
              <a:t>EQI – </a:t>
            </a:r>
            <a:r>
              <a:rPr lang="en-US" sz="1200" dirty="0"/>
              <a:t>Case-insensitive, used with string comparison</a:t>
            </a:r>
          </a:p>
          <a:p>
            <a:pPr marL="233309" indent="-233309" defTabSz="930259">
              <a:spcBef>
                <a:spcPct val="30000"/>
              </a:spcBef>
              <a:buClr>
                <a:srgbClr val="3874D4"/>
              </a:buClr>
              <a:buFont typeface="Wingdings 2" pitchFamily="18" charset="2"/>
              <a:buChar char="¡"/>
              <a:defRPr/>
            </a:pPr>
            <a:r>
              <a:rPr lang="en-US" sz="1200" b="1" dirty="0"/>
              <a:t>NEQI – </a:t>
            </a:r>
            <a:r>
              <a:rPr lang="en-US" sz="1200" dirty="0"/>
              <a:t>Case-insensitive, used with string comparison</a:t>
            </a:r>
          </a:p>
          <a:p>
            <a:pPr defTabSz="930259">
              <a:spcBef>
                <a:spcPct val="30000"/>
              </a:spcBef>
              <a:buFontTx/>
              <a:buChar char="•"/>
              <a:defRPr/>
            </a:pPr>
            <a:endParaRPr lang="en-US" sz="1200" dirty="0"/>
          </a:p>
          <a:p>
            <a:pPr defTabSz="930259">
              <a:spcBef>
                <a:spcPct val="30000"/>
              </a:spcBef>
              <a:defRPr/>
            </a:pPr>
            <a:r>
              <a:rPr lang="en-US" sz="1200" b="1" dirty="0"/>
              <a:t>Example Statement:</a:t>
            </a:r>
          </a:p>
          <a:p>
            <a:pPr defTabSz="930259">
              <a:spcBef>
                <a:spcPct val="30000"/>
              </a:spcBef>
              <a:defRPr/>
            </a:pPr>
            <a:endParaRPr lang="en-US" sz="1200" b="1" dirty="0"/>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34</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9E1E838D-42EF-44CA-A747-417C1C0E20A1}" type="slidenum">
              <a:rPr lang="en-US"/>
              <a:pPr/>
              <a:t>36</a:t>
            </a:fld>
            <a:endParaRPr lang="en-US"/>
          </a:p>
        </p:txBody>
      </p:sp>
      <p:sp>
        <p:nvSpPr>
          <p:cNvPr id="51203" name="Rectangle 2"/>
          <p:cNvSpPr>
            <a:spLocks noGrp="1" noRot="1" noChangeAspect="1" noChangeArrowheads="1" noTextEdit="1"/>
          </p:cNvSpPr>
          <p:nvPr>
            <p:ph type="sldImg"/>
          </p:nvPr>
        </p:nvSpPr>
        <p:spPr>
          <a:solidFill>
            <a:srgbClr val="FFFFFF"/>
          </a:solidFill>
          <a:ln/>
        </p:spPr>
      </p:sp>
      <p:sp>
        <p:nvSpPr>
          <p:cNvPr id="51204" name="Rectangle 3"/>
          <p:cNvSpPr>
            <a:spLocks noGrp="1" noChangeArrowheads="1"/>
          </p:cNvSpPr>
          <p:nvPr>
            <p:ph type="body" idx="1"/>
          </p:nvPr>
        </p:nvSpPr>
        <p:spPr>
          <a:xfrm>
            <a:off x="907931" y="4715154"/>
            <a:ext cx="4981815" cy="4466987"/>
          </a:xfrm>
          <a:solidFill>
            <a:srgbClr val="FFFFFF"/>
          </a:solidFill>
          <a:ln>
            <a:solidFill>
              <a:srgbClr val="000000"/>
            </a:solidFill>
          </a:ln>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xfrm>
            <a:off x="928688" y="741363"/>
            <a:ext cx="4965700" cy="3724275"/>
          </a:xfrm>
          <a:ln/>
        </p:spPr>
      </p:sp>
      <p:sp>
        <p:nvSpPr>
          <p:cNvPr id="106499" name="Rectangle 3"/>
          <p:cNvSpPr>
            <a:spLocks noGrp="1" noChangeArrowheads="1"/>
          </p:cNvSpPr>
          <p:nvPr>
            <p:ph type="body" idx="1"/>
          </p:nvPr>
        </p:nvSpPr>
        <p:spPr>
          <a:xfrm>
            <a:off x="467340" y="4654836"/>
            <a:ext cx="5847260" cy="3781084"/>
          </a:xfrm>
          <a:noFill/>
          <a:ln/>
        </p:spPr>
        <p:txBody>
          <a:bodyPr/>
          <a:lstStyle/>
          <a:p>
            <a:r>
              <a:rPr lang="en-US" dirty="0"/>
              <a:t>Enumerated lists offer these advantages over Text Data Type fields:</a:t>
            </a:r>
          </a:p>
          <a:p>
            <a:pPr lvl="1"/>
            <a:r>
              <a:rPr lang="en-US" dirty="0"/>
              <a:t>They are easier to select from a list rather than type in a field.</a:t>
            </a:r>
          </a:p>
          <a:p>
            <a:pPr lvl="1"/>
            <a:r>
              <a:rPr lang="en-US" dirty="0"/>
              <a:t>The information for each field is in a consistent and in an expected format.</a:t>
            </a:r>
          </a:p>
          <a:p>
            <a:pPr lvl="1"/>
            <a:r>
              <a:rPr lang="en-US" dirty="0"/>
              <a:t>Spelling and naming inconsistencies errors are reduced.</a:t>
            </a:r>
          </a:p>
          <a:p>
            <a:r>
              <a:rPr lang="en-US" dirty="0"/>
              <a:t>If the proper choice is not available, the analyst may specify a value, if allowed.</a:t>
            </a:r>
          </a:p>
          <a:p>
            <a:pPr>
              <a:buFont typeface="Wingdings 2" pitchFamily="18" charset="2"/>
              <a:buNone/>
            </a:pPr>
            <a:r>
              <a:rPr lang="en-US" b="1" i="1" dirty="0"/>
              <a:t>Note:</a:t>
            </a:r>
            <a:r>
              <a:rPr lang="en-US" i="1" dirty="0"/>
              <a:t> The translation may be a value, text, or field. The USE AS selection determines the output from the field. USE AS also translates your position into a text field. </a:t>
            </a:r>
          </a:p>
          <a:p>
            <a:r>
              <a:rPr lang="en-US" dirty="0"/>
              <a:t>Enumerated considerations</a:t>
            </a:r>
          </a:p>
          <a:p>
            <a:pPr lvl="1"/>
            <a:r>
              <a:rPr lang="en-US" dirty="0"/>
              <a:t>ENUM can be used when the data type is ENUM or in a Real type formula.</a:t>
            </a:r>
          </a:p>
          <a:p>
            <a:pPr lvl="1"/>
            <a:r>
              <a:rPr lang="en-US" dirty="0"/>
              <a:t>ENUM must appear at the beginning of a formula if it is created for an ENUM type custom field.</a:t>
            </a:r>
          </a:p>
          <a:p>
            <a:pPr lvl="1"/>
            <a:r>
              <a:rPr lang="en-US" dirty="0"/>
              <a:t>There cannot be more than one ENUM function in any formula.</a:t>
            </a:r>
          </a:p>
          <a:p>
            <a:pPr lvl="1"/>
            <a:r>
              <a:rPr lang="en-US" dirty="0"/>
              <a:t>Only Boolean functions, or Boolean operators, are allowed in the first-level parentheses.</a:t>
            </a:r>
          </a:p>
          <a:p>
            <a:endParaRPr lang="en-US" b="1" i="1" dirty="0"/>
          </a:p>
          <a:p>
            <a:endParaRPr lang="en-US" dirty="0"/>
          </a:p>
          <a:p>
            <a:pPr algn="ctr"/>
            <a:endParaRPr lang="en-US" dirty="0"/>
          </a:p>
          <a:p>
            <a:pPr algn="ctr"/>
            <a:endParaRPr lang="en-US" dirty="0"/>
          </a:p>
        </p:txBody>
      </p:sp>
      <p:sp>
        <p:nvSpPr>
          <p:cNvPr id="106500" name="Rectangle 4"/>
          <p:cNvSpPr>
            <a:spLocks noChangeArrowheads="1"/>
          </p:cNvSpPr>
          <p:nvPr/>
        </p:nvSpPr>
        <p:spPr bwMode="auto">
          <a:xfrm>
            <a:off x="1057416" y="4856470"/>
            <a:ext cx="5136021" cy="3045204"/>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37</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683FCDA0-DA45-4D7C-AFDC-A4144E165FD2}" type="slidenum">
              <a:rPr lang="en-US"/>
              <a:pPr/>
              <a:t>38</a:t>
            </a:fld>
            <a:endParaRPr lang="en-US"/>
          </a:p>
        </p:txBody>
      </p:sp>
      <p:sp>
        <p:nvSpPr>
          <p:cNvPr id="43011" name="Rectangle 2"/>
          <p:cNvSpPr>
            <a:spLocks noGrp="1" noRot="1" noChangeAspect="1" noChangeArrowheads="1" noTextEdit="1"/>
          </p:cNvSpPr>
          <p:nvPr>
            <p:ph type="sldImg"/>
          </p:nvPr>
        </p:nvSpPr>
        <p:spPr>
          <a:solidFill>
            <a:srgbClr val="FFFFFF"/>
          </a:solidFill>
          <a:ln/>
        </p:spPr>
      </p:sp>
      <p:sp>
        <p:nvSpPr>
          <p:cNvPr id="43012" name="Rectangle 3"/>
          <p:cNvSpPr>
            <a:spLocks noGrp="1" noChangeArrowheads="1"/>
          </p:cNvSpPr>
          <p:nvPr>
            <p:ph type="body" idx="1"/>
          </p:nvPr>
        </p:nvSpPr>
        <p:spPr>
          <a:xfrm>
            <a:off x="907931" y="4715154"/>
            <a:ext cx="4981815" cy="4466987"/>
          </a:xfrm>
          <a:solidFill>
            <a:srgbClr val="FFFFFF"/>
          </a:solidFill>
          <a:ln>
            <a:solidFill>
              <a:srgbClr val="000000"/>
            </a:solidFill>
          </a:ln>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9EAD2521-32AA-405C-876A-B41D78D98EC3}" type="slidenum">
              <a:rPr lang="en-US"/>
              <a:pPr/>
              <a:t>39</a:t>
            </a:fld>
            <a:endParaRPr lang="en-US"/>
          </a:p>
        </p:txBody>
      </p:sp>
      <p:sp>
        <p:nvSpPr>
          <p:cNvPr id="45059" name="Rectangle 2"/>
          <p:cNvSpPr>
            <a:spLocks noGrp="1" noRot="1" noChangeAspect="1" noChangeArrowheads="1" noTextEdit="1"/>
          </p:cNvSpPr>
          <p:nvPr>
            <p:ph type="sldImg"/>
          </p:nvPr>
        </p:nvSpPr>
        <p:spPr>
          <a:solidFill>
            <a:srgbClr val="FFFFFF"/>
          </a:solidFill>
          <a:ln/>
        </p:spPr>
      </p:sp>
      <p:sp>
        <p:nvSpPr>
          <p:cNvPr id="45060" name="Rectangle 3"/>
          <p:cNvSpPr>
            <a:spLocks noGrp="1" noChangeArrowheads="1"/>
          </p:cNvSpPr>
          <p:nvPr>
            <p:ph type="body" idx="1"/>
          </p:nvPr>
        </p:nvSpPr>
        <p:spPr>
          <a:xfrm>
            <a:off x="907931" y="4715154"/>
            <a:ext cx="4981815" cy="4466987"/>
          </a:xfrm>
          <a:solidFill>
            <a:srgbClr val="FFFFFF"/>
          </a:solidFill>
          <a:ln>
            <a:solidFill>
              <a:srgbClr val="000000"/>
            </a:solidFill>
          </a:ln>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9893E5C5-4625-4F52-9A68-D2517EA58361}" type="slidenum">
              <a:rPr lang="en-US"/>
              <a:pPr/>
              <a:t>40</a:t>
            </a:fld>
            <a:endParaRPr lang="en-US"/>
          </a:p>
        </p:txBody>
      </p:sp>
      <p:sp>
        <p:nvSpPr>
          <p:cNvPr id="46083" name="Rectangle 2"/>
          <p:cNvSpPr>
            <a:spLocks noGrp="1" noRot="1" noChangeAspect="1" noChangeArrowheads="1" noTextEdit="1"/>
          </p:cNvSpPr>
          <p:nvPr>
            <p:ph type="sldImg"/>
          </p:nvPr>
        </p:nvSpPr>
        <p:spPr>
          <a:solidFill>
            <a:srgbClr val="FFFFFF"/>
          </a:solidFill>
          <a:ln/>
        </p:spPr>
      </p:sp>
      <p:sp>
        <p:nvSpPr>
          <p:cNvPr id="46084" name="Rectangle 3"/>
          <p:cNvSpPr>
            <a:spLocks noGrp="1" noChangeArrowheads="1"/>
          </p:cNvSpPr>
          <p:nvPr>
            <p:ph type="body" idx="1"/>
          </p:nvPr>
        </p:nvSpPr>
        <p:spPr>
          <a:xfrm>
            <a:off x="907931" y="4715154"/>
            <a:ext cx="4981815" cy="4466987"/>
          </a:xfrm>
          <a:solidFill>
            <a:srgbClr val="FFFFFF"/>
          </a:solidFill>
          <a:ln>
            <a:solidFill>
              <a:srgbClr val="000000"/>
            </a:solidFill>
          </a:ln>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28211E58-9880-4AF3-B5A3-2C562E0357A4}" type="slidenum">
              <a:rPr lang="en-US"/>
              <a:pPr/>
              <a:t>42</a:t>
            </a:fld>
            <a:endParaRPr lang="en-US"/>
          </a:p>
        </p:txBody>
      </p:sp>
      <p:sp>
        <p:nvSpPr>
          <p:cNvPr id="54275" name="Rectangle 2"/>
          <p:cNvSpPr>
            <a:spLocks noGrp="1" noRot="1" noChangeAspect="1" noChangeArrowheads="1" noTextEdit="1"/>
          </p:cNvSpPr>
          <p:nvPr>
            <p:ph type="sldImg"/>
          </p:nvPr>
        </p:nvSpPr>
        <p:spPr>
          <a:solidFill>
            <a:srgbClr val="FFFFFF"/>
          </a:solidFill>
          <a:ln/>
        </p:spPr>
      </p:sp>
      <p:sp>
        <p:nvSpPr>
          <p:cNvPr id="54276" name="Rectangle 3"/>
          <p:cNvSpPr>
            <a:spLocks noGrp="1" noChangeArrowheads="1"/>
          </p:cNvSpPr>
          <p:nvPr>
            <p:ph type="body" idx="1"/>
          </p:nvPr>
        </p:nvSpPr>
        <p:spPr>
          <a:xfrm>
            <a:off x="907931" y="4715154"/>
            <a:ext cx="4981815" cy="4466987"/>
          </a:xfrm>
          <a:solidFill>
            <a:srgbClr val="FFFFFF"/>
          </a:solidFill>
          <a:ln>
            <a:solidFill>
              <a:srgbClr val="000000"/>
            </a:solidFill>
          </a:ln>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CD3E2309-6F8A-45D4-AF8C-781401EFB0F2}" type="slidenum">
              <a:rPr lang="en-US"/>
              <a:pPr/>
              <a:t>43</a:t>
            </a:fld>
            <a:endParaRPr lang="en-US"/>
          </a:p>
        </p:txBody>
      </p:sp>
      <p:sp>
        <p:nvSpPr>
          <p:cNvPr id="55299" name="Rectangle 2"/>
          <p:cNvSpPr>
            <a:spLocks noGrp="1" noRot="1" noChangeAspect="1" noChangeArrowheads="1" noTextEdit="1"/>
          </p:cNvSpPr>
          <p:nvPr>
            <p:ph type="sldImg"/>
          </p:nvPr>
        </p:nvSpPr>
        <p:spPr>
          <a:solidFill>
            <a:srgbClr val="FFFFFF"/>
          </a:solidFill>
          <a:ln/>
        </p:spPr>
      </p:sp>
      <p:sp>
        <p:nvSpPr>
          <p:cNvPr id="55300" name="Rectangle 3"/>
          <p:cNvSpPr>
            <a:spLocks noGrp="1" noChangeArrowheads="1"/>
          </p:cNvSpPr>
          <p:nvPr>
            <p:ph type="body" idx="1"/>
          </p:nvPr>
        </p:nvSpPr>
        <p:spPr>
          <a:xfrm>
            <a:off x="907931" y="4715154"/>
            <a:ext cx="4981815" cy="4466987"/>
          </a:xfrm>
          <a:solidFill>
            <a:srgbClr val="FFFFFF"/>
          </a:solidFill>
          <a:ln>
            <a:solidFill>
              <a:srgbClr val="000000"/>
            </a:solidFill>
          </a:ln>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dt" sz="quarter" idx="1"/>
          </p:nvPr>
        </p:nvSpPr>
        <p:spPr>
          <a:noFill/>
        </p:spPr>
        <p:txBody>
          <a:bodyPr/>
          <a:lstStyle/>
          <a:p>
            <a:r>
              <a:rPr lang="en-US"/>
              <a:t>Introduction to Custom Fields</a:t>
            </a:r>
          </a:p>
        </p:txBody>
      </p:sp>
      <p:sp>
        <p:nvSpPr>
          <p:cNvPr id="75780" name="Rectangle 2"/>
          <p:cNvSpPr>
            <a:spLocks noGrp="1" noRot="1" noChangeAspect="1" noChangeArrowheads="1" noTextEdit="1"/>
          </p:cNvSpPr>
          <p:nvPr>
            <p:ph type="sldImg"/>
          </p:nvPr>
        </p:nvSpPr>
        <p:spPr>
          <a:xfrm>
            <a:off x="920750" y="742950"/>
            <a:ext cx="4967288" cy="3725863"/>
          </a:xfrm>
          <a:ln/>
        </p:spPr>
      </p:sp>
      <p:sp>
        <p:nvSpPr>
          <p:cNvPr id="75781" name="Rectangle 3"/>
          <p:cNvSpPr>
            <a:spLocks noGrp="1" noChangeArrowheads="1"/>
          </p:cNvSpPr>
          <p:nvPr>
            <p:ph type="body" idx="1"/>
          </p:nvPr>
        </p:nvSpPr>
        <p:spPr>
          <a:xfrm>
            <a:off x="906463" y="4714876"/>
            <a:ext cx="4984750" cy="2528888"/>
          </a:xfrm>
          <a:noFill/>
          <a:ln/>
        </p:spPr>
        <p:txBody>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Data Source Selection</a:t>
            </a:r>
            <a:br>
              <a:rPr lang="en-US" b="1" i="1" dirty="0"/>
            </a:br>
            <a:endParaRPr lang="en-US" b="1" i="1" dirty="0"/>
          </a:p>
          <a:p>
            <a:pPr marL="225425" marR="0" indent="-225425" algn="l" defTabSz="914400" rtl="0" eaLnBrk="1" fontAlgn="auto" latinLnBrk="0" hangingPunct="1">
              <a:lnSpc>
                <a:spcPct val="100000"/>
              </a:lnSpc>
              <a:spcBef>
                <a:spcPts val="0"/>
              </a:spcBef>
              <a:spcAft>
                <a:spcPts val="0"/>
              </a:spcAft>
              <a:buClr>
                <a:srgbClr val="0070C0"/>
              </a:buClr>
              <a:buSzPct val="150000"/>
              <a:buFont typeface="Wingdings" pitchFamily="2" charset="2"/>
              <a:buChar char="§"/>
              <a:tabLst/>
              <a:defRPr/>
            </a:pPr>
            <a:r>
              <a:rPr lang="en-US" sz="1200" b="0" i="0" kern="1200" dirty="0">
                <a:solidFill>
                  <a:schemeClr val="tx1"/>
                </a:solidFill>
                <a:latin typeface="Verdana" pitchFamily="34" charset="0"/>
                <a:ea typeface="Verdana" pitchFamily="34" charset="0"/>
                <a:cs typeface="Verdana" pitchFamily="34" charset="0"/>
              </a:rPr>
              <a:t>The 3</a:t>
            </a:r>
            <a:r>
              <a:rPr lang="en-US" sz="1200" b="0" i="0" kern="1200" baseline="30000" dirty="0">
                <a:solidFill>
                  <a:schemeClr val="tx1"/>
                </a:solidFill>
                <a:latin typeface="Verdana" pitchFamily="34" charset="0"/>
                <a:ea typeface="Verdana" pitchFamily="34" charset="0"/>
                <a:cs typeface="Verdana" pitchFamily="34" charset="0"/>
              </a:rPr>
              <a:t>rd</a:t>
            </a:r>
            <a:r>
              <a:rPr lang="en-US" sz="1200" b="0" i="0" kern="1200" dirty="0">
                <a:solidFill>
                  <a:schemeClr val="tx1"/>
                </a:solidFill>
                <a:latin typeface="Verdana" pitchFamily="34" charset="0"/>
                <a:ea typeface="Verdana" pitchFamily="34" charset="0"/>
                <a:cs typeface="Verdana" pitchFamily="34" charset="0"/>
              </a:rPr>
              <a:t> step in the wizard</a:t>
            </a:r>
            <a:r>
              <a:rPr lang="en-US" sz="1200" b="0" i="0" kern="1200" baseline="0" dirty="0">
                <a:solidFill>
                  <a:schemeClr val="tx1"/>
                </a:solidFill>
                <a:latin typeface="Verdana" pitchFamily="34" charset="0"/>
                <a:ea typeface="Verdana" pitchFamily="34" charset="0"/>
                <a:cs typeface="Verdana" pitchFamily="34" charset="0"/>
              </a:rPr>
              <a:t> is shown here.</a:t>
            </a:r>
            <a:br>
              <a:rPr lang="en-US" sz="1200" kern="1200" dirty="0">
                <a:solidFill>
                  <a:schemeClr val="tx1"/>
                </a:solidFill>
                <a:latin typeface="Verdana" pitchFamily="34" charset="0"/>
                <a:ea typeface="Verdana" pitchFamily="34" charset="0"/>
                <a:cs typeface="Verdana" pitchFamily="34" charset="0"/>
              </a:rPr>
            </a:br>
            <a:endParaRPr lang="en-US" sz="1200" kern="1200" dirty="0">
              <a:solidFill>
                <a:schemeClr val="tx1"/>
              </a:solidFill>
              <a:latin typeface="Verdana" pitchFamily="34" charset="0"/>
              <a:ea typeface="Verdana" pitchFamily="34" charset="0"/>
              <a:cs typeface="Verdana" pitchFamily="34" charset="0"/>
            </a:endParaRPr>
          </a:p>
          <a:p>
            <a:pPr marL="225425" marR="0" indent="-225425" algn="l" defTabSz="914400" rtl="0" eaLnBrk="1" fontAlgn="auto" latinLnBrk="0" hangingPunct="1">
              <a:lnSpc>
                <a:spcPct val="100000"/>
              </a:lnSpc>
              <a:spcBef>
                <a:spcPts val="0"/>
              </a:spcBef>
              <a:spcAft>
                <a:spcPts val="0"/>
              </a:spcAft>
              <a:buClr>
                <a:srgbClr val="0070C0"/>
              </a:buClr>
              <a:buSzTx/>
              <a:buFont typeface="Wingdings 2" pitchFamily="18" charset="2"/>
              <a:buChar char="¡"/>
              <a:tabLst/>
              <a:defRPr/>
            </a:pPr>
            <a:endParaRPr lang="en-US" sz="1200" kern="1200" dirty="0">
              <a:solidFill>
                <a:schemeClr val="tx1"/>
              </a:solidFill>
              <a:latin typeface="Verdana" pitchFamily="34" charset="0"/>
              <a:ea typeface="Verdana" pitchFamily="34" charset="0"/>
              <a:cs typeface="Verdana" pitchFamily="34" charset="0"/>
            </a:endParaRPr>
          </a:p>
          <a:p>
            <a:pPr eaLnBrk="1" hangingPunct="1"/>
            <a:endParaRPr lang="en-US"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45</a:t>
            </a:fld>
            <a:r>
              <a:rPr lang="en-US"/>
              <a:t> of 88</a:t>
            </a:r>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type="dt" sz="quarter" idx="1"/>
          </p:nvPr>
        </p:nvSpPr>
        <p:spPr>
          <a:noFill/>
        </p:spPr>
        <p:txBody>
          <a:bodyPr/>
          <a:lstStyle/>
          <a:p>
            <a:r>
              <a:rPr lang="en-US"/>
              <a:t>Introduction to Custom Fields</a:t>
            </a:r>
          </a:p>
        </p:txBody>
      </p:sp>
      <p:sp>
        <p:nvSpPr>
          <p:cNvPr id="76804" name="Rectangle 2"/>
          <p:cNvSpPr>
            <a:spLocks noGrp="1" noRot="1" noChangeAspect="1" noChangeArrowheads="1" noTextEdit="1"/>
          </p:cNvSpPr>
          <p:nvPr>
            <p:ph type="sldImg"/>
          </p:nvPr>
        </p:nvSpPr>
        <p:spPr>
          <a:xfrm>
            <a:off x="920750" y="742950"/>
            <a:ext cx="4967288" cy="3725863"/>
          </a:xfrm>
          <a:ln/>
        </p:spPr>
      </p:sp>
      <p:sp>
        <p:nvSpPr>
          <p:cNvPr id="76805" name="Rectangle 3"/>
          <p:cNvSpPr>
            <a:spLocks noGrp="1" noChangeArrowheads="1"/>
          </p:cNvSpPr>
          <p:nvPr>
            <p:ph type="body" idx="1"/>
          </p:nvPr>
        </p:nvSpPr>
        <p:spPr>
          <a:xfrm>
            <a:off x="906463" y="4714876"/>
            <a:ext cx="4984750" cy="4483569"/>
          </a:xfrm>
          <a:noFill/>
          <a:ln/>
        </p:spPr>
        <p:txBody>
          <a:bodyPr>
            <a:normAutofit/>
          </a:bodyPr>
          <a:lstStyle/>
          <a:p>
            <a:pPr algn="ctr" eaLnBrk="1" hangingPunct="1">
              <a:buNone/>
            </a:pPr>
            <a:r>
              <a:rPr lang="en-US" sz="1200" b="1" i="1" kern="1200" dirty="0">
                <a:solidFill>
                  <a:schemeClr val="tx1"/>
                </a:solidFill>
                <a:latin typeface="Verdana" pitchFamily="34" charset="0"/>
                <a:ea typeface="Verdana" pitchFamily="34" charset="0"/>
                <a:cs typeface="Verdana" pitchFamily="34" charset="0"/>
              </a:rPr>
              <a:t>Data Source </a:t>
            </a:r>
            <a:br>
              <a:rPr lang="en-US" sz="1200" b="1" i="1" kern="1200" dirty="0">
                <a:solidFill>
                  <a:schemeClr val="tx1"/>
                </a:solidFill>
                <a:latin typeface="Verdana" pitchFamily="34" charset="0"/>
                <a:ea typeface="Verdana" pitchFamily="34" charset="0"/>
                <a:cs typeface="Verdana" pitchFamily="34" charset="0"/>
              </a:rPr>
            </a:br>
            <a:endParaRPr lang="en-US" sz="1200" kern="1200" dirty="0">
              <a:solidFill>
                <a:schemeClr val="tx1"/>
              </a:solidFill>
              <a:latin typeface="Verdana" pitchFamily="34" charset="0"/>
              <a:ea typeface="Verdana" pitchFamily="34" charset="0"/>
              <a:cs typeface="Verdana" pitchFamily="34" charset="0"/>
            </a:endParaRPr>
          </a:p>
          <a:p>
            <a:pPr algn="l" eaLnBrk="1" hangingPunct="1">
              <a:buSzPct val="150000"/>
              <a:buFont typeface="Wingdings" pitchFamily="2" charset="2"/>
              <a:buChar char="§"/>
            </a:pPr>
            <a:r>
              <a:rPr lang="en-US" sz="1200" b="0" i="0" kern="1200" dirty="0">
                <a:solidFill>
                  <a:schemeClr val="tx1"/>
                </a:solidFill>
                <a:latin typeface="Verdana" pitchFamily="34" charset="0"/>
                <a:ea typeface="Verdana" pitchFamily="34" charset="0"/>
                <a:cs typeface="Verdana" pitchFamily="34" charset="0"/>
              </a:rPr>
              <a:t>The Data Source is set to Keyboard if the CF Type is Sample,</a:t>
            </a:r>
            <a:r>
              <a:rPr lang="en-US" sz="1200" b="0" i="0" kern="1200" baseline="0" dirty="0">
                <a:solidFill>
                  <a:schemeClr val="tx1"/>
                </a:solidFill>
                <a:latin typeface="Verdana" pitchFamily="34" charset="0"/>
                <a:ea typeface="Verdana" pitchFamily="34" charset="0"/>
                <a:cs typeface="Verdana" pitchFamily="34" charset="0"/>
              </a:rPr>
              <a:t> Sample Set or Component</a:t>
            </a:r>
            <a:r>
              <a:rPr lang="en-US" sz="1200" b="0" i="0" kern="1200" dirty="0">
                <a:solidFill>
                  <a:schemeClr val="tx1"/>
                </a:solidFill>
                <a:latin typeface="Verdana" pitchFamily="34" charset="0"/>
                <a:ea typeface="Verdana" pitchFamily="34" charset="0"/>
                <a:cs typeface="Verdana" pitchFamily="34" charset="0"/>
              </a:rPr>
              <a:t>, meaning that the user will enter the appropriate information into the field using the computer’s keyboard.  </a:t>
            </a:r>
            <a:br>
              <a:rPr lang="en-US" sz="1200" b="0" i="0" kern="1200" dirty="0">
                <a:solidFill>
                  <a:schemeClr val="tx1"/>
                </a:solidFill>
                <a:latin typeface="Verdana" pitchFamily="34" charset="0"/>
                <a:ea typeface="Verdana" pitchFamily="34" charset="0"/>
                <a:cs typeface="Verdana" pitchFamily="34" charset="0"/>
              </a:rPr>
            </a:br>
            <a:endParaRPr lang="en-US" sz="1200" b="0" i="0" kern="1200" dirty="0">
              <a:solidFill>
                <a:schemeClr val="tx1"/>
              </a:solidFill>
              <a:latin typeface="Verdana" pitchFamily="34" charset="0"/>
              <a:ea typeface="Verdana" pitchFamily="34" charset="0"/>
              <a:cs typeface="Verdana" pitchFamily="34" charset="0"/>
            </a:endParaRPr>
          </a:p>
          <a:p>
            <a:pPr algn="l" eaLnBrk="1" hangingPunct="1">
              <a:buSzPct val="150000"/>
              <a:buFont typeface="Wingdings" pitchFamily="2" charset="2"/>
              <a:buChar char="§"/>
            </a:pPr>
            <a:r>
              <a:rPr lang="en-US" sz="1200" b="0" i="0" kern="1200" dirty="0">
                <a:solidFill>
                  <a:schemeClr val="tx1"/>
                </a:solidFill>
                <a:latin typeface="Verdana" pitchFamily="34" charset="0"/>
                <a:ea typeface="Verdana" pitchFamily="34" charset="0"/>
                <a:cs typeface="Verdana" pitchFamily="34" charset="0"/>
              </a:rPr>
              <a:t>Calculated is</a:t>
            </a:r>
            <a:r>
              <a:rPr lang="en-US" sz="1200" b="0" i="0" kern="1200" baseline="0" dirty="0">
                <a:solidFill>
                  <a:schemeClr val="tx1"/>
                </a:solidFill>
                <a:latin typeface="Verdana" pitchFamily="34" charset="0"/>
                <a:ea typeface="Verdana" pitchFamily="34" charset="0"/>
                <a:cs typeface="Verdana" pitchFamily="34" charset="0"/>
              </a:rPr>
              <a:t> chosen for all CF requiring calculations like Peak and Result type CF. </a:t>
            </a:r>
            <a:br>
              <a:rPr lang="en-US" sz="1200" b="0" i="0" kern="1200" baseline="0" dirty="0">
                <a:solidFill>
                  <a:schemeClr val="tx1"/>
                </a:solidFill>
                <a:latin typeface="Verdana" pitchFamily="34" charset="0"/>
                <a:ea typeface="Verdana" pitchFamily="34" charset="0"/>
                <a:cs typeface="Verdana" pitchFamily="34" charset="0"/>
              </a:rPr>
            </a:br>
            <a:endParaRPr lang="en-US" sz="1200" b="0" i="0" kern="1200" baseline="0" dirty="0">
              <a:solidFill>
                <a:schemeClr val="tx1"/>
              </a:solidFill>
              <a:latin typeface="Verdana" pitchFamily="34" charset="0"/>
              <a:ea typeface="Verdana" pitchFamily="34" charset="0"/>
              <a:cs typeface="Verdana" pitchFamily="34" charset="0"/>
            </a:endParaRPr>
          </a:p>
          <a:p>
            <a:pPr algn="l" eaLnBrk="1" hangingPunct="1">
              <a:buSzPct val="150000"/>
              <a:buFont typeface="Wingdings" pitchFamily="2" charset="2"/>
              <a:buChar char="§"/>
            </a:pPr>
            <a:r>
              <a:rPr lang="en-US" sz="1200" b="0" i="0" kern="1200" dirty="0">
                <a:solidFill>
                  <a:schemeClr val="tx1"/>
                </a:solidFill>
                <a:latin typeface="Verdana" pitchFamily="34" charset="0"/>
                <a:ea typeface="Verdana" pitchFamily="34" charset="0"/>
                <a:cs typeface="Verdana" pitchFamily="34" charset="0"/>
              </a:rPr>
              <a:t>A value of External should only be selected if this field will be filled in from an application other than Empower software, if you were using the Empower Toolkit</a:t>
            </a:r>
            <a:r>
              <a:rPr lang="en-US" sz="1200" b="0" i="0" kern="1200" baseline="0" dirty="0">
                <a:solidFill>
                  <a:schemeClr val="tx1"/>
                </a:solidFill>
                <a:latin typeface="Verdana" pitchFamily="34" charset="0"/>
                <a:ea typeface="Verdana" pitchFamily="34" charset="0"/>
                <a:cs typeface="Verdana" pitchFamily="34" charset="0"/>
              </a:rPr>
              <a:t> option to import information from for example a LIMS system</a:t>
            </a:r>
            <a:r>
              <a:rPr lang="en-US" sz="1200" kern="1200" baseline="0" dirty="0">
                <a:solidFill>
                  <a:schemeClr val="tx1"/>
                </a:solidFill>
                <a:latin typeface="Verdana" pitchFamily="34" charset="0"/>
                <a:ea typeface="Verdana" pitchFamily="34" charset="0"/>
                <a:cs typeface="Verdana" pitchFamily="34" charset="0"/>
              </a:rPr>
              <a:t>.</a:t>
            </a:r>
            <a:r>
              <a:rPr lang="en-US" sz="1200" kern="1200" dirty="0">
                <a:solidFill>
                  <a:schemeClr val="tx1"/>
                </a:solidFill>
                <a:latin typeface="Verdana" pitchFamily="34" charset="0"/>
                <a:ea typeface="Verdana" pitchFamily="34" charset="0"/>
                <a:cs typeface="Verdana" pitchFamily="34" charset="0"/>
              </a:rPr>
              <a:t> </a:t>
            </a:r>
            <a:endParaRPr lang="en-US"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46</a:t>
            </a:fld>
            <a:r>
              <a:rPr lang="en-US"/>
              <a:t> of 88</a:t>
            </a:r>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type="dt" sz="quarter" idx="1"/>
          </p:nvPr>
        </p:nvSpPr>
        <p:spPr>
          <a:noFill/>
        </p:spPr>
        <p:txBody>
          <a:bodyPr/>
          <a:lstStyle/>
          <a:p>
            <a:r>
              <a:rPr lang="en-US"/>
              <a:t>Introduction to Custom Fields</a:t>
            </a:r>
          </a:p>
        </p:txBody>
      </p:sp>
      <p:sp>
        <p:nvSpPr>
          <p:cNvPr id="77828" name="Rectangle 2"/>
          <p:cNvSpPr>
            <a:spLocks noGrp="1" noRot="1" noChangeAspect="1" noChangeArrowheads="1" noTextEdit="1"/>
          </p:cNvSpPr>
          <p:nvPr>
            <p:ph type="sldImg"/>
          </p:nvPr>
        </p:nvSpPr>
        <p:spPr>
          <a:xfrm>
            <a:off x="917575" y="744538"/>
            <a:ext cx="4962525" cy="3722687"/>
          </a:xfrm>
          <a:ln/>
        </p:spPr>
      </p:sp>
      <p:sp>
        <p:nvSpPr>
          <p:cNvPr id="77829" name="Rectangle 3"/>
          <p:cNvSpPr>
            <a:spLocks noGrp="1" noChangeArrowheads="1"/>
          </p:cNvSpPr>
          <p:nvPr>
            <p:ph type="body" idx="1"/>
          </p:nvPr>
        </p:nvSpPr>
        <p:spPr>
          <a:noFill/>
          <a:ln/>
        </p:spPr>
        <p:txBody>
          <a:bodyPr/>
          <a:lstStyle/>
          <a:p>
            <a:pPr algn="ctr">
              <a:buNone/>
            </a:pPr>
            <a:r>
              <a:rPr lang="en-US" b="1" i="1" dirty="0"/>
              <a:t>Data entry is required /Default Value</a:t>
            </a:r>
          </a:p>
          <a:p>
            <a:pPr algn="ctr">
              <a:buNone/>
            </a:pPr>
            <a:endParaRPr lang="en-US" dirty="0"/>
          </a:p>
          <a:p>
            <a:pPr algn="l">
              <a:buSzPct val="150000"/>
              <a:buFont typeface="Wingdings" pitchFamily="2" charset="2"/>
              <a:buChar char="§"/>
            </a:pPr>
            <a:r>
              <a:rPr lang="en-US" b="0" i="0" dirty="0"/>
              <a:t>The next thing to consider is if data entry is required and if you want to enter a default value.</a:t>
            </a:r>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47</a:t>
            </a:fld>
            <a:r>
              <a:rPr lang="en-US"/>
              <a:t> of 88</a:t>
            </a:r>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Grp="1" noChangeArrowheads="1"/>
          </p:cNvSpPr>
          <p:nvPr>
            <p:ph type="dt" sz="quarter" idx="1"/>
          </p:nvPr>
        </p:nvSpPr>
        <p:spPr>
          <a:noFill/>
        </p:spPr>
        <p:txBody>
          <a:bodyPr/>
          <a:lstStyle/>
          <a:p>
            <a:r>
              <a:rPr lang="en-US"/>
              <a:t>Introduction to Custom Fields</a:t>
            </a:r>
          </a:p>
        </p:txBody>
      </p:sp>
      <p:sp>
        <p:nvSpPr>
          <p:cNvPr id="78852" name="Rectangle 2"/>
          <p:cNvSpPr>
            <a:spLocks noGrp="1" noRot="1" noChangeAspect="1" noChangeArrowheads="1" noTextEdit="1"/>
          </p:cNvSpPr>
          <p:nvPr>
            <p:ph type="sldImg"/>
          </p:nvPr>
        </p:nvSpPr>
        <p:spPr>
          <a:xfrm>
            <a:off x="920750" y="742950"/>
            <a:ext cx="4967288" cy="3725863"/>
          </a:xfrm>
          <a:ln/>
        </p:spPr>
      </p:sp>
      <p:sp>
        <p:nvSpPr>
          <p:cNvPr id="78853" name="Rectangle 3"/>
          <p:cNvSpPr>
            <a:spLocks noGrp="1" noChangeArrowheads="1"/>
          </p:cNvSpPr>
          <p:nvPr>
            <p:ph type="body" idx="1"/>
          </p:nvPr>
        </p:nvSpPr>
        <p:spPr>
          <a:xfrm>
            <a:off x="906463" y="4714876"/>
            <a:ext cx="4984750" cy="2528888"/>
          </a:xfrm>
          <a:noFill/>
          <a:ln/>
        </p:spPr>
        <p:txBody>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sz="1200" b="1" i="1" kern="1200" dirty="0">
                <a:solidFill>
                  <a:schemeClr val="tx1"/>
                </a:solidFill>
                <a:latin typeface="Verdana" pitchFamily="34" charset="0"/>
                <a:ea typeface="Verdana" pitchFamily="34" charset="0"/>
                <a:cs typeface="Verdana" pitchFamily="34" charset="0"/>
              </a:rPr>
              <a:t>Data entry is required /Default Value </a:t>
            </a:r>
            <a:br>
              <a:rPr lang="en-US" sz="1200" b="1" i="1" kern="1200" dirty="0">
                <a:solidFill>
                  <a:schemeClr val="tx1"/>
                </a:solidFill>
                <a:latin typeface="Verdana" pitchFamily="34" charset="0"/>
                <a:ea typeface="Verdana" pitchFamily="34" charset="0"/>
                <a:cs typeface="Verdana" pitchFamily="34" charset="0"/>
              </a:rPr>
            </a:br>
            <a:endParaRPr lang="en-US" sz="1200" b="1" i="1" kern="1200" dirty="0">
              <a:solidFill>
                <a:schemeClr val="tx1"/>
              </a:solidFill>
              <a:latin typeface="Verdana" pitchFamily="34" charset="0"/>
              <a:ea typeface="Verdana" pitchFamily="34" charset="0"/>
              <a:cs typeface="Verdana" pitchFamily="34" charset="0"/>
            </a:endParaRPr>
          </a:p>
          <a:p>
            <a:pPr marL="225425" marR="0" indent="-225425" algn="l" defTabSz="914400" rtl="0" eaLnBrk="1" fontAlgn="auto" latinLnBrk="0" hangingPunct="1">
              <a:lnSpc>
                <a:spcPct val="100000"/>
              </a:lnSpc>
              <a:spcBef>
                <a:spcPts val="0"/>
              </a:spcBef>
              <a:spcAft>
                <a:spcPts val="0"/>
              </a:spcAft>
              <a:buClr>
                <a:srgbClr val="0070C0"/>
              </a:buClr>
              <a:buSzTx/>
              <a:buFont typeface="Wingdings 2" pitchFamily="18" charset="2"/>
              <a:buChar char="¡"/>
              <a:tabLst/>
              <a:defRPr/>
            </a:pPr>
            <a:r>
              <a:rPr lang="en-US" sz="1200" b="0" i="0" kern="1200" dirty="0">
                <a:solidFill>
                  <a:schemeClr val="tx1"/>
                </a:solidFill>
                <a:latin typeface="Verdana" pitchFamily="34" charset="0"/>
                <a:ea typeface="Verdana" pitchFamily="34" charset="0"/>
                <a:cs typeface="Verdana" pitchFamily="34" charset="0"/>
              </a:rPr>
              <a:t>Data entry is required specifies that an entry is required in the custom field during sample loading.  If this box is selected, the user cannot proceed with acquisition until a value for the field is entered.</a:t>
            </a:r>
            <a:br>
              <a:rPr lang="en-US" sz="1200" b="0" i="0" kern="1200" dirty="0">
                <a:solidFill>
                  <a:schemeClr val="tx1"/>
                </a:solidFill>
                <a:latin typeface="Verdana" pitchFamily="34" charset="0"/>
                <a:ea typeface="Verdana" pitchFamily="34" charset="0"/>
                <a:cs typeface="Verdana" pitchFamily="34" charset="0"/>
              </a:rPr>
            </a:br>
            <a:endParaRPr lang="en-US" sz="1200" b="0" i="0" kern="1200" dirty="0">
              <a:solidFill>
                <a:schemeClr val="tx1"/>
              </a:solidFill>
              <a:latin typeface="Verdana" pitchFamily="34" charset="0"/>
              <a:ea typeface="Verdana" pitchFamily="34" charset="0"/>
              <a:cs typeface="Verdana" pitchFamily="34" charset="0"/>
            </a:endParaRPr>
          </a:p>
          <a:p>
            <a:pPr marL="225425" marR="0" indent="-225425" algn="l" defTabSz="914400" rtl="0" eaLnBrk="1" fontAlgn="auto" latinLnBrk="0" hangingPunct="1">
              <a:lnSpc>
                <a:spcPct val="100000"/>
              </a:lnSpc>
              <a:spcBef>
                <a:spcPts val="0"/>
              </a:spcBef>
              <a:spcAft>
                <a:spcPts val="0"/>
              </a:spcAft>
              <a:buClr>
                <a:srgbClr val="0070C0"/>
              </a:buClr>
              <a:buSzTx/>
              <a:buFont typeface="Wingdings 2" pitchFamily="18" charset="2"/>
              <a:buChar char="¡"/>
              <a:tabLst/>
              <a:defRPr/>
            </a:pPr>
            <a:r>
              <a:rPr lang="en-US" sz="1200" b="0" i="0" kern="1200" dirty="0">
                <a:solidFill>
                  <a:schemeClr val="tx1"/>
                </a:solidFill>
                <a:latin typeface="Verdana" pitchFamily="34" charset="0"/>
                <a:ea typeface="Verdana" pitchFamily="34" charset="0"/>
                <a:cs typeface="Verdana" pitchFamily="34" charset="0"/>
              </a:rPr>
              <a:t>The Default Value allows you to specify a value that will automatically appear in this field.</a:t>
            </a:r>
          </a:p>
          <a:p>
            <a:pPr marL="225425" marR="0" indent="-225425" algn="l" defTabSz="914400" rtl="0" eaLnBrk="1" fontAlgn="auto" latinLnBrk="0" hangingPunct="1">
              <a:lnSpc>
                <a:spcPct val="100000"/>
              </a:lnSpc>
              <a:spcBef>
                <a:spcPts val="0"/>
              </a:spcBef>
              <a:spcAft>
                <a:spcPts val="0"/>
              </a:spcAft>
              <a:buClr>
                <a:srgbClr val="0070C0"/>
              </a:buClr>
              <a:buSzTx/>
              <a:buFont typeface="Wingdings 2" pitchFamily="18" charset="2"/>
              <a:buChar char="¡"/>
              <a:tabLst/>
              <a:defRPr/>
            </a:pPr>
            <a:endParaRPr lang="en-US" sz="1200" kern="1200" dirty="0">
              <a:solidFill>
                <a:schemeClr val="tx1"/>
              </a:solidFill>
              <a:latin typeface="Verdana" pitchFamily="34" charset="0"/>
              <a:ea typeface="Verdana" pitchFamily="34" charset="0"/>
              <a:cs typeface="Verdana" pitchFamily="34" charset="0"/>
            </a:endParaRPr>
          </a:p>
          <a:p>
            <a:pPr eaLnBrk="1" hangingPunct="1"/>
            <a:endParaRPr lang="en-US"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48</a:t>
            </a:fld>
            <a:r>
              <a:rPr lang="en-US"/>
              <a:t> of 88</a:t>
            </a:r>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type="dt" sz="quarter" idx="1"/>
          </p:nvPr>
        </p:nvSpPr>
        <p:spPr>
          <a:noFill/>
        </p:spPr>
        <p:txBody>
          <a:bodyPr/>
          <a:lstStyle/>
          <a:p>
            <a:r>
              <a:rPr lang="en-US"/>
              <a:t>Introduction to Custom Fields</a:t>
            </a:r>
          </a:p>
        </p:txBody>
      </p:sp>
      <p:sp>
        <p:nvSpPr>
          <p:cNvPr id="79876" name="Rectangle 2"/>
          <p:cNvSpPr>
            <a:spLocks noGrp="1" noRot="1" noChangeAspect="1" noChangeArrowheads="1" noTextEdit="1"/>
          </p:cNvSpPr>
          <p:nvPr>
            <p:ph type="sldImg"/>
          </p:nvPr>
        </p:nvSpPr>
        <p:spPr>
          <a:xfrm>
            <a:off x="917575" y="744538"/>
            <a:ext cx="4962525" cy="3722687"/>
          </a:xfrm>
          <a:ln/>
        </p:spPr>
      </p:sp>
      <p:sp>
        <p:nvSpPr>
          <p:cNvPr id="79877" name="Rectangle 3"/>
          <p:cNvSpPr>
            <a:spLocks noGrp="1" noChangeArrowheads="1"/>
          </p:cNvSpPr>
          <p:nvPr>
            <p:ph type="body" idx="1"/>
          </p:nvPr>
        </p:nvSpPr>
        <p:spPr>
          <a:noFill/>
          <a:ln/>
        </p:spPr>
        <p:txBody>
          <a:bodyPr/>
          <a:lstStyle/>
          <a:p>
            <a:pPr algn="ctr" eaLnBrk="1" hangingPunct="1">
              <a:buNone/>
            </a:pPr>
            <a:r>
              <a:rPr lang="en-US" b="1" i="1" dirty="0"/>
              <a:t>Sample Type/Peak Type</a:t>
            </a:r>
            <a:br>
              <a:rPr lang="en-US" b="1" i="1" dirty="0"/>
            </a:br>
            <a:endParaRPr lang="en-US" b="1" i="1" dirty="0"/>
          </a:p>
          <a:p>
            <a:pPr algn="l">
              <a:buSzPct val="150000"/>
              <a:buFont typeface="Wingdings" pitchFamily="2" charset="2"/>
              <a:buChar char="§"/>
            </a:pPr>
            <a:r>
              <a:rPr lang="en-US" b="0" i="0" dirty="0"/>
              <a:t>You can restrict</a:t>
            </a:r>
            <a:r>
              <a:rPr lang="en-US" b="0" i="0" baseline="0" dirty="0"/>
              <a:t> custom fields to be </a:t>
            </a:r>
            <a:r>
              <a:rPr lang="en-US" b="0" i="0" dirty="0"/>
              <a:t>calculated only </a:t>
            </a:r>
            <a:r>
              <a:rPr lang="en-US" b="0" i="0" baseline="0" dirty="0"/>
              <a:t>for specific types of samples and or specific types of peaks.</a:t>
            </a:r>
            <a:endParaRPr lang="en-US" b="0" i="0"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49</a:t>
            </a:fld>
            <a:r>
              <a:rPr lang="en-US"/>
              <a:t> of 88</a:t>
            </a:r>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type="dt" sz="quarter" idx="1"/>
          </p:nvPr>
        </p:nvSpPr>
        <p:spPr>
          <a:noFill/>
        </p:spPr>
        <p:txBody>
          <a:bodyPr/>
          <a:lstStyle/>
          <a:p>
            <a:r>
              <a:rPr lang="en-US"/>
              <a:t>Introduction to Custom Fields</a:t>
            </a:r>
          </a:p>
        </p:txBody>
      </p:sp>
      <p:sp>
        <p:nvSpPr>
          <p:cNvPr id="80900" name="Rectangle 2"/>
          <p:cNvSpPr>
            <a:spLocks noGrp="1" noRot="1" noChangeAspect="1" noChangeArrowheads="1" noTextEdit="1"/>
          </p:cNvSpPr>
          <p:nvPr>
            <p:ph type="sldImg"/>
          </p:nvPr>
        </p:nvSpPr>
        <p:spPr>
          <a:xfrm>
            <a:off x="920750" y="742950"/>
            <a:ext cx="4967288" cy="3725863"/>
          </a:xfrm>
          <a:ln/>
        </p:spPr>
      </p:sp>
      <p:sp>
        <p:nvSpPr>
          <p:cNvPr id="80901" name="Rectangle 3"/>
          <p:cNvSpPr>
            <a:spLocks noGrp="1" noChangeArrowheads="1"/>
          </p:cNvSpPr>
          <p:nvPr>
            <p:ph type="body" idx="1"/>
          </p:nvPr>
        </p:nvSpPr>
        <p:spPr>
          <a:xfrm>
            <a:off x="906463" y="4714876"/>
            <a:ext cx="4984750" cy="2528888"/>
          </a:xfrm>
          <a:noFill/>
          <a:ln/>
        </p:spPr>
        <p:txBody>
          <a:bodyPr/>
          <a:lstStyle/>
          <a:p>
            <a:pPr algn="ctr" eaLnBrk="1" hangingPunct="1">
              <a:buNone/>
            </a:pPr>
            <a:r>
              <a:rPr lang="en-US" b="1" i="1" dirty="0"/>
              <a:t>Sample Type</a:t>
            </a:r>
            <a:br>
              <a:rPr lang="en-US" b="1" i="1" dirty="0"/>
            </a:br>
            <a:endParaRPr lang="en-US" b="1" i="1" dirty="0"/>
          </a:p>
          <a:p>
            <a:pPr algn="l" eaLnBrk="1" hangingPunct="1">
              <a:buSzPct val="150000"/>
              <a:buFont typeface="Wingdings" pitchFamily="2" charset="2"/>
              <a:buChar char="§"/>
            </a:pPr>
            <a:r>
              <a:rPr lang="en-US" b="0" i="0" dirty="0"/>
              <a:t>You can restrict the calculation to only Standards, Samples or Controls or combination of these</a:t>
            </a:r>
            <a:r>
              <a:rPr lang="en-US" b="0" i="0" baseline="0" dirty="0"/>
              <a:t> sample types.</a:t>
            </a:r>
            <a:endParaRPr lang="en-US" b="0" i="0"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50</a:t>
            </a:fld>
            <a:r>
              <a:rPr lang="en-US"/>
              <a:t> of 88</a:t>
            </a:r>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dt" sz="quarter" idx="1"/>
          </p:nvPr>
        </p:nvSpPr>
        <p:spPr>
          <a:noFill/>
        </p:spPr>
        <p:txBody>
          <a:bodyPr/>
          <a:lstStyle/>
          <a:p>
            <a:r>
              <a:rPr lang="en-US"/>
              <a:t>Introduction to Custom Fields</a:t>
            </a:r>
          </a:p>
        </p:txBody>
      </p:sp>
      <p:sp>
        <p:nvSpPr>
          <p:cNvPr id="81924" name="Rectangle 2"/>
          <p:cNvSpPr>
            <a:spLocks noGrp="1" noRot="1" noChangeAspect="1" noChangeArrowheads="1" noTextEdit="1"/>
          </p:cNvSpPr>
          <p:nvPr>
            <p:ph type="sldImg"/>
          </p:nvPr>
        </p:nvSpPr>
        <p:spPr>
          <a:xfrm>
            <a:off x="920750" y="742950"/>
            <a:ext cx="4967288" cy="3725863"/>
          </a:xfrm>
          <a:ln/>
        </p:spPr>
      </p:sp>
      <p:sp>
        <p:nvSpPr>
          <p:cNvPr id="81925" name="Rectangle 3"/>
          <p:cNvSpPr>
            <a:spLocks noGrp="1" noChangeArrowheads="1"/>
          </p:cNvSpPr>
          <p:nvPr>
            <p:ph type="body" idx="1"/>
          </p:nvPr>
        </p:nvSpPr>
        <p:spPr>
          <a:xfrm>
            <a:off x="906463" y="4714876"/>
            <a:ext cx="4984750" cy="2528888"/>
          </a:xfrm>
          <a:noFill/>
          <a:ln/>
        </p:spPr>
        <p:txBody>
          <a:bodyPr/>
          <a:lstStyle/>
          <a:p>
            <a:pPr algn="ctr" eaLnBrk="1" hangingPunct="1">
              <a:buNone/>
            </a:pPr>
            <a:r>
              <a:rPr lang="en-US" b="1" i="1" dirty="0"/>
              <a:t>Peak</a:t>
            </a:r>
            <a:r>
              <a:rPr lang="en-US" b="1" i="1" baseline="0" dirty="0"/>
              <a:t> </a:t>
            </a:r>
            <a:r>
              <a:rPr lang="en-US" b="1" i="1" dirty="0"/>
              <a:t>Type</a:t>
            </a:r>
            <a:br>
              <a:rPr lang="en-US" b="1" i="1" dirty="0"/>
            </a:br>
            <a:endParaRPr lang="en-US" b="1" i="1" dirty="0"/>
          </a:p>
          <a:p>
            <a:pPr algn="l" eaLnBrk="1" hangingPunct="1">
              <a:buSzPct val="150000"/>
              <a:buFont typeface="Wingdings" pitchFamily="2" charset="2"/>
              <a:buChar char="§"/>
            </a:pPr>
            <a:r>
              <a:rPr lang="en-US" b="0" i="0" dirty="0"/>
              <a:t>You can restrict the calculation to only Founds,</a:t>
            </a:r>
            <a:r>
              <a:rPr lang="en-US" b="0" i="0" baseline="0" dirty="0"/>
              <a:t> Unknowns</a:t>
            </a:r>
            <a:r>
              <a:rPr lang="en-US" b="0" i="0" dirty="0"/>
              <a:t> or Groups or combination of these</a:t>
            </a:r>
            <a:r>
              <a:rPr lang="en-US" b="0" i="0" baseline="0" dirty="0"/>
              <a:t> peak types.</a:t>
            </a:r>
            <a:endParaRPr lang="en-US" b="0" i="0" dirty="0"/>
          </a:p>
          <a:p>
            <a:pPr eaLnBrk="1" hangingPunct="1"/>
            <a:endParaRPr lang="en-US"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51</a:t>
            </a:fld>
            <a:r>
              <a:rPr lang="en-US"/>
              <a:t> of 88</a:t>
            </a:r>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type="dt" sz="quarter" idx="1"/>
          </p:nvPr>
        </p:nvSpPr>
        <p:spPr>
          <a:noFill/>
        </p:spPr>
        <p:txBody>
          <a:bodyPr/>
          <a:lstStyle/>
          <a:p>
            <a:r>
              <a:rPr lang="en-US"/>
              <a:t>Introduction to Custom Fields</a:t>
            </a:r>
          </a:p>
        </p:txBody>
      </p:sp>
      <p:sp>
        <p:nvSpPr>
          <p:cNvPr id="82948" name="Rectangle 2"/>
          <p:cNvSpPr>
            <a:spLocks noGrp="1" noRot="1" noChangeAspect="1" noChangeArrowheads="1" noTextEdit="1"/>
          </p:cNvSpPr>
          <p:nvPr>
            <p:ph type="sldImg"/>
          </p:nvPr>
        </p:nvSpPr>
        <p:spPr>
          <a:xfrm>
            <a:off x="917575" y="744538"/>
            <a:ext cx="4962525" cy="3722687"/>
          </a:xfrm>
          <a:ln/>
        </p:spPr>
      </p:sp>
      <p:sp>
        <p:nvSpPr>
          <p:cNvPr id="82949" name="Rectangle 3"/>
          <p:cNvSpPr>
            <a:spLocks noGrp="1" noChangeArrowheads="1"/>
          </p:cNvSpPr>
          <p:nvPr>
            <p:ph type="body" idx="1"/>
          </p:nvPr>
        </p:nvSpPr>
        <p:spPr>
          <a:noFill/>
          <a:ln/>
        </p:spPr>
        <p:txBody>
          <a:bodyPr>
            <a:normAutofit fontScale="92500" lnSpcReduction="20000"/>
          </a:bodyPr>
          <a:lstStyle/>
          <a:p>
            <a:pPr marL="173362" indent="-173362" algn="ctr" defTabSz="929996">
              <a:spcBef>
                <a:spcPct val="30000"/>
              </a:spcBef>
              <a:buClr>
                <a:srgbClr val="3874D4"/>
              </a:buClr>
              <a:buNone/>
            </a:pPr>
            <a:r>
              <a:rPr lang="en-US" sz="1200" b="1" i="1" dirty="0">
                <a:solidFill>
                  <a:srgbClr val="000000"/>
                </a:solidFill>
              </a:rPr>
              <a:t>Calculation, Formula Entry</a:t>
            </a:r>
          </a:p>
          <a:p>
            <a:pPr marL="173362" indent="-173362" algn="ctr" defTabSz="929996">
              <a:spcBef>
                <a:spcPct val="30000"/>
              </a:spcBef>
              <a:buClr>
                <a:srgbClr val="3874D4"/>
              </a:buClr>
              <a:buNone/>
            </a:pPr>
            <a:endParaRPr lang="en-US" sz="1200" b="1" i="1" dirty="0">
              <a:solidFill>
                <a:srgbClr val="000000"/>
              </a:solidFill>
            </a:endParaRPr>
          </a:p>
          <a:p>
            <a:pPr marL="173362" indent="-173362" algn="l" defTabSz="929996">
              <a:spcBef>
                <a:spcPct val="30000"/>
              </a:spcBef>
              <a:buClr>
                <a:srgbClr val="3874D4"/>
              </a:buClr>
              <a:buSzPct val="150000"/>
              <a:buFont typeface="Wingdings" pitchFamily="2" charset="2"/>
              <a:buChar char="§"/>
            </a:pPr>
            <a:r>
              <a:rPr lang="en-US" sz="1200" b="0" i="0" dirty="0">
                <a:solidFill>
                  <a:srgbClr val="000000"/>
                </a:solidFill>
              </a:rPr>
              <a:t>If the custom fields is calculated the next step of the wizard is to enter the formula.</a:t>
            </a:r>
            <a:br>
              <a:rPr lang="en-US" sz="1200" b="0" i="0" dirty="0">
                <a:solidFill>
                  <a:srgbClr val="000000"/>
                </a:solidFill>
              </a:rPr>
            </a:br>
            <a:endParaRPr lang="en-US" sz="1200" b="0" i="0" dirty="0">
              <a:solidFill>
                <a:srgbClr val="000000"/>
              </a:solidFill>
            </a:endParaRPr>
          </a:p>
          <a:p>
            <a:pPr marL="173362" indent="-173362" algn="l" defTabSz="929996">
              <a:spcBef>
                <a:spcPct val="30000"/>
              </a:spcBef>
              <a:buClr>
                <a:srgbClr val="3874D4"/>
              </a:buClr>
              <a:buSzPct val="150000"/>
              <a:buFont typeface="Wingdings" pitchFamily="2" charset="2"/>
              <a:buChar char="§"/>
            </a:pPr>
            <a:r>
              <a:rPr lang="en-US" sz="1200" b="0" i="0" dirty="0">
                <a:solidFill>
                  <a:srgbClr val="000000"/>
                </a:solidFill>
              </a:rPr>
              <a:t>Create the formula by selecting the fields from the fields list, and the mathematical</a:t>
            </a:r>
            <a:r>
              <a:rPr lang="en-US" sz="1200" b="0" i="0" baseline="0" dirty="0">
                <a:solidFill>
                  <a:srgbClr val="000000"/>
                </a:solidFill>
              </a:rPr>
              <a:t> functions from the operations list. You can type in the formula but you must spell exactly as spelled in the fields/operations list, so it is best to avoid typing in.</a:t>
            </a:r>
            <a:br>
              <a:rPr lang="en-US" sz="1200" b="1" i="1" dirty="0">
                <a:solidFill>
                  <a:srgbClr val="000000"/>
                </a:solidFill>
              </a:rPr>
            </a:br>
            <a:endParaRPr lang="en-US" sz="1200" b="1" i="1" dirty="0">
              <a:solidFill>
                <a:srgbClr val="000000"/>
              </a:solidFill>
            </a:endParaRPr>
          </a:p>
          <a:p>
            <a:pPr marL="173362" indent="-173362" algn="l" defTabSz="929996">
              <a:spcBef>
                <a:spcPct val="30000"/>
              </a:spcBef>
              <a:buClr>
                <a:srgbClr val="3874D4"/>
              </a:buClr>
              <a:buSzPct val="150000"/>
              <a:buFont typeface="Wingdings" pitchFamily="2" charset="2"/>
              <a:buChar char="§"/>
            </a:pPr>
            <a:r>
              <a:rPr lang="en-US" sz="1200" b="1" i="1" dirty="0">
                <a:solidFill>
                  <a:srgbClr val="000000"/>
                </a:solidFill>
              </a:rPr>
              <a:t>Calculation Guidelines:</a:t>
            </a:r>
          </a:p>
          <a:p>
            <a:pPr marL="405137" lvl="1" indent="-173362" defTabSz="929996">
              <a:spcBef>
                <a:spcPct val="30000"/>
              </a:spcBef>
              <a:buClr>
                <a:srgbClr val="3874D4"/>
              </a:buClr>
              <a:buFont typeface="Verdana" pitchFamily="34" charset="0"/>
              <a:buChar char="–"/>
            </a:pPr>
            <a:r>
              <a:rPr lang="en-US" sz="1200" dirty="0">
                <a:solidFill>
                  <a:srgbClr val="000000"/>
                </a:solidFill>
              </a:rPr>
              <a:t>Evaluation is done left to right.</a:t>
            </a:r>
          </a:p>
          <a:p>
            <a:pPr marL="405137" lvl="1" indent="-173362" defTabSz="929996">
              <a:spcBef>
                <a:spcPct val="30000"/>
              </a:spcBef>
              <a:buClr>
                <a:srgbClr val="3874D4"/>
              </a:buClr>
              <a:buFont typeface="Verdana" pitchFamily="34" charset="0"/>
              <a:buChar char="–"/>
            </a:pPr>
            <a:r>
              <a:rPr lang="en-US" sz="1200" dirty="0">
                <a:solidFill>
                  <a:srgbClr val="000000"/>
                </a:solidFill>
              </a:rPr>
              <a:t>Sequence precedence for basic mathematical operators is exponent, multiply, divide, add, subtract (**, *, /, +, –).</a:t>
            </a:r>
          </a:p>
          <a:p>
            <a:pPr marL="405137" lvl="1" indent="-173362" defTabSz="929996">
              <a:spcBef>
                <a:spcPct val="30000"/>
              </a:spcBef>
              <a:buClr>
                <a:srgbClr val="3874D4"/>
              </a:buClr>
              <a:buFont typeface="Verdana" pitchFamily="34" charset="0"/>
              <a:buChar char="–"/>
            </a:pPr>
            <a:r>
              <a:rPr lang="en-US" sz="1200" dirty="0">
                <a:solidFill>
                  <a:srgbClr val="000000"/>
                </a:solidFill>
              </a:rPr>
              <a:t>Sub expressions are specified in an expression with parentheses ( ), which must be matched. Any depth of nested sub-expressions is allowed. For ease of use and simplicity, Waters recommends that you avoid specifying more than eight levels of sub-expressions.</a:t>
            </a:r>
          </a:p>
          <a:p>
            <a:pPr marL="405137" lvl="1" indent="-173362" defTabSz="929996">
              <a:spcBef>
                <a:spcPct val="30000"/>
              </a:spcBef>
              <a:buClr>
                <a:srgbClr val="3874D4"/>
              </a:buClr>
              <a:buFont typeface="Verdana" pitchFamily="34" charset="0"/>
              <a:buChar char="–"/>
            </a:pPr>
            <a:r>
              <a:rPr lang="en-US" sz="1200" dirty="0">
                <a:solidFill>
                  <a:srgbClr val="000000"/>
                </a:solidFill>
              </a:rPr>
              <a:t>The Precision limit parameter must be of a sufficient value to display the calculated result.</a:t>
            </a:r>
          </a:p>
          <a:p>
            <a:pPr marL="405137" lvl="1" indent="-173362" defTabSz="929996">
              <a:spcBef>
                <a:spcPct val="30000"/>
              </a:spcBef>
              <a:buClr>
                <a:srgbClr val="3874D4"/>
              </a:buClr>
              <a:buFont typeface="Verdana" pitchFamily="34" charset="0"/>
              <a:buChar char="–"/>
            </a:pPr>
            <a:r>
              <a:rPr lang="en-US" sz="1200" dirty="0">
                <a:solidFill>
                  <a:srgbClr val="000000"/>
                </a:solidFill>
              </a:rPr>
              <a:t>All functions require field name variables be in parentheses (), not brackets [].  </a:t>
            </a:r>
          </a:p>
          <a:p>
            <a:pPr marL="405137" lvl="1" indent="-173362" defTabSz="929996">
              <a:spcBef>
                <a:spcPct val="30000"/>
              </a:spcBef>
              <a:buClr>
                <a:srgbClr val="3874D4"/>
              </a:buClr>
              <a:buFont typeface="Verdana" pitchFamily="34" charset="0"/>
              <a:buChar char="–"/>
            </a:pPr>
            <a:r>
              <a:rPr lang="en-US" sz="1200" dirty="0">
                <a:solidFill>
                  <a:srgbClr val="000000"/>
                </a:solidFill>
              </a:rPr>
              <a:t>Use brackets [] when referencing a specific peak or component field directly or with the CCalRef1 and CCompRef1, CCompRef2, and CCompRef3 peak fields. For example, in CCalRef1[Area], the field name must be enclosed in square brackets.</a:t>
            </a:r>
          </a:p>
          <a:p>
            <a:pPr eaLnBrk="1" hangingPunct="1"/>
            <a:endParaRPr lang="en-US" dirty="0"/>
          </a:p>
        </p:txBody>
      </p:sp>
      <p:sp>
        <p:nvSpPr>
          <p:cNvPr id="9" name="Slide Number Placeholder 8"/>
          <p:cNvSpPr>
            <a:spLocks noGrp="1"/>
          </p:cNvSpPr>
          <p:nvPr>
            <p:ph type="sldNum" sz="quarter" idx="10"/>
          </p:nvPr>
        </p:nvSpPr>
        <p:spPr/>
        <p:txBody>
          <a:bodyPr/>
          <a:lstStyle/>
          <a:p>
            <a:r>
              <a:rPr lang="en-US" b="1"/>
              <a:t>Chapter One</a:t>
            </a:r>
            <a:r>
              <a:rPr lang="en-US"/>
              <a:t>: Page </a:t>
            </a:r>
            <a:fld id="{3242409A-B053-4208-A245-A8F1D7E49324}" type="slidenum">
              <a:rPr lang="en-US" smtClean="0"/>
              <a:pPr/>
              <a:t>52</a:t>
            </a:fld>
            <a:r>
              <a:rPr lang="en-US"/>
              <a:t> of 88</a:t>
            </a:r>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Date Placeholder 3"/>
          <p:cNvSpPr>
            <a:spLocks noGrp="1"/>
          </p:cNvSpPr>
          <p:nvPr>
            <p:ph type="dt" idx="10"/>
          </p:nvPr>
        </p:nvSpPr>
        <p:spPr/>
        <p:txBody>
          <a:bodyPr/>
          <a:lstStyle/>
          <a:p>
            <a:r>
              <a:rPr lang="en-US"/>
              <a:t>Custom Fields</a:t>
            </a:r>
            <a:endParaRPr lang="en-US" dirty="0"/>
          </a:p>
        </p:txBody>
      </p:sp>
      <p:sp>
        <p:nvSpPr>
          <p:cNvPr id="5" name="Footer Placeholder 4"/>
          <p:cNvSpPr>
            <a:spLocks noGrp="1"/>
          </p:cNvSpPr>
          <p:nvPr>
            <p:ph type="ftr" sz="quarter" idx="11"/>
          </p:nvPr>
        </p:nvSpPr>
        <p:spPr/>
        <p:txBody>
          <a:bodyPr/>
          <a:lstStyle/>
          <a:p>
            <a:r>
              <a:rPr lang="en-US"/>
              <a:t>Rev. 24011</a:t>
            </a:r>
            <a:endParaRPr lang="en-US" dirty="0"/>
          </a:p>
        </p:txBody>
      </p:sp>
      <p:sp>
        <p:nvSpPr>
          <p:cNvPr id="6" name="Slide Number Placeholder 5"/>
          <p:cNvSpPr>
            <a:spLocks noGrp="1"/>
          </p:cNvSpPr>
          <p:nvPr>
            <p:ph type="sldNum" sz="quarter" idx="12"/>
          </p:nvPr>
        </p:nvSpPr>
        <p:spPr/>
        <p:txBody>
          <a:bodyPr/>
          <a:lstStyle/>
          <a:p>
            <a:r>
              <a:rPr lang="en-US"/>
              <a:t>Page </a:t>
            </a:r>
            <a:fld id="{3242409A-B053-4208-A245-A8F1D7E49324}" type="slidenum">
              <a:rPr lang="en-US" smtClean="0"/>
              <a:pPr/>
              <a:t>53</a:t>
            </a:fld>
            <a:r>
              <a:rPr lang="en-US"/>
              <a:t> of 81</a:t>
            </a:r>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a:noFill/>
          <a:ln/>
        </p:spPr>
        <p:txBody>
          <a:bodyPr/>
          <a:lstStyle/>
          <a:p>
            <a:pPr algn="ctr">
              <a:buFont typeface="Calibri" pitchFamily="34" charset="0"/>
              <a:buNone/>
            </a:pPr>
            <a:r>
              <a:rPr lang="en-US" b="1" i="1" dirty="0"/>
              <a:t>Creating Custom Fields</a:t>
            </a:r>
            <a:br>
              <a:rPr lang="en-US" b="1" i="1" dirty="0"/>
            </a:br>
            <a:endParaRPr lang="en-US" b="1" i="1" dirty="0"/>
          </a:p>
          <a:p>
            <a:pPr marL="228600" indent="-228600" algn="l">
              <a:buFont typeface="+mj-lt"/>
              <a:buAutoNum type="arabicPeriod" startAt="2"/>
            </a:pPr>
            <a:r>
              <a:rPr lang="en-US" b="0" i="0" dirty="0"/>
              <a:t> Select Projects on the Configuration Manager tree.</a:t>
            </a:r>
          </a:p>
          <a:p>
            <a:pPr marL="220348" indent="-220348" algn="l">
              <a:buFontTx/>
              <a:buAutoNum type="arabicPeriod" startAt="2"/>
            </a:pPr>
            <a:r>
              <a:rPr lang="en-US" b="0" i="0" dirty="0"/>
              <a:t> Highlight the Project Name of interest.</a:t>
            </a:r>
          </a:p>
          <a:p>
            <a:pPr marL="220348" indent="-220348" algn="l">
              <a:buFontTx/>
              <a:buAutoNum type="arabicPeriod" startAt="2"/>
            </a:pPr>
            <a:r>
              <a:rPr lang="en-US" b="0" i="0" dirty="0"/>
              <a:t> Right-click.</a:t>
            </a:r>
          </a:p>
          <a:p>
            <a:pPr marL="220348" indent="-220348" algn="l">
              <a:buFontTx/>
              <a:buAutoNum type="arabicPeriod" startAt="2"/>
            </a:pPr>
            <a:r>
              <a:rPr lang="en-US" b="0" i="0" dirty="0"/>
              <a:t> Select Properties.</a:t>
            </a:r>
          </a:p>
          <a:p>
            <a:pPr marL="220348" indent="-220348" algn="ctr"/>
            <a:endParaRPr lang="en-US" dirty="0"/>
          </a:p>
          <a:p>
            <a:pPr marL="220348" indent="-220348" algn="ctr"/>
            <a:endParaRPr lang="en-US" dirty="0"/>
          </a:p>
          <a:p>
            <a:pPr marL="220348" indent="-220348" algn="ctr"/>
            <a:endParaRPr lang="en-US" dirty="0"/>
          </a:p>
        </p:txBody>
      </p:sp>
      <p:sp>
        <p:nvSpPr>
          <p:cNvPr id="115716"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9" name="Date Placeholder 8"/>
          <p:cNvSpPr>
            <a:spLocks noGrp="1"/>
          </p:cNvSpPr>
          <p:nvPr>
            <p:ph type="dt" idx="10"/>
          </p:nvPr>
        </p:nvSpPr>
        <p:spPr/>
        <p:txBody>
          <a:bodyPr/>
          <a:lstStyle/>
          <a:p>
            <a:r>
              <a:rPr lang="en-US" dirty="0"/>
              <a:t>Custom Fields</a:t>
            </a:r>
          </a:p>
        </p:txBody>
      </p:sp>
      <p:sp>
        <p:nvSpPr>
          <p:cNvPr id="13" name="Slide Number Placeholder 12"/>
          <p:cNvSpPr>
            <a:spLocks noGrp="1"/>
          </p:cNvSpPr>
          <p:nvPr>
            <p:ph type="sldNum" sz="quarter" idx="11"/>
          </p:nvPr>
        </p:nvSpPr>
        <p:spPr/>
        <p:txBody>
          <a:bodyPr/>
          <a:lstStyle/>
          <a:p>
            <a:r>
              <a:rPr lang="en-US" dirty="0"/>
              <a:t>Page </a:t>
            </a:r>
            <a:fld id="{3242409A-B053-4208-A245-A8F1D7E49324}" type="slidenum">
              <a:rPr lang="en-US" smtClean="0"/>
              <a:pPr/>
              <a:t>56</a:t>
            </a:fld>
            <a:r>
              <a:rPr lang="en-US" dirty="0"/>
              <a:t> of 81</a:t>
            </a:r>
          </a:p>
        </p:txBody>
      </p:sp>
      <p:sp>
        <p:nvSpPr>
          <p:cNvPr id="14" name="Footer Placeholder 13"/>
          <p:cNvSpPr>
            <a:spLocks noGrp="1"/>
          </p:cNvSpPr>
          <p:nvPr>
            <p:ph type="ftr" sz="quarter" idx="12"/>
          </p:nvPr>
        </p:nvSpPr>
        <p:spPr/>
        <p:txBody>
          <a:bodyPr/>
          <a:lstStyle/>
          <a:p>
            <a:r>
              <a:rPr lang="en-US" dirty="0"/>
              <a:t>Rev. 24011</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a:noFill/>
          <a:ln/>
        </p:spPr>
        <p:txBody>
          <a:bodyPr/>
          <a:lstStyle/>
          <a:p>
            <a:pPr>
              <a:buFont typeface="Calibri" pitchFamily="34" charset="0"/>
              <a:buAutoNum type="arabicPeriod" startAt="5"/>
            </a:pPr>
            <a:r>
              <a:rPr lang="en-US" dirty="0"/>
              <a:t>Select the </a:t>
            </a:r>
            <a:r>
              <a:rPr lang="en-US" b="1" dirty="0"/>
              <a:t>Custom Fields </a:t>
            </a:r>
            <a:r>
              <a:rPr lang="en-US" dirty="0"/>
              <a:t>tab of the Project properties.</a:t>
            </a:r>
          </a:p>
        </p:txBody>
      </p:sp>
      <p:sp>
        <p:nvSpPr>
          <p:cNvPr id="116740"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57</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a:noFill/>
          <a:ln/>
        </p:spPr>
        <p:txBody>
          <a:bodyPr/>
          <a:lstStyle/>
          <a:p>
            <a:r>
              <a:rPr lang="en-US" dirty="0"/>
              <a:t>There are several options for Custom Fields in the Project properties.</a:t>
            </a:r>
          </a:p>
        </p:txBody>
      </p:sp>
      <p:sp>
        <p:nvSpPr>
          <p:cNvPr id="117764"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58</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18787"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a:lnSpc>
                <a:spcPct val="150000"/>
              </a:lnSpc>
            </a:pPr>
            <a:r>
              <a:rPr lang="en-US" b="1" dirty="0"/>
              <a:t>Create</a:t>
            </a:r>
            <a:r>
              <a:rPr lang="en-US" dirty="0"/>
              <a:t> a new </a:t>
            </a:r>
            <a:r>
              <a:rPr lang="en-US" b="1" dirty="0"/>
              <a:t>Sample Type</a:t>
            </a:r>
            <a:r>
              <a:rPr lang="en-US" dirty="0"/>
              <a:t> custom field for </a:t>
            </a:r>
            <a:r>
              <a:rPr lang="en-US" b="1" dirty="0"/>
              <a:t>Lot_Number.</a:t>
            </a:r>
          </a:p>
          <a:p>
            <a:pPr lvl="1">
              <a:lnSpc>
                <a:spcPct val="150000"/>
              </a:lnSpc>
            </a:pPr>
            <a:r>
              <a:rPr lang="en-US" b="1" dirty="0"/>
              <a:t>Why Sample Type?  </a:t>
            </a:r>
            <a:r>
              <a:rPr lang="en-US" dirty="0"/>
              <a:t>The information could be different for each sample.</a:t>
            </a:r>
          </a:p>
          <a:p>
            <a:pPr lvl="1">
              <a:lnSpc>
                <a:spcPct val="150000"/>
              </a:lnSpc>
            </a:pPr>
            <a:r>
              <a:rPr lang="en-US" b="1" dirty="0"/>
              <a:t>What is the Data Type?</a:t>
            </a:r>
          </a:p>
          <a:p>
            <a:endParaRPr lang="en-US" b="1" dirty="0"/>
          </a:p>
          <a:p>
            <a:endParaRPr lang="en-US" dirty="0"/>
          </a:p>
          <a:p>
            <a:endParaRPr lang="en-US" dirty="0"/>
          </a:p>
          <a:p>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59</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ln/>
        </p:spPr>
      </p:sp>
      <p:sp>
        <p:nvSpPr>
          <p:cNvPr id="734211" name="Rectangle 3"/>
          <p:cNvSpPr>
            <a:spLocks noGrp="1" noChangeArrowheads="1"/>
          </p:cNvSpPr>
          <p:nvPr>
            <p:ph type="body" idx="1"/>
          </p:nvPr>
        </p:nvSpPr>
        <p:spPr/>
        <p:txBody>
          <a:bodyPr/>
          <a:lstStyle/>
          <a:p>
            <a:pPr marL="220687" indent="-220687">
              <a:buNone/>
              <a:defRPr/>
            </a:pPr>
            <a:r>
              <a:rPr lang="en-US" b="1" dirty="0"/>
              <a:t>Create a new Sample Type custom field for LOT_NUMBER.</a:t>
            </a:r>
          </a:p>
          <a:p>
            <a:pPr marL="233309" indent="-233309">
              <a:buFont typeface="+mj-lt"/>
              <a:buAutoNum type="arabicPeriod"/>
              <a:defRPr/>
            </a:pPr>
            <a:r>
              <a:rPr lang="en-US" dirty="0"/>
              <a:t>Field Type: </a:t>
            </a:r>
            <a:r>
              <a:rPr lang="en-US" b="1" dirty="0"/>
              <a:t>Sample</a:t>
            </a:r>
          </a:p>
          <a:p>
            <a:pPr marL="233309" indent="-233309">
              <a:buFont typeface="+mj-lt"/>
              <a:buAutoNum type="arabicPeriod"/>
              <a:defRPr/>
            </a:pPr>
            <a:r>
              <a:rPr lang="en-US" dirty="0"/>
              <a:t>Data Type: </a:t>
            </a:r>
            <a:r>
              <a:rPr lang="en-US" b="1" dirty="0"/>
              <a:t>Text</a:t>
            </a:r>
          </a:p>
          <a:p>
            <a:pPr marL="233309" indent="-233309">
              <a:buFont typeface="+mj-lt"/>
              <a:buAutoNum type="arabicPeriod"/>
              <a:defRPr/>
            </a:pPr>
            <a:r>
              <a:rPr lang="en-US" dirty="0"/>
              <a:t>Click</a:t>
            </a:r>
            <a:r>
              <a:rPr lang="en-US" b="1" dirty="0"/>
              <a:t> Next.</a:t>
            </a:r>
          </a:p>
        </p:txBody>
      </p:sp>
      <p:sp>
        <p:nvSpPr>
          <p:cNvPr id="119812"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60</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pPr marL="233309" indent="-233309">
              <a:buFont typeface="+mj-lt"/>
              <a:buAutoNum type="arabicPeriod" startAt="4"/>
              <a:defRPr/>
            </a:pPr>
            <a:r>
              <a:rPr lang="en-US" dirty="0"/>
              <a:t>Data Source: Keyboard</a:t>
            </a:r>
          </a:p>
          <a:p>
            <a:pPr marL="457200" lvl="3">
              <a:buFont typeface="+mj-lt"/>
              <a:buAutoNum type="alphaLcPeriod"/>
              <a:defRPr/>
            </a:pPr>
            <a:r>
              <a:rPr lang="en-US" b="1" dirty="0"/>
              <a:t>Keyboard:</a:t>
            </a:r>
            <a:r>
              <a:rPr lang="en-US" dirty="0"/>
              <a:t>  Analyst enters information.</a:t>
            </a:r>
          </a:p>
          <a:p>
            <a:pPr marL="457200" lvl="3">
              <a:buFont typeface="+mj-lt"/>
              <a:buAutoNum type="alphaLcPeriod"/>
              <a:defRPr/>
            </a:pPr>
            <a:r>
              <a:rPr lang="en-US" b="1" dirty="0"/>
              <a:t>External:</a:t>
            </a:r>
            <a:r>
              <a:rPr lang="en-US" dirty="0"/>
              <a:t>  Value comes from another data source (ex. LIMS).</a:t>
            </a:r>
          </a:p>
          <a:p>
            <a:pPr marL="457200" lvl="3">
              <a:buFont typeface="+mj-lt"/>
              <a:buAutoNum type="alphaLcPeriod"/>
              <a:defRPr/>
            </a:pPr>
            <a:r>
              <a:rPr lang="en-US" b="1" dirty="0"/>
              <a:t>Calculated:</a:t>
            </a:r>
            <a:r>
              <a:rPr lang="en-US" dirty="0"/>
              <a:t>  Value is calculated by the software.</a:t>
            </a:r>
          </a:p>
          <a:p>
            <a:pPr marL="220687" indent="-220687">
              <a:buFontTx/>
              <a:buAutoNum type="arabicPeriod" startAt="5"/>
              <a:defRPr/>
            </a:pPr>
            <a:r>
              <a:rPr lang="en-US" dirty="0"/>
              <a:t>Data Entry Required:  Analyst cannot acquire data without entering value.</a:t>
            </a:r>
          </a:p>
          <a:p>
            <a:pPr marL="220687" indent="-220687">
              <a:buFontTx/>
              <a:buAutoNum type="arabicPeriod" startAt="5"/>
              <a:defRPr/>
            </a:pPr>
            <a:r>
              <a:rPr lang="en-US" dirty="0"/>
              <a:t>Default Value:  A value can be entered here and is automatically placed in the field.</a:t>
            </a:r>
          </a:p>
          <a:p>
            <a:pPr marL="220687" indent="-220687">
              <a:buFontTx/>
              <a:buAutoNum type="arabicPeriod" startAt="5"/>
              <a:defRPr/>
            </a:pPr>
            <a:r>
              <a:rPr lang="en-US" dirty="0"/>
              <a:t>Click </a:t>
            </a:r>
            <a:r>
              <a:rPr lang="en-US" b="1" dirty="0"/>
              <a:t>Next.</a:t>
            </a:r>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61</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ChangeArrowheads="1" noTextEdit="1"/>
          </p:cNvSpPr>
          <p:nvPr>
            <p:ph type="sldImg"/>
          </p:nvPr>
        </p:nvSpPr>
        <p:spPr>
          <a:ln/>
        </p:spPr>
      </p:sp>
      <p:sp>
        <p:nvSpPr>
          <p:cNvPr id="738307" name="Rectangle 3"/>
          <p:cNvSpPr>
            <a:spLocks noGrp="1" noChangeArrowheads="1"/>
          </p:cNvSpPr>
          <p:nvPr>
            <p:ph type="body" idx="1"/>
          </p:nvPr>
        </p:nvSpPr>
        <p:spPr>
          <a:xfrm>
            <a:off x="868592" y="4715154"/>
            <a:ext cx="5003844" cy="4466987"/>
          </a:xfrm>
        </p:spPr>
        <p:txBody>
          <a:bodyPr/>
          <a:lstStyle/>
          <a:p>
            <a:pPr>
              <a:buFont typeface="+mj-lt"/>
              <a:buAutoNum type="arabicPeriod" startAt="8"/>
              <a:defRPr/>
            </a:pPr>
            <a:r>
              <a:rPr lang="en-US" dirty="0"/>
              <a:t>Select the </a:t>
            </a:r>
            <a:r>
              <a:rPr lang="en-US" b="1" dirty="0"/>
              <a:t>character width for the new field.</a:t>
            </a:r>
          </a:p>
          <a:p>
            <a:pPr marL="463550" lvl="1">
              <a:buFont typeface="+mj-lt"/>
              <a:buAutoNum type="alphaLcPeriod"/>
              <a:defRPr/>
            </a:pPr>
            <a:r>
              <a:rPr lang="en-US" dirty="0"/>
              <a:t>Make sure you have allowed enough space for the field.</a:t>
            </a:r>
          </a:p>
          <a:p>
            <a:pPr marL="463550" lvl="1">
              <a:buFont typeface="+mj-lt"/>
              <a:buAutoNum type="alphaLcPeriod"/>
              <a:defRPr/>
            </a:pPr>
            <a:r>
              <a:rPr lang="en-US" dirty="0"/>
              <a:t>Limit the number of characters in order to help with the ease of data entry.</a:t>
            </a:r>
          </a:p>
          <a:p>
            <a:pPr marL="239790" indent="-233309">
              <a:buFont typeface="+mj-lt"/>
              <a:buAutoNum type="arabicPeriod" startAt="8"/>
              <a:defRPr/>
            </a:pPr>
            <a:r>
              <a:rPr lang="en-US" dirty="0"/>
              <a:t>Click </a:t>
            </a:r>
            <a:r>
              <a:rPr lang="en-US" b="1" dirty="0"/>
              <a:t>Next.</a:t>
            </a:r>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62</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a:noFill/>
          <a:ln/>
        </p:spPr>
        <p:txBody>
          <a:bodyPr/>
          <a:lstStyle/>
          <a:p>
            <a:pPr>
              <a:buFont typeface="Calibri" pitchFamily="34" charset="0"/>
              <a:buAutoNum type="arabicPeriod" startAt="10"/>
            </a:pPr>
            <a:r>
              <a:rPr lang="en-US" dirty="0"/>
              <a:t>Name the new field:  </a:t>
            </a:r>
            <a:r>
              <a:rPr lang="en-US" b="1" dirty="0"/>
              <a:t>Lot_Number</a:t>
            </a:r>
          </a:p>
          <a:p>
            <a:pPr marL="463550" lvl="1">
              <a:buFont typeface="Calibri" pitchFamily="34" charset="0"/>
              <a:buAutoNum type="alphaLcPeriod"/>
            </a:pPr>
            <a:r>
              <a:rPr lang="en-US" dirty="0"/>
              <a:t>Names must begin with a letter.</a:t>
            </a:r>
          </a:p>
          <a:p>
            <a:pPr marL="463550" lvl="1">
              <a:buFont typeface="Calibri" pitchFamily="34" charset="0"/>
              <a:buAutoNum type="alphaLcPeriod"/>
            </a:pPr>
            <a:r>
              <a:rPr lang="en-US" dirty="0"/>
              <a:t>No characters are allowed in custom field names.</a:t>
            </a:r>
          </a:p>
          <a:p>
            <a:pPr>
              <a:buFont typeface="Calibri" pitchFamily="34" charset="0"/>
              <a:buAutoNum type="arabicPeriod" startAt="10"/>
            </a:pPr>
            <a:r>
              <a:rPr lang="en-US" dirty="0"/>
              <a:t>Create this field in only </a:t>
            </a:r>
            <a:r>
              <a:rPr lang="en-US" b="1" dirty="0"/>
              <a:t>one</a:t>
            </a:r>
            <a:r>
              <a:rPr lang="en-US" dirty="0"/>
              <a:t> Project.</a:t>
            </a:r>
          </a:p>
          <a:p>
            <a:pPr marL="463550" lvl="1">
              <a:buFont typeface="Calibri" pitchFamily="34" charset="0"/>
              <a:buAutoNum type="alphaLcPeriod"/>
            </a:pPr>
            <a:r>
              <a:rPr lang="en-US" dirty="0"/>
              <a:t>It is possible to copy the field to other Projects after you have verified that it operates correctly.</a:t>
            </a:r>
          </a:p>
          <a:p>
            <a:pPr>
              <a:buFont typeface="Calibri" pitchFamily="34" charset="0"/>
              <a:buAutoNum type="arabicPeriod" startAt="10"/>
            </a:pPr>
            <a:r>
              <a:rPr lang="en-US" dirty="0"/>
              <a:t>Click </a:t>
            </a:r>
            <a:r>
              <a:rPr lang="en-US" b="1" dirty="0"/>
              <a:t>Finish.</a:t>
            </a:r>
          </a:p>
          <a:p>
            <a:pPr>
              <a:buNone/>
            </a:pPr>
            <a:endParaRPr lang="en-US" b="1" dirty="0"/>
          </a:p>
          <a:p>
            <a:pPr>
              <a:buFont typeface="Wingdings 2" pitchFamily="18" charset="2"/>
              <a:buNone/>
            </a:pPr>
            <a:r>
              <a:rPr lang="en-US" b="1" i="1" dirty="0"/>
              <a:t>Tip:</a:t>
            </a:r>
            <a:r>
              <a:rPr lang="en-US" i="1" dirty="0"/>
              <a:t> You will get a warning message indicating that if the Project is open, it will need to be closed and Empower will need to be restarted in order for the new field to be available.</a:t>
            </a:r>
          </a:p>
          <a:p>
            <a:pPr>
              <a:buFont typeface="Wingdings 2" pitchFamily="18" charset="2"/>
              <a:buNone/>
            </a:pPr>
            <a:endParaRPr lang="en-US" i="1" dirty="0"/>
          </a:p>
          <a:p>
            <a:pPr>
              <a:buFont typeface="Calibri" pitchFamily="34" charset="0"/>
              <a:buAutoNum type="arabicPeriod" startAt="13"/>
            </a:pPr>
            <a:r>
              <a:rPr lang="en-US" dirty="0"/>
              <a:t>Click</a:t>
            </a:r>
            <a:r>
              <a:rPr lang="en-US" b="1" dirty="0"/>
              <a:t> OK.</a:t>
            </a:r>
          </a:p>
          <a:p>
            <a:endParaRPr lang="en-US" b="1" i="1" dirty="0">
              <a:latin typeface="Times New Roman" pitchFamily="18" charset="0"/>
            </a:endParaRPr>
          </a:p>
          <a:p>
            <a:endParaRPr lang="en-US" b="1" dirty="0"/>
          </a:p>
          <a:p>
            <a:endParaRPr lang="en-US" dirty="0"/>
          </a:p>
        </p:txBody>
      </p:sp>
      <p:pic>
        <p:nvPicPr>
          <p:cNvPr id="122884" name="Picture 5"/>
          <p:cNvPicPr>
            <a:picLocks noChangeAspect="1" noChangeArrowheads="1"/>
          </p:cNvPicPr>
          <p:nvPr/>
        </p:nvPicPr>
        <p:blipFill>
          <a:blip r:embed="rId3"/>
          <a:srcRect/>
          <a:stretch>
            <a:fillRect/>
          </a:stretch>
        </p:blipFill>
        <p:spPr bwMode="auto">
          <a:xfrm>
            <a:off x="939777" y="7514369"/>
            <a:ext cx="4918122" cy="1064101"/>
          </a:xfrm>
          <a:prstGeom prst="rect">
            <a:avLst/>
          </a:prstGeom>
          <a:noFill/>
          <a:ln w="12700">
            <a:noFill/>
            <a:miter lim="800000"/>
            <a:headEnd/>
            <a:tailEnd/>
          </a:ln>
        </p:spPr>
      </p:pic>
      <p:sp>
        <p:nvSpPr>
          <p:cNvPr id="122885" name="Rectangle 7"/>
          <p:cNvSpPr>
            <a:spLocks noChangeArrowheads="1"/>
          </p:cNvSpPr>
          <p:nvPr/>
        </p:nvSpPr>
        <p:spPr bwMode="auto">
          <a:xfrm>
            <a:off x="4560108" y="8036097"/>
            <a:ext cx="4984961" cy="1211532"/>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p:txBody>
      </p:sp>
      <p:sp>
        <p:nvSpPr>
          <p:cNvPr id="9" name="Date Placeholder 8"/>
          <p:cNvSpPr>
            <a:spLocks noGrp="1"/>
          </p:cNvSpPr>
          <p:nvPr>
            <p:ph type="dt" idx="10"/>
          </p:nvPr>
        </p:nvSpPr>
        <p:spPr/>
        <p:txBody>
          <a:bodyPr/>
          <a:lstStyle/>
          <a:p>
            <a:r>
              <a:rPr lang="en-US" dirty="0"/>
              <a:t>Custom Fields</a:t>
            </a:r>
          </a:p>
        </p:txBody>
      </p:sp>
      <p:sp>
        <p:nvSpPr>
          <p:cNvPr id="13" name="Slide Number Placeholder 12"/>
          <p:cNvSpPr>
            <a:spLocks noGrp="1"/>
          </p:cNvSpPr>
          <p:nvPr>
            <p:ph type="sldNum" sz="quarter" idx="11"/>
          </p:nvPr>
        </p:nvSpPr>
        <p:spPr/>
        <p:txBody>
          <a:bodyPr/>
          <a:lstStyle/>
          <a:p>
            <a:r>
              <a:rPr lang="en-US" dirty="0"/>
              <a:t>Page </a:t>
            </a:r>
            <a:fld id="{3242409A-B053-4208-A245-A8F1D7E49324}" type="slidenum">
              <a:rPr lang="en-US" smtClean="0"/>
              <a:pPr/>
              <a:t>63</a:t>
            </a:fld>
            <a:r>
              <a:rPr lang="en-US" dirty="0"/>
              <a:t> of 81</a:t>
            </a:r>
          </a:p>
        </p:txBody>
      </p:sp>
      <p:sp>
        <p:nvSpPr>
          <p:cNvPr id="14" name="Footer Placeholder 13"/>
          <p:cNvSpPr>
            <a:spLocks noGrp="1"/>
          </p:cNvSpPr>
          <p:nvPr>
            <p:ph type="ftr" sz="quarter" idx="12"/>
          </p:nvPr>
        </p:nvSpPr>
        <p:spPr/>
        <p:txBody>
          <a:bodyPr/>
          <a:lstStyle/>
          <a:p>
            <a:r>
              <a:rPr lang="en-US" dirty="0"/>
              <a:t>Rev. 24011</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Entering Sample Type Custom Field Information, </a:t>
            </a:r>
            <a:r>
              <a:rPr lang="en-US" b="1" i="1" dirty="0" err="1"/>
              <a:t>Lot_Number</a:t>
            </a:r>
            <a:endParaRPr lang="en-US" b="1" i="1" dirty="0"/>
          </a:p>
          <a:p>
            <a:pPr algn="ctr">
              <a:buNone/>
            </a:pPr>
            <a:endParaRPr lang="en-US" b="1" i="1" dirty="0"/>
          </a:p>
          <a:p>
            <a:pPr algn="l">
              <a:buSzPct val="150000"/>
              <a:buFont typeface="Wingdings" pitchFamily="2" charset="2"/>
              <a:buChar char="§"/>
            </a:pPr>
            <a:r>
              <a:rPr lang="en-US" b="0" i="0" dirty="0"/>
              <a:t>Sample</a:t>
            </a:r>
            <a:r>
              <a:rPr lang="en-US" b="0" i="0" baseline="0" dirty="0"/>
              <a:t> Type CF information is entered in run samples or alter samples as shown above.</a:t>
            </a:r>
            <a:endParaRPr lang="en-US" b="0" i="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64</a:t>
            </a:fld>
            <a:r>
              <a:rPr lang="en-US"/>
              <a:t> of 88</a:t>
            </a:r>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a:noFill/>
          <a:ln/>
        </p:spPr>
        <p:txBody>
          <a:bodyPr/>
          <a:lstStyle/>
          <a:p>
            <a:r>
              <a:rPr lang="en-US" dirty="0"/>
              <a:t>Create a new Sample Set Type custom field for HPLC_Column_Type.</a:t>
            </a:r>
          </a:p>
          <a:p>
            <a:pPr lvl="1"/>
            <a:r>
              <a:rPr lang="en-US" b="1" dirty="0"/>
              <a:t>Why Sample Set Type?  </a:t>
            </a:r>
            <a:r>
              <a:rPr lang="en-US" dirty="0"/>
              <a:t>The information is the same for each sample.</a:t>
            </a:r>
          </a:p>
          <a:p>
            <a:pPr lvl="1"/>
            <a:r>
              <a:rPr lang="en-US" b="1" dirty="0"/>
              <a:t>What is the Data Type?</a:t>
            </a:r>
          </a:p>
          <a:p>
            <a:endParaRPr lang="en-US" b="1" dirty="0"/>
          </a:p>
          <a:p>
            <a:endParaRPr lang="en-US" b="1" dirty="0"/>
          </a:p>
          <a:p>
            <a:endParaRPr lang="en-US" dirty="0"/>
          </a:p>
          <a:p>
            <a:endParaRPr lang="en-US" dirty="0"/>
          </a:p>
          <a:p>
            <a:endParaRPr lang="en-US" dirty="0"/>
          </a:p>
        </p:txBody>
      </p:sp>
      <p:sp>
        <p:nvSpPr>
          <p:cNvPr id="123908"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65</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a:xfrm>
            <a:off x="575985" y="4714477"/>
            <a:ext cx="5661510" cy="4467325"/>
          </a:xfrm>
          <a:noFill/>
          <a:ln/>
        </p:spPr>
        <p:txBody>
          <a:bodyPr/>
          <a:lstStyle/>
          <a:p>
            <a:r>
              <a:rPr lang="en-US" dirty="0"/>
              <a:t>Create a new Sample Set Type custom field for </a:t>
            </a:r>
            <a:r>
              <a:rPr lang="en-US" b="1" dirty="0"/>
              <a:t>HPLC_Column_Type</a:t>
            </a:r>
          </a:p>
          <a:p>
            <a:pPr marL="228600" indent="-228600">
              <a:buFont typeface="+mj-lt"/>
              <a:buAutoNum type="arabicPeriod"/>
            </a:pPr>
            <a:r>
              <a:rPr lang="en-US" dirty="0"/>
              <a:t>Field Type: </a:t>
            </a:r>
            <a:r>
              <a:rPr lang="en-US" b="1" dirty="0"/>
              <a:t>Sample Set</a:t>
            </a:r>
          </a:p>
          <a:p>
            <a:pPr marL="228600" indent="-228600">
              <a:buFont typeface="+mj-lt"/>
              <a:buAutoNum type="arabicPeriod"/>
            </a:pPr>
            <a:r>
              <a:rPr lang="en-US" dirty="0"/>
              <a:t>Data Type: </a:t>
            </a:r>
            <a:r>
              <a:rPr lang="en-US" b="1" dirty="0"/>
              <a:t>Enum</a:t>
            </a:r>
          </a:p>
          <a:p>
            <a:pPr marL="228600" indent="-228600">
              <a:buFont typeface="+mj-lt"/>
              <a:buAutoNum type="arabicPeriod"/>
            </a:pPr>
            <a:r>
              <a:rPr lang="en-US" dirty="0"/>
              <a:t>Click </a:t>
            </a:r>
            <a:r>
              <a:rPr lang="en-US" b="1" dirty="0"/>
              <a:t>Next.</a:t>
            </a:r>
          </a:p>
          <a:p>
            <a:endParaRPr lang="en-US" dirty="0"/>
          </a:p>
        </p:txBody>
      </p:sp>
      <p:sp>
        <p:nvSpPr>
          <p:cNvPr id="7" name="Date Placeholder 6"/>
          <p:cNvSpPr>
            <a:spLocks noGrp="1"/>
          </p:cNvSpPr>
          <p:nvPr>
            <p:ph type="dt" idx="10"/>
          </p:nvPr>
        </p:nvSpPr>
        <p:spPr/>
        <p:txBody>
          <a:bodyPr/>
          <a:lstStyle/>
          <a:p>
            <a:r>
              <a:rPr lang="en-US" dirty="0"/>
              <a:t>Custom Fields</a:t>
            </a:r>
          </a:p>
        </p:txBody>
      </p:sp>
      <p:sp>
        <p:nvSpPr>
          <p:cNvPr id="8" name="Slide Number Placeholder 7"/>
          <p:cNvSpPr>
            <a:spLocks noGrp="1"/>
          </p:cNvSpPr>
          <p:nvPr>
            <p:ph type="sldNum" sz="quarter" idx="11"/>
          </p:nvPr>
        </p:nvSpPr>
        <p:spPr/>
        <p:txBody>
          <a:bodyPr/>
          <a:lstStyle/>
          <a:p>
            <a:r>
              <a:rPr lang="en-US" dirty="0"/>
              <a:t>Page </a:t>
            </a:r>
            <a:fld id="{3242409A-B053-4208-A245-A8F1D7E49324}" type="slidenum">
              <a:rPr lang="en-US" smtClean="0"/>
              <a:pPr/>
              <a:t>66</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25955"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marL="231775" lvl="1">
              <a:buFont typeface="Calibri" pitchFamily="34" charset="0"/>
              <a:buAutoNum type="arabicPeriod" startAt="4"/>
            </a:pPr>
            <a:r>
              <a:rPr lang="en-US" dirty="0"/>
              <a:t>Data Source: </a:t>
            </a:r>
            <a:r>
              <a:rPr lang="en-US" b="1" dirty="0"/>
              <a:t>Keyboard.</a:t>
            </a:r>
            <a:endParaRPr lang="en-US" dirty="0"/>
          </a:p>
          <a:p>
            <a:pPr marL="231775" lvl="1">
              <a:buFont typeface="Calibri" pitchFamily="34" charset="0"/>
              <a:buAutoNum type="arabicPeriod" startAt="4"/>
            </a:pPr>
            <a:r>
              <a:rPr lang="en-US" dirty="0"/>
              <a:t>Data Entry Required:  </a:t>
            </a:r>
            <a:r>
              <a:rPr lang="en-US" b="1" dirty="0"/>
              <a:t>ENABLE</a:t>
            </a:r>
            <a:r>
              <a:rPr lang="en-US" dirty="0"/>
              <a:t>.</a:t>
            </a:r>
          </a:p>
          <a:p>
            <a:pPr marL="231775" lvl="1">
              <a:buFont typeface="Calibri" pitchFamily="34" charset="0"/>
              <a:buAutoNum type="arabicPeriod" startAt="4"/>
            </a:pPr>
            <a:r>
              <a:rPr lang="en-US" dirty="0"/>
              <a:t>Default Value:  </a:t>
            </a:r>
            <a:r>
              <a:rPr lang="en-US" b="1" dirty="0"/>
              <a:t>None.</a:t>
            </a:r>
            <a:r>
              <a:rPr lang="en-US" dirty="0"/>
              <a:t> </a:t>
            </a:r>
          </a:p>
          <a:p>
            <a:pPr marL="231775" lvl="1">
              <a:buFont typeface="Calibri" pitchFamily="34" charset="0"/>
              <a:buAutoNum type="arabicPeriod" startAt="4"/>
            </a:pPr>
            <a:r>
              <a:rPr lang="en-US" dirty="0"/>
              <a:t>Use As: </a:t>
            </a:r>
            <a:r>
              <a:rPr lang="en-US" b="1" dirty="0"/>
              <a:t>Position.</a:t>
            </a:r>
            <a:endParaRPr lang="en-US" dirty="0"/>
          </a:p>
        </p:txBody>
      </p:sp>
      <p:sp>
        <p:nvSpPr>
          <p:cNvPr id="7" name="Date Placeholder 6"/>
          <p:cNvSpPr>
            <a:spLocks noGrp="1"/>
          </p:cNvSpPr>
          <p:nvPr>
            <p:ph type="dt" idx="10"/>
          </p:nvPr>
        </p:nvSpPr>
        <p:spPr/>
        <p:txBody>
          <a:bodyPr/>
          <a:lstStyle/>
          <a:p>
            <a:r>
              <a:rPr lang="en-US" dirty="0"/>
              <a:t>Custom Fields</a:t>
            </a:r>
          </a:p>
        </p:txBody>
      </p:sp>
      <p:sp>
        <p:nvSpPr>
          <p:cNvPr id="8" name="Slide Number Placeholder 7"/>
          <p:cNvSpPr>
            <a:spLocks noGrp="1"/>
          </p:cNvSpPr>
          <p:nvPr>
            <p:ph type="sldNum" sz="quarter" idx="11"/>
          </p:nvPr>
        </p:nvSpPr>
        <p:spPr/>
        <p:txBody>
          <a:bodyPr/>
          <a:lstStyle/>
          <a:p>
            <a:r>
              <a:rPr lang="en-US" dirty="0"/>
              <a:t>Page </a:t>
            </a:r>
            <a:fld id="{3242409A-B053-4208-A245-A8F1D7E49324}" type="slidenum">
              <a:rPr lang="en-US" smtClean="0"/>
              <a:pPr/>
              <a:t>67</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26979"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a:buNone/>
            </a:pPr>
            <a:r>
              <a:rPr lang="en-US" dirty="0"/>
              <a:t>Translation Definition:  Type in the choices you wish the analyst to have when using this field.</a:t>
            </a:r>
          </a:p>
          <a:p>
            <a:pPr marL="228600" indent="-228600">
              <a:buFont typeface="+mj-lt"/>
              <a:buAutoNum type="arabicPeriod" startAt="8"/>
            </a:pPr>
            <a:r>
              <a:rPr lang="en-US" dirty="0"/>
              <a:t>Enter:</a:t>
            </a:r>
          </a:p>
          <a:p>
            <a:pPr lvl="1">
              <a:buFont typeface="+mj-lt"/>
              <a:buAutoNum type="arabicPeriod"/>
            </a:pPr>
            <a:r>
              <a:rPr lang="en-US" b="1" dirty="0"/>
              <a:t>L1</a:t>
            </a:r>
          </a:p>
          <a:p>
            <a:pPr lvl="1">
              <a:buFont typeface="+mj-lt"/>
              <a:buAutoNum type="arabicPeriod"/>
            </a:pPr>
            <a:r>
              <a:rPr lang="en-US" b="1" dirty="0"/>
              <a:t>L3</a:t>
            </a:r>
          </a:p>
          <a:p>
            <a:pPr lvl="1">
              <a:buFont typeface="+mj-lt"/>
              <a:buAutoNum type="arabicPeriod"/>
            </a:pPr>
            <a:r>
              <a:rPr lang="en-US" b="1" dirty="0"/>
              <a:t>L4</a:t>
            </a:r>
          </a:p>
          <a:p>
            <a:pPr lvl="1">
              <a:buFont typeface="+mj-lt"/>
              <a:buAutoNum type="arabicPeriod"/>
            </a:pPr>
            <a:r>
              <a:rPr lang="en-US" b="1" dirty="0"/>
              <a:t>L7</a:t>
            </a:r>
          </a:p>
          <a:p>
            <a:pPr lvl="1">
              <a:buFont typeface="+mj-lt"/>
              <a:buAutoNum type="arabicPeriod"/>
            </a:pPr>
            <a:r>
              <a:rPr lang="en-US" b="1" dirty="0"/>
              <a:t>L11</a:t>
            </a:r>
          </a:p>
          <a:p>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68</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753667" name="Rectangle 3"/>
          <p:cNvSpPr>
            <a:spLocks noGrp="1" noChangeArrowheads="1"/>
          </p:cNvSpPr>
          <p:nvPr>
            <p:ph type="body" idx="1"/>
          </p:nvPr>
        </p:nvSpPr>
        <p:spPr>
          <a:xfrm>
            <a:off x="906358" y="4716878"/>
            <a:ext cx="4984961" cy="4058650"/>
          </a:xfrm>
          <a:solidFill>
            <a:srgbClr val="FFFFFF"/>
          </a:solidFill>
          <a:ln/>
        </p:spPr>
        <p:txBody>
          <a:bodyPr lIns="93050" tIns="46525" rIns="93050" bIns="46525">
            <a:normAutofit/>
          </a:bodyPr>
          <a:lstStyle/>
          <a:p>
            <a:pPr marL="233309" indent="-233309">
              <a:buFont typeface="+mj-lt"/>
              <a:buAutoNum type="arabicPeriod" startAt="9"/>
              <a:defRPr/>
            </a:pPr>
            <a:r>
              <a:rPr lang="en-US" dirty="0"/>
              <a:t>Name the new field: </a:t>
            </a:r>
            <a:r>
              <a:rPr lang="en-US" b="1" dirty="0"/>
              <a:t> USP_Column_Type</a:t>
            </a:r>
          </a:p>
          <a:p>
            <a:pPr marL="233309" indent="-233309">
              <a:buFont typeface="+mj-lt"/>
              <a:buAutoNum type="arabicPeriod" startAt="9"/>
              <a:defRPr/>
            </a:pPr>
            <a:r>
              <a:rPr lang="en-US" dirty="0"/>
              <a:t>Create this field in only one Project.</a:t>
            </a:r>
          </a:p>
          <a:p>
            <a:pPr marL="233309" indent="-233309">
              <a:buFont typeface="+mj-lt"/>
              <a:buAutoNum type="arabicPeriod" startAt="9"/>
              <a:defRPr/>
            </a:pPr>
            <a:r>
              <a:rPr lang="en-US" dirty="0"/>
              <a:t>Click </a:t>
            </a:r>
            <a:r>
              <a:rPr lang="en-US" b="1" dirty="0"/>
              <a:t>Finish.</a:t>
            </a:r>
          </a:p>
          <a:p>
            <a:pPr marL="233309" indent="-233309">
              <a:buFont typeface="+mj-lt"/>
              <a:buAutoNum type="arabicPeriod" startAt="9"/>
              <a:defRPr/>
            </a:pPr>
            <a:endParaRPr lang="en-US" b="1" dirty="0"/>
          </a:p>
          <a:p>
            <a:pPr marL="233309" indent="-233309">
              <a:buFont typeface="+mj-lt"/>
              <a:buAutoNum type="arabicPeriod" startAt="9"/>
              <a:defRPr/>
            </a:pPr>
            <a:endParaRPr lang="en-US" b="1" dirty="0"/>
          </a:p>
          <a:p>
            <a:pPr marL="233309" indent="-233309">
              <a:buFont typeface="+mj-lt"/>
              <a:buAutoNum type="arabicPeriod" startAt="9"/>
              <a:defRPr/>
            </a:pPr>
            <a:endParaRPr lang="en-US" b="1" dirty="0"/>
          </a:p>
          <a:p>
            <a:pPr marL="233309" indent="-233309">
              <a:buFont typeface="+mj-lt"/>
              <a:buAutoNum type="arabicPeriod" startAt="9"/>
              <a:defRPr/>
            </a:pPr>
            <a:endParaRPr lang="en-US" b="1" dirty="0"/>
          </a:p>
          <a:p>
            <a:pPr marL="233309" indent="-233309">
              <a:buFont typeface="+mj-lt"/>
              <a:buAutoNum type="arabicPeriod" startAt="9"/>
              <a:defRPr/>
            </a:pPr>
            <a:endParaRPr lang="en-US" b="1" dirty="0"/>
          </a:p>
          <a:p>
            <a:pPr marL="233309" indent="-233309">
              <a:buFont typeface="+mj-lt"/>
              <a:buAutoNum type="arabicPeriod" startAt="9"/>
              <a:defRPr/>
            </a:pPr>
            <a:endParaRPr lang="en-US" b="1" dirty="0"/>
          </a:p>
          <a:p>
            <a:pPr marL="233309" indent="-233309">
              <a:buFont typeface="+mj-lt"/>
              <a:buAutoNum type="arabicPeriod" startAt="9"/>
              <a:defRPr/>
            </a:pPr>
            <a:endParaRPr lang="en-US" b="1" dirty="0"/>
          </a:p>
          <a:p>
            <a:pPr marL="233309" indent="-233309">
              <a:buFont typeface="+mj-lt"/>
              <a:buAutoNum type="arabicPeriod" startAt="9"/>
              <a:defRPr/>
            </a:pPr>
            <a:endParaRPr lang="en-US" b="1" dirty="0"/>
          </a:p>
          <a:p>
            <a:pPr marL="233309" indent="-233309">
              <a:buFont typeface="+mj-lt"/>
              <a:buAutoNum type="arabicPeriod" startAt="9"/>
              <a:defRPr/>
            </a:pPr>
            <a:endParaRPr lang="en-US" b="1" dirty="0"/>
          </a:p>
          <a:p>
            <a:pPr marL="233309" indent="-233309">
              <a:buFont typeface="+mj-lt"/>
              <a:buAutoNum type="arabicPeriod" startAt="9"/>
              <a:defRPr/>
            </a:pPr>
            <a:endParaRPr lang="en-US" dirty="0"/>
          </a:p>
          <a:p>
            <a:pPr marL="233309" indent="-233309">
              <a:buFont typeface="+mj-lt"/>
              <a:buAutoNum type="arabicPeriod" startAt="9"/>
              <a:defRPr/>
            </a:pPr>
            <a:r>
              <a:rPr lang="en-US" dirty="0"/>
              <a:t>Click </a:t>
            </a:r>
            <a:r>
              <a:rPr lang="en-US" b="1" dirty="0"/>
              <a:t>OK</a:t>
            </a:r>
          </a:p>
          <a:p>
            <a:pPr marL="220687" indent="-220687">
              <a:defRPr/>
            </a:pPr>
            <a:endParaRPr lang="en-US" dirty="0"/>
          </a:p>
          <a:p>
            <a:pPr marL="220687" indent="-220687">
              <a:defRPr/>
            </a:pPr>
            <a:endParaRPr lang="en-US" dirty="0"/>
          </a:p>
        </p:txBody>
      </p:sp>
      <p:pic>
        <p:nvPicPr>
          <p:cNvPr id="7" name="Picture 6" descr="book 3 pg 39a.png"/>
          <p:cNvPicPr>
            <a:picLocks noChangeAspect="1"/>
          </p:cNvPicPr>
          <p:nvPr/>
        </p:nvPicPr>
        <p:blipFill>
          <a:blip r:embed="rId3"/>
          <a:stretch>
            <a:fillRect/>
          </a:stretch>
        </p:blipFill>
        <p:spPr>
          <a:xfrm>
            <a:off x="1209535" y="5461351"/>
            <a:ext cx="4378606" cy="1635050"/>
          </a:xfrm>
          <a:prstGeom prst="rect">
            <a:avLst/>
          </a:prstGeom>
        </p:spPr>
      </p:pic>
      <p:sp>
        <p:nvSpPr>
          <p:cNvPr id="11" name="Date Placeholder 10"/>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69</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Entering Sample  Set Type Custom Field Information, </a:t>
            </a:r>
            <a:r>
              <a:rPr lang="en-US" b="1" i="1" dirty="0" err="1"/>
              <a:t>USP_Column_Type</a:t>
            </a:r>
            <a:endParaRPr lang="en-US" b="1" i="1" dirty="0"/>
          </a:p>
          <a:p>
            <a:pPr algn="ctr">
              <a:buNone/>
            </a:pPr>
            <a:endParaRPr lang="en-US" b="1" i="1" dirty="0"/>
          </a:p>
          <a:p>
            <a:pPr algn="l">
              <a:buSzPct val="150000"/>
              <a:buFont typeface="Wingdings" pitchFamily="2" charset="2"/>
              <a:buChar char="§"/>
            </a:pPr>
            <a:r>
              <a:rPr lang="en-US" b="0" i="0" dirty="0"/>
              <a:t>Sample</a:t>
            </a:r>
            <a:r>
              <a:rPr lang="en-US" b="0" i="0" baseline="0" dirty="0"/>
              <a:t> Set Type CF information is entered in run samples via the Sample Set Information function or via alter samples.</a:t>
            </a:r>
            <a:endParaRPr lang="en-US" b="0" i="0" dirty="0"/>
          </a:p>
          <a:p>
            <a:endParaRPr lang="en-US"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70</a:t>
            </a:fld>
            <a:r>
              <a:rPr lang="en-US"/>
              <a:t> of 88</a:t>
            </a:r>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29027"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r>
              <a:rPr lang="en-US" b="1" dirty="0"/>
              <a:t>Create</a:t>
            </a:r>
            <a:r>
              <a:rPr lang="en-US" dirty="0"/>
              <a:t> a new </a:t>
            </a:r>
            <a:r>
              <a:rPr lang="en-US" b="1" dirty="0"/>
              <a:t>Component Type</a:t>
            </a:r>
            <a:r>
              <a:rPr lang="en-US" dirty="0"/>
              <a:t> custom field for </a:t>
            </a:r>
            <a:r>
              <a:rPr lang="en-US" b="1" dirty="0"/>
              <a:t>Label_Claim.</a:t>
            </a:r>
          </a:p>
          <a:p>
            <a:pPr lvl="1"/>
            <a:r>
              <a:rPr lang="en-US" b="1" dirty="0"/>
              <a:t>Why Component Type?  </a:t>
            </a:r>
            <a:r>
              <a:rPr lang="en-US" dirty="0"/>
              <a:t>The information could be different per component and per vial.</a:t>
            </a:r>
          </a:p>
          <a:p>
            <a:pPr lvl="1"/>
            <a:r>
              <a:rPr lang="en-US" b="1" dirty="0"/>
              <a:t>What is the Data Type?</a:t>
            </a:r>
          </a:p>
          <a:p>
            <a:endParaRPr lang="en-US" b="1" dirty="0"/>
          </a:p>
          <a:p>
            <a:endParaRPr lang="en-US" b="1" dirty="0"/>
          </a:p>
          <a:p>
            <a:endParaRPr lang="en-US" dirty="0"/>
          </a:p>
          <a:p>
            <a:endParaRPr lang="en-US" dirty="0"/>
          </a:p>
          <a:p>
            <a:endParaRPr lang="en-US" dirty="0"/>
          </a:p>
        </p:txBody>
      </p:sp>
      <p:sp>
        <p:nvSpPr>
          <p:cNvPr id="129028"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71</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757763"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marL="220687" indent="-220687">
              <a:defRPr/>
            </a:pPr>
            <a:r>
              <a:rPr lang="en-US" b="1" dirty="0"/>
              <a:t>Create</a:t>
            </a:r>
            <a:r>
              <a:rPr lang="en-US" dirty="0"/>
              <a:t> a new </a:t>
            </a:r>
            <a:r>
              <a:rPr lang="en-US" b="1" dirty="0"/>
              <a:t>Component Type</a:t>
            </a:r>
            <a:r>
              <a:rPr lang="en-US" dirty="0"/>
              <a:t> custom field for </a:t>
            </a:r>
            <a:r>
              <a:rPr lang="en-US" b="1" dirty="0"/>
              <a:t>Label_Claim.</a:t>
            </a:r>
          </a:p>
          <a:p>
            <a:pPr marL="220687" indent="-220687">
              <a:defRPr/>
            </a:pPr>
            <a:endParaRPr lang="en-US" b="1" dirty="0"/>
          </a:p>
          <a:p>
            <a:pPr marL="220687" indent="-220687">
              <a:defRPr/>
            </a:pPr>
            <a:endParaRPr lang="en-US" b="1" dirty="0"/>
          </a:p>
          <a:p>
            <a:pPr marL="233309" indent="-233309">
              <a:buFont typeface="+mj-lt"/>
              <a:buAutoNum type="arabicPeriod"/>
              <a:defRPr/>
            </a:pPr>
            <a:r>
              <a:rPr lang="en-US" dirty="0"/>
              <a:t>Field Type: </a:t>
            </a:r>
            <a:r>
              <a:rPr lang="en-US" b="1" dirty="0"/>
              <a:t>Component</a:t>
            </a:r>
          </a:p>
          <a:p>
            <a:pPr marL="233309" indent="-233309">
              <a:buFont typeface="+mj-lt"/>
              <a:buAutoNum type="arabicPeriod"/>
              <a:defRPr/>
            </a:pPr>
            <a:r>
              <a:rPr lang="en-US" dirty="0"/>
              <a:t>Data Type: </a:t>
            </a:r>
            <a:r>
              <a:rPr lang="en-US" b="1" dirty="0"/>
              <a:t>Real </a:t>
            </a:r>
            <a:r>
              <a:rPr lang="en-US" dirty="0"/>
              <a:t>(Notice Real is the only option.)</a:t>
            </a:r>
            <a:endParaRPr lang="en-US" b="1" dirty="0"/>
          </a:p>
          <a:p>
            <a:pPr marL="233309" indent="-233309">
              <a:buFont typeface="+mj-lt"/>
              <a:buAutoNum type="arabicPeriod"/>
              <a:defRPr/>
            </a:pPr>
            <a:r>
              <a:rPr lang="en-US" dirty="0"/>
              <a:t>Click </a:t>
            </a:r>
            <a:r>
              <a:rPr lang="en-US" b="1" dirty="0"/>
              <a:t>Next.</a:t>
            </a:r>
          </a:p>
          <a:p>
            <a:pPr marL="220687" indent="-220687">
              <a:defRPr/>
            </a:pPr>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72</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759811"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a:buFont typeface="+mj-lt"/>
              <a:buAutoNum type="arabicPeriod" startAt="4"/>
              <a:defRPr/>
            </a:pPr>
            <a:r>
              <a:rPr lang="en-US" dirty="0"/>
              <a:t>Data Source: </a:t>
            </a:r>
            <a:r>
              <a:rPr lang="en-US" b="1" dirty="0"/>
              <a:t>Keyboard.</a:t>
            </a:r>
            <a:endParaRPr lang="en-US" dirty="0"/>
          </a:p>
          <a:p>
            <a:pPr>
              <a:buFont typeface="+mj-lt"/>
              <a:buAutoNum type="arabicPeriod" startAt="4"/>
              <a:defRPr/>
            </a:pPr>
            <a:r>
              <a:rPr lang="en-US" dirty="0"/>
              <a:t>Data Entry Required:  </a:t>
            </a:r>
            <a:r>
              <a:rPr lang="en-US" b="1" dirty="0"/>
              <a:t>Not Available</a:t>
            </a:r>
            <a:r>
              <a:rPr lang="en-US" dirty="0"/>
              <a:t>.</a:t>
            </a:r>
          </a:p>
          <a:p>
            <a:pPr lvl="1">
              <a:buFont typeface="+mj-lt"/>
              <a:buAutoNum type="alphaLcPeriod"/>
              <a:defRPr/>
            </a:pPr>
            <a:r>
              <a:rPr lang="en-US" dirty="0"/>
              <a:t>Why is Data Entry Required unavailable?</a:t>
            </a:r>
          </a:p>
          <a:p>
            <a:pPr marL="239790" indent="-233309">
              <a:buFont typeface="+mj-lt"/>
              <a:buAutoNum type="arabicPeriod" startAt="4"/>
              <a:defRPr/>
            </a:pPr>
            <a:r>
              <a:rPr lang="en-US" dirty="0"/>
              <a:t>Default Value:  </a:t>
            </a:r>
            <a:r>
              <a:rPr lang="en-US" b="1" dirty="0"/>
              <a:t>1.000</a:t>
            </a:r>
            <a:r>
              <a:rPr lang="en-US" dirty="0"/>
              <a:t> </a:t>
            </a:r>
          </a:p>
          <a:p>
            <a:pPr marL="239790" indent="-233309">
              <a:buFont typeface="+mj-lt"/>
              <a:buAutoNum type="arabicPeriod" startAt="4"/>
              <a:defRPr/>
            </a:pPr>
            <a:r>
              <a:rPr lang="en-US" dirty="0"/>
              <a:t>Click </a:t>
            </a:r>
            <a:r>
              <a:rPr lang="en-US" b="1" dirty="0"/>
              <a:t>Next</a:t>
            </a:r>
          </a:p>
          <a:p>
            <a:pPr marL="110343" lvl="1" indent="0">
              <a:buNone/>
              <a:defRPr/>
            </a:pPr>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73</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761859"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a:buFont typeface="Wingdings 2" pitchFamily="18" charset="2"/>
              <a:buNone/>
              <a:defRPr/>
            </a:pPr>
            <a:r>
              <a:rPr lang="en-US" b="1" dirty="0"/>
              <a:t>Numeric Parameters</a:t>
            </a:r>
          </a:p>
          <a:p>
            <a:pPr marL="228600" indent="-228600">
              <a:buFont typeface="+mj-lt"/>
              <a:buAutoNum type="arabicPeriod" startAt="8"/>
              <a:defRPr/>
            </a:pPr>
            <a:r>
              <a:rPr lang="en-US" dirty="0"/>
              <a:t>Maximum number of characters: </a:t>
            </a:r>
            <a:r>
              <a:rPr lang="en-US" b="1" dirty="0"/>
              <a:t>7</a:t>
            </a:r>
          </a:p>
          <a:p>
            <a:pPr>
              <a:buFont typeface="Wingdings 2" pitchFamily="18" charset="2"/>
              <a:buNone/>
              <a:defRPr/>
            </a:pPr>
            <a:endParaRPr lang="en-US" b="1" i="1" dirty="0"/>
          </a:p>
          <a:p>
            <a:pPr>
              <a:buFont typeface="Wingdings 2" pitchFamily="18" charset="2"/>
              <a:buNone/>
              <a:defRPr/>
            </a:pPr>
            <a:r>
              <a:rPr lang="en-US" b="1" i="1" dirty="0"/>
              <a:t>NOTE: </a:t>
            </a:r>
            <a:r>
              <a:rPr lang="en-US" i="1" dirty="0"/>
              <a:t>Remember to count the decimal point and/ or sign characters.</a:t>
            </a:r>
          </a:p>
          <a:p>
            <a:pPr>
              <a:buFont typeface="+mj-lt"/>
              <a:buAutoNum type="arabicPeriod" startAt="7"/>
              <a:defRPr/>
            </a:pPr>
            <a:endParaRPr lang="en-US" i="1" dirty="0"/>
          </a:p>
          <a:p>
            <a:pPr marL="233309" indent="-233309">
              <a:buFont typeface="+mj-lt"/>
              <a:buAutoNum type="arabicPeriod" startAt="9"/>
              <a:defRPr/>
            </a:pPr>
            <a:r>
              <a:rPr lang="en-US" dirty="0"/>
              <a:t>Precision: </a:t>
            </a:r>
            <a:r>
              <a:rPr lang="en-US" b="1" dirty="0"/>
              <a:t>3</a:t>
            </a:r>
          </a:p>
          <a:p>
            <a:pPr marL="49031" indent="-233309">
              <a:buFont typeface="+mj-lt"/>
              <a:buAutoNum type="arabicPeriod" startAt="9"/>
              <a:defRPr/>
            </a:pPr>
            <a:r>
              <a:rPr lang="en-US" dirty="0"/>
              <a:t>Minimum Value:  </a:t>
            </a:r>
            <a:r>
              <a:rPr lang="en-US" b="1" dirty="0"/>
              <a:t>1.000</a:t>
            </a:r>
          </a:p>
          <a:p>
            <a:pPr marL="49031" indent="-233309">
              <a:buFont typeface="+mj-lt"/>
              <a:buAutoNum type="arabicPeriod" startAt="9"/>
              <a:defRPr/>
            </a:pPr>
            <a:r>
              <a:rPr lang="en-US" dirty="0"/>
              <a:t>Maximum Value:  </a:t>
            </a:r>
            <a:r>
              <a:rPr lang="en-US" b="1" dirty="0"/>
              <a:t>100.000</a:t>
            </a:r>
          </a:p>
          <a:p>
            <a:pPr marL="49031" indent="-233309">
              <a:buFont typeface="+mj-lt"/>
              <a:buAutoNum type="arabicPeriod" startAt="9"/>
              <a:defRPr/>
            </a:pPr>
            <a:r>
              <a:rPr lang="en-US" dirty="0"/>
              <a:t>Click </a:t>
            </a:r>
            <a:r>
              <a:rPr lang="en-US" b="1" dirty="0"/>
              <a:t>Next.</a:t>
            </a:r>
          </a:p>
          <a:p>
            <a:pPr marL="49031" indent="-233309">
              <a:buFont typeface="+mj-lt"/>
              <a:buAutoNum type="arabicPeriod" startAt="9"/>
              <a:defRPr/>
            </a:pPr>
            <a:endParaRPr lang="en-US" b="1" i="1" dirty="0"/>
          </a:p>
          <a:p>
            <a:pPr marL="49031" indent="-233309">
              <a:buFont typeface="+mj-lt"/>
              <a:buAutoNum type="arabicPeriod" startAt="9"/>
              <a:defRPr/>
            </a:pPr>
            <a:endParaRPr lang="en-US" b="1"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74</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33123" name="Rectangle 3"/>
          <p:cNvSpPr>
            <a:spLocks noGrp="1" noChangeArrowheads="1"/>
          </p:cNvSpPr>
          <p:nvPr>
            <p:ph type="body" idx="1"/>
          </p:nvPr>
        </p:nvSpPr>
        <p:spPr>
          <a:xfrm>
            <a:off x="906358" y="4716877"/>
            <a:ext cx="4984961" cy="3626838"/>
          </a:xfrm>
          <a:solidFill>
            <a:srgbClr val="FFFFFF"/>
          </a:solidFill>
          <a:ln/>
        </p:spPr>
        <p:txBody>
          <a:bodyPr lIns="93050" tIns="46525" rIns="93050" bIns="46525"/>
          <a:lstStyle/>
          <a:p>
            <a:pPr marL="228600" indent="-228600">
              <a:buFont typeface="+mj-lt"/>
              <a:buAutoNum type="arabicPeriod" startAt="13"/>
            </a:pPr>
            <a:r>
              <a:rPr lang="en-US" dirty="0"/>
              <a:t>Name the new field:  </a:t>
            </a:r>
            <a:r>
              <a:rPr lang="en-US" b="1" dirty="0"/>
              <a:t>Label_Claim</a:t>
            </a:r>
          </a:p>
          <a:p>
            <a:pPr>
              <a:buFont typeface="Calibri" pitchFamily="34" charset="0"/>
              <a:buAutoNum type="arabicPeriod" startAt="13"/>
            </a:pPr>
            <a:r>
              <a:rPr lang="en-US" dirty="0"/>
              <a:t>Create this field in only one Project.</a:t>
            </a:r>
          </a:p>
          <a:p>
            <a:pPr>
              <a:buFont typeface="Calibri" pitchFamily="34" charset="0"/>
              <a:buAutoNum type="arabicPeriod" startAt="13"/>
            </a:pPr>
            <a:r>
              <a:rPr lang="en-US" dirty="0"/>
              <a:t>Click </a:t>
            </a:r>
            <a:r>
              <a:rPr lang="en-US" b="1" dirty="0"/>
              <a:t>Finish.</a:t>
            </a:r>
          </a:p>
          <a:p>
            <a:pPr>
              <a:buFont typeface="Calibri" pitchFamily="34" charset="0"/>
              <a:buAutoNum type="arabicPeriod" startAt="13"/>
            </a:pPr>
            <a:endParaRPr lang="en-US" b="1" dirty="0"/>
          </a:p>
          <a:p>
            <a:pPr>
              <a:buFont typeface="Calibri" pitchFamily="34" charset="0"/>
              <a:buAutoNum type="arabicPeriod" startAt="13"/>
            </a:pPr>
            <a:endParaRPr lang="en-US" b="1" dirty="0"/>
          </a:p>
          <a:p>
            <a:pPr>
              <a:buFont typeface="Calibri" pitchFamily="34" charset="0"/>
              <a:buAutoNum type="arabicPeriod" startAt="13"/>
            </a:pPr>
            <a:endParaRPr lang="en-US" b="1" dirty="0"/>
          </a:p>
          <a:p>
            <a:pPr>
              <a:buFont typeface="Calibri" pitchFamily="34" charset="0"/>
              <a:buAutoNum type="arabicPeriod" startAt="13"/>
            </a:pPr>
            <a:endParaRPr lang="en-US" b="1" dirty="0"/>
          </a:p>
          <a:p>
            <a:pPr>
              <a:buFont typeface="Calibri" pitchFamily="34" charset="0"/>
              <a:buAutoNum type="arabicPeriod" startAt="13"/>
            </a:pPr>
            <a:endParaRPr lang="en-US" b="1" dirty="0"/>
          </a:p>
          <a:p>
            <a:pPr>
              <a:buFont typeface="Calibri" pitchFamily="34" charset="0"/>
              <a:buAutoNum type="arabicPeriod" startAt="13"/>
            </a:pPr>
            <a:endParaRPr lang="en-US" b="1" dirty="0"/>
          </a:p>
          <a:p>
            <a:pPr>
              <a:buFont typeface="Calibri" pitchFamily="34" charset="0"/>
              <a:buAutoNum type="arabicPeriod" startAt="13"/>
            </a:pPr>
            <a:endParaRPr lang="en-US" b="1" dirty="0"/>
          </a:p>
          <a:p>
            <a:pPr>
              <a:buFont typeface="Calibri" pitchFamily="34" charset="0"/>
              <a:buAutoNum type="arabicPeriod" startAt="13"/>
            </a:pPr>
            <a:endParaRPr lang="en-US" b="1" dirty="0"/>
          </a:p>
          <a:p>
            <a:pPr>
              <a:buFont typeface="Calibri" pitchFamily="34" charset="0"/>
              <a:buAutoNum type="arabicPeriod" startAt="13"/>
            </a:pPr>
            <a:endParaRPr lang="en-US" b="1" dirty="0"/>
          </a:p>
          <a:p>
            <a:pPr>
              <a:buFont typeface="Calibri" pitchFamily="34" charset="0"/>
              <a:buAutoNum type="arabicPeriod" startAt="13"/>
            </a:pPr>
            <a:endParaRPr lang="en-US" b="1" dirty="0"/>
          </a:p>
          <a:p>
            <a:pPr>
              <a:buFont typeface="Calibri" pitchFamily="34" charset="0"/>
              <a:buAutoNum type="arabicPeriod" startAt="13"/>
            </a:pPr>
            <a:r>
              <a:rPr lang="en-US" dirty="0"/>
              <a:t>Click </a:t>
            </a:r>
            <a:r>
              <a:rPr lang="en-US" b="1" dirty="0"/>
              <a:t>OK</a:t>
            </a:r>
          </a:p>
          <a:p>
            <a:endParaRPr lang="en-US" dirty="0"/>
          </a:p>
          <a:p>
            <a:endParaRPr lang="en-US" dirty="0"/>
          </a:p>
          <a:p>
            <a:endParaRPr lang="en-US" dirty="0"/>
          </a:p>
        </p:txBody>
      </p:sp>
      <p:pic>
        <p:nvPicPr>
          <p:cNvPr id="7" name="Picture 6" descr="book 3 pg 44a.png"/>
          <p:cNvPicPr>
            <a:picLocks noChangeAspect="1"/>
          </p:cNvPicPr>
          <p:nvPr/>
        </p:nvPicPr>
        <p:blipFill>
          <a:blip r:embed="rId3"/>
          <a:stretch>
            <a:fillRect/>
          </a:stretch>
        </p:blipFill>
        <p:spPr>
          <a:xfrm>
            <a:off x="1209535" y="5469088"/>
            <a:ext cx="4378606" cy="1635050"/>
          </a:xfrm>
          <a:prstGeom prst="rect">
            <a:avLst/>
          </a:prstGeom>
        </p:spPr>
      </p:pic>
      <p:sp>
        <p:nvSpPr>
          <p:cNvPr id="11" name="Date Placeholder 10"/>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75</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Entering Component Type Custom Field Information, Label_Claim</a:t>
            </a:r>
          </a:p>
          <a:p>
            <a:pPr algn="ctr">
              <a:buNone/>
            </a:pPr>
            <a:endParaRPr lang="en-US" b="1" i="1" dirty="0"/>
          </a:p>
          <a:p>
            <a:pPr algn="l">
              <a:buSzPct val="150000"/>
              <a:buFont typeface="Wingdings" pitchFamily="2" charset="2"/>
              <a:buChar char="§"/>
            </a:pPr>
            <a:r>
              <a:rPr lang="en-US" b="0" i="0" dirty="0"/>
              <a:t>A new tab will appear</a:t>
            </a:r>
            <a:r>
              <a:rPr lang="en-US" b="0" i="0" baseline="0" dirty="0"/>
              <a:t> with the name of the Component Custom Field, here </a:t>
            </a:r>
            <a:r>
              <a:rPr lang="en-US" b="1" i="1" baseline="0" dirty="0"/>
              <a:t>Label_Claim.</a:t>
            </a:r>
            <a:br>
              <a:rPr lang="en-US" b="1" i="1" baseline="0" dirty="0"/>
            </a:br>
            <a:endParaRPr lang="en-US" b="1" i="1" baseline="0" dirty="0"/>
          </a:p>
          <a:p>
            <a:pPr algn="l">
              <a:buSzPct val="150000"/>
              <a:buFont typeface="Wingdings" pitchFamily="2" charset="2"/>
              <a:buChar char="§"/>
            </a:pPr>
            <a:r>
              <a:rPr lang="en-US" b="0" i="0" baseline="0" dirty="0"/>
              <a:t>Since we added the value 150 as a default value for this CF it is automatically filled.</a:t>
            </a:r>
            <a:endParaRPr lang="en-US" b="0" i="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76</a:t>
            </a:fld>
            <a:r>
              <a:rPr lang="en-US"/>
              <a:t> of 88</a:t>
            </a:r>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34147" name="Rectangle 3"/>
          <p:cNvSpPr>
            <a:spLocks noGrp="1" noChangeArrowheads="1"/>
          </p:cNvSpPr>
          <p:nvPr>
            <p:ph type="body" idx="1"/>
          </p:nvPr>
        </p:nvSpPr>
        <p:spPr>
          <a:xfrm>
            <a:off x="717534" y="4716877"/>
            <a:ext cx="5353169" cy="2528190"/>
          </a:xfrm>
          <a:solidFill>
            <a:srgbClr val="FFFFFF"/>
          </a:solidFill>
          <a:ln/>
        </p:spPr>
        <p:txBody>
          <a:bodyPr lIns="93050" tIns="46525" rIns="93050" bIns="46525"/>
          <a:lstStyle/>
          <a:p>
            <a:r>
              <a:rPr lang="en-US" b="1" dirty="0"/>
              <a:t>Create</a:t>
            </a:r>
            <a:r>
              <a:rPr lang="en-US" dirty="0"/>
              <a:t> a new </a:t>
            </a:r>
            <a:r>
              <a:rPr lang="en-US" b="1" dirty="0"/>
              <a:t>Peak Type</a:t>
            </a:r>
            <a:r>
              <a:rPr lang="en-US" dirty="0"/>
              <a:t> custom field for </a:t>
            </a:r>
            <a:r>
              <a:rPr lang="en-US" b="1" dirty="0"/>
              <a:t>Percent_Label_Claim.</a:t>
            </a:r>
          </a:p>
          <a:p>
            <a:pPr lvl="1"/>
            <a:r>
              <a:rPr lang="en-US" b="1" dirty="0"/>
              <a:t>Why Peak Type?  </a:t>
            </a:r>
            <a:r>
              <a:rPr lang="en-US" dirty="0"/>
              <a:t>This field is calculated by Empower.</a:t>
            </a:r>
          </a:p>
          <a:p>
            <a:pPr lvl="1"/>
            <a:endParaRPr lang="en-US" dirty="0"/>
          </a:p>
          <a:p>
            <a:pPr lvl="1"/>
            <a:r>
              <a:rPr lang="en-US" b="1" dirty="0"/>
              <a:t>What is the Data Type?</a:t>
            </a:r>
          </a:p>
          <a:p>
            <a:pPr lvl="1"/>
            <a:endParaRPr lang="en-US" b="1" dirty="0"/>
          </a:p>
          <a:p>
            <a:pPr lvl="1"/>
            <a:r>
              <a:rPr lang="en-US" b="1" dirty="0"/>
              <a:t>What is the Formula?</a:t>
            </a:r>
          </a:p>
          <a:p>
            <a:endParaRPr lang="en-US" b="1" dirty="0"/>
          </a:p>
          <a:p>
            <a:endParaRPr lang="en-US" b="1" dirty="0"/>
          </a:p>
          <a:p>
            <a:endParaRPr lang="en-US" dirty="0"/>
          </a:p>
          <a:p>
            <a:endParaRPr lang="en-US" dirty="0"/>
          </a:p>
          <a:p>
            <a:endParaRPr lang="en-US" dirty="0"/>
          </a:p>
        </p:txBody>
      </p:sp>
      <p:sp>
        <p:nvSpPr>
          <p:cNvPr id="134148"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77</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768003"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marL="220687" indent="-220687">
              <a:defRPr/>
            </a:pPr>
            <a:r>
              <a:rPr lang="en-US" b="1" dirty="0"/>
              <a:t>Create</a:t>
            </a:r>
            <a:r>
              <a:rPr lang="en-US" dirty="0"/>
              <a:t> a new </a:t>
            </a:r>
            <a:r>
              <a:rPr lang="en-US" b="1" dirty="0"/>
              <a:t>Peak Type</a:t>
            </a:r>
            <a:r>
              <a:rPr lang="en-US" dirty="0"/>
              <a:t> custom field for</a:t>
            </a:r>
            <a:r>
              <a:rPr lang="en-US" b="1" dirty="0"/>
              <a:t> Percent_Label_Claim.</a:t>
            </a:r>
          </a:p>
          <a:p>
            <a:pPr marL="220687" indent="-220687">
              <a:defRPr/>
            </a:pPr>
            <a:endParaRPr lang="en-US" b="1" dirty="0"/>
          </a:p>
          <a:p>
            <a:pPr marL="233309" indent="-233309">
              <a:buFont typeface="+mj-lt"/>
              <a:buAutoNum type="arabicPeriod"/>
              <a:defRPr/>
            </a:pPr>
            <a:r>
              <a:rPr lang="en-US" dirty="0"/>
              <a:t>Field Type: </a:t>
            </a:r>
            <a:r>
              <a:rPr lang="en-US" b="1" dirty="0"/>
              <a:t>Peak</a:t>
            </a:r>
          </a:p>
          <a:p>
            <a:pPr marL="233309" indent="-233309">
              <a:buFont typeface="+mj-lt"/>
              <a:buAutoNum type="arabicPeriod"/>
              <a:defRPr/>
            </a:pPr>
            <a:r>
              <a:rPr lang="en-US" dirty="0"/>
              <a:t>Data Type: </a:t>
            </a:r>
            <a:r>
              <a:rPr lang="en-US" b="1" dirty="0"/>
              <a:t>Real</a:t>
            </a:r>
          </a:p>
          <a:p>
            <a:pPr marL="220687" indent="-220687">
              <a:buFontTx/>
              <a:buAutoNum type="arabicPeriod"/>
              <a:defRPr/>
            </a:pPr>
            <a:r>
              <a:rPr lang="en-US" dirty="0"/>
              <a:t>Click </a:t>
            </a:r>
            <a:r>
              <a:rPr lang="en-US" b="1" dirty="0"/>
              <a:t>Next.</a:t>
            </a:r>
          </a:p>
          <a:p>
            <a:pPr marL="220687" indent="-220687">
              <a:defRPr/>
            </a:pPr>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78</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6388" name="Rectangle 3"/>
          <p:cNvSpPr>
            <a:spLocks noGrp="1" noChangeArrowheads="1"/>
          </p:cNvSpPr>
          <p:nvPr>
            <p:ph type="body" idx="1"/>
          </p:nvPr>
        </p:nvSpPr>
        <p:spPr>
          <a:xfrm>
            <a:off x="906358" y="4716877"/>
            <a:ext cx="4984961" cy="4197945"/>
          </a:xfrm>
          <a:solidFill>
            <a:srgbClr val="FFFFFF"/>
          </a:solidFill>
          <a:ln/>
        </p:spPr>
        <p:txBody>
          <a:bodyPr lIns="93050" tIns="46525" rIns="93050" bIns="46525">
            <a:normAutofit/>
          </a:bodyPr>
          <a:lstStyle/>
          <a:p>
            <a:pPr>
              <a:buFont typeface="Calibri" pitchFamily="34" charset="0"/>
              <a:buAutoNum type="arabicPeriod" startAt="4"/>
            </a:pPr>
            <a:r>
              <a:rPr lang="en-US" dirty="0"/>
              <a:t>Data Source: </a:t>
            </a:r>
            <a:r>
              <a:rPr lang="en-US" b="1" dirty="0"/>
              <a:t>Calculated</a:t>
            </a:r>
            <a:endParaRPr lang="en-US" dirty="0"/>
          </a:p>
          <a:p>
            <a:pPr>
              <a:buFont typeface="Calibri" pitchFamily="34" charset="0"/>
              <a:buAutoNum type="arabicPeriod" startAt="4"/>
            </a:pPr>
            <a:r>
              <a:rPr lang="en-US" dirty="0"/>
              <a:t>Sample Type: </a:t>
            </a:r>
            <a:r>
              <a:rPr lang="en-US" b="1" dirty="0"/>
              <a:t>All</a:t>
            </a:r>
          </a:p>
          <a:p>
            <a:pPr>
              <a:buFont typeface="Calibri" pitchFamily="34" charset="0"/>
              <a:buAutoNum type="arabicPeriod" startAt="4"/>
            </a:pPr>
            <a:r>
              <a:rPr lang="en-US" dirty="0"/>
              <a:t>Peak Type: </a:t>
            </a:r>
            <a:r>
              <a:rPr lang="en-US" b="1" dirty="0"/>
              <a:t>Founds Only</a:t>
            </a:r>
          </a:p>
          <a:p>
            <a:pPr>
              <a:buFont typeface="Calibri" pitchFamily="34" charset="0"/>
              <a:buAutoNum type="arabicPeriod" startAt="4"/>
            </a:pPr>
            <a:r>
              <a:rPr lang="en-US" b="0" dirty="0"/>
              <a:t>Click </a:t>
            </a:r>
            <a:r>
              <a:rPr lang="en-US" b="1" dirty="0"/>
              <a:t>OK</a:t>
            </a:r>
          </a:p>
          <a:p>
            <a:pPr>
              <a:buFont typeface="Calibri" pitchFamily="34" charset="0"/>
              <a:buAutoNum type="arabicPeriod" startAt="4"/>
            </a:pPr>
            <a:r>
              <a:rPr lang="en-US" b="0" dirty="0"/>
              <a:t>Click </a:t>
            </a:r>
            <a:r>
              <a:rPr lang="en-US" b="1" dirty="0"/>
              <a:t>Next</a:t>
            </a:r>
          </a:p>
        </p:txBody>
      </p:sp>
      <p:sp>
        <p:nvSpPr>
          <p:cNvPr id="7" name="Date Placeholder 6"/>
          <p:cNvSpPr>
            <a:spLocks noGrp="1"/>
          </p:cNvSpPr>
          <p:nvPr>
            <p:ph type="dt" idx="10"/>
          </p:nvPr>
        </p:nvSpPr>
        <p:spPr/>
        <p:txBody>
          <a:bodyPr/>
          <a:lstStyle/>
          <a:p>
            <a:r>
              <a:rPr lang="en-US" dirty="0"/>
              <a:t>Custom Fields</a:t>
            </a:r>
          </a:p>
        </p:txBody>
      </p:sp>
      <p:sp>
        <p:nvSpPr>
          <p:cNvPr id="8" name="Slide Number Placeholder 7"/>
          <p:cNvSpPr>
            <a:spLocks noGrp="1"/>
          </p:cNvSpPr>
          <p:nvPr>
            <p:ph type="sldNum" sz="quarter" idx="11"/>
          </p:nvPr>
        </p:nvSpPr>
        <p:spPr/>
        <p:txBody>
          <a:bodyPr/>
          <a:lstStyle/>
          <a:p>
            <a:r>
              <a:rPr lang="en-US" dirty="0"/>
              <a:t>Page </a:t>
            </a:r>
            <a:fld id="{3242409A-B053-4208-A245-A8F1D7E49324}" type="slidenum">
              <a:rPr lang="en-US" smtClean="0"/>
              <a:pPr/>
              <a:t>79</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36195" name="Rectangle 3"/>
          <p:cNvSpPr>
            <a:spLocks noGrp="1" noChangeArrowheads="1"/>
          </p:cNvSpPr>
          <p:nvPr>
            <p:ph type="body" idx="1"/>
          </p:nvPr>
        </p:nvSpPr>
        <p:spPr>
          <a:xfrm>
            <a:off x="906358" y="4716878"/>
            <a:ext cx="4899991" cy="4309378"/>
          </a:xfrm>
          <a:solidFill>
            <a:srgbClr val="FFFFFF"/>
          </a:solidFill>
          <a:ln/>
        </p:spPr>
        <p:txBody>
          <a:bodyPr lIns="93050" tIns="46525" rIns="93050" bIns="46525"/>
          <a:lstStyle/>
          <a:p>
            <a:r>
              <a:rPr lang="en-US" dirty="0"/>
              <a:t>Create the formula by selecting from the available fields list and operations. </a:t>
            </a:r>
          </a:p>
          <a:p>
            <a:pPr>
              <a:buNone/>
            </a:pPr>
            <a:r>
              <a:rPr lang="en-US" dirty="0"/>
              <a:t> </a:t>
            </a:r>
          </a:p>
          <a:p>
            <a:pPr>
              <a:buNone/>
            </a:pPr>
            <a:r>
              <a:rPr lang="en-US" b="1" i="1" dirty="0"/>
              <a:t>Note</a:t>
            </a:r>
            <a:r>
              <a:rPr lang="en-US" i="1" dirty="0"/>
              <a:t>: Do Not type Field Names or Mathematical Operators.</a:t>
            </a:r>
          </a:p>
          <a:p>
            <a:pPr>
              <a:buFontTx/>
              <a:buChar char="•"/>
            </a:pPr>
            <a:endParaRPr lang="en-US" b="1" dirty="0"/>
          </a:p>
          <a:p>
            <a:pPr>
              <a:buFont typeface="Wingdings 2" pitchFamily="18" charset="2"/>
              <a:buNone/>
            </a:pPr>
            <a:r>
              <a:rPr lang="en-US" dirty="0"/>
              <a:t>The Formula:</a:t>
            </a:r>
          </a:p>
          <a:p>
            <a:pPr>
              <a:buFont typeface="Wingdings 2" pitchFamily="18" charset="2"/>
              <a:buNone/>
            </a:pPr>
            <a:endParaRPr lang="en-US" dirty="0"/>
          </a:p>
          <a:p>
            <a:pPr>
              <a:buFont typeface="Wingdings 2" pitchFamily="18" charset="2"/>
              <a:buNone/>
            </a:pPr>
            <a:r>
              <a:rPr lang="en-US" sz="1400" dirty="0"/>
              <a:t>Field= Amount/Label_Claim*100</a:t>
            </a:r>
          </a:p>
          <a:p>
            <a:pPr>
              <a:buFont typeface="Wingdings 2" pitchFamily="18" charset="2"/>
              <a:buNone/>
            </a:pPr>
            <a:r>
              <a:rPr lang="en-US" b="1" dirty="0"/>
              <a:t>			</a:t>
            </a:r>
          </a:p>
          <a:p>
            <a:pPr marL="228600" indent="-228600">
              <a:buFont typeface="+mj-lt"/>
              <a:buAutoNum type="arabicPeriod" startAt="9"/>
            </a:pPr>
            <a:r>
              <a:rPr lang="en-US" dirty="0"/>
              <a:t>Double click </a:t>
            </a:r>
            <a:r>
              <a:rPr lang="en-US" b="1" dirty="0"/>
              <a:t>Amount.</a:t>
            </a:r>
          </a:p>
          <a:p>
            <a:pPr>
              <a:buFont typeface="Calibri" pitchFamily="34" charset="0"/>
              <a:buAutoNum type="arabicPeriod" startAt="9"/>
            </a:pPr>
            <a:r>
              <a:rPr lang="en-US" dirty="0"/>
              <a:t>Double click </a:t>
            </a:r>
            <a:r>
              <a:rPr lang="en-US" b="1" dirty="0"/>
              <a:t>/.</a:t>
            </a:r>
          </a:p>
          <a:p>
            <a:pPr>
              <a:buFont typeface="Calibri" pitchFamily="34" charset="0"/>
              <a:buAutoNum type="arabicPeriod" startAt="9"/>
            </a:pPr>
            <a:r>
              <a:rPr lang="en-US" dirty="0"/>
              <a:t>Double click </a:t>
            </a:r>
            <a:r>
              <a:rPr lang="en-US" b="1" dirty="0"/>
              <a:t>Label_Claim.</a:t>
            </a:r>
          </a:p>
          <a:p>
            <a:pPr>
              <a:buFont typeface="Calibri" pitchFamily="34" charset="0"/>
              <a:buAutoNum type="arabicPeriod" startAt="9"/>
            </a:pPr>
            <a:r>
              <a:rPr lang="en-US" dirty="0"/>
              <a:t>Double click *.</a:t>
            </a:r>
          </a:p>
          <a:p>
            <a:pPr>
              <a:buFont typeface="Calibri" pitchFamily="34" charset="0"/>
              <a:buAutoNum type="arabicPeriod" startAt="9"/>
            </a:pPr>
            <a:r>
              <a:rPr lang="en-US" dirty="0"/>
              <a:t>Type </a:t>
            </a:r>
            <a:r>
              <a:rPr lang="en-US" b="1" dirty="0"/>
              <a:t>100 </a:t>
            </a:r>
            <a:r>
              <a:rPr lang="en-US" dirty="0"/>
              <a:t>from your keyboard.</a:t>
            </a:r>
          </a:p>
          <a:p>
            <a:pPr>
              <a:buFont typeface="Calibri" pitchFamily="34" charset="0"/>
              <a:buAutoNum type="arabicPeriod" startAt="9"/>
            </a:pPr>
            <a:r>
              <a:rPr lang="en-US" dirty="0"/>
              <a:t>Click </a:t>
            </a:r>
            <a:r>
              <a:rPr lang="en-US" b="1" dirty="0"/>
              <a:t>Next</a:t>
            </a:r>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80</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37219"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marL="228600" indent="-228600">
              <a:buFont typeface="+mj-lt"/>
              <a:buAutoNum type="arabicPeriod" startAt="15"/>
            </a:pPr>
            <a:r>
              <a:rPr lang="en-US" dirty="0"/>
              <a:t>Maximum number of characters: </a:t>
            </a:r>
            <a:r>
              <a:rPr lang="en-US" b="1" dirty="0"/>
              <a:t>12</a:t>
            </a:r>
          </a:p>
          <a:p>
            <a:pPr>
              <a:buFont typeface="Wingdings 2" pitchFamily="18" charset="2"/>
              <a:buNone/>
            </a:pPr>
            <a:r>
              <a:rPr lang="en-US" b="1" i="1" dirty="0"/>
              <a:t>Tip: </a:t>
            </a:r>
            <a:r>
              <a:rPr lang="en-US" i="1" dirty="0"/>
              <a:t>Remember to count the decimal point and/ or sign characters.</a:t>
            </a:r>
          </a:p>
          <a:p>
            <a:pPr>
              <a:buFont typeface="Wingdings 2" pitchFamily="18" charset="2"/>
              <a:buNone/>
            </a:pPr>
            <a:endParaRPr lang="en-US" i="1" dirty="0"/>
          </a:p>
          <a:p>
            <a:pPr marL="228600" indent="-228600">
              <a:buFont typeface="+mj-lt"/>
              <a:buAutoNum type="arabicPeriod" startAt="16"/>
            </a:pPr>
            <a:r>
              <a:rPr lang="en-US" dirty="0"/>
              <a:t>Precision: </a:t>
            </a:r>
            <a:r>
              <a:rPr lang="en-US" b="1" dirty="0"/>
              <a:t>3</a:t>
            </a:r>
          </a:p>
          <a:p>
            <a:pPr marL="228600" indent="-228600">
              <a:buFont typeface="+mj-lt"/>
              <a:buAutoNum type="arabicPeriod" startAt="16"/>
            </a:pPr>
            <a:r>
              <a:rPr lang="en-US" dirty="0"/>
              <a:t>Click </a:t>
            </a:r>
            <a:r>
              <a:rPr lang="en-US" b="1" dirty="0"/>
              <a:t>Next</a:t>
            </a:r>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81</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38243"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marL="228600" indent="-228600">
              <a:buFont typeface="+mj-lt"/>
              <a:buAutoNum type="arabicPeriod" startAt="18"/>
            </a:pPr>
            <a:r>
              <a:rPr lang="en-US" dirty="0"/>
              <a:t>Name the new field:  </a:t>
            </a:r>
            <a:r>
              <a:rPr lang="en-US" b="1" dirty="0"/>
              <a:t>Percent_Label_Claim</a:t>
            </a:r>
          </a:p>
          <a:p>
            <a:pPr>
              <a:buFont typeface="Calibri" pitchFamily="34" charset="0"/>
              <a:buAutoNum type="arabicPeriod" startAt="18"/>
            </a:pPr>
            <a:r>
              <a:rPr lang="en-US" dirty="0"/>
              <a:t>Create this field in only one Project.</a:t>
            </a:r>
          </a:p>
          <a:p>
            <a:pPr>
              <a:buFont typeface="Calibri" pitchFamily="34" charset="0"/>
              <a:buAutoNum type="arabicPeriod" startAt="18"/>
            </a:pPr>
            <a:r>
              <a:rPr lang="en-US" dirty="0"/>
              <a:t>Click </a:t>
            </a:r>
            <a:r>
              <a:rPr lang="en-US" b="1" dirty="0"/>
              <a:t>Finish.</a:t>
            </a:r>
          </a:p>
          <a:p>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82</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Viewing the result of a Peak Type Custom Field calculation, Percent_Label_Claim</a:t>
            </a:r>
          </a:p>
          <a:p>
            <a:pPr algn="ctr">
              <a:buNone/>
            </a:pPr>
            <a:endParaRPr lang="en-US" b="1" i="1" dirty="0"/>
          </a:p>
          <a:p>
            <a:pPr algn="l">
              <a:buSzPct val="150000"/>
              <a:buFont typeface="Wingdings" pitchFamily="2" charset="2"/>
              <a:buChar char="§"/>
            </a:pPr>
            <a:r>
              <a:rPr lang="en-US" b="0" i="0" dirty="0"/>
              <a:t>Since </a:t>
            </a:r>
            <a:r>
              <a:rPr lang="en-US" b="1" i="1" dirty="0"/>
              <a:t>Percent_Label_Claim </a:t>
            </a:r>
            <a:r>
              <a:rPr lang="en-US" b="0" i="0" dirty="0"/>
              <a:t>is a Peak type custom field</a:t>
            </a:r>
            <a:r>
              <a:rPr lang="en-US" b="0" i="0" baseline="0" dirty="0"/>
              <a:t> it will appear in the peak table in review when the chromatogram has been integrated and </a:t>
            </a:r>
            <a:r>
              <a:rPr lang="en-US" b="0" i="0" baseline="0" dirty="0" err="1"/>
              <a:t>quantitated</a:t>
            </a:r>
            <a:r>
              <a:rPr lang="en-US" b="0" i="0" baseline="0" dirty="0"/>
              <a:t>.</a:t>
            </a:r>
            <a:endParaRPr lang="en-US" b="0" i="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83</a:t>
            </a:fld>
            <a:r>
              <a:rPr lang="en-US"/>
              <a:t> of 88</a:t>
            </a:r>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Viewing the result of a Peak Type Custom Field calculation, Percent_Label_Claim</a:t>
            </a:r>
          </a:p>
          <a:p>
            <a:pPr algn="ctr">
              <a:buNone/>
            </a:pPr>
            <a:endParaRPr lang="en-US" b="1" i="1" dirty="0"/>
          </a:p>
          <a:p>
            <a:pPr algn="l">
              <a:buSzPct val="150000"/>
              <a:buFont typeface="Wingdings" pitchFamily="2" charset="2"/>
              <a:buChar char="§"/>
            </a:pPr>
            <a:r>
              <a:rPr lang="en-US" b="0" i="0" dirty="0"/>
              <a:t>Since we asked for this CF to only be calculated for unknowns results will not appear for a standard as shown above.</a:t>
            </a:r>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84</a:t>
            </a:fld>
            <a:r>
              <a:rPr lang="en-US"/>
              <a:t> of 88</a:t>
            </a:r>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39267"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r>
              <a:rPr lang="en-US" b="1" dirty="0"/>
              <a:t>Create</a:t>
            </a:r>
            <a:r>
              <a:rPr lang="en-US" dirty="0"/>
              <a:t> a new </a:t>
            </a:r>
            <a:r>
              <a:rPr lang="en-US" b="1" dirty="0"/>
              <a:t>Peak Type</a:t>
            </a:r>
            <a:r>
              <a:rPr lang="en-US" dirty="0"/>
              <a:t> custom field for </a:t>
            </a:r>
            <a:r>
              <a:rPr lang="en-US" b="1" dirty="0"/>
              <a:t>Potency.</a:t>
            </a:r>
          </a:p>
          <a:p>
            <a:pPr lvl="1"/>
            <a:r>
              <a:rPr lang="en-US" b="1" dirty="0"/>
              <a:t>Why Peak Type?  </a:t>
            </a:r>
            <a:r>
              <a:rPr lang="en-US" dirty="0"/>
              <a:t>This field is calculated by Empower.</a:t>
            </a:r>
          </a:p>
          <a:p>
            <a:pPr lvl="1"/>
            <a:endParaRPr lang="en-US" b="1" dirty="0"/>
          </a:p>
          <a:p>
            <a:pPr lvl="1"/>
            <a:r>
              <a:rPr lang="en-US" b="1" dirty="0"/>
              <a:t>What is the Data Type?</a:t>
            </a:r>
          </a:p>
          <a:p>
            <a:pPr lvl="1"/>
            <a:endParaRPr lang="en-US" b="1" dirty="0"/>
          </a:p>
          <a:p>
            <a:pPr lvl="1"/>
            <a:r>
              <a:rPr lang="en-US" b="1" dirty="0"/>
              <a:t>What is the Formula?</a:t>
            </a:r>
          </a:p>
          <a:p>
            <a:endParaRPr lang="en-US" b="1" dirty="0"/>
          </a:p>
          <a:p>
            <a:endParaRPr lang="en-US" b="1" dirty="0"/>
          </a:p>
          <a:p>
            <a:endParaRPr lang="en-US" dirty="0"/>
          </a:p>
          <a:p>
            <a:endParaRPr lang="en-US" dirty="0"/>
          </a:p>
          <a:p>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85</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Date Placeholder 3"/>
          <p:cNvSpPr>
            <a:spLocks noGrp="1"/>
          </p:cNvSpPr>
          <p:nvPr>
            <p:ph type="dt" idx="10"/>
          </p:nvPr>
        </p:nvSpPr>
        <p:spPr/>
        <p:txBody>
          <a:bodyPr/>
          <a:lstStyle/>
          <a:p>
            <a:r>
              <a:rPr lang="en-US"/>
              <a:t>Custom Fields</a:t>
            </a:r>
            <a:endParaRPr lang="en-US" dirty="0"/>
          </a:p>
        </p:txBody>
      </p:sp>
      <p:sp>
        <p:nvSpPr>
          <p:cNvPr id="5" name="Footer Placeholder 4"/>
          <p:cNvSpPr>
            <a:spLocks noGrp="1"/>
          </p:cNvSpPr>
          <p:nvPr>
            <p:ph type="ftr" sz="quarter" idx="11"/>
          </p:nvPr>
        </p:nvSpPr>
        <p:spPr/>
        <p:txBody>
          <a:bodyPr/>
          <a:lstStyle/>
          <a:p>
            <a:r>
              <a:rPr lang="en-US"/>
              <a:t>Rev. 24011</a:t>
            </a:r>
            <a:endParaRPr lang="en-US" dirty="0"/>
          </a:p>
        </p:txBody>
      </p:sp>
      <p:sp>
        <p:nvSpPr>
          <p:cNvPr id="6" name="Slide Number Placeholder 5"/>
          <p:cNvSpPr>
            <a:spLocks noGrp="1"/>
          </p:cNvSpPr>
          <p:nvPr>
            <p:ph type="sldNum" sz="quarter" idx="12"/>
          </p:nvPr>
        </p:nvSpPr>
        <p:spPr/>
        <p:txBody>
          <a:bodyPr/>
          <a:lstStyle/>
          <a:p>
            <a:r>
              <a:rPr lang="en-US"/>
              <a:t>Page </a:t>
            </a:r>
            <a:fld id="{3242409A-B053-4208-A245-A8F1D7E49324}" type="slidenum">
              <a:rPr lang="en-US" smtClean="0"/>
              <a:pPr/>
              <a:t>86</a:t>
            </a:fld>
            <a:r>
              <a:rPr lang="en-US"/>
              <a:t> of 81</a:t>
            </a:r>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40291"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r>
              <a:rPr lang="en-US" b="1" dirty="0"/>
              <a:t>Create</a:t>
            </a:r>
            <a:r>
              <a:rPr lang="en-US" dirty="0"/>
              <a:t> a new </a:t>
            </a:r>
            <a:r>
              <a:rPr lang="en-US" b="1" dirty="0"/>
              <a:t>Peak Type</a:t>
            </a:r>
            <a:r>
              <a:rPr lang="en-US" dirty="0"/>
              <a:t> custom field for</a:t>
            </a:r>
            <a:r>
              <a:rPr lang="en-US" b="1" dirty="0"/>
              <a:t> Potency.</a:t>
            </a:r>
          </a:p>
          <a:p>
            <a:endParaRPr lang="en-US" b="1" dirty="0"/>
          </a:p>
          <a:p>
            <a:endParaRPr lang="en-US" dirty="0"/>
          </a:p>
          <a:p>
            <a:pPr>
              <a:buFont typeface="Calibri" pitchFamily="34" charset="0"/>
              <a:buAutoNum type="arabicPeriod"/>
            </a:pPr>
            <a:r>
              <a:rPr lang="en-US" dirty="0"/>
              <a:t>Field Type: </a:t>
            </a:r>
            <a:r>
              <a:rPr lang="en-US" b="1" dirty="0"/>
              <a:t>Peak</a:t>
            </a:r>
          </a:p>
          <a:p>
            <a:pPr>
              <a:buFont typeface="Calibri" pitchFamily="34" charset="0"/>
              <a:buAutoNum type="arabicPeriod"/>
            </a:pPr>
            <a:r>
              <a:rPr lang="en-US" dirty="0"/>
              <a:t>Data Type: </a:t>
            </a:r>
            <a:r>
              <a:rPr lang="en-US" b="1" dirty="0"/>
              <a:t>Bool</a:t>
            </a:r>
          </a:p>
          <a:p>
            <a:pPr>
              <a:buFont typeface="Calibri" pitchFamily="34" charset="0"/>
              <a:buAutoNum type="arabicPeriod"/>
            </a:pPr>
            <a:r>
              <a:rPr lang="en-US" dirty="0"/>
              <a:t>Click </a:t>
            </a:r>
            <a:r>
              <a:rPr lang="en-US" b="1" dirty="0"/>
              <a:t>Next.</a:t>
            </a:r>
          </a:p>
          <a:p>
            <a:endParaRPr lang="en-US" b="1" dirty="0"/>
          </a:p>
        </p:txBody>
      </p:sp>
      <p:sp>
        <p:nvSpPr>
          <p:cNvPr id="140292"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88</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41315" name="Rectangle 3"/>
          <p:cNvSpPr>
            <a:spLocks noGrp="1" noChangeArrowheads="1"/>
          </p:cNvSpPr>
          <p:nvPr>
            <p:ph type="body" idx="1"/>
          </p:nvPr>
        </p:nvSpPr>
        <p:spPr>
          <a:xfrm>
            <a:off x="906358" y="4716878"/>
            <a:ext cx="4984961" cy="4058650"/>
          </a:xfrm>
          <a:solidFill>
            <a:srgbClr val="FFFFFF"/>
          </a:solidFill>
          <a:ln/>
        </p:spPr>
        <p:txBody>
          <a:bodyPr lIns="93050" tIns="46525" rIns="93050" bIns="46525"/>
          <a:lstStyle/>
          <a:p>
            <a:pPr>
              <a:buFont typeface="Calibri" pitchFamily="34" charset="0"/>
              <a:buAutoNum type="arabicPeriod" startAt="4"/>
            </a:pPr>
            <a:r>
              <a:rPr lang="en-US" dirty="0"/>
              <a:t>Data Source: </a:t>
            </a:r>
            <a:r>
              <a:rPr lang="en-US" b="1" dirty="0"/>
              <a:t>Calculated</a:t>
            </a:r>
          </a:p>
          <a:p>
            <a:pPr>
              <a:buFont typeface="Calibri" pitchFamily="34" charset="0"/>
              <a:buAutoNum type="arabicPeriod" startAt="4"/>
            </a:pPr>
            <a:r>
              <a:rPr lang="en-US" dirty="0"/>
              <a:t>Use As: </a:t>
            </a:r>
            <a:r>
              <a:rPr lang="en-US" b="1" dirty="0"/>
              <a:t>Position</a:t>
            </a:r>
            <a:endParaRPr lang="en-US" dirty="0"/>
          </a:p>
          <a:p>
            <a:pPr>
              <a:buFont typeface="Calibri" pitchFamily="34" charset="0"/>
              <a:buAutoNum type="arabicPeriod" startAt="4"/>
            </a:pPr>
            <a:r>
              <a:rPr lang="en-US" dirty="0"/>
              <a:t>Sample Type: </a:t>
            </a:r>
            <a:r>
              <a:rPr lang="en-US" b="1" dirty="0"/>
              <a:t>All</a:t>
            </a:r>
          </a:p>
          <a:p>
            <a:pPr>
              <a:buFont typeface="Calibri" pitchFamily="34" charset="0"/>
              <a:buAutoNum type="arabicPeriod" startAt="4"/>
            </a:pPr>
            <a:r>
              <a:rPr lang="en-US" dirty="0"/>
              <a:t>Peak Type: </a:t>
            </a:r>
            <a:r>
              <a:rPr lang="en-US" b="1" dirty="0"/>
              <a:t>Founds Only</a:t>
            </a:r>
          </a:p>
          <a:p>
            <a:pPr>
              <a:buFont typeface="Calibri" pitchFamily="34" charset="0"/>
              <a:buAutoNum type="arabicPeriod" startAt="4"/>
            </a:pPr>
            <a:r>
              <a:rPr lang="en-US" dirty="0"/>
              <a:t>Click </a:t>
            </a:r>
            <a:r>
              <a:rPr lang="en-US" b="1" dirty="0"/>
              <a:t>OK</a:t>
            </a:r>
            <a:r>
              <a:rPr lang="en-US" dirty="0"/>
              <a:t> to dialog box message</a:t>
            </a:r>
          </a:p>
          <a:p>
            <a:pPr>
              <a:buFont typeface="Calibri" pitchFamily="34" charset="0"/>
              <a:buAutoNum type="arabicPeriod" startAt="4"/>
            </a:pPr>
            <a:r>
              <a:rPr lang="en-US" dirty="0"/>
              <a:t>Click </a:t>
            </a:r>
            <a:r>
              <a:rPr lang="en-US" b="1" dirty="0"/>
              <a:t>Next</a:t>
            </a:r>
          </a:p>
          <a:p>
            <a:pPr lvl="2">
              <a:buFontTx/>
              <a:buNone/>
            </a:pPr>
            <a:endParaRPr lang="en-US" dirty="0"/>
          </a:p>
          <a:p>
            <a:pPr lvl="2">
              <a:buFontTx/>
              <a:buNone/>
            </a:pPr>
            <a:endParaRPr lang="en-US" dirty="0"/>
          </a:p>
          <a:p>
            <a:pPr lvl="1">
              <a:buFontTx/>
              <a:buNone/>
            </a:pPr>
            <a:endParaRPr lang="en-US" dirty="0"/>
          </a:p>
        </p:txBody>
      </p:sp>
      <p:sp>
        <p:nvSpPr>
          <p:cNvPr id="141316"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89</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42339" name="Rectangle 3"/>
          <p:cNvSpPr>
            <a:spLocks noGrp="1" noChangeArrowheads="1"/>
          </p:cNvSpPr>
          <p:nvPr>
            <p:ph type="body" idx="1"/>
          </p:nvPr>
        </p:nvSpPr>
        <p:spPr>
          <a:xfrm>
            <a:off x="906358" y="4716877"/>
            <a:ext cx="4899991" cy="3555321"/>
          </a:xfrm>
          <a:solidFill>
            <a:srgbClr val="FFFFFF"/>
          </a:solidFill>
          <a:ln/>
        </p:spPr>
        <p:txBody>
          <a:bodyPr lIns="93050" tIns="46525" rIns="93050" bIns="46525"/>
          <a:lstStyle/>
          <a:p>
            <a:r>
              <a:rPr lang="en-US" dirty="0"/>
              <a:t>Create the formula by selecting from the available fields list and operations.  Do not type Field Type Names or Mathematical Operators. </a:t>
            </a:r>
          </a:p>
          <a:p>
            <a:pPr>
              <a:buFontTx/>
              <a:buChar char="•"/>
            </a:pPr>
            <a:endParaRPr lang="en-US" b="1" dirty="0"/>
          </a:p>
          <a:p>
            <a:pPr>
              <a:buFont typeface="Wingdings 2" pitchFamily="18" charset="2"/>
              <a:buNone/>
            </a:pPr>
            <a:r>
              <a:rPr lang="en-US" dirty="0"/>
              <a:t>The Formula:</a:t>
            </a:r>
          </a:p>
          <a:p>
            <a:pPr>
              <a:buFont typeface="Wingdings 2" pitchFamily="18" charset="2"/>
              <a:buNone/>
            </a:pPr>
            <a:r>
              <a:rPr lang="en-US" sz="1400" dirty="0"/>
              <a:t>Field= RANGE(Percent_Label_Claim,95,103)</a:t>
            </a:r>
          </a:p>
          <a:p>
            <a:pPr>
              <a:buFont typeface="Wingdings 2" pitchFamily="18" charset="2"/>
              <a:buNone/>
            </a:pPr>
            <a:r>
              <a:rPr lang="en-US" b="1" dirty="0"/>
              <a:t>			</a:t>
            </a:r>
          </a:p>
          <a:p>
            <a:pPr marL="228600" indent="-228600">
              <a:buFont typeface="+mj-lt"/>
              <a:buAutoNum type="arabicPeriod" startAt="10"/>
            </a:pPr>
            <a:r>
              <a:rPr lang="en-US" dirty="0"/>
              <a:t>Double click </a:t>
            </a:r>
            <a:r>
              <a:rPr lang="en-US" b="1" dirty="0"/>
              <a:t>RANGE.</a:t>
            </a:r>
          </a:p>
          <a:p>
            <a:pPr>
              <a:buFont typeface="Calibri" pitchFamily="34" charset="0"/>
              <a:buAutoNum type="arabicPeriod" startAt="10"/>
            </a:pPr>
            <a:r>
              <a:rPr lang="en-US" dirty="0"/>
              <a:t>Double click </a:t>
            </a:r>
            <a:r>
              <a:rPr lang="en-US" b="1" dirty="0"/>
              <a:t>Percent_Label_Claim.</a:t>
            </a:r>
          </a:p>
          <a:p>
            <a:pPr>
              <a:buFont typeface="Calibri" pitchFamily="34" charset="0"/>
              <a:buAutoNum type="arabicPeriod" startAt="10"/>
            </a:pPr>
            <a:r>
              <a:rPr lang="en-US" dirty="0"/>
              <a:t>Type </a:t>
            </a:r>
            <a:r>
              <a:rPr lang="en-US" b="1" dirty="0"/>
              <a:t>,</a:t>
            </a:r>
            <a:r>
              <a:rPr lang="en-US" dirty="0"/>
              <a:t> from your keyboard.</a:t>
            </a:r>
          </a:p>
          <a:p>
            <a:pPr>
              <a:buFont typeface="Calibri" pitchFamily="34" charset="0"/>
              <a:buAutoNum type="arabicPeriod" startAt="10"/>
            </a:pPr>
            <a:r>
              <a:rPr lang="en-US" dirty="0"/>
              <a:t>Type</a:t>
            </a:r>
            <a:r>
              <a:rPr lang="en-US" b="1" dirty="0"/>
              <a:t> 95 </a:t>
            </a:r>
            <a:r>
              <a:rPr lang="en-US" dirty="0"/>
              <a:t>from your keyboard.</a:t>
            </a:r>
          </a:p>
          <a:p>
            <a:pPr>
              <a:buFont typeface="Calibri" pitchFamily="34" charset="0"/>
              <a:buAutoNum type="arabicPeriod" startAt="10"/>
            </a:pPr>
            <a:r>
              <a:rPr lang="en-US" dirty="0"/>
              <a:t>Type </a:t>
            </a:r>
            <a:r>
              <a:rPr lang="en-US" b="1" dirty="0"/>
              <a:t>,</a:t>
            </a:r>
            <a:r>
              <a:rPr lang="en-US" dirty="0"/>
              <a:t> from your keyboard.</a:t>
            </a:r>
          </a:p>
          <a:p>
            <a:pPr>
              <a:buFont typeface="Calibri" pitchFamily="34" charset="0"/>
              <a:buAutoNum type="arabicPeriod" startAt="10"/>
            </a:pPr>
            <a:r>
              <a:rPr lang="en-US" dirty="0"/>
              <a:t>Type </a:t>
            </a:r>
            <a:r>
              <a:rPr lang="en-US" b="1" dirty="0"/>
              <a:t>103</a:t>
            </a:r>
            <a:r>
              <a:rPr lang="en-US" dirty="0"/>
              <a:t> from your keyboard.</a:t>
            </a:r>
          </a:p>
          <a:p>
            <a:pPr>
              <a:buFont typeface="Calibri" pitchFamily="34" charset="0"/>
              <a:buAutoNum type="arabicPeriod" startAt="10"/>
            </a:pPr>
            <a:r>
              <a:rPr lang="en-US" dirty="0"/>
              <a:t>Double click </a:t>
            </a:r>
            <a:r>
              <a:rPr lang="en-US" b="1" dirty="0"/>
              <a:t>)</a:t>
            </a:r>
            <a:r>
              <a:rPr lang="en-US" dirty="0"/>
              <a:t>.</a:t>
            </a:r>
          </a:p>
          <a:p>
            <a:pPr>
              <a:buFont typeface="Calibri" pitchFamily="34" charset="0"/>
              <a:buAutoNum type="arabicPeriod" startAt="10"/>
            </a:pPr>
            <a:r>
              <a:rPr lang="en-US" dirty="0"/>
              <a:t>Click </a:t>
            </a:r>
            <a:r>
              <a:rPr lang="en-US" b="1" dirty="0"/>
              <a:t>Next</a:t>
            </a:r>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90</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43363"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r>
              <a:rPr lang="en-US" dirty="0"/>
              <a:t>Translation Definition:</a:t>
            </a:r>
          </a:p>
          <a:p>
            <a:pPr>
              <a:buFont typeface="Calibri" pitchFamily="34" charset="0"/>
              <a:buAutoNum type="arabicPeriod" startAt="15"/>
            </a:pPr>
            <a:r>
              <a:rPr lang="en-US" dirty="0"/>
              <a:t>0: </a:t>
            </a:r>
            <a:r>
              <a:rPr lang="en-US" b="1" dirty="0"/>
              <a:t>Below Potency</a:t>
            </a:r>
            <a:r>
              <a:rPr lang="en-US" dirty="0"/>
              <a:t>.</a:t>
            </a:r>
          </a:p>
          <a:p>
            <a:pPr>
              <a:buFont typeface="Calibri" pitchFamily="34" charset="0"/>
              <a:buAutoNum type="arabicPeriod" startAt="15"/>
            </a:pPr>
            <a:r>
              <a:rPr lang="en-US" dirty="0"/>
              <a:t>1: </a:t>
            </a:r>
            <a:r>
              <a:rPr lang="en-US" b="1" dirty="0"/>
              <a:t>Acceptable Potency</a:t>
            </a:r>
            <a:r>
              <a:rPr lang="en-US" dirty="0"/>
              <a:t>.</a:t>
            </a:r>
          </a:p>
          <a:p>
            <a:pPr>
              <a:buFont typeface="Calibri" pitchFamily="34" charset="0"/>
              <a:buAutoNum type="arabicPeriod" startAt="15"/>
            </a:pPr>
            <a:r>
              <a:rPr lang="en-US" dirty="0"/>
              <a:t>Click </a:t>
            </a:r>
            <a:r>
              <a:rPr lang="en-US" b="1" dirty="0"/>
              <a:t>Next</a:t>
            </a:r>
          </a:p>
        </p:txBody>
      </p:sp>
      <p:sp>
        <p:nvSpPr>
          <p:cNvPr id="143364"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91</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44387" name="Rectangle 3"/>
          <p:cNvSpPr>
            <a:spLocks noGrp="1" noChangeArrowheads="1"/>
          </p:cNvSpPr>
          <p:nvPr>
            <p:ph type="body" idx="1"/>
          </p:nvPr>
        </p:nvSpPr>
        <p:spPr>
          <a:xfrm>
            <a:off x="906358" y="4716877"/>
            <a:ext cx="4984961" cy="4225803"/>
          </a:xfrm>
          <a:solidFill>
            <a:srgbClr val="FFFFFF"/>
          </a:solidFill>
          <a:ln/>
        </p:spPr>
        <p:txBody>
          <a:bodyPr lIns="93050" tIns="46525" rIns="93050" bIns="46525"/>
          <a:lstStyle/>
          <a:p>
            <a:pPr>
              <a:buFont typeface="Calibri" pitchFamily="34" charset="0"/>
              <a:buAutoNum type="arabicPeriod" startAt="17"/>
            </a:pPr>
            <a:r>
              <a:rPr lang="en-US" dirty="0"/>
              <a:t>Name the new field: </a:t>
            </a:r>
            <a:r>
              <a:rPr lang="en-US" b="1" dirty="0"/>
              <a:t>Potency</a:t>
            </a:r>
          </a:p>
          <a:p>
            <a:pPr>
              <a:buFont typeface="Calibri" pitchFamily="34" charset="0"/>
              <a:buAutoNum type="arabicPeriod" startAt="17"/>
            </a:pPr>
            <a:r>
              <a:rPr lang="en-US" dirty="0"/>
              <a:t>Create this field in only one Project.</a:t>
            </a:r>
          </a:p>
          <a:p>
            <a:pPr>
              <a:buFont typeface="Calibri" pitchFamily="34" charset="0"/>
              <a:buAutoNum type="arabicPeriod" startAt="17"/>
            </a:pPr>
            <a:r>
              <a:rPr lang="en-US" dirty="0"/>
              <a:t>Click </a:t>
            </a:r>
            <a:r>
              <a:rPr lang="en-US" b="1" dirty="0"/>
              <a:t>Finish.</a:t>
            </a:r>
          </a:p>
          <a:p>
            <a:pPr>
              <a:buFont typeface="Calibri" pitchFamily="34" charset="0"/>
              <a:buAutoNum type="arabicPeriod" startAt="17"/>
            </a:pPr>
            <a:r>
              <a:rPr lang="en-US" dirty="0"/>
              <a:t>Click </a:t>
            </a:r>
            <a:r>
              <a:rPr lang="en-US" b="1" dirty="0"/>
              <a:t>OK</a:t>
            </a:r>
          </a:p>
          <a:p>
            <a:endParaRPr lang="en-US" dirty="0"/>
          </a:p>
        </p:txBody>
      </p:sp>
      <p:pic>
        <p:nvPicPr>
          <p:cNvPr id="7" name="Picture 6" descr="book 3 pg 56a.png"/>
          <p:cNvPicPr>
            <a:picLocks noChangeAspect="1"/>
          </p:cNvPicPr>
          <p:nvPr/>
        </p:nvPicPr>
        <p:blipFill>
          <a:blip r:embed="rId3"/>
          <a:stretch>
            <a:fillRect/>
          </a:stretch>
        </p:blipFill>
        <p:spPr>
          <a:xfrm>
            <a:off x="1209535" y="5896450"/>
            <a:ext cx="4378606" cy="1635050"/>
          </a:xfrm>
          <a:prstGeom prst="rect">
            <a:avLst/>
          </a:prstGeom>
        </p:spPr>
      </p:pic>
      <p:sp>
        <p:nvSpPr>
          <p:cNvPr id="11" name="Date Placeholder 10"/>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92</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Viewing results for a Peak Type Boolean Custom Field, Potency.</a:t>
            </a:r>
            <a:br>
              <a:rPr lang="en-US" b="1" i="1" dirty="0"/>
            </a:br>
            <a:endParaRPr lang="en-US" b="1" i="1" dirty="0"/>
          </a:p>
          <a:p>
            <a:pPr algn="l">
              <a:buSzPct val="150000"/>
              <a:buFont typeface="Wingdings" pitchFamily="2" charset="2"/>
              <a:buChar char="§"/>
            </a:pPr>
            <a:r>
              <a:rPr lang="da-DK" b="0" i="0" dirty="0"/>
              <a:t>The result</a:t>
            </a:r>
            <a:r>
              <a:rPr lang="da-DK" b="0" i="0" baseline="0" dirty="0"/>
              <a:t> of the boolean calculation for the Potency can be viewed in the peak tabel in review.</a:t>
            </a:r>
            <a:endParaRPr lang="en-US" b="0" i="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93</a:t>
            </a:fld>
            <a:r>
              <a:rPr lang="en-US"/>
              <a:t> of 88</a:t>
            </a:r>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51555"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r>
              <a:rPr lang="en-US" b="1" dirty="0"/>
              <a:t>Create</a:t>
            </a:r>
            <a:r>
              <a:rPr lang="en-US" dirty="0"/>
              <a:t> a new </a:t>
            </a:r>
            <a:r>
              <a:rPr lang="en-US" b="1" dirty="0"/>
              <a:t>Result Type</a:t>
            </a:r>
            <a:r>
              <a:rPr lang="en-US" dirty="0"/>
              <a:t> custom field for </a:t>
            </a:r>
            <a:r>
              <a:rPr lang="en-US" b="1" dirty="0"/>
              <a:t>Noise_Criteria.</a:t>
            </a:r>
          </a:p>
          <a:p>
            <a:endParaRPr lang="en-US" b="1" dirty="0"/>
          </a:p>
          <a:p>
            <a:pPr lvl="1"/>
            <a:r>
              <a:rPr lang="en-US" dirty="0"/>
              <a:t>Why Result Type?  This field is calculated by and provides ONE answer for the entire chromatogram.</a:t>
            </a:r>
          </a:p>
          <a:p>
            <a:pPr lvl="1"/>
            <a:endParaRPr lang="en-US" dirty="0"/>
          </a:p>
          <a:p>
            <a:pPr lvl="1"/>
            <a:r>
              <a:rPr lang="en-US" dirty="0"/>
              <a:t>What is the Data Type?</a:t>
            </a:r>
          </a:p>
          <a:p>
            <a:pPr lvl="1"/>
            <a:endParaRPr lang="en-US" dirty="0"/>
          </a:p>
          <a:p>
            <a:pPr lvl="1"/>
            <a:r>
              <a:rPr lang="en-US" dirty="0"/>
              <a:t>What is the Formula?  </a:t>
            </a:r>
          </a:p>
          <a:p>
            <a:endParaRPr lang="en-US" b="1" dirty="0"/>
          </a:p>
          <a:p>
            <a:endParaRPr lang="en-US" dirty="0"/>
          </a:p>
          <a:p>
            <a:endParaRPr lang="en-US" dirty="0"/>
          </a:p>
          <a:p>
            <a:endParaRPr lang="en-US" dirty="0"/>
          </a:p>
        </p:txBody>
      </p:sp>
      <p:sp>
        <p:nvSpPr>
          <p:cNvPr id="151556"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99</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52579"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r>
              <a:rPr lang="en-US" b="1" dirty="0"/>
              <a:t>Create</a:t>
            </a:r>
            <a:r>
              <a:rPr lang="en-US" dirty="0"/>
              <a:t> a new </a:t>
            </a:r>
            <a:r>
              <a:rPr lang="en-US" b="1" dirty="0"/>
              <a:t>Result Type</a:t>
            </a:r>
            <a:r>
              <a:rPr lang="en-US" dirty="0"/>
              <a:t> custom field for</a:t>
            </a:r>
            <a:r>
              <a:rPr lang="en-US" b="1" dirty="0"/>
              <a:t> Noise_Criteria.</a:t>
            </a:r>
          </a:p>
          <a:p>
            <a:endParaRPr lang="en-US" b="1" dirty="0"/>
          </a:p>
          <a:p>
            <a:endParaRPr lang="en-US" dirty="0"/>
          </a:p>
          <a:p>
            <a:pPr>
              <a:buFont typeface="Calibri" pitchFamily="34" charset="0"/>
              <a:buAutoNum type="arabicPeriod"/>
            </a:pPr>
            <a:r>
              <a:rPr lang="en-US" dirty="0"/>
              <a:t>Field Type: </a:t>
            </a:r>
            <a:r>
              <a:rPr lang="en-US" b="1" dirty="0"/>
              <a:t>Result</a:t>
            </a:r>
          </a:p>
          <a:p>
            <a:pPr>
              <a:buFont typeface="Calibri" pitchFamily="34" charset="0"/>
              <a:buAutoNum type="arabicPeriod"/>
            </a:pPr>
            <a:r>
              <a:rPr lang="en-US" dirty="0"/>
              <a:t>Data Type: </a:t>
            </a:r>
            <a:r>
              <a:rPr lang="en-US" b="1" dirty="0"/>
              <a:t>Bool</a:t>
            </a:r>
          </a:p>
          <a:p>
            <a:pPr>
              <a:buFont typeface="Calibri" pitchFamily="34" charset="0"/>
              <a:buAutoNum type="arabicPeriod"/>
            </a:pPr>
            <a:r>
              <a:rPr lang="en-US" dirty="0"/>
              <a:t>Click </a:t>
            </a:r>
            <a:r>
              <a:rPr lang="en-US" b="1" dirty="0"/>
              <a:t>Next.</a:t>
            </a:r>
          </a:p>
          <a:p>
            <a:endParaRPr lang="en-US" b="1" dirty="0"/>
          </a:p>
        </p:txBody>
      </p:sp>
      <p:sp>
        <p:nvSpPr>
          <p:cNvPr id="152580"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100</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53603"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a:buFont typeface="Calibri" pitchFamily="34" charset="0"/>
              <a:buAutoNum type="arabicPeriod" startAt="4"/>
            </a:pPr>
            <a:r>
              <a:rPr lang="en-US" dirty="0"/>
              <a:t>Data Source: </a:t>
            </a:r>
            <a:r>
              <a:rPr lang="en-US" b="1" dirty="0"/>
              <a:t>Calculated</a:t>
            </a:r>
          </a:p>
          <a:p>
            <a:pPr>
              <a:buFont typeface="Calibri" pitchFamily="34" charset="0"/>
              <a:buAutoNum type="arabicPeriod" startAt="4"/>
            </a:pPr>
            <a:r>
              <a:rPr lang="en-US" dirty="0"/>
              <a:t>Use As: </a:t>
            </a:r>
            <a:r>
              <a:rPr lang="en-US" b="1" dirty="0"/>
              <a:t>Position</a:t>
            </a:r>
          </a:p>
          <a:p>
            <a:pPr>
              <a:buFont typeface="Calibri" pitchFamily="34" charset="0"/>
              <a:buAutoNum type="arabicPeriod" startAt="4"/>
            </a:pPr>
            <a:r>
              <a:rPr lang="en-US" dirty="0"/>
              <a:t>Sample Type: </a:t>
            </a:r>
            <a:r>
              <a:rPr lang="en-US" b="1" dirty="0"/>
              <a:t>All</a:t>
            </a:r>
          </a:p>
          <a:p>
            <a:pPr>
              <a:buFont typeface="Calibri" pitchFamily="34" charset="0"/>
              <a:buAutoNum type="arabicPeriod" startAt="4"/>
            </a:pPr>
            <a:r>
              <a:rPr lang="en-US" dirty="0"/>
              <a:t>Peak Type: </a:t>
            </a:r>
            <a:r>
              <a:rPr lang="en-US" b="1" dirty="0"/>
              <a:t>Unknowns Only</a:t>
            </a:r>
          </a:p>
          <a:p>
            <a:pPr>
              <a:buFont typeface="Calibri" pitchFamily="34" charset="0"/>
              <a:buAutoNum type="arabicPeriod" startAt="4"/>
            </a:pPr>
            <a:r>
              <a:rPr lang="en-US" dirty="0"/>
              <a:t>Click </a:t>
            </a:r>
            <a:r>
              <a:rPr lang="en-US" b="1" dirty="0"/>
              <a:t>OK</a:t>
            </a:r>
            <a:r>
              <a:rPr lang="en-US" dirty="0"/>
              <a:t> to dialog box message</a:t>
            </a:r>
          </a:p>
          <a:p>
            <a:pPr>
              <a:buFont typeface="Calibri" pitchFamily="34" charset="0"/>
              <a:buAutoNum type="arabicPeriod" startAt="4"/>
            </a:pPr>
            <a:r>
              <a:rPr lang="en-US" dirty="0"/>
              <a:t>Click </a:t>
            </a:r>
            <a:r>
              <a:rPr lang="en-US" b="1" dirty="0"/>
              <a:t>Next</a:t>
            </a:r>
          </a:p>
          <a:p>
            <a:pPr lvl="2">
              <a:buFontTx/>
              <a:buNone/>
            </a:pPr>
            <a:endParaRPr lang="en-US" dirty="0"/>
          </a:p>
          <a:p>
            <a:pPr lvl="2">
              <a:buFontTx/>
              <a:buNone/>
            </a:pPr>
            <a:endParaRPr lang="en-US" dirty="0"/>
          </a:p>
          <a:p>
            <a:pPr lvl="1">
              <a:buFontTx/>
              <a:buNone/>
            </a:pPr>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101</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54627" name="Rectangle 3"/>
          <p:cNvSpPr>
            <a:spLocks noGrp="1" noChangeArrowheads="1"/>
          </p:cNvSpPr>
          <p:nvPr>
            <p:ph type="body" idx="1"/>
          </p:nvPr>
        </p:nvSpPr>
        <p:spPr>
          <a:xfrm>
            <a:off x="906358" y="4716878"/>
            <a:ext cx="4984961" cy="3152052"/>
          </a:xfrm>
          <a:solidFill>
            <a:srgbClr val="FFFFFF"/>
          </a:solidFill>
          <a:ln/>
        </p:spPr>
        <p:txBody>
          <a:bodyPr lIns="93050" tIns="46525" rIns="93050" bIns="46525"/>
          <a:lstStyle/>
          <a:p>
            <a:r>
              <a:rPr lang="en-US" dirty="0"/>
              <a:t>Create the formula by selecting from the available fields list and operations.  Do not type Field Names or Mathematical Operators. </a:t>
            </a:r>
          </a:p>
          <a:p>
            <a:pPr>
              <a:buFontTx/>
              <a:buChar char="•"/>
            </a:pPr>
            <a:endParaRPr lang="en-US" b="1" dirty="0"/>
          </a:p>
          <a:p>
            <a:pPr>
              <a:buFont typeface="Wingdings 2" pitchFamily="18" charset="2"/>
              <a:buNone/>
            </a:pPr>
            <a:r>
              <a:rPr lang="en-US" dirty="0"/>
              <a:t>The Formula:</a:t>
            </a:r>
          </a:p>
          <a:p>
            <a:pPr>
              <a:buFont typeface="Wingdings 2" pitchFamily="18" charset="2"/>
              <a:buNone/>
            </a:pPr>
            <a:r>
              <a:rPr lang="en-US" sz="1400" dirty="0"/>
              <a:t>Field= LTE(Detector Noise,0.000010)</a:t>
            </a:r>
          </a:p>
          <a:p>
            <a:pPr>
              <a:buFont typeface="Wingdings 2" pitchFamily="18" charset="2"/>
              <a:buNone/>
            </a:pPr>
            <a:r>
              <a:rPr lang="en-US" b="1" dirty="0"/>
              <a:t>			</a:t>
            </a:r>
          </a:p>
          <a:p>
            <a:pPr marL="228600" indent="-228600">
              <a:buFont typeface="+mj-lt"/>
              <a:buAutoNum type="arabicPeriod" startAt="10"/>
            </a:pPr>
            <a:r>
              <a:rPr lang="en-US" dirty="0"/>
              <a:t>Double click </a:t>
            </a:r>
            <a:r>
              <a:rPr lang="en-US" b="1" dirty="0"/>
              <a:t>LTE.</a:t>
            </a:r>
          </a:p>
          <a:p>
            <a:pPr>
              <a:buFont typeface="Calibri" pitchFamily="34" charset="0"/>
              <a:buAutoNum type="arabicPeriod" startAt="10"/>
            </a:pPr>
            <a:r>
              <a:rPr lang="en-US" dirty="0"/>
              <a:t>Double click </a:t>
            </a:r>
            <a:r>
              <a:rPr lang="en-US" b="1" dirty="0"/>
              <a:t>Detector Noise.</a:t>
            </a:r>
          </a:p>
          <a:p>
            <a:pPr>
              <a:buFont typeface="Calibri" pitchFamily="34" charset="0"/>
              <a:buAutoNum type="arabicPeriod" startAt="10"/>
            </a:pPr>
            <a:r>
              <a:rPr lang="en-US" dirty="0"/>
              <a:t>Type </a:t>
            </a:r>
            <a:r>
              <a:rPr lang="en-US" b="1" dirty="0"/>
              <a:t>,0.000010</a:t>
            </a:r>
            <a:r>
              <a:rPr lang="en-US" dirty="0"/>
              <a:t> from your keyboard.</a:t>
            </a:r>
          </a:p>
          <a:p>
            <a:pPr>
              <a:buFont typeface="Calibri" pitchFamily="34" charset="0"/>
              <a:buAutoNum type="arabicPeriod" startAt="10"/>
            </a:pPr>
            <a:r>
              <a:rPr lang="en-US" dirty="0"/>
              <a:t>Double click </a:t>
            </a:r>
            <a:r>
              <a:rPr lang="en-US" b="1" dirty="0"/>
              <a:t>)</a:t>
            </a:r>
            <a:r>
              <a:rPr lang="en-US" dirty="0"/>
              <a:t>.</a:t>
            </a:r>
          </a:p>
          <a:p>
            <a:pPr>
              <a:buFont typeface="Calibri" pitchFamily="34" charset="0"/>
              <a:buAutoNum type="arabicPeriod" startAt="10"/>
            </a:pPr>
            <a:r>
              <a:rPr lang="en-US" dirty="0"/>
              <a:t>Click </a:t>
            </a:r>
            <a:r>
              <a:rPr lang="en-US" b="1" dirty="0"/>
              <a:t>Next</a:t>
            </a:r>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102</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55651"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r>
              <a:rPr lang="en-US" b="1" dirty="0"/>
              <a:t>Translation Definition:</a:t>
            </a:r>
          </a:p>
          <a:p>
            <a:pPr>
              <a:buNone/>
            </a:pPr>
            <a:endParaRPr lang="en-US" b="1" dirty="0"/>
          </a:p>
          <a:p>
            <a:pPr marL="228600" indent="-228600">
              <a:buFont typeface="+mj-lt"/>
              <a:buAutoNum type="arabicPeriod" startAt="15"/>
            </a:pPr>
            <a:r>
              <a:rPr lang="en-US" dirty="0"/>
              <a:t>0: </a:t>
            </a:r>
            <a:r>
              <a:rPr lang="en-US" b="1" dirty="0"/>
              <a:t>Check Noise</a:t>
            </a:r>
          </a:p>
          <a:p>
            <a:pPr>
              <a:buFont typeface="Calibri" pitchFamily="34" charset="0"/>
              <a:buAutoNum type="arabicPeriod" startAt="15"/>
            </a:pPr>
            <a:r>
              <a:rPr lang="en-US" dirty="0"/>
              <a:t>1: </a:t>
            </a:r>
            <a:r>
              <a:rPr lang="en-US" b="1" dirty="0"/>
              <a:t>Acceptable Noise</a:t>
            </a:r>
          </a:p>
          <a:p>
            <a:pPr>
              <a:buFont typeface="Calibri" pitchFamily="34" charset="0"/>
              <a:buAutoNum type="arabicPeriod" startAt="15"/>
            </a:pPr>
            <a:r>
              <a:rPr lang="en-US" b="0" dirty="0"/>
              <a:t>Click </a:t>
            </a:r>
            <a:r>
              <a:rPr lang="en-US" b="1" dirty="0"/>
              <a:t>Next</a:t>
            </a:r>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103</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56675" name="Rectangle 3"/>
          <p:cNvSpPr>
            <a:spLocks noGrp="1" noChangeArrowheads="1"/>
          </p:cNvSpPr>
          <p:nvPr>
            <p:ph type="body" idx="1"/>
          </p:nvPr>
        </p:nvSpPr>
        <p:spPr>
          <a:xfrm>
            <a:off x="906358" y="4716877"/>
            <a:ext cx="4984961" cy="4072580"/>
          </a:xfrm>
          <a:solidFill>
            <a:srgbClr val="FFFFFF"/>
          </a:solidFill>
          <a:ln/>
        </p:spPr>
        <p:txBody>
          <a:bodyPr lIns="93050" tIns="46525" rIns="93050" bIns="46525">
            <a:normAutofit/>
          </a:bodyPr>
          <a:lstStyle/>
          <a:p>
            <a:pPr>
              <a:buFont typeface="Calibri" pitchFamily="34" charset="0"/>
              <a:buAutoNum type="arabicPeriod" startAt="14"/>
            </a:pPr>
            <a:r>
              <a:rPr lang="en-US" dirty="0"/>
              <a:t>Name the new field: </a:t>
            </a:r>
            <a:r>
              <a:rPr lang="en-US" b="1" dirty="0"/>
              <a:t>Noise_Criteria</a:t>
            </a:r>
          </a:p>
          <a:p>
            <a:pPr>
              <a:buFont typeface="Calibri" pitchFamily="34" charset="0"/>
              <a:buAutoNum type="arabicPeriod" startAt="14"/>
            </a:pPr>
            <a:r>
              <a:rPr lang="en-US" dirty="0"/>
              <a:t>Create this field in only one Project.</a:t>
            </a:r>
          </a:p>
          <a:p>
            <a:pPr>
              <a:buFont typeface="Calibri" pitchFamily="34" charset="0"/>
              <a:buAutoNum type="arabicPeriod" startAt="14"/>
            </a:pPr>
            <a:r>
              <a:rPr lang="en-US" dirty="0"/>
              <a:t>Click </a:t>
            </a:r>
            <a:r>
              <a:rPr lang="en-US" b="1" dirty="0"/>
              <a:t>Finish.</a:t>
            </a:r>
          </a:p>
          <a:p>
            <a:pPr>
              <a:buFont typeface="Calibri" pitchFamily="34" charset="0"/>
              <a:buAutoNum type="arabicPeriod" startAt="14"/>
            </a:pPr>
            <a:endParaRPr lang="en-US" b="1" dirty="0"/>
          </a:p>
          <a:p>
            <a:pPr>
              <a:buFont typeface="Calibri" pitchFamily="34" charset="0"/>
              <a:buAutoNum type="arabicPeriod" startAt="14"/>
            </a:pPr>
            <a:endParaRPr lang="en-US" b="1" dirty="0"/>
          </a:p>
          <a:p>
            <a:pPr>
              <a:buFont typeface="Calibri" pitchFamily="34" charset="0"/>
              <a:buAutoNum type="arabicPeriod" startAt="14"/>
            </a:pPr>
            <a:endParaRPr lang="en-US" b="1" dirty="0"/>
          </a:p>
          <a:p>
            <a:pPr>
              <a:buFont typeface="Calibri" pitchFamily="34" charset="0"/>
              <a:buAutoNum type="arabicPeriod" startAt="14"/>
            </a:pPr>
            <a:endParaRPr lang="en-US" b="1" dirty="0"/>
          </a:p>
          <a:p>
            <a:pPr>
              <a:buFont typeface="Calibri" pitchFamily="34" charset="0"/>
              <a:buAutoNum type="arabicPeriod" startAt="14"/>
            </a:pPr>
            <a:endParaRPr lang="en-US" b="1" dirty="0"/>
          </a:p>
          <a:p>
            <a:pPr>
              <a:buFont typeface="Calibri" pitchFamily="34" charset="0"/>
              <a:buAutoNum type="arabicPeriod" startAt="14"/>
            </a:pPr>
            <a:endParaRPr lang="en-US" b="1" dirty="0"/>
          </a:p>
          <a:p>
            <a:pPr>
              <a:buFont typeface="Calibri" pitchFamily="34" charset="0"/>
              <a:buAutoNum type="arabicPeriod" startAt="14"/>
            </a:pPr>
            <a:endParaRPr lang="en-US" b="1" dirty="0"/>
          </a:p>
          <a:p>
            <a:pPr>
              <a:buFont typeface="Calibri" pitchFamily="34" charset="0"/>
              <a:buAutoNum type="arabicPeriod" startAt="14"/>
            </a:pPr>
            <a:endParaRPr lang="en-US" b="1" dirty="0"/>
          </a:p>
          <a:p>
            <a:pPr>
              <a:buFont typeface="Calibri" pitchFamily="34" charset="0"/>
              <a:buAutoNum type="arabicPeriod" startAt="14"/>
            </a:pPr>
            <a:endParaRPr lang="en-US" b="1" dirty="0"/>
          </a:p>
          <a:p>
            <a:pPr>
              <a:buFont typeface="Calibri" pitchFamily="34" charset="0"/>
              <a:buAutoNum type="arabicPeriod" startAt="14"/>
            </a:pPr>
            <a:endParaRPr lang="en-US" b="1" dirty="0"/>
          </a:p>
          <a:p>
            <a:pPr>
              <a:buFont typeface="Calibri" pitchFamily="34" charset="0"/>
              <a:buAutoNum type="arabicPeriod" startAt="14"/>
            </a:pPr>
            <a:r>
              <a:rPr lang="en-US" dirty="0"/>
              <a:t>Click </a:t>
            </a:r>
            <a:r>
              <a:rPr lang="en-US" b="1" dirty="0"/>
              <a:t>OK</a:t>
            </a:r>
          </a:p>
          <a:p>
            <a:endParaRPr lang="en-US" dirty="0"/>
          </a:p>
        </p:txBody>
      </p:sp>
      <p:pic>
        <p:nvPicPr>
          <p:cNvPr id="7" name="Picture 6" descr="book 3 pg 68a.png"/>
          <p:cNvPicPr>
            <a:picLocks noChangeAspect="1"/>
          </p:cNvPicPr>
          <p:nvPr/>
        </p:nvPicPr>
        <p:blipFill>
          <a:blip r:embed="rId3"/>
          <a:stretch>
            <a:fillRect/>
          </a:stretch>
        </p:blipFill>
        <p:spPr>
          <a:xfrm>
            <a:off x="1209535" y="5483018"/>
            <a:ext cx="4378606" cy="1635050"/>
          </a:xfrm>
          <a:prstGeom prst="rect">
            <a:avLst/>
          </a:prstGeom>
        </p:spPr>
      </p:pic>
      <p:sp>
        <p:nvSpPr>
          <p:cNvPr id="11" name="Date Placeholder 10"/>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104</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Viewing the result of a Result Type Custom Field calculation, </a:t>
            </a:r>
            <a:r>
              <a:rPr lang="en-US" b="1" i="1" dirty="0" err="1"/>
              <a:t>Detector_Noise_Criteria</a:t>
            </a:r>
            <a:endParaRPr lang="en-US" b="1" i="1" dirty="0"/>
          </a:p>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b="1" i="1" dirty="0"/>
          </a:p>
          <a:p>
            <a:pPr marL="225425" marR="0" indent="-225425" algn="l" defTabSz="914400" rtl="0" eaLnBrk="1" fontAlgn="auto" latinLnBrk="0" hangingPunct="1">
              <a:lnSpc>
                <a:spcPct val="100000"/>
              </a:lnSpc>
              <a:spcBef>
                <a:spcPts val="0"/>
              </a:spcBef>
              <a:spcAft>
                <a:spcPts val="0"/>
              </a:spcAft>
              <a:buClr>
                <a:srgbClr val="0070C0"/>
              </a:buClr>
              <a:buSzPct val="150000"/>
              <a:buFont typeface="Wingdings" pitchFamily="2" charset="2"/>
              <a:buChar char="§"/>
              <a:tabLst/>
              <a:defRPr/>
            </a:pPr>
            <a:r>
              <a:rPr lang="en-US" b="0" i="0" dirty="0"/>
              <a:t>Result type CF can be viewed in the results</a:t>
            </a:r>
            <a:r>
              <a:rPr lang="en-US" b="0" i="0" baseline="0" dirty="0"/>
              <a:t> view in the review window.</a:t>
            </a:r>
            <a:endParaRPr lang="en-US" b="0" i="0" dirty="0"/>
          </a:p>
          <a:p>
            <a:endParaRPr lang="en-US"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105</a:t>
            </a:fld>
            <a:r>
              <a:rPr lang="en-US"/>
              <a:t> of 88</a:t>
            </a:r>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r>
              <a:rPr lang="en-US" b="1" i="1" dirty="0"/>
              <a:t>Viewing the result of a Result Type Custom Field calculation, </a:t>
            </a:r>
            <a:r>
              <a:rPr lang="en-US" b="1" i="1" dirty="0" err="1"/>
              <a:t>Detector_Noise_Criteria</a:t>
            </a:r>
            <a:endParaRPr lang="en-US" b="1" i="1" dirty="0"/>
          </a:p>
          <a:p>
            <a:pPr marL="225425" marR="0" indent="-225425" algn="ctr" defTabSz="914400" rtl="0" eaLnBrk="1" fontAlgn="auto" latinLnBrk="0" hangingPunct="1">
              <a:lnSpc>
                <a:spcPct val="100000"/>
              </a:lnSpc>
              <a:spcBef>
                <a:spcPts val="0"/>
              </a:spcBef>
              <a:spcAft>
                <a:spcPts val="0"/>
              </a:spcAft>
              <a:buClr>
                <a:srgbClr val="0070C0"/>
              </a:buClr>
              <a:buSzTx/>
              <a:buFont typeface="Wingdings 2" pitchFamily="18" charset="2"/>
              <a:buNone/>
              <a:tabLst/>
              <a:defRPr/>
            </a:pPr>
            <a:endParaRPr lang="en-US" b="1" i="1" dirty="0"/>
          </a:p>
          <a:p>
            <a:pPr marL="225425" marR="0" indent="-225425" algn="l" defTabSz="914400" rtl="0" eaLnBrk="1" fontAlgn="auto" latinLnBrk="0" hangingPunct="1">
              <a:lnSpc>
                <a:spcPct val="100000"/>
              </a:lnSpc>
              <a:spcBef>
                <a:spcPts val="0"/>
              </a:spcBef>
              <a:spcAft>
                <a:spcPts val="0"/>
              </a:spcAft>
              <a:buClr>
                <a:srgbClr val="0070C0"/>
              </a:buClr>
              <a:buSzPct val="150000"/>
              <a:buFont typeface="Wingdings" pitchFamily="2" charset="2"/>
              <a:buChar char="§"/>
              <a:tabLst/>
              <a:defRPr/>
            </a:pPr>
            <a:r>
              <a:rPr lang="en-US" b="0" i="0" dirty="0"/>
              <a:t>It is found in the </a:t>
            </a:r>
            <a:r>
              <a:rPr lang="en-US" b="1" i="1" dirty="0"/>
              <a:t>Chromatogram Result </a:t>
            </a:r>
            <a:r>
              <a:rPr lang="en-US" b="0" i="0" dirty="0"/>
              <a:t>table.</a:t>
            </a:r>
          </a:p>
          <a:p>
            <a:endParaRPr lang="en-US"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106</a:t>
            </a:fld>
            <a:r>
              <a:rPr lang="en-US"/>
              <a:t> of 88</a:t>
            </a:r>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da-DK" b="1" i="1" dirty="0"/>
              <a:t>Peak Type field with Reference to Peak Name</a:t>
            </a:r>
          </a:p>
          <a:p>
            <a:pPr algn="ctr">
              <a:buNone/>
            </a:pPr>
            <a:endParaRPr lang="da-DK" b="1" i="1" dirty="0"/>
          </a:p>
          <a:p>
            <a:pPr algn="l">
              <a:buSzPct val="150000"/>
              <a:buFont typeface="Wingdings" pitchFamily="2" charset="2"/>
              <a:buChar char="§"/>
            </a:pPr>
            <a:r>
              <a:rPr lang="da-DK" b="0" i="0" dirty="0"/>
              <a:t>Problem: </a:t>
            </a:r>
            <a:r>
              <a:rPr lang="en-US" b="0" i="0" dirty="0"/>
              <a:t>: The </a:t>
            </a:r>
            <a:r>
              <a:rPr lang="en-US" b="0" i="0" dirty="0" err="1"/>
              <a:t>Calci</a:t>
            </a:r>
            <a:r>
              <a:rPr lang="en-US" b="0" i="0" dirty="0"/>
              <a:t> peak has to reversible equilibrium forms that separate into </a:t>
            </a:r>
            <a:r>
              <a:rPr lang="da-DK" b="0" i="0" dirty="0"/>
              <a:t>two peaks,</a:t>
            </a:r>
            <a:r>
              <a:rPr lang="da-DK" b="0" i="0" baseline="0" dirty="0"/>
              <a:t> preCalci and Calci. The UV extinction coefficient for the preCalci from is lower than the one for the Calci form. This needs to be taken into account when creating the calibration curve. We need to multiply the area of the preCalci peak with 1.92 and then add this to the area of the Calci peak and create the calibration curve from this Corrected Area</a:t>
            </a:r>
            <a:r>
              <a:rPr lang="da-DK" baseline="0" dirty="0"/>
              <a:t>.</a:t>
            </a:r>
            <a:endParaRPr lang="en-US" dirty="0"/>
          </a:p>
          <a:p>
            <a:pPr algn="l">
              <a:buNone/>
            </a:pPr>
            <a:endParaRPr lang="en-US" b="0" i="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108</a:t>
            </a:fld>
            <a:r>
              <a:rPr lang="en-US"/>
              <a:t> of 88</a:t>
            </a:r>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da-DK" b="1" i="1" dirty="0"/>
              <a:t>Peak Type field with Reference to Peak Name</a:t>
            </a:r>
          </a:p>
          <a:p>
            <a:pPr algn="ctr">
              <a:buNone/>
            </a:pPr>
            <a:endParaRPr lang="da-DK" b="1" i="1" dirty="0"/>
          </a:p>
          <a:p>
            <a:pPr algn="l">
              <a:buSzPct val="150000"/>
              <a:buFont typeface="Wingdings" pitchFamily="2" charset="2"/>
              <a:buChar char="§"/>
            </a:pPr>
            <a:r>
              <a:rPr lang="da-DK" b="0" i="0" dirty="0"/>
              <a:t>This is the CF we need to do the calculation of the corrected area.</a:t>
            </a:r>
            <a:endParaRPr lang="en-US" b="0" i="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109</a:t>
            </a:fld>
            <a:r>
              <a:rPr lang="en-US"/>
              <a:t> of 88</a:t>
            </a:r>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da-DK" b="1" i="1" dirty="0"/>
              <a:t>Viewing the result of the CF</a:t>
            </a:r>
          </a:p>
          <a:p>
            <a:pPr algn="ctr">
              <a:buNone/>
            </a:pPr>
            <a:endParaRPr lang="da-DK" b="1" i="1" dirty="0"/>
          </a:p>
          <a:p>
            <a:pPr algn="l">
              <a:buSzPct val="150000"/>
              <a:buFont typeface="Wingdings" pitchFamily="2" charset="2"/>
              <a:buChar char="§"/>
            </a:pPr>
            <a:r>
              <a:rPr lang="da-DK" b="0" i="0" dirty="0"/>
              <a:t>The</a:t>
            </a:r>
            <a:r>
              <a:rPr lang="da-DK" b="0" i="0" baseline="0" dirty="0"/>
              <a:t> result of the CF </a:t>
            </a:r>
            <a:r>
              <a:rPr lang="en-US" b="0" i="0" baseline="0" noProof="0" dirty="0"/>
              <a:t>calculation</a:t>
            </a:r>
            <a:r>
              <a:rPr lang="da-DK" b="0" i="0" baseline="0" dirty="0"/>
              <a:t> will be shown for all peaks in the peak table.</a:t>
            </a:r>
            <a:r>
              <a:rPr lang="en-US" b="0" i="0" baseline="0" noProof="0" dirty="0"/>
              <a:t> </a:t>
            </a:r>
            <a:endParaRPr lang="en-US" b="0" i="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110</a:t>
            </a:fld>
            <a:r>
              <a:rPr lang="en-US"/>
              <a:t> of 88</a:t>
            </a:r>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da-DK" b="1" i="1" dirty="0"/>
              <a:t>Using the Corrected Area as Y-Value in the Calibration Curve</a:t>
            </a:r>
          </a:p>
          <a:p>
            <a:pPr algn="ctr">
              <a:buNone/>
            </a:pPr>
            <a:endParaRPr lang="da-DK" b="1" i="1" dirty="0"/>
          </a:p>
          <a:p>
            <a:pPr algn="l">
              <a:buSzPct val="150000"/>
              <a:buFont typeface="Wingdings" pitchFamily="2" charset="2"/>
              <a:buChar char="§"/>
            </a:pPr>
            <a:r>
              <a:rPr lang="en-US" b="0" i="0" noProof="0" dirty="0"/>
              <a:t>We will also need to use the corrected area as the basis for the calibration curve Y-value (response).</a:t>
            </a:r>
            <a:br>
              <a:rPr lang="en-US" b="0" i="0" noProof="0" dirty="0"/>
            </a:br>
            <a:endParaRPr lang="en-US" b="0" i="0" noProof="0" dirty="0"/>
          </a:p>
          <a:p>
            <a:pPr algn="l">
              <a:buSzPct val="150000"/>
              <a:buFont typeface="Wingdings" pitchFamily="2" charset="2"/>
              <a:buChar char="§"/>
            </a:pPr>
            <a:r>
              <a:rPr lang="da-DK" b="0" i="0" noProof="0" dirty="0"/>
              <a:t>This</a:t>
            </a:r>
            <a:r>
              <a:rPr lang="da-DK" b="0" i="0" baseline="0" noProof="0" dirty="0"/>
              <a:t> is done by choosing the CF under Y Value in the component table of the processing method.</a:t>
            </a:r>
            <a:br>
              <a:rPr lang="da-DK" b="0" i="0" baseline="0" noProof="0" dirty="0"/>
            </a:br>
            <a:endParaRPr lang="da-DK" b="0" i="0" baseline="0" noProof="0" dirty="0"/>
          </a:p>
          <a:p>
            <a:pPr algn="l">
              <a:buSzPct val="150000"/>
              <a:buFont typeface="Wingdings" pitchFamily="2" charset="2"/>
              <a:buChar char="§"/>
            </a:pPr>
            <a:r>
              <a:rPr lang="da-DK" b="0" i="0" baseline="0" noProof="0" dirty="0"/>
              <a:t>The Corrected_Area (name of the CF) will then also appear on the calibration curve plot.</a:t>
            </a:r>
            <a:endParaRPr lang="en-US" b="0" i="0" noProof="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111</a:t>
            </a:fld>
            <a:r>
              <a:rPr lang="en-US"/>
              <a:t> of 88</a:t>
            </a:r>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noProof="0" dirty="0"/>
              <a:t>Calculating an Unknown Sample</a:t>
            </a:r>
          </a:p>
          <a:p>
            <a:pPr algn="ctr">
              <a:buNone/>
            </a:pPr>
            <a:endParaRPr lang="en-US" b="1" i="1" noProof="0" dirty="0"/>
          </a:p>
          <a:p>
            <a:pPr algn="l">
              <a:buSzPct val="150000"/>
              <a:buFont typeface="Wingdings" pitchFamily="2" charset="2"/>
              <a:buChar char="§"/>
            </a:pPr>
            <a:r>
              <a:rPr lang="en-US" b="0" i="0" noProof="0" dirty="0"/>
              <a:t>The</a:t>
            </a:r>
            <a:r>
              <a:rPr lang="en-US" b="0" i="0" baseline="0" noProof="0" dirty="0"/>
              <a:t> corrected area will then also be used to calculate the amount for the </a:t>
            </a:r>
            <a:r>
              <a:rPr lang="en-US" b="0" i="0" baseline="0" noProof="0" dirty="0" err="1"/>
              <a:t>Calci</a:t>
            </a:r>
            <a:r>
              <a:rPr lang="en-US" b="0" i="0" baseline="0" noProof="0" dirty="0"/>
              <a:t> peak.</a:t>
            </a:r>
            <a:br>
              <a:rPr lang="en-US" b="0" i="0" baseline="0" noProof="0" dirty="0"/>
            </a:br>
            <a:endParaRPr lang="en-US" b="0" i="0" baseline="0" noProof="0" dirty="0"/>
          </a:p>
          <a:p>
            <a:pPr algn="l">
              <a:buSzPct val="150000"/>
              <a:buFont typeface="Wingdings" pitchFamily="2" charset="2"/>
              <a:buChar char="§"/>
            </a:pPr>
            <a:r>
              <a:rPr lang="en-US" b="0" i="0" baseline="0" noProof="0" dirty="0"/>
              <a:t>There are two problems with this approach :</a:t>
            </a:r>
          </a:p>
          <a:p>
            <a:pPr lvl="1" algn="l">
              <a:buSzPct val="100000"/>
              <a:buFont typeface="+mj-lt"/>
              <a:buAutoNum type="arabicPeriod"/>
            </a:pPr>
            <a:r>
              <a:rPr lang="en-US" b="0" i="0" baseline="0" noProof="0" dirty="0"/>
              <a:t>The result of the CF appears for all peaks.</a:t>
            </a:r>
          </a:p>
          <a:p>
            <a:pPr lvl="1" algn="l">
              <a:buSzPct val="100000"/>
              <a:buFont typeface="+mj-lt"/>
              <a:buAutoNum type="arabicPeriod"/>
            </a:pPr>
            <a:r>
              <a:rPr lang="en-US" b="0" i="0" baseline="0" noProof="0" dirty="0"/>
              <a:t>The calculation is very specific for the specific method since we refer to specific peak names.</a:t>
            </a:r>
            <a:endParaRPr lang="en-US" b="0" i="0" noProof="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112</a:t>
            </a:fld>
            <a:r>
              <a:rPr lang="en-US"/>
              <a:t> of 88</a:t>
            </a:r>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da-DK" b="1" i="1" dirty="0"/>
              <a:t>Creating a more generic CF referring to specific peaks</a:t>
            </a:r>
          </a:p>
          <a:p>
            <a:pPr algn="ctr">
              <a:buNone/>
            </a:pPr>
            <a:endParaRPr lang="da-DK" b="1" i="1" dirty="0"/>
          </a:p>
          <a:p>
            <a:pPr algn="l">
              <a:buSzPct val="150000"/>
              <a:buFont typeface="Wingdings" pitchFamily="2" charset="2"/>
              <a:buChar char="§"/>
            </a:pPr>
            <a:r>
              <a:rPr lang="da-DK" b="0" i="0" dirty="0"/>
              <a:t>Instead of referring to specific peak names we can use the CCompRef (Custom Component Reference).</a:t>
            </a:r>
            <a:br>
              <a:rPr lang="da-DK" b="0" i="0" dirty="0"/>
            </a:br>
            <a:endParaRPr lang="da-DK" b="0" i="0" dirty="0"/>
          </a:p>
          <a:p>
            <a:pPr algn="l">
              <a:buSzPct val="150000"/>
              <a:buFont typeface="Wingdings" pitchFamily="2" charset="2"/>
              <a:buChar char="§"/>
            </a:pPr>
            <a:r>
              <a:rPr lang="da-DK" b="0" i="0" dirty="0"/>
              <a:t>Insted of a specific value (in this case 1.92) we can use the Cconst (Custom Constant) value.</a:t>
            </a:r>
            <a:br>
              <a:rPr lang="da-DK" b="0" i="0" dirty="0"/>
            </a:br>
            <a:endParaRPr lang="da-DK" b="0" i="0" dirty="0"/>
          </a:p>
          <a:p>
            <a:pPr algn="l">
              <a:buSzPct val="150000"/>
              <a:buFont typeface="Wingdings" pitchFamily="2" charset="2"/>
              <a:buChar char="§"/>
            </a:pPr>
            <a:r>
              <a:rPr lang="da-DK" b="0" i="0" dirty="0"/>
              <a:t>There are 3 different CCompRef names and 7 CConst values to choose from.</a:t>
            </a:r>
            <a:br>
              <a:rPr lang="da-DK" b="0" i="0" dirty="0"/>
            </a:br>
            <a:endParaRPr lang="da-DK" b="0" i="0" dirty="0"/>
          </a:p>
          <a:p>
            <a:pPr algn="l">
              <a:buSzPct val="150000"/>
              <a:buFont typeface="Wingdings" pitchFamily="2" charset="2"/>
              <a:buChar char="§"/>
            </a:pPr>
            <a:r>
              <a:rPr lang="da-DK" b="0" i="0" dirty="0"/>
              <a:t>In this case we will use CCompRef1 instead of preCalci and CCompRef2 instead of Calci and use CConst1 instead of the value 1.92</a:t>
            </a:r>
            <a:endParaRPr lang="en-US" b="0" i="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113</a:t>
            </a:fld>
            <a:r>
              <a:rPr lang="en-US"/>
              <a:t> of 88</a:t>
            </a:r>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da-DK" b="1" i="1" dirty="0"/>
              <a:t>Selecting the CCompRef 1 and 2 and CConst 1 in the Processing Method.</a:t>
            </a:r>
          </a:p>
          <a:p>
            <a:pPr algn="ctr">
              <a:buNone/>
            </a:pPr>
            <a:endParaRPr lang="da-DK" b="1" i="1" dirty="0"/>
          </a:p>
          <a:p>
            <a:pPr algn="l">
              <a:buSzPct val="150000"/>
              <a:buFont typeface="Wingdings" pitchFamily="2" charset="2"/>
              <a:buChar char="§"/>
            </a:pPr>
            <a:r>
              <a:rPr lang="da-DK" b="0" i="0" dirty="0"/>
              <a:t>We have now created a CF that can be used with any method since the processing method defines which peaks to use and what value to multiply</a:t>
            </a:r>
            <a:r>
              <a:rPr lang="da-DK" b="0" i="0" baseline="0" dirty="0"/>
              <a:t> with. The result of the CF will also only be shown for the peak of interest.</a:t>
            </a:r>
            <a:endParaRPr lang="en-US" b="0" i="0"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114</a:t>
            </a:fld>
            <a:r>
              <a:rPr lang="en-US"/>
              <a:t> of 88</a:t>
            </a:r>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45411"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r>
              <a:rPr lang="en-US" b="1" dirty="0"/>
              <a:t>Create</a:t>
            </a:r>
            <a:r>
              <a:rPr lang="en-US" dirty="0"/>
              <a:t> a new </a:t>
            </a:r>
            <a:r>
              <a:rPr lang="en-US" b="1" dirty="0"/>
              <a:t>Peak Type</a:t>
            </a:r>
            <a:r>
              <a:rPr lang="en-US" dirty="0"/>
              <a:t> custom field for </a:t>
            </a:r>
            <a:r>
              <a:rPr lang="en-US" b="1" dirty="0"/>
              <a:t>Relative_RT.</a:t>
            </a:r>
          </a:p>
          <a:p>
            <a:endParaRPr lang="en-US" b="1" dirty="0"/>
          </a:p>
          <a:p>
            <a:pPr lvl="1"/>
            <a:r>
              <a:rPr lang="en-US" dirty="0"/>
              <a:t>Why Peak Type?  This field is calculated by Empower.</a:t>
            </a:r>
          </a:p>
          <a:p>
            <a:pPr lvl="1"/>
            <a:endParaRPr lang="en-US" dirty="0"/>
          </a:p>
          <a:p>
            <a:pPr lvl="1"/>
            <a:r>
              <a:rPr lang="en-US" dirty="0"/>
              <a:t>What is the Data Type?</a:t>
            </a:r>
          </a:p>
          <a:p>
            <a:pPr lvl="1"/>
            <a:endParaRPr lang="en-US" dirty="0"/>
          </a:p>
          <a:p>
            <a:pPr lvl="1"/>
            <a:r>
              <a:rPr lang="en-US" dirty="0"/>
              <a:t>What is the Formula?  </a:t>
            </a:r>
          </a:p>
          <a:p>
            <a:pPr lvl="1"/>
            <a:endParaRPr lang="en-US" dirty="0"/>
          </a:p>
          <a:p>
            <a:pPr lvl="1"/>
            <a:r>
              <a:rPr lang="en-US" dirty="0"/>
              <a:t>How can the reference peak be selectable by an analyst?</a:t>
            </a:r>
          </a:p>
          <a:p>
            <a:endParaRPr lang="en-US" b="1" dirty="0"/>
          </a:p>
          <a:p>
            <a:endParaRPr lang="en-US" b="1" dirty="0"/>
          </a:p>
          <a:p>
            <a:endParaRPr lang="en-US" dirty="0"/>
          </a:p>
          <a:p>
            <a:endParaRPr lang="en-US" dirty="0"/>
          </a:p>
          <a:p>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115</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46435"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r>
              <a:rPr lang="en-US" b="1" dirty="0"/>
              <a:t>Create</a:t>
            </a:r>
            <a:r>
              <a:rPr lang="en-US" dirty="0"/>
              <a:t> a new </a:t>
            </a:r>
            <a:r>
              <a:rPr lang="en-US" b="1" dirty="0"/>
              <a:t>Peak Type</a:t>
            </a:r>
            <a:r>
              <a:rPr lang="en-US" dirty="0"/>
              <a:t> custom field for</a:t>
            </a:r>
            <a:r>
              <a:rPr lang="en-US" b="1" dirty="0"/>
              <a:t> Relative_RT.</a:t>
            </a:r>
          </a:p>
          <a:p>
            <a:endParaRPr lang="en-US" b="1" dirty="0"/>
          </a:p>
          <a:p>
            <a:endParaRPr lang="en-US" dirty="0"/>
          </a:p>
          <a:p>
            <a:pPr>
              <a:buFont typeface="Calibri" pitchFamily="34" charset="0"/>
              <a:buAutoNum type="arabicPeriod"/>
            </a:pPr>
            <a:r>
              <a:rPr lang="en-US" dirty="0"/>
              <a:t>Field Type: </a:t>
            </a:r>
            <a:r>
              <a:rPr lang="en-US" b="1" dirty="0"/>
              <a:t>Peak</a:t>
            </a:r>
          </a:p>
          <a:p>
            <a:pPr>
              <a:buFont typeface="Calibri" pitchFamily="34" charset="0"/>
              <a:buAutoNum type="arabicPeriod"/>
            </a:pPr>
            <a:r>
              <a:rPr lang="en-US" dirty="0"/>
              <a:t>Data Type: </a:t>
            </a:r>
            <a:r>
              <a:rPr lang="en-US" b="1" dirty="0"/>
              <a:t>Real</a:t>
            </a:r>
          </a:p>
          <a:p>
            <a:pPr>
              <a:buFont typeface="Calibri" pitchFamily="34" charset="0"/>
              <a:buAutoNum type="arabicPeriod"/>
            </a:pPr>
            <a:r>
              <a:rPr lang="en-US" dirty="0"/>
              <a:t>Click </a:t>
            </a:r>
            <a:r>
              <a:rPr lang="en-US" b="1" dirty="0"/>
              <a:t>Next.</a:t>
            </a:r>
          </a:p>
          <a:p>
            <a:endParaRPr lang="en-US" dirty="0"/>
          </a:p>
        </p:txBody>
      </p:sp>
      <p:sp>
        <p:nvSpPr>
          <p:cNvPr id="146436"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116</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47459"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a:buFont typeface="Calibri" pitchFamily="34" charset="0"/>
              <a:buAutoNum type="arabicPeriod" startAt="4"/>
            </a:pPr>
            <a:r>
              <a:rPr lang="en-US" dirty="0"/>
              <a:t>Data Source: </a:t>
            </a:r>
            <a:r>
              <a:rPr lang="en-US" b="1" dirty="0"/>
              <a:t>Calculated</a:t>
            </a:r>
          </a:p>
          <a:p>
            <a:pPr>
              <a:buFont typeface="Calibri" pitchFamily="34" charset="0"/>
              <a:buAutoNum type="arabicPeriod" startAt="4"/>
            </a:pPr>
            <a:r>
              <a:rPr lang="en-US" dirty="0"/>
              <a:t>Sample Type: </a:t>
            </a:r>
            <a:r>
              <a:rPr lang="en-US" b="1" dirty="0"/>
              <a:t>All</a:t>
            </a:r>
          </a:p>
          <a:p>
            <a:pPr>
              <a:buFont typeface="Calibri" pitchFamily="34" charset="0"/>
              <a:buAutoNum type="arabicPeriod" startAt="4"/>
            </a:pPr>
            <a:r>
              <a:rPr lang="en-US" dirty="0"/>
              <a:t>Peak Type: </a:t>
            </a:r>
            <a:r>
              <a:rPr lang="en-US" b="1" dirty="0"/>
              <a:t>Unknowns Only</a:t>
            </a:r>
          </a:p>
          <a:p>
            <a:pPr>
              <a:buFont typeface="Calibri" pitchFamily="34" charset="0"/>
              <a:buAutoNum type="arabicPeriod" startAt="4"/>
            </a:pPr>
            <a:r>
              <a:rPr lang="en-US" b="0" dirty="0"/>
              <a:t>Click </a:t>
            </a:r>
            <a:r>
              <a:rPr lang="en-US" b="1" dirty="0"/>
              <a:t>OK</a:t>
            </a:r>
            <a:r>
              <a:rPr lang="en-US" b="0" dirty="0"/>
              <a:t> to dialog</a:t>
            </a:r>
            <a:r>
              <a:rPr lang="en-US" b="0" baseline="0" dirty="0"/>
              <a:t> box message</a:t>
            </a:r>
            <a:endParaRPr lang="en-US" b="0" dirty="0"/>
          </a:p>
          <a:p>
            <a:pPr>
              <a:buFont typeface="Calibri" pitchFamily="34" charset="0"/>
              <a:buAutoNum type="arabicPeriod" startAt="4"/>
            </a:pPr>
            <a:r>
              <a:rPr lang="en-US" dirty="0"/>
              <a:t>Click </a:t>
            </a:r>
            <a:r>
              <a:rPr lang="en-US" b="1" dirty="0"/>
              <a:t>Next</a:t>
            </a:r>
          </a:p>
          <a:p>
            <a:pPr lvl="2">
              <a:buFontTx/>
              <a:buNone/>
            </a:pPr>
            <a:endParaRPr lang="en-US" dirty="0"/>
          </a:p>
          <a:p>
            <a:pPr lvl="2">
              <a:buFontTx/>
              <a:buNone/>
            </a:pPr>
            <a:endParaRPr lang="en-US" dirty="0"/>
          </a:p>
          <a:p>
            <a:pPr lvl="1">
              <a:buFontTx/>
              <a:buNone/>
            </a:pPr>
            <a:endParaRPr lang="en-US" dirty="0"/>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117</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48483" name="Rectangle 3"/>
          <p:cNvSpPr>
            <a:spLocks noGrp="1" noChangeArrowheads="1"/>
          </p:cNvSpPr>
          <p:nvPr>
            <p:ph type="body" idx="1"/>
          </p:nvPr>
        </p:nvSpPr>
        <p:spPr>
          <a:xfrm>
            <a:off x="906357" y="4716877"/>
            <a:ext cx="5041609" cy="4100439"/>
          </a:xfrm>
          <a:solidFill>
            <a:srgbClr val="FFFFFF"/>
          </a:solidFill>
          <a:ln/>
        </p:spPr>
        <p:txBody>
          <a:bodyPr lIns="93050" tIns="46525" rIns="93050" bIns="46525"/>
          <a:lstStyle/>
          <a:p>
            <a:r>
              <a:rPr lang="en-US" dirty="0"/>
              <a:t>Create the formula by selecting from the available fields list and operations.  Do not type Field Type Names or Mathematical Operators. </a:t>
            </a:r>
          </a:p>
          <a:p>
            <a:pPr>
              <a:buFontTx/>
              <a:buChar char="•"/>
            </a:pPr>
            <a:endParaRPr lang="en-US" b="1" dirty="0"/>
          </a:p>
          <a:p>
            <a:pPr>
              <a:buFont typeface="Wingdings 2" pitchFamily="18" charset="2"/>
              <a:buNone/>
            </a:pPr>
            <a:r>
              <a:rPr lang="en-US" dirty="0"/>
              <a:t>The Formula:</a:t>
            </a:r>
          </a:p>
          <a:p>
            <a:pPr>
              <a:buFont typeface="Wingdings 2" pitchFamily="18" charset="2"/>
              <a:buNone/>
            </a:pPr>
            <a:r>
              <a:rPr lang="en-US" sz="1400" dirty="0"/>
              <a:t>Field= Retention Time/CCalRef1[Retention Time]</a:t>
            </a:r>
          </a:p>
          <a:p>
            <a:pPr>
              <a:buFont typeface="Wingdings 2" pitchFamily="18" charset="2"/>
              <a:buNone/>
            </a:pPr>
            <a:r>
              <a:rPr lang="en-US" b="1" dirty="0"/>
              <a:t>			</a:t>
            </a:r>
          </a:p>
          <a:p>
            <a:pPr marL="228600" indent="-228600">
              <a:buFont typeface="+mj-lt"/>
              <a:buAutoNum type="arabicPeriod" startAt="9"/>
            </a:pPr>
            <a:r>
              <a:rPr lang="en-US" dirty="0"/>
              <a:t>Double click </a:t>
            </a:r>
            <a:r>
              <a:rPr lang="en-US" b="1" dirty="0"/>
              <a:t>Retention Time.</a:t>
            </a:r>
          </a:p>
          <a:p>
            <a:pPr>
              <a:buFont typeface="Calibri" pitchFamily="34" charset="0"/>
              <a:buAutoNum type="arabicPeriod" startAt="9"/>
            </a:pPr>
            <a:r>
              <a:rPr lang="en-US" dirty="0"/>
              <a:t>Double click </a:t>
            </a:r>
            <a:r>
              <a:rPr lang="en-US" b="1" dirty="0"/>
              <a:t>/</a:t>
            </a:r>
            <a:r>
              <a:rPr lang="en-US" dirty="0"/>
              <a:t>.</a:t>
            </a:r>
          </a:p>
          <a:p>
            <a:pPr>
              <a:buFont typeface="Calibri" pitchFamily="34" charset="0"/>
              <a:buAutoNum type="arabicPeriod" startAt="9"/>
            </a:pPr>
            <a:r>
              <a:rPr lang="en-US" dirty="0"/>
              <a:t>Double click </a:t>
            </a:r>
            <a:r>
              <a:rPr lang="en-US" b="1" dirty="0"/>
              <a:t>CCalRef1</a:t>
            </a:r>
            <a:r>
              <a:rPr lang="en-US" dirty="0"/>
              <a:t>.</a:t>
            </a:r>
          </a:p>
          <a:p>
            <a:pPr>
              <a:buFont typeface="Calibri" pitchFamily="34" charset="0"/>
              <a:buAutoNum type="arabicPeriod" startAt="9"/>
            </a:pPr>
            <a:r>
              <a:rPr lang="en-US" dirty="0"/>
              <a:t>Double click </a:t>
            </a:r>
            <a:r>
              <a:rPr lang="en-US" b="1" dirty="0"/>
              <a:t>Retention Time.</a:t>
            </a:r>
          </a:p>
          <a:p>
            <a:pPr>
              <a:buFont typeface="Calibri" pitchFamily="34" charset="0"/>
              <a:buAutoNum type="arabicPeriod" startAt="9"/>
            </a:pPr>
            <a:r>
              <a:rPr lang="en-US" dirty="0"/>
              <a:t>Type </a:t>
            </a:r>
            <a:r>
              <a:rPr lang="en-US" b="1" dirty="0"/>
              <a:t>]</a:t>
            </a:r>
            <a:r>
              <a:rPr lang="en-US" dirty="0"/>
              <a:t> from your keyboard.</a:t>
            </a:r>
          </a:p>
          <a:p>
            <a:pPr>
              <a:buFont typeface="Calibri" pitchFamily="34" charset="0"/>
              <a:buAutoNum type="arabicPeriod" startAt="9"/>
            </a:pPr>
            <a:r>
              <a:rPr lang="en-US" dirty="0"/>
              <a:t>Click </a:t>
            </a:r>
            <a:r>
              <a:rPr lang="en-US" b="1" dirty="0"/>
              <a:t>Next</a:t>
            </a:r>
          </a:p>
        </p:txBody>
      </p:sp>
      <p:sp>
        <p:nvSpPr>
          <p:cNvPr id="148484"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a:p>
            <a:pPr defTabSz="929996">
              <a:spcBef>
                <a:spcPct val="30000"/>
              </a:spcBef>
            </a:pPr>
            <a:endParaRPr lang="en-US" sz="1200" b="1" i="1" dirty="0">
              <a:latin typeface="Times New Roman" pitchFamily="18" charset="0"/>
            </a:endParaRPr>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118</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49507"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r>
              <a:rPr lang="en-US" b="1" dirty="0"/>
              <a:t>Numeric Parameters</a:t>
            </a:r>
          </a:p>
          <a:p>
            <a:pPr>
              <a:buNone/>
            </a:pPr>
            <a:endParaRPr lang="en-US" b="1" dirty="0"/>
          </a:p>
          <a:p>
            <a:pPr marL="228600" indent="-228600">
              <a:buFont typeface="+mj-lt"/>
              <a:buAutoNum type="arabicPeriod" startAt="15"/>
            </a:pPr>
            <a:r>
              <a:rPr lang="en-US" dirty="0"/>
              <a:t>Maximum number of characters: </a:t>
            </a:r>
            <a:r>
              <a:rPr lang="en-US" b="1" dirty="0"/>
              <a:t>12</a:t>
            </a:r>
          </a:p>
          <a:p>
            <a:pPr>
              <a:buFont typeface="Wingdings 2" pitchFamily="18" charset="2"/>
              <a:buNone/>
            </a:pPr>
            <a:r>
              <a:rPr lang="en-US" b="1" i="1" dirty="0"/>
              <a:t>Tip: </a:t>
            </a:r>
            <a:r>
              <a:rPr lang="en-US" i="1" dirty="0"/>
              <a:t>Remember to count the decimal point and/ or sign characters.</a:t>
            </a:r>
          </a:p>
          <a:p>
            <a:pPr>
              <a:buFont typeface="Wingdings 2" pitchFamily="18" charset="2"/>
              <a:buNone/>
            </a:pPr>
            <a:endParaRPr lang="en-US" i="1" dirty="0"/>
          </a:p>
          <a:p>
            <a:pPr marL="228600" indent="-228600">
              <a:buFont typeface="+mj-lt"/>
              <a:buAutoNum type="arabicPeriod" startAt="16"/>
            </a:pPr>
            <a:r>
              <a:rPr lang="en-US" dirty="0"/>
              <a:t>Precision: </a:t>
            </a:r>
            <a:r>
              <a:rPr lang="en-US" b="1" dirty="0"/>
              <a:t>3</a:t>
            </a:r>
          </a:p>
          <a:p>
            <a:pPr marL="228600" indent="-228600">
              <a:buFont typeface="+mj-lt"/>
              <a:buAutoNum type="arabicPeriod" startAt="16"/>
            </a:pPr>
            <a:r>
              <a:rPr lang="en-US" dirty="0"/>
              <a:t>Click </a:t>
            </a:r>
            <a:r>
              <a:rPr lang="en-US" b="1" dirty="0"/>
              <a:t>Next</a:t>
            </a:r>
          </a:p>
        </p:txBody>
      </p:sp>
      <p:sp>
        <p:nvSpPr>
          <p:cNvPr id="7" name="Date Placeholder 6"/>
          <p:cNvSpPr>
            <a:spLocks noGrp="1"/>
          </p:cNvSpPr>
          <p:nvPr>
            <p:ph type="dt" idx="10"/>
          </p:nvPr>
        </p:nvSpPr>
        <p:spPr/>
        <p:txBody>
          <a:bodyPr/>
          <a:lstStyle/>
          <a:p>
            <a:r>
              <a:rPr lang="en-US" dirty="0"/>
              <a:t>Custom Fields</a:t>
            </a:r>
          </a:p>
        </p:txBody>
      </p:sp>
      <p:sp>
        <p:nvSpPr>
          <p:cNvPr id="11" name="Slide Number Placeholder 10"/>
          <p:cNvSpPr>
            <a:spLocks noGrp="1"/>
          </p:cNvSpPr>
          <p:nvPr>
            <p:ph type="sldNum" sz="quarter" idx="11"/>
          </p:nvPr>
        </p:nvSpPr>
        <p:spPr/>
        <p:txBody>
          <a:bodyPr/>
          <a:lstStyle/>
          <a:p>
            <a:r>
              <a:rPr lang="en-US" dirty="0"/>
              <a:t>Page </a:t>
            </a:r>
            <a:fld id="{3242409A-B053-4208-A245-A8F1D7E49324}" type="slidenum">
              <a:rPr lang="en-US" smtClean="0"/>
              <a:pPr/>
              <a:t>119</a:t>
            </a:fld>
            <a:r>
              <a:rPr lang="en-US" dirty="0"/>
              <a:t> of 81</a:t>
            </a:r>
          </a:p>
        </p:txBody>
      </p:sp>
      <p:sp>
        <p:nvSpPr>
          <p:cNvPr id="12" name="Footer Placeholder 11"/>
          <p:cNvSpPr>
            <a:spLocks noGrp="1"/>
          </p:cNvSpPr>
          <p:nvPr>
            <p:ph type="ftr" sz="quarter" idx="12"/>
          </p:nvPr>
        </p:nvSpPr>
        <p:spPr/>
        <p:txBody>
          <a:bodyPr/>
          <a:lstStyle/>
          <a:p>
            <a:r>
              <a:rPr lang="en-US" dirty="0"/>
              <a:t>Rev. 24011</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50531" name="Rectangle 3"/>
          <p:cNvSpPr>
            <a:spLocks noGrp="1" noChangeArrowheads="1"/>
          </p:cNvSpPr>
          <p:nvPr>
            <p:ph type="body" idx="1"/>
          </p:nvPr>
        </p:nvSpPr>
        <p:spPr>
          <a:xfrm>
            <a:off x="906358" y="4716877"/>
            <a:ext cx="4984961" cy="2528190"/>
          </a:xfrm>
          <a:solidFill>
            <a:srgbClr val="FFFFFF"/>
          </a:solidFill>
          <a:ln/>
        </p:spPr>
        <p:txBody>
          <a:bodyPr lIns="93050" tIns="46525" rIns="93050" bIns="46525"/>
          <a:lstStyle/>
          <a:p>
            <a:pPr marL="228600" indent="-228600">
              <a:buFont typeface="+mj-lt"/>
              <a:buAutoNum type="arabicPeriod" startAt="18"/>
            </a:pPr>
            <a:r>
              <a:rPr lang="en-US" dirty="0"/>
              <a:t>Name the new field: </a:t>
            </a:r>
            <a:r>
              <a:rPr lang="en-US" b="1" dirty="0"/>
              <a:t>Relative_RT</a:t>
            </a:r>
          </a:p>
          <a:p>
            <a:pPr>
              <a:buFont typeface="Calibri" pitchFamily="34" charset="0"/>
              <a:buAutoNum type="arabicPeriod" startAt="18"/>
            </a:pPr>
            <a:r>
              <a:rPr lang="en-US" dirty="0"/>
              <a:t>Create this field in only one Project.</a:t>
            </a:r>
          </a:p>
          <a:p>
            <a:pPr>
              <a:buFont typeface="Calibri" pitchFamily="34" charset="0"/>
              <a:buAutoNum type="arabicPeriod" startAt="18"/>
            </a:pPr>
            <a:r>
              <a:rPr lang="en-US" dirty="0"/>
              <a:t>Click </a:t>
            </a:r>
            <a:r>
              <a:rPr lang="en-US" b="1" dirty="0"/>
              <a:t>Finish.</a:t>
            </a:r>
          </a:p>
          <a:p>
            <a:pPr>
              <a:buFont typeface="Calibri" pitchFamily="34" charset="0"/>
              <a:buAutoNum type="arabicPeriod" startAt="18"/>
            </a:pPr>
            <a:r>
              <a:rPr lang="en-US" dirty="0"/>
              <a:t>Click </a:t>
            </a:r>
            <a:r>
              <a:rPr lang="en-US" b="1" dirty="0"/>
              <a:t>OK</a:t>
            </a:r>
          </a:p>
          <a:p>
            <a:endParaRPr lang="en-US" dirty="0"/>
          </a:p>
          <a:p>
            <a:endParaRPr lang="en-US" dirty="0"/>
          </a:p>
        </p:txBody>
      </p:sp>
      <p:pic>
        <p:nvPicPr>
          <p:cNvPr id="7" name="Picture 6" descr="book 3 pg 62a.png"/>
          <p:cNvPicPr>
            <a:picLocks noChangeAspect="1"/>
          </p:cNvPicPr>
          <p:nvPr/>
        </p:nvPicPr>
        <p:blipFill>
          <a:blip r:embed="rId3"/>
          <a:stretch>
            <a:fillRect/>
          </a:stretch>
        </p:blipFill>
        <p:spPr>
          <a:xfrm>
            <a:off x="1209535" y="5715367"/>
            <a:ext cx="4378606" cy="1635050"/>
          </a:xfrm>
          <a:prstGeom prst="rect">
            <a:avLst/>
          </a:prstGeom>
        </p:spPr>
      </p:pic>
      <p:sp>
        <p:nvSpPr>
          <p:cNvPr id="11" name="Date Placeholder 10"/>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120</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Summary</a:t>
            </a:r>
            <a:br>
              <a:rPr lang="en-US" b="1" i="1" dirty="0"/>
            </a:br>
            <a:endParaRPr lang="en-US" b="1" i="1" dirty="0"/>
          </a:p>
          <a:p>
            <a:pPr algn="l">
              <a:buSzPct val="150000"/>
              <a:buFont typeface="Wingdings" pitchFamily="2" charset="2"/>
              <a:buChar char="§"/>
            </a:pPr>
            <a:r>
              <a:rPr lang="en-US" b="0" i="0" dirty="0"/>
              <a:t>This gives an overview of where you enter values for Sample, Sample Set and Component Type</a:t>
            </a:r>
            <a:r>
              <a:rPr lang="en-US" b="0" i="0" baseline="0" dirty="0"/>
              <a:t> custom fields</a:t>
            </a:r>
            <a:r>
              <a:rPr lang="en-US" b="0" i="0" dirty="0"/>
              <a:t>.</a:t>
            </a:r>
          </a:p>
          <a:p>
            <a:endParaRPr lang="en-US"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121</a:t>
            </a:fld>
            <a:r>
              <a:rPr lang="en-US"/>
              <a:t> of 88</a:t>
            </a:r>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Summary</a:t>
            </a:r>
            <a:br>
              <a:rPr lang="en-US" b="1" i="1" dirty="0"/>
            </a:br>
            <a:endParaRPr lang="en-US" b="1" i="1" dirty="0"/>
          </a:p>
          <a:p>
            <a:pPr algn="l">
              <a:buSzPct val="150000"/>
              <a:buFont typeface="Wingdings" pitchFamily="2" charset="2"/>
              <a:buChar char="§"/>
            </a:pPr>
            <a:r>
              <a:rPr lang="en-US" b="0" i="0" dirty="0"/>
              <a:t>This gives an overview of where you enter values for Sample, Sample Set and Component Type</a:t>
            </a:r>
            <a:r>
              <a:rPr lang="en-US" b="0" i="0" baseline="0" dirty="0"/>
              <a:t> custom fields</a:t>
            </a:r>
            <a:r>
              <a:rPr lang="en-US" b="0" i="0" dirty="0"/>
              <a:t>.</a:t>
            </a:r>
          </a:p>
          <a:p>
            <a:endParaRPr lang="en-US"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122</a:t>
            </a:fld>
            <a:r>
              <a:rPr lang="en-US"/>
              <a:t> of 88</a:t>
            </a:r>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Summary</a:t>
            </a:r>
            <a:br>
              <a:rPr lang="en-US" b="1" i="1" dirty="0"/>
            </a:br>
            <a:endParaRPr lang="en-US" b="1" i="1" dirty="0"/>
          </a:p>
          <a:p>
            <a:pPr algn="l">
              <a:buSzPct val="150000"/>
              <a:buFont typeface="Wingdings" pitchFamily="2" charset="2"/>
              <a:buChar char="§"/>
            </a:pPr>
            <a:r>
              <a:rPr lang="en-US" b="0" i="0" dirty="0"/>
              <a:t>This gives an overview of where you enter values for Sample, Sample Set and Component Type</a:t>
            </a:r>
            <a:r>
              <a:rPr lang="en-US" b="0" i="0" baseline="0" dirty="0"/>
              <a:t> custom fields</a:t>
            </a:r>
            <a:r>
              <a:rPr lang="en-US" b="0" i="0" dirty="0"/>
              <a:t>.</a:t>
            </a:r>
          </a:p>
          <a:p>
            <a:endParaRPr lang="en-US" dirty="0"/>
          </a:p>
        </p:txBody>
      </p:sp>
      <p:sp>
        <p:nvSpPr>
          <p:cNvPr id="4" name="Date Placeholder 3"/>
          <p:cNvSpPr>
            <a:spLocks noGrp="1"/>
          </p:cNvSpPr>
          <p:nvPr>
            <p:ph type="dt" idx="10"/>
          </p:nvPr>
        </p:nvSpPr>
        <p:spPr/>
        <p:txBody>
          <a:bodyPr/>
          <a:lstStyle/>
          <a:p>
            <a:r>
              <a:rPr lang="en-US"/>
              <a:t>Introduction to Custom Fields</a:t>
            </a:r>
          </a:p>
        </p:txBody>
      </p:sp>
      <p:sp>
        <p:nvSpPr>
          <p:cNvPr id="5" name="Footer Placeholder 4"/>
          <p:cNvSpPr>
            <a:spLocks noGrp="1"/>
          </p:cNvSpPr>
          <p:nvPr>
            <p:ph type="ftr" sz="quarter" idx="11"/>
          </p:nvPr>
        </p:nvSpPr>
        <p:spPr/>
        <p:txBody>
          <a:bodyPr/>
          <a:lstStyle/>
          <a:p>
            <a:r>
              <a:rPr lang="en-US"/>
              <a:t>Rev. 21314</a:t>
            </a:r>
          </a:p>
        </p:txBody>
      </p:sp>
      <p:sp>
        <p:nvSpPr>
          <p:cNvPr id="9" name="Slide Number Placeholder 8"/>
          <p:cNvSpPr>
            <a:spLocks noGrp="1"/>
          </p:cNvSpPr>
          <p:nvPr>
            <p:ph type="sldNum" sz="quarter" idx="12"/>
          </p:nvPr>
        </p:nvSpPr>
        <p:spPr/>
        <p:txBody>
          <a:bodyPr/>
          <a:lstStyle/>
          <a:p>
            <a:r>
              <a:rPr lang="en-US" b="1"/>
              <a:t>Chapter One</a:t>
            </a:r>
            <a:r>
              <a:rPr lang="en-US"/>
              <a:t>: Page </a:t>
            </a:r>
            <a:fld id="{3242409A-B053-4208-A245-A8F1D7E49324}" type="slidenum">
              <a:rPr lang="en-US" smtClean="0"/>
              <a:pPr/>
              <a:t>123</a:t>
            </a:fld>
            <a:r>
              <a:rPr lang="en-US"/>
              <a:t> of 88</a:t>
            </a:r>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spect="1" noChangeArrowheads="1" noTextEdit="1"/>
          </p:cNvSpPr>
          <p:nvPr>
            <p:ph type="sldImg"/>
          </p:nvPr>
        </p:nvSpPr>
        <p:spPr>
          <a:xfrm>
            <a:off x="919163" y="742950"/>
            <a:ext cx="4965700" cy="3725863"/>
          </a:xfrm>
          <a:solidFill>
            <a:srgbClr val="FFFFFF"/>
          </a:solidFill>
          <a:ln/>
        </p:spPr>
      </p:sp>
      <p:sp>
        <p:nvSpPr>
          <p:cNvPr id="162819" name="Rectangle 3"/>
          <p:cNvSpPr>
            <a:spLocks noGrp="1" noChangeArrowheads="1"/>
          </p:cNvSpPr>
          <p:nvPr>
            <p:ph type="body" idx="1"/>
          </p:nvPr>
        </p:nvSpPr>
        <p:spPr>
          <a:xfrm>
            <a:off x="906358" y="4716877"/>
            <a:ext cx="4984961" cy="4341181"/>
          </a:xfrm>
          <a:solidFill>
            <a:srgbClr val="FFFFFF"/>
          </a:solidFill>
          <a:ln/>
        </p:spPr>
        <p:txBody>
          <a:bodyPr lIns="93050" tIns="46525" rIns="93050" bIns="46525"/>
          <a:lstStyle/>
          <a:p>
            <a:pPr algn="ctr">
              <a:buNone/>
            </a:pPr>
            <a:r>
              <a:rPr lang="en-US" b="1" i="1" dirty="0"/>
              <a:t>Important considerations when creating custom</a:t>
            </a:r>
            <a:r>
              <a:rPr lang="en-US" b="1" i="1" baseline="0" dirty="0"/>
              <a:t> </a:t>
            </a:r>
            <a:r>
              <a:rPr lang="en-US" b="1" i="1" dirty="0"/>
              <a:t>fields</a:t>
            </a:r>
          </a:p>
          <a:p>
            <a:pPr algn="l"/>
            <a:endParaRPr lang="en-US" dirty="0"/>
          </a:p>
          <a:p>
            <a:pPr algn="l">
              <a:buSzPct val="150000"/>
              <a:buFont typeface="Wingdings" pitchFamily="2" charset="2"/>
              <a:buChar char="§"/>
            </a:pPr>
            <a:r>
              <a:rPr lang="en-US" b="0" i="0" dirty="0"/>
              <a:t>When creating custom fields it is important to figure out the details of the field before beginning in Empower.  Below are some suggestions of things you might consider.</a:t>
            </a:r>
          </a:p>
          <a:p>
            <a:endParaRPr lang="en-US" dirty="0"/>
          </a:p>
          <a:p>
            <a:pPr lvl="1"/>
            <a:r>
              <a:rPr lang="en-US" dirty="0"/>
              <a:t>What is the mathematical formula?</a:t>
            </a:r>
          </a:p>
          <a:p>
            <a:pPr lvl="1"/>
            <a:r>
              <a:rPr lang="en-US" dirty="0"/>
              <a:t>What fields are required?</a:t>
            </a:r>
          </a:p>
          <a:p>
            <a:pPr lvl="1"/>
            <a:r>
              <a:rPr lang="en-US" dirty="0"/>
              <a:t>Does Empower generate the fields by default or do they need to be created?</a:t>
            </a:r>
          </a:p>
          <a:p>
            <a:pPr lvl="1"/>
            <a:r>
              <a:rPr lang="en-US" dirty="0"/>
              <a:t>Are your peaks named?</a:t>
            </a:r>
          </a:p>
          <a:p>
            <a:pPr lvl="1"/>
            <a:r>
              <a:rPr lang="en-US" dirty="0"/>
              <a:t>Is the calculation on samples, standards?  All of them?</a:t>
            </a:r>
          </a:p>
          <a:p>
            <a:pPr lvl="1"/>
            <a:r>
              <a:rPr lang="en-US" dirty="0"/>
              <a:t>Is this a field/ calculation needed for several products?</a:t>
            </a:r>
          </a:p>
          <a:p>
            <a:pPr lvl="1"/>
            <a:r>
              <a:rPr lang="en-US" dirty="0"/>
              <a:t>What type of field is it?</a:t>
            </a:r>
          </a:p>
          <a:p>
            <a:pPr lvl="1"/>
            <a:r>
              <a:rPr lang="en-US" dirty="0"/>
              <a:t>What type of data will be reported out from the field?</a:t>
            </a:r>
          </a:p>
        </p:txBody>
      </p:sp>
      <p:sp>
        <p:nvSpPr>
          <p:cNvPr id="162820" name="Rectangle 4"/>
          <p:cNvSpPr>
            <a:spLocks noChangeArrowheads="1"/>
          </p:cNvSpPr>
          <p:nvPr/>
        </p:nvSpPr>
        <p:spPr bwMode="auto">
          <a:xfrm>
            <a:off x="1057417" y="4880598"/>
            <a:ext cx="4984961" cy="2528191"/>
          </a:xfrm>
          <a:prstGeom prst="rect">
            <a:avLst/>
          </a:prstGeom>
          <a:noFill/>
          <a:ln w="9525">
            <a:noFill/>
            <a:miter lim="800000"/>
            <a:headEnd/>
            <a:tailEnd/>
          </a:ln>
        </p:spPr>
        <p:txBody>
          <a:bodyPr lIns="93050" tIns="46525" rIns="93050" bIns="46525"/>
          <a:lstStyle/>
          <a:p>
            <a:pPr defTabSz="929996">
              <a:spcBef>
                <a:spcPct val="30000"/>
              </a:spcBef>
            </a:pPr>
            <a:endParaRPr lang="en-US" sz="1200" b="1" i="1">
              <a:latin typeface="Times New Roman" pitchFamily="18" charset="0"/>
            </a:endParaRPr>
          </a:p>
          <a:p>
            <a:pPr defTabSz="929996">
              <a:spcBef>
                <a:spcPct val="30000"/>
              </a:spcBef>
            </a:pPr>
            <a:endParaRPr lang="en-US" sz="1200" b="1" i="1">
              <a:latin typeface="Times New Roman" pitchFamily="18" charset="0"/>
            </a:endParaRPr>
          </a:p>
          <a:p>
            <a:pPr defTabSz="929996">
              <a:spcBef>
                <a:spcPct val="30000"/>
              </a:spcBef>
            </a:pPr>
            <a:endParaRPr lang="en-US" sz="1200" b="1" i="1">
              <a:latin typeface="Times New Roman" pitchFamily="18" charset="0"/>
            </a:endParaRPr>
          </a:p>
        </p:txBody>
      </p:sp>
      <p:sp>
        <p:nvSpPr>
          <p:cNvPr id="8" name="Date Placeholder 7"/>
          <p:cNvSpPr>
            <a:spLocks noGrp="1"/>
          </p:cNvSpPr>
          <p:nvPr>
            <p:ph type="dt" idx="10"/>
          </p:nvPr>
        </p:nvSpPr>
        <p:spPr/>
        <p:txBody>
          <a:bodyPr/>
          <a:lstStyle/>
          <a:p>
            <a:r>
              <a:rPr lang="en-US"/>
              <a:t>Introduction to Custom Fields</a:t>
            </a:r>
          </a:p>
        </p:txBody>
      </p:sp>
      <p:sp>
        <p:nvSpPr>
          <p:cNvPr id="13" name="Footer Placeholder 12"/>
          <p:cNvSpPr>
            <a:spLocks noGrp="1"/>
          </p:cNvSpPr>
          <p:nvPr>
            <p:ph type="ftr" sz="quarter" idx="12"/>
          </p:nvPr>
        </p:nvSpPr>
        <p:spPr/>
        <p:txBody>
          <a:bodyPr/>
          <a:lstStyle/>
          <a:p>
            <a:r>
              <a:rPr lang="en-US"/>
              <a:t>Rev. 21314</a:t>
            </a:r>
          </a:p>
        </p:txBody>
      </p:sp>
      <p:sp>
        <p:nvSpPr>
          <p:cNvPr id="11" name="Slide Number Placeholder 10"/>
          <p:cNvSpPr>
            <a:spLocks noGrp="1"/>
          </p:cNvSpPr>
          <p:nvPr>
            <p:ph type="sldNum" sz="quarter" idx="13"/>
          </p:nvPr>
        </p:nvSpPr>
        <p:spPr/>
        <p:txBody>
          <a:bodyPr/>
          <a:lstStyle/>
          <a:p>
            <a:r>
              <a:rPr lang="en-US" b="1"/>
              <a:t>Chapter One</a:t>
            </a:r>
            <a:r>
              <a:rPr lang="en-US"/>
              <a:t>: Page </a:t>
            </a:r>
            <a:fld id="{3242409A-B053-4208-A245-A8F1D7E49324}" type="slidenum">
              <a:rPr lang="en-US" smtClean="0"/>
              <a:pPr/>
              <a:t>124</a:t>
            </a:fld>
            <a:r>
              <a:rPr lang="en-US"/>
              <a:t> of 88</a:t>
            </a:r>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ln/>
        </p:spPr>
      </p:sp>
      <p:sp>
        <p:nvSpPr>
          <p:cNvPr id="6" name="Date Placeholder 5"/>
          <p:cNvSpPr>
            <a:spLocks noGrp="1"/>
          </p:cNvSpPr>
          <p:nvPr>
            <p:ph type="dt" idx="10"/>
          </p:nvPr>
        </p:nvSpPr>
        <p:spPr/>
        <p:txBody>
          <a:bodyPr/>
          <a:lstStyle/>
          <a:p>
            <a:r>
              <a:rPr lang="en-US"/>
              <a:t>Introduction to Custom Fields</a:t>
            </a:r>
          </a:p>
        </p:txBody>
      </p:sp>
      <p:sp>
        <p:nvSpPr>
          <p:cNvPr id="11" name="Footer Placeholder 10"/>
          <p:cNvSpPr>
            <a:spLocks noGrp="1"/>
          </p:cNvSpPr>
          <p:nvPr>
            <p:ph type="ftr" sz="quarter" idx="12"/>
          </p:nvPr>
        </p:nvSpPr>
        <p:spPr/>
        <p:txBody>
          <a:bodyPr/>
          <a:lstStyle/>
          <a:p>
            <a:r>
              <a:rPr lang="en-US"/>
              <a:t>Rev. 21314</a:t>
            </a:r>
          </a:p>
        </p:txBody>
      </p:sp>
      <p:sp>
        <p:nvSpPr>
          <p:cNvPr id="9" name="Slide Number Placeholder 8"/>
          <p:cNvSpPr>
            <a:spLocks noGrp="1"/>
          </p:cNvSpPr>
          <p:nvPr>
            <p:ph type="sldNum" sz="quarter" idx="13"/>
          </p:nvPr>
        </p:nvSpPr>
        <p:spPr/>
        <p:txBody>
          <a:bodyPr/>
          <a:lstStyle/>
          <a:p>
            <a:r>
              <a:rPr lang="en-US" b="1"/>
              <a:t>Chapter One</a:t>
            </a:r>
            <a:r>
              <a:rPr lang="en-US"/>
              <a:t>: Page </a:t>
            </a:r>
            <a:fld id="{3242409A-B053-4208-A245-A8F1D7E49324}" type="slidenum">
              <a:rPr lang="en-US" smtClean="0"/>
              <a:pPr/>
              <a:t>125</a:t>
            </a:fld>
            <a:r>
              <a:rPr lang="en-US"/>
              <a:t> of 88</a:t>
            </a:r>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pic>
        <p:nvPicPr>
          <p:cNvPr id="7" name="Picture 8" descr="Waters Brand Stacked-wht"/>
          <p:cNvPicPr>
            <a:picLocks noChangeAspect="1" noChangeArrowheads="1"/>
          </p:cNvPicPr>
          <p:nvPr/>
        </p:nvPicPr>
        <p:blipFill>
          <a:blip r:embed="rId3"/>
          <a:srcRect/>
          <a:stretch>
            <a:fillRect/>
          </a:stretch>
        </p:blipFill>
        <p:spPr bwMode="auto">
          <a:xfrm>
            <a:off x="2366280" y="9210579"/>
            <a:ext cx="1902243" cy="546778"/>
          </a:xfrm>
          <a:prstGeom prst="rect">
            <a:avLst/>
          </a:prstGeom>
          <a:noFill/>
          <a:ln w="9525">
            <a:noFill/>
            <a:miter lim="800000"/>
            <a:headEnd/>
            <a:tailEnd/>
          </a:ln>
        </p:spPr>
      </p:pic>
      <p:sp>
        <p:nvSpPr>
          <p:cNvPr id="8" name="Rectangle 6"/>
          <p:cNvSpPr txBox="1">
            <a:spLocks noChangeArrowheads="1"/>
          </p:cNvSpPr>
          <p:nvPr/>
        </p:nvSpPr>
        <p:spPr bwMode="auto">
          <a:xfrm>
            <a:off x="1481230" y="9594847"/>
            <a:ext cx="3804858" cy="487529"/>
          </a:xfrm>
          <a:prstGeom prst="rect">
            <a:avLst/>
          </a:prstGeom>
          <a:noFill/>
          <a:ln w="9525">
            <a:noFill/>
            <a:miter lim="800000"/>
            <a:headEnd/>
            <a:tailEnd/>
          </a:ln>
          <a:effectLst/>
        </p:spPr>
        <p:txBody>
          <a:bodyPr vert="horz" wrap="square" lIns="91440" tIns="45720" rIns="91440" bIns="45720" numCol="1" rtlCol="0" anchor="ctr" anchorCtr="0" compatLnSpc="1">
            <a:prstTxWarp prst="textNoShape">
              <a:avLst/>
            </a:prstTxWarp>
          </a:bodyPr>
          <a:lstStyle>
            <a:lvl1pPr algn="ctr">
              <a:defRPr sz="1000" smtClean="0">
                <a:latin typeface="Verdana" pitchFamily="34" charset="0"/>
                <a:ea typeface="Verdana" pitchFamily="34" charset="0"/>
                <a:cs typeface="Verdana"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Verdana" pitchFamily="34" charset="0"/>
                <a:ea typeface="Verdana" pitchFamily="34" charset="0"/>
                <a:cs typeface="Verdana" pitchFamily="34" charset="0"/>
              </a:rPr>
              <a:t>Waters Confidential and Proprietary Information</a:t>
            </a:r>
          </a:p>
        </p:txBody>
      </p:sp>
      <p:sp>
        <p:nvSpPr>
          <p:cNvPr id="12" name="Notes Placeholder 4"/>
          <p:cNvSpPr>
            <a:spLocks noGrp="1"/>
          </p:cNvSpPr>
          <p:nvPr>
            <p:ph type="body" idx="1"/>
          </p:nvPr>
        </p:nvSpPr>
        <p:spPr>
          <a:prstGeom prst="rect">
            <a:avLst/>
          </a:prstGeom>
        </p:spPr>
        <p:txBody>
          <a:bodyPr vert="horz" lIns="91440" tIns="45720" rIns="91440" bIns="45720" rtlCol="0">
            <a:normAutofit/>
          </a:bodyPr>
          <a:lstStyle/>
          <a:p>
            <a:pPr marL="225425" lvl="0" indent="-225425">
              <a:buClr>
                <a:srgbClr val="0070C0"/>
              </a:buClr>
              <a:buFont typeface="Wingdings 2" pitchFamily="18" charset="2"/>
              <a:buChar char="¡"/>
            </a:pPr>
            <a:endParaRPr lang="en-US">
              <a:latin typeface="Verdana" pitchFamily="34" charset="0"/>
              <a:ea typeface="Verdana" pitchFamily="34" charset="0"/>
              <a:cs typeface="Verdana" pitchFamily="34" charset="0"/>
            </a:endParaRPr>
          </a:p>
        </p:txBody>
      </p:sp>
      <p:sp>
        <p:nvSpPr>
          <p:cNvPr id="10" name="Date Placeholder 9"/>
          <p:cNvSpPr>
            <a:spLocks noGrp="1"/>
          </p:cNvSpPr>
          <p:nvPr>
            <p:ph type="dt" idx="10"/>
          </p:nvPr>
        </p:nvSpPr>
        <p:spPr/>
        <p:txBody>
          <a:bodyPr/>
          <a:lstStyle/>
          <a:p>
            <a:r>
              <a:rPr lang="en-US"/>
              <a:t>Introduction to Custom Fields</a:t>
            </a:r>
          </a:p>
        </p:txBody>
      </p:sp>
      <p:sp>
        <p:nvSpPr>
          <p:cNvPr id="13" name="Footer Placeholder 12"/>
          <p:cNvSpPr>
            <a:spLocks noGrp="1"/>
          </p:cNvSpPr>
          <p:nvPr>
            <p:ph type="ftr" sz="quarter" idx="12"/>
          </p:nvPr>
        </p:nvSpPr>
        <p:spPr/>
        <p:txBody>
          <a:bodyPr/>
          <a:lstStyle/>
          <a:p>
            <a:r>
              <a:rPr lang="en-US"/>
              <a:t>Rev. 21314</a:t>
            </a:r>
          </a:p>
        </p:txBody>
      </p:sp>
      <p:sp>
        <p:nvSpPr>
          <p:cNvPr id="14" name="Slide Number Placeholder 13"/>
          <p:cNvSpPr>
            <a:spLocks noGrp="1"/>
          </p:cNvSpPr>
          <p:nvPr>
            <p:ph type="sldNum" sz="quarter" idx="13"/>
          </p:nvPr>
        </p:nvSpPr>
        <p:spPr/>
        <p:txBody>
          <a:bodyPr/>
          <a:lstStyle/>
          <a:p>
            <a:r>
              <a:rPr lang="en-US" b="1"/>
              <a:t>Chapter One</a:t>
            </a:r>
            <a:r>
              <a:rPr lang="en-US"/>
              <a:t>: Page </a:t>
            </a:r>
            <a:fld id="{3242409A-B053-4208-A245-A8F1D7E49324}" type="slidenum">
              <a:rPr lang="en-US" smtClean="0"/>
              <a:pPr/>
              <a:t>126</a:t>
            </a:fld>
            <a:r>
              <a:rPr lang="en-US"/>
              <a:t> of 88</a:t>
            </a:r>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4" name="Rectangle 2"/>
          <p:cNvSpPr>
            <a:spLocks noGrp="1" noRot="1" noChangeAspect="1" noChangeArrowheads="1" noTextEdit="1"/>
          </p:cNvSpPr>
          <p:nvPr>
            <p:ph type="sldImg"/>
          </p:nvPr>
        </p:nvSpPr>
        <p:spPr>
          <a:ln/>
        </p:spPr>
      </p:sp>
      <p:sp>
        <p:nvSpPr>
          <p:cNvPr id="945155" name="Rectangle 3"/>
          <p:cNvSpPr>
            <a:spLocks noGrp="1" noChangeArrowheads="1"/>
          </p:cNvSpPr>
          <p:nvPr>
            <p:ph type="body" idx="1"/>
          </p:nvPr>
        </p:nvSpPr>
        <p:spPr/>
        <p:txBody>
          <a:bodyPr/>
          <a:lstStyle/>
          <a:p>
            <a:pPr algn="ctr">
              <a:buNone/>
            </a:pPr>
            <a:r>
              <a:rPr lang="en-US" b="1" i="1" dirty="0"/>
              <a:t>Content</a:t>
            </a:r>
          </a:p>
          <a:p>
            <a:endParaRPr lang="en-US" dirty="0"/>
          </a:p>
          <a:p>
            <a:pPr indent="-144000"/>
            <a:r>
              <a:rPr lang="en-US" dirty="0"/>
              <a:t>In this chapter we will look at the more advanced custom fields.</a:t>
            </a:r>
            <a:br>
              <a:rPr lang="en-US" dirty="0"/>
            </a:br>
            <a:endParaRPr lang="en-US" dirty="0"/>
          </a:p>
          <a:p>
            <a:pPr indent="-144000"/>
            <a:r>
              <a:rPr lang="en-US" dirty="0"/>
              <a:t>These includes are more in depth look at Boolean and </a:t>
            </a:r>
            <a:br>
              <a:rPr lang="en-US" dirty="0"/>
            </a:br>
            <a:r>
              <a:rPr lang="en-US" dirty="0"/>
              <a:t>   Enumerated Custom Fields</a:t>
            </a:r>
            <a:br>
              <a:rPr lang="en-US" dirty="0"/>
            </a:br>
            <a:endParaRPr lang="en-US" dirty="0"/>
          </a:p>
          <a:p>
            <a:pPr indent="-144000"/>
            <a:r>
              <a:rPr lang="en-US" dirty="0"/>
              <a:t>We will also look at InterSample and InterSample Summary </a:t>
            </a:r>
            <a:br>
              <a:rPr lang="en-US" dirty="0"/>
            </a:br>
            <a:r>
              <a:rPr lang="en-US" dirty="0"/>
              <a:t>   calculations</a:t>
            </a:r>
            <a:br>
              <a:rPr lang="en-US" dirty="0"/>
            </a:br>
            <a:endParaRPr lang="en-US" dirty="0"/>
          </a:p>
        </p:txBody>
      </p:sp>
      <p:sp>
        <p:nvSpPr>
          <p:cNvPr id="9" name="Date Placeholder 8"/>
          <p:cNvSpPr>
            <a:spLocks noGrp="1"/>
          </p:cNvSpPr>
          <p:nvPr>
            <p:ph type="dt" idx="10"/>
          </p:nvPr>
        </p:nvSpPr>
        <p:spPr/>
        <p:txBody>
          <a:bodyPr/>
          <a:lstStyle/>
          <a:p>
            <a:pPr>
              <a:defRPr/>
            </a:pPr>
            <a:r>
              <a:rPr lang="en-US"/>
              <a:t>Rev. 21314</a:t>
            </a:r>
          </a:p>
        </p:txBody>
      </p:sp>
      <p:sp>
        <p:nvSpPr>
          <p:cNvPr id="11" name="Footer Placeholder 10"/>
          <p:cNvSpPr>
            <a:spLocks noGrp="1"/>
          </p:cNvSpPr>
          <p:nvPr>
            <p:ph type="ftr" sz="quarter" idx="12"/>
          </p:nvPr>
        </p:nvSpPr>
        <p:spPr/>
        <p:txBody>
          <a:bodyPr/>
          <a:lstStyle/>
          <a:p>
            <a:pPr>
              <a:defRPr/>
            </a:pPr>
            <a:r>
              <a:rPr lang="en-US"/>
              <a:t>Waters Confidential and Proprietary Information</a:t>
            </a:r>
            <a:endParaRPr lang="en-US" dirty="0"/>
          </a:p>
        </p:txBody>
      </p:sp>
      <p:sp>
        <p:nvSpPr>
          <p:cNvPr id="14" name="Header Placeholder 13"/>
          <p:cNvSpPr>
            <a:spLocks noGrp="1"/>
          </p:cNvSpPr>
          <p:nvPr>
            <p:ph type="hdr" sz="quarter" idx="15"/>
          </p:nvPr>
        </p:nvSpPr>
        <p:spPr/>
        <p:txBody>
          <a:bodyPr/>
          <a:lstStyle/>
          <a:p>
            <a:pPr>
              <a:defRPr/>
            </a:pPr>
            <a:r>
              <a:rPr lang="en-US"/>
              <a:t>Advanced Custom Fields</a:t>
            </a:r>
            <a:endParaRPr lang="en-US" dirty="0"/>
          </a:p>
        </p:txBody>
      </p:sp>
      <p:sp>
        <p:nvSpPr>
          <p:cNvPr id="8" name="Slide Number Placeholder 7"/>
          <p:cNvSpPr>
            <a:spLocks noGrp="1"/>
          </p:cNvSpPr>
          <p:nvPr>
            <p:ph type="sldNum" sz="quarter" idx="16"/>
          </p:nvPr>
        </p:nvSpPr>
        <p:spPr/>
        <p:txBody>
          <a:bodyPr/>
          <a:lstStyle/>
          <a:p>
            <a:pPr>
              <a:defRPr/>
            </a:pPr>
            <a:r>
              <a:rPr lang="en-US"/>
              <a:t>Chapter  Two: </a:t>
            </a:r>
            <a:r>
              <a:rPr lang="en-US" b="0"/>
              <a:t>Page </a:t>
            </a:r>
            <a:fld id="{32155B68-2FBB-48A0-88DC-1DBD4888FA3D}" type="slidenum">
              <a:rPr lang="en-US" b="0" smtClean="0"/>
              <a:pPr>
                <a:defRPr/>
              </a:pPr>
              <a:t>127</a:t>
            </a:fld>
            <a:r>
              <a:rPr lang="en-US" b="0"/>
              <a:t> of 102</a:t>
            </a:r>
            <a:endParaRPr lang="en-US" b="0"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noFill/>
          <a:ln>
            <a:solidFill>
              <a:schemeClr val="tx1"/>
            </a:solidFill>
            <a:miter lim="800000"/>
            <a:headEnd/>
            <a:tailEnd/>
          </a:ln>
        </p:spPr>
      </p:sp>
      <p:sp>
        <p:nvSpPr>
          <p:cNvPr id="90115" name="Rectangle 3"/>
          <p:cNvSpPr>
            <a:spLocks noGrp="1" noChangeArrowheads="1"/>
          </p:cNvSpPr>
          <p:nvPr>
            <p:ph type="body" idx="1"/>
          </p:nvPr>
        </p:nvSpPr>
        <p:spPr>
          <a:noFill/>
        </p:spPr>
        <p:txBody>
          <a:bodyPr/>
          <a:lstStyle/>
          <a:p>
            <a:pPr algn="ctr" eaLnBrk="1" hangingPunct="1">
              <a:buNone/>
            </a:pPr>
            <a:r>
              <a:rPr lang="nl-NL" b="1" i="1" dirty="0"/>
              <a:t>Custom Field Examples</a:t>
            </a:r>
          </a:p>
          <a:p>
            <a:pPr eaLnBrk="1" hangingPunct="1"/>
            <a:endParaRPr lang="nl-NL" dirty="0"/>
          </a:p>
          <a:p>
            <a:pPr eaLnBrk="1" hangingPunct="1"/>
            <a:r>
              <a:rPr lang="nl-NL" dirty="0"/>
              <a:t>In some of the exaples we use this separation to illustrate the </a:t>
            </a:r>
            <a:br>
              <a:rPr lang="nl-NL" dirty="0"/>
            </a:br>
            <a:r>
              <a:rPr lang="nl-NL" dirty="0"/>
              <a:t>   various custom calculations.</a:t>
            </a:r>
            <a:br>
              <a:rPr lang="nl-NL" dirty="0"/>
            </a:br>
            <a:endParaRPr lang="nl-NL" dirty="0"/>
          </a:p>
          <a:p>
            <a:pPr eaLnBrk="1" hangingPunct="1"/>
            <a:r>
              <a:rPr lang="nl-NL" dirty="0"/>
              <a:t>It is a simple separation of only two components, Theobromine </a:t>
            </a:r>
            <a:br>
              <a:rPr lang="nl-NL" dirty="0"/>
            </a:br>
            <a:r>
              <a:rPr lang="nl-NL" dirty="0"/>
              <a:t>   and Caffeine.</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128</a:t>
            </a:fld>
            <a:r>
              <a:rPr lang="en-US" b="0"/>
              <a:t> of 102</a:t>
            </a:r>
            <a:endParaRPr lang="en-US" b="0"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928688" y="741363"/>
            <a:ext cx="4965700" cy="3724275"/>
          </a:xfrm>
          <a:ln/>
        </p:spPr>
      </p:sp>
      <p:sp>
        <p:nvSpPr>
          <p:cNvPr id="105475" name="Rectangle 3"/>
          <p:cNvSpPr>
            <a:spLocks noGrp="1" noChangeArrowheads="1"/>
          </p:cNvSpPr>
          <p:nvPr>
            <p:ph type="body" idx="1"/>
          </p:nvPr>
        </p:nvSpPr>
        <p:spPr>
          <a:noFill/>
          <a:ln/>
        </p:spPr>
        <p:txBody>
          <a:bodyPr/>
          <a:lstStyle/>
          <a:p>
            <a:pPr marL="220849" indent="-220849" algn="ctr" defTabSz="895838" eaLnBrk="1" fontAlgn="auto" hangingPunct="1">
              <a:spcBef>
                <a:spcPts val="0"/>
              </a:spcBef>
              <a:spcAft>
                <a:spcPts val="0"/>
              </a:spcAft>
              <a:buNone/>
              <a:defRPr/>
            </a:pPr>
            <a:r>
              <a:rPr lang="en-US" b="1" i="1" dirty="0"/>
              <a:t>Boolean Custom Fields</a:t>
            </a:r>
          </a:p>
          <a:p>
            <a:pPr marL="220849" indent="-220849" defTabSz="895838" eaLnBrk="1" fontAlgn="auto" hangingPunct="1">
              <a:spcBef>
                <a:spcPts val="0"/>
              </a:spcBef>
              <a:spcAft>
                <a:spcPts val="0"/>
              </a:spcAft>
              <a:buFont typeface="Wingdings 2" pitchFamily="18" charset="2"/>
              <a:buChar char="¡"/>
              <a:defRPr/>
            </a:pPr>
            <a:endParaRPr lang="en-US" dirty="0"/>
          </a:p>
          <a:p>
            <a:pPr marL="220849" indent="-220849" defTabSz="895838" eaLnBrk="1" fontAlgn="auto" hangingPunct="1">
              <a:spcBef>
                <a:spcPts val="0"/>
              </a:spcBef>
              <a:spcAft>
                <a:spcPts val="0"/>
              </a:spcAft>
              <a:buFont typeface="Wingdings 2" pitchFamily="18" charset="2"/>
              <a:buChar char="¡"/>
              <a:defRPr/>
            </a:pPr>
            <a:r>
              <a:rPr lang="en-US" dirty="0"/>
              <a:t>Boolean and Enumerated custom fields allow you to create very flexible and useful custom fields.  Boolean and Enumerated Sample Type custom fields allow you to define a specific list of choices for the field.  Boolean and Enumerated Peak and Result Type custom fields allow you to translate a mathematical formula into a specific value, or answer.  Boolean fields always have two possible answers and are typically a yes/no or a true/false type situation.   Enumerated fields have multiple possible answers, for example Good, Better, Best.  The number of possible answers is defined by the user when creating this type of custom field.</a:t>
            </a:r>
            <a:br>
              <a:rPr lang="en-US" dirty="0"/>
            </a:br>
            <a:endParaRPr lang="en-US" dirty="0"/>
          </a:p>
          <a:p>
            <a:pPr marL="220849" indent="-220849" defTabSz="895838" eaLnBrk="1" fontAlgn="auto" hangingPunct="1">
              <a:spcBef>
                <a:spcPts val="0"/>
              </a:spcBef>
              <a:spcAft>
                <a:spcPts val="0"/>
              </a:spcAft>
              <a:buFont typeface="Wingdings 2" pitchFamily="18" charset="2"/>
              <a:buChar char="¡"/>
              <a:defRPr/>
            </a:pPr>
            <a:r>
              <a:rPr lang="en-US" dirty="0"/>
              <a:t>If a Boolean expression is true (in the example above if the %Area is greater than 5) the outcome will be a 1 if not it will be a 0. The 0 and 1 value can then be translated into a text or another value.</a:t>
            </a:r>
          </a:p>
          <a:p>
            <a:pPr algn="ctr"/>
            <a:endParaRPr lang="en-US" dirty="0"/>
          </a:p>
          <a:p>
            <a:pPr algn="ctr"/>
            <a:endParaRPr lang="en-US" dirty="0"/>
          </a:p>
          <a:p>
            <a:pPr algn="ctr">
              <a:buNone/>
            </a:pPr>
            <a:endParaRPr lang="en-US" dirty="0"/>
          </a:p>
          <a:p>
            <a:pPr algn="ctr"/>
            <a:endParaRPr lang="en-US" dirty="0"/>
          </a:p>
        </p:txBody>
      </p:sp>
      <p:sp>
        <p:nvSpPr>
          <p:cNvPr id="702468" name="Rectangle 4"/>
          <p:cNvSpPr>
            <a:spLocks noChangeArrowheads="1"/>
          </p:cNvSpPr>
          <p:nvPr/>
        </p:nvSpPr>
        <p:spPr bwMode="auto">
          <a:xfrm>
            <a:off x="1057417" y="4880598"/>
            <a:ext cx="4984961" cy="2528191"/>
          </a:xfrm>
          <a:prstGeom prst="rect">
            <a:avLst/>
          </a:prstGeom>
          <a:noFill/>
          <a:ln w="9525">
            <a:noFill/>
            <a:miter lim="800000"/>
            <a:headEnd/>
            <a:tailEnd/>
          </a:ln>
          <a:effectLst/>
        </p:spPr>
        <p:txBody>
          <a:bodyPr lIns="93050" tIns="46525" rIns="93050" bIns="46525"/>
          <a:lstStyle/>
          <a:p>
            <a:pPr defTabSz="930259">
              <a:spcBef>
                <a:spcPct val="30000"/>
              </a:spcBef>
              <a:defRPr/>
            </a:pPr>
            <a:r>
              <a:rPr lang="en-US" sz="1200" b="1" dirty="0"/>
              <a:t>Boolean Operators:</a:t>
            </a:r>
          </a:p>
          <a:p>
            <a:pPr marL="233309" indent="-233309" defTabSz="930259">
              <a:spcBef>
                <a:spcPct val="30000"/>
              </a:spcBef>
              <a:buClr>
                <a:srgbClr val="3874D4"/>
              </a:buClr>
              <a:buFont typeface="Wingdings 2" pitchFamily="18" charset="2"/>
              <a:buChar char="¡"/>
              <a:defRPr/>
            </a:pPr>
            <a:r>
              <a:rPr lang="en-US" sz="1200" b="1" dirty="0"/>
              <a:t>LT – </a:t>
            </a:r>
            <a:r>
              <a:rPr lang="en-US" sz="1200" dirty="0"/>
              <a:t>Less than</a:t>
            </a:r>
          </a:p>
          <a:p>
            <a:pPr marL="233309" indent="-233309" defTabSz="930259">
              <a:spcBef>
                <a:spcPct val="30000"/>
              </a:spcBef>
              <a:buClr>
                <a:srgbClr val="3874D4"/>
              </a:buClr>
              <a:buFont typeface="Wingdings 2" pitchFamily="18" charset="2"/>
              <a:buChar char="¡"/>
              <a:defRPr/>
            </a:pPr>
            <a:r>
              <a:rPr lang="en-US" sz="1200" b="1" dirty="0"/>
              <a:t>LTE – </a:t>
            </a:r>
            <a:r>
              <a:rPr lang="en-US" sz="1200" dirty="0"/>
              <a:t>Less than or equal to</a:t>
            </a:r>
          </a:p>
          <a:p>
            <a:pPr marL="233309" indent="-233309" defTabSz="930259">
              <a:spcBef>
                <a:spcPct val="30000"/>
              </a:spcBef>
              <a:buClr>
                <a:srgbClr val="3874D4"/>
              </a:buClr>
              <a:buFont typeface="Wingdings 2" pitchFamily="18" charset="2"/>
              <a:buChar char="¡"/>
              <a:defRPr/>
            </a:pPr>
            <a:r>
              <a:rPr lang="en-US" sz="1200" b="1" dirty="0"/>
              <a:t>GT – </a:t>
            </a:r>
            <a:r>
              <a:rPr lang="en-US" sz="1200" dirty="0"/>
              <a:t>Greater than</a:t>
            </a:r>
          </a:p>
          <a:p>
            <a:pPr marL="233309" indent="-233309" defTabSz="930259">
              <a:spcBef>
                <a:spcPct val="30000"/>
              </a:spcBef>
              <a:buClr>
                <a:srgbClr val="3874D4"/>
              </a:buClr>
              <a:buFont typeface="Wingdings 2" pitchFamily="18" charset="2"/>
              <a:buChar char="¡"/>
              <a:defRPr/>
            </a:pPr>
            <a:r>
              <a:rPr lang="en-US" sz="1200" b="1" dirty="0"/>
              <a:t>GTE – </a:t>
            </a:r>
            <a:r>
              <a:rPr lang="en-US" sz="1200" dirty="0"/>
              <a:t>Greater than or equal to</a:t>
            </a:r>
          </a:p>
          <a:p>
            <a:pPr marL="233309" indent="-233309" defTabSz="930259">
              <a:spcBef>
                <a:spcPct val="30000"/>
              </a:spcBef>
              <a:buClr>
                <a:srgbClr val="3874D4"/>
              </a:buClr>
              <a:buFont typeface="Wingdings 2" pitchFamily="18" charset="2"/>
              <a:buChar char="¡"/>
              <a:defRPr/>
            </a:pPr>
            <a:r>
              <a:rPr lang="en-US" sz="1200" b="1" dirty="0"/>
              <a:t>EQ – </a:t>
            </a:r>
            <a:r>
              <a:rPr lang="en-US" sz="1200" dirty="0"/>
              <a:t>Equal to</a:t>
            </a:r>
          </a:p>
          <a:p>
            <a:pPr marL="233309" indent="-233309" defTabSz="930259">
              <a:spcBef>
                <a:spcPct val="30000"/>
              </a:spcBef>
              <a:buClr>
                <a:srgbClr val="3874D4"/>
              </a:buClr>
              <a:buFont typeface="Wingdings 2" pitchFamily="18" charset="2"/>
              <a:buChar char="¡"/>
              <a:defRPr/>
            </a:pPr>
            <a:r>
              <a:rPr lang="en-US" sz="1200" b="1" dirty="0"/>
              <a:t>NEQ – </a:t>
            </a:r>
            <a:r>
              <a:rPr lang="en-US" sz="1200" dirty="0"/>
              <a:t>Not equal to</a:t>
            </a:r>
            <a:r>
              <a:rPr lang="en-US" sz="1200" b="1" dirty="0"/>
              <a:t> </a:t>
            </a:r>
          </a:p>
          <a:p>
            <a:pPr marL="233309" indent="-233309" defTabSz="930259">
              <a:spcBef>
                <a:spcPct val="30000"/>
              </a:spcBef>
              <a:buClr>
                <a:srgbClr val="3874D4"/>
              </a:buClr>
              <a:buFont typeface="Wingdings 2" pitchFamily="18" charset="2"/>
              <a:buChar char="¡"/>
              <a:defRPr/>
            </a:pPr>
            <a:r>
              <a:rPr lang="en-US" sz="1200" b="1" dirty="0"/>
              <a:t>RANGE – </a:t>
            </a:r>
            <a:r>
              <a:rPr lang="en-US" sz="1200" dirty="0"/>
              <a:t>Range</a:t>
            </a:r>
          </a:p>
          <a:p>
            <a:pPr marL="233309" indent="-233309" defTabSz="930259">
              <a:spcBef>
                <a:spcPct val="30000"/>
              </a:spcBef>
              <a:buClr>
                <a:srgbClr val="3874D4"/>
              </a:buClr>
              <a:buFont typeface="Wingdings 2" pitchFamily="18" charset="2"/>
              <a:buChar char="¡"/>
              <a:defRPr/>
            </a:pPr>
            <a:r>
              <a:rPr lang="en-US" sz="1200" b="1" dirty="0"/>
              <a:t>EQI – </a:t>
            </a:r>
            <a:r>
              <a:rPr lang="en-US" sz="1200" dirty="0"/>
              <a:t>Case-insensitive, used with string comparison</a:t>
            </a:r>
          </a:p>
          <a:p>
            <a:pPr marL="233309" indent="-233309" defTabSz="930259">
              <a:spcBef>
                <a:spcPct val="30000"/>
              </a:spcBef>
              <a:buClr>
                <a:srgbClr val="3874D4"/>
              </a:buClr>
              <a:buFont typeface="Wingdings 2" pitchFamily="18" charset="2"/>
              <a:buChar char="¡"/>
              <a:defRPr/>
            </a:pPr>
            <a:r>
              <a:rPr lang="en-US" sz="1200" b="1" dirty="0"/>
              <a:t>NEQI – </a:t>
            </a:r>
            <a:r>
              <a:rPr lang="en-US" sz="1200" dirty="0"/>
              <a:t>Case-insensitive, used with string comparison</a:t>
            </a:r>
          </a:p>
          <a:p>
            <a:pPr defTabSz="930259">
              <a:spcBef>
                <a:spcPct val="30000"/>
              </a:spcBef>
              <a:buFontTx/>
              <a:buChar char="•"/>
              <a:defRPr/>
            </a:pPr>
            <a:endParaRPr lang="en-US" sz="1200" dirty="0"/>
          </a:p>
          <a:p>
            <a:pPr defTabSz="930259">
              <a:spcBef>
                <a:spcPct val="30000"/>
              </a:spcBef>
              <a:defRPr/>
            </a:pPr>
            <a:r>
              <a:rPr lang="en-US" sz="1200" b="1" dirty="0"/>
              <a:t>Example Statement:</a:t>
            </a:r>
          </a:p>
          <a:p>
            <a:pPr defTabSz="930259">
              <a:spcBef>
                <a:spcPct val="30000"/>
              </a:spcBef>
              <a:defRPr/>
            </a:pPr>
            <a:endParaRPr lang="en-US" sz="1200" b="1" dirty="0"/>
          </a:p>
        </p:txBody>
      </p:sp>
      <p:sp>
        <p:nvSpPr>
          <p:cNvPr id="8" name="Date Placeholder 7"/>
          <p:cNvSpPr>
            <a:spLocks noGrp="1"/>
          </p:cNvSpPr>
          <p:nvPr>
            <p:ph type="dt" idx="10"/>
          </p:nvPr>
        </p:nvSpPr>
        <p:spPr/>
        <p:txBody>
          <a:bodyPr/>
          <a:lstStyle/>
          <a:p>
            <a:r>
              <a:rPr lang="en-US" dirty="0"/>
              <a:t>Custom Fields</a:t>
            </a:r>
          </a:p>
        </p:txBody>
      </p:sp>
      <p:sp>
        <p:nvSpPr>
          <p:cNvPr id="12" name="Slide Number Placeholder 11"/>
          <p:cNvSpPr>
            <a:spLocks noGrp="1"/>
          </p:cNvSpPr>
          <p:nvPr>
            <p:ph type="sldNum" sz="quarter" idx="11"/>
          </p:nvPr>
        </p:nvSpPr>
        <p:spPr/>
        <p:txBody>
          <a:bodyPr/>
          <a:lstStyle/>
          <a:p>
            <a:r>
              <a:rPr lang="en-US" dirty="0"/>
              <a:t>Page </a:t>
            </a:r>
            <a:fld id="{3242409A-B053-4208-A245-A8F1D7E49324}" type="slidenum">
              <a:rPr lang="en-US" smtClean="0"/>
              <a:pPr/>
              <a:t>130</a:t>
            </a:fld>
            <a:r>
              <a:rPr lang="en-US" dirty="0"/>
              <a:t> of 81</a:t>
            </a:r>
          </a:p>
        </p:txBody>
      </p:sp>
      <p:sp>
        <p:nvSpPr>
          <p:cNvPr id="13" name="Footer Placeholder 12"/>
          <p:cNvSpPr>
            <a:spLocks noGrp="1"/>
          </p:cNvSpPr>
          <p:nvPr>
            <p:ph type="ftr" sz="quarter" idx="12"/>
          </p:nvPr>
        </p:nvSpPr>
        <p:spPr/>
        <p:txBody>
          <a:bodyPr/>
          <a:lstStyle/>
          <a:p>
            <a:r>
              <a:rPr lang="en-US" dirty="0"/>
              <a:t>Rev. 24011</a:t>
            </a: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p:spPr>
      </p:sp>
      <p:sp>
        <p:nvSpPr>
          <p:cNvPr id="94211" name="Notes Placeholder 2"/>
          <p:cNvSpPr>
            <a:spLocks noGrp="1"/>
          </p:cNvSpPr>
          <p:nvPr>
            <p:ph type="body" idx="1"/>
          </p:nvPr>
        </p:nvSpPr>
        <p:spPr>
          <a:noFill/>
        </p:spPr>
        <p:txBody>
          <a:bodyPr/>
          <a:lstStyle/>
          <a:p>
            <a:pPr algn="ctr">
              <a:buNone/>
            </a:pPr>
            <a:r>
              <a:rPr lang="en-US" b="1" i="1" dirty="0"/>
              <a:t>Boolean Operators/Functions</a:t>
            </a:r>
          </a:p>
          <a:p>
            <a:endParaRPr lang="en-US" dirty="0"/>
          </a:p>
          <a:p>
            <a:r>
              <a:rPr lang="en-US" dirty="0"/>
              <a:t>This is list of the different Boolean Operators you can use.</a:t>
            </a:r>
            <a:br>
              <a:rPr lang="en-US" dirty="0"/>
            </a:br>
            <a:endParaRPr lang="en-US" dirty="0"/>
          </a:p>
          <a:p>
            <a:r>
              <a:rPr lang="en-US" dirty="0"/>
              <a:t>The AND (&amp;) and OR (|) function are used to combine 2 or more Boolean expressions.</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131</a:t>
            </a:fld>
            <a:r>
              <a:rPr lang="en-US" b="0"/>
              <a:t> of 102</a:t>
            </a:r>
            <a:endParaRPr lang="en-US" b="0"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p:spPr>
      </p:sp>
      <p:sp>
        <p:nvSpPr>
          <p:cNvPr id="94211" name="Notes Placeholder 2"/>
          <p:cNvSpPr>
            <a:spLocks noGrp="1"/>
          </p:cNvSpPr>
          <p:nvPr>
            <p:ph type="body" idx="1"/>
          </p:nvPr>
        </p:nvSpPr>
        <p:spPr>
          <a:noFill/>
        </p:spPr>
        <p:txBody>
          <a:bodyPr/>
          <a:lstStyle/>
          <a:p>
            <a:pPr algn="ctr">
              <a:buNone/>
            </a:pPr>
            <a:r>
              <a:rPr lang="en-US" b="1" i="1" dirty="0"/>
              <a:t>Boolean Operators/Functions, Examples</a:t>
            </a:r>
          </a:p>
          <a:p>
            <a:endParaRPr lang="en-US" dirty="0"/>
          </a:p>
          <a:p>
            <a:r>
              <a:rPr lang="en-US" dirty="0"/>
              <a:t>This is list shows examples of the different Boolean Operators you can use.</a:t>
            </a:r>
            <a:br>
              <a:rPr lang="en-US" dirty="0"/>
            </a:br>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132</a:t>
            </a:fld>
            <a:r>
              <a:rPr lang="en-US" b="0"/>
              <a:t> of 102</a:t>
            </a:r>
            <a:endParaRPr lang="en-US" b="0"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p:spPr>
      </p:sp>
      <p:sp>
        <p:nvSpPr>
          <p:cNvPr id="95235" name="Notes Placeholder 2"/>
          <p:cNvSpPr>
            <a:spLocks noGrp="1"/>
          </p:cNvSpPr>
          <p:nvPr>
            <p:ph type="body" idx="1"/>
          </p:nvPr>
        </p:nvSpPr>
        <p:spPr>
          <a:noFill/>
        </p:spPr>
        <p:txBody>
          <a:bodyPr/>
          <a:lstStyle/>
          <a:p>
            <a:pPr algn="ctr">
              <a:buNone/>
            </a:pPr>
            <a:r>
              <a:rPr lang="en-US" b="1" i="1" dirty="0"/>
              <a:t>Boolean Examples</a:t>
            </a:r>
          </a:p>
          <a:p>
            <a:endParaRPr lang="en-US" dirty="0"/>
          </a:p>
          <a:p>
            <a:r>
              <a:rPr lang="en-US" dirty="0"/>
              <a:t>Above you will find some examples of Boolean Custom Fields.</a:t>
            </a:r>
            <a:br>
              <a:rPr lang="en-US" dirty="0"/>
            </a:br>
            <a:endParaRPr lang="en-US" dirty="0"/>
          </a:p>
          <a:p>
            <a:pPr marL="144000"/>
            <a:r>
              <a:rPr lang="en-US" dirty="0"/>
              <a:t>They are all testing is the Area is Greater Than some specific </a:t>
            </a:r>
            <a:br>
              <a:rPr lang="en-US" dirty="0"/>
            </a:br>
            <a:r>
              <a:rPr lang="en-US" dirty="0"/>
              <a:t>values. If the expression are true the outcome will be a 1 and this is then translated into True. If the expression is not true, the outcome is a 0, which is translated into False.</a:t>
            </a:r>
            <a:br>
              <a:rPr lang="en-US" dirty="0"/>
            </a:br>
            <a:endParaRPr lang="en-US" dirty="0"/>
          </a:p>
          <a:p>
            <a:pPr marL="144000"/>
            <a:r>
              <a:rPr lang="en-US" dirty="0"/>
              <a:t>In some of the examples we are referring to specific peak names (</a:t>
            </a:r>
            <a:r>
              <a:rPr lang="en-US" dirty="0" err="1"/>
              <a:t>ThBr</a:t>
            </a:r>
            <a:r>
              <a:rPr lang="en-US" dirty="0"/>
              <a:t> and </a:t>
            </a:r>
            <a:r>
              <a:rPr lang="en-US" dirty="0" err="1"/>
              <a:t>Caf</a:t>
            </a:r>
            <a:r>
              <a:rPr lang="en-US" dirty="0"/>
              <a:t>), but in the last example we have replaced the names with CCompRef1 and the value with CConst1, to make the calculation more generic. In this case we will have to specify in the processing method what CCompRef1 and CConst1 are.</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133</a:t>
            </a:fld>
            <a:r>
              <a:rPr lang="en-US" b="0"/>
              <a:t> of 102</a:t>
            </a:r>
            <a:endParaRPr lang="en-US" b="0"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p:spPr>
      </p:sp>
      <p:sp>
        <p:nvSpPr>
          <p:cNvPr id="95235" name="Notes Placeholder 2"/>
          <p:cNvSpPr>
            <a:spLocks noGrp="1"/>
          </p:cNvSpPr>
          <p:nvPr>
            <p:ph type="body" idx="1"/>
          </p:nvPr>
        </p:nvSpPr>
        <p:spPr>
          <a:noFill/>
        </p:spPr>
        <p:txBody>
          <a:bodyPr/>
          <a:lstStyle/>
          <a:p>
            <a:pPr algn="ctr">
              <a:buNone/>
            </a:pPr>
            <a:r>
              <a:rPr lang="en-US" b="1" i="1" dirty="0"/>
              <a:t>Boolean Examples</a:t>
            </a:r>
          </a:p>
          <a:p>
            <a:endParaRPr lang="en-US" dirty="0"/>
          </a:p>
          <a:p>
            <a:r>
              <a:rPr lang="en-US" dirty="0"/>
              <a:t>Above you will find some examples of Boolean Custom Fields.</a:t>
            </a:r>
            <a:br>
              <a:rPr lang="en-US" dirty="0"/>
            </a:br>
            <a:endParaRPr lang="en-US" dirty="0"/>
          </a:p>
          <a:p>
            <a:pPr marL="144000"/>
            <a:r>
              <a:rPr lang="en-US" dirty="0"/>
              <a:t>They are all testing is the Area is Greater Than some specific </a:t>
            </a:r>
            <a:br>
              <a:rPr lang="en-US" dirty="0"/>
            </a:br>
            <a:r>
              <a:rPr lang="en-US" dirty="0"/>
              <a:t>values. If the expression are true the outcome will be a 1 and this is then translated into True. If the expression is not true, the outcome is a 0, which is translated into False.</a:t>
            </a:r>
            <a:br>
              <a:rPr lang="en-US" dirty="0"/>
            </a:br>
            <a:endParaRPr lang="en-US" dirty="0"/>
          </a:p>
          <a:p>
            <a:pPr marL="144000"/>
            <a:r>
              <a:rPr lang="en-US" dirty="0"/>
              <a:t>In some of the examples we are referring to specific peak names (</a:t>
            </a:r>
            <a:r>
              <a:rPr lang="en-US" dirty="0" err="1"/>
              <a:t>ThBr</a:t>
            </a:r>
            <a:r>
              <a:rPr lang="en-US" dirty="0"/>
              <a:t> and </a:t>
            </a:r>
            <a:r>
              <a:rPr lang="en-US" dirty="0" err="1"/>
              <a:t>Caf</a:t>
            </a:r>
            <a:r>
              <a:rPr lang="en-US" dirty="0"/>
              <a:t>), but in the last example we have replaced the names with CCompRef1 and the value with CConst1, to make the calculation more generic. In this case we will have to specify in the processing method what CCompRef1 and CConst1 are.</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134</a:t>
            </a:fld>
            <a:r>
              <a:rPr lang="en-US" b="0"/>
              <a:t> of 102</a:t>
            </a:r>
            <a:endParaRPr lang="en-US" b="0"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p:spPr>
      </p:sp>
      <p:sp>
        <p:nvSpPr>
          <p:cNvPr id="96259" name="Notes Placeholder 2"/>
          <p:cNvSpPr>
            <a:spLocks noGrp="1"/>
          </p:cNvSpPr>
          <p:nvPr>
            <p:ph type="body" idx="1"/>
          </p:nvPr>
        </p:nvSpPr>
        <p:spPr>
          <a:noFill/>
        </p:spPr>
        <p:txBody>
          <a:bodyPr/>
          <a:lstStyle/>
          <a:p>
            <a:pPr algn="ctr">
              <a:buNone/>
            </a:pPr>
            <a:r>
              <a:rPr lang="en-US" b="1" i="1" dirty="0"/>
              <a:t>Example 1</a:t>
            </a:r>
          </a:p>
          <a:p>
            <a:pPr algn="ctr">
              <a:buNone/>
            </a:pPr>
            <a:endParaRPr lang="en-US" b="1" i="1" dirty="0"/>
          </a:p>
          <a:p>
            <a:r>
              <a:rPr lang="en-US" dirty="0"/>
              <a:t>Here we see how the last example is created.</a:t>
            </a:r>
            <a:br>
              <a:rPr lang="en-US" dirty="0"/>
            </a:br>
            <a:endParaRPr lang="en-US" dirty="0"/>
          </a:p>
          <a:p>
            <a:r>
              <a:rPr lang="en-US" dirty="0"/>
              <a:t>Since we want to calculate on peaks we use the Field Type = Peak.</a:t>
            </a:r>
            <a:br>
              <a:rPr lang="en-US" dirty="0"/>
            </a:br>
            <a:endParaRPr lang="en-US" dirty="0"/>
          </a:p>
          <a:p>
            <a:r>
              <a:rPr lang="en-US" dirty="0"/>
              <a:t>The Data Type is Boolean.</a:t>
            </a:r>
            <a:br>
              <a:rPr lang="en-US" dirty="0"/>
            </a:br>
            <a:endParaRPr lang="en-US" dirty="0"/>
          </a:p>
          <a:p>
            <a:r>
              <a:rPr lang="en-US" dirty="0"/>
              <a:t>In the Translation definition table we type in what the translation </a:t>
            </a:r>
            <a:br>
              <a:rPr lang="en-US" dirty="0"/>
            </a:br>
            <a:r>
              <a:rPr lang="en-US" dirty="0"/>
              <a:t>   of 0 and 1 should be, in this case False and True</a:t>
            </a:r>
          </a:p>
          <a:p>
            <a:pPr algn="ctr">
              <a:buNone/>
            </a:pPr>
            <a:endParaRPr lang="en-US" b="1" i="1" dirty="0"/>
          </a:p>
          <a:p>
            <a:endParaRPr lang="en-US" dirty="0"/>
          </a:p>
          <a:p>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135</a:t>
            </a:fld>
            <a:r>
              <a:rPr lang="en-US" b="0"/>
              <a:t> of 102</a:t>
            </a:r>
            <a:endParaRPr lang="en-US" b="0"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p:spPr>
      </p:sp>
      <p:sp>
        <p:nvSpPr>
          <p:cNvPr id="98307" name="Notes Placeholder 2"/>
          <p:cNvSpPr>
            <a:spLocks noGrp="1"/>
          </p:cNvSpPr>
          <p:nvPr>
            <p:ph type="body" idx="1"/>
          </p:nvPr>
        </p:nvSpPr>
        <p:spPr>
          <a:noFill/>
        </p:spPr>
        <p:txBody>
          <a:bodyPr/>
          <a:lstStyle/>
          <a:p>
            <a:pPr algn="ctr">
              <a:buNone/>
            </a:pPr>
            <a:r>
              <a:rPr lang="en-US" b="1" i="1" dirty="0"/>
              <a:t>Example 1</a:t>
            </a:r>
          </a:p>
          <a:p>
            <a:endParaRPr lang="en-US" dirty="0"/>
          </a:p>
          <a:p>
            <a:pPr marL="144000"/>
            <a:r>
              <a:rPr lang="en-US" dirty="0"/>
              <a:t>When we process a sample the Custom Field is calculated. By using CCompRef1 and CConst1 we can have different criteria for each peak.</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136</a:t>
            </a:fld>
            <a:r>
              <a:rPr lang="en-US" b="0"/>
              <a:t> of 102</a:t>
            </a:r>
            <a:endParaRPr lang="en-US" b="0"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Example 1</a:t>
            </a:r>
          </a:p>
          <a:p>
            <a:endParaRPr lang="en-US" dirty="0"/>
          </a:p>
          <a:p>
            <a:r>
              <a:rPr lang="en-US" dirty="0"/>
              <a:t>We now want to change the criteria so both of the </a:t>
            </a:r>
            <a:r>
              <a:rPr lang="en-US" dirty="0" err="1"/>
              <a:t>criterias</a:t>
            </a:r>
            <a:r>
              <a:rPr lang="en-US" dirty="0"/>
              <a:t> are </a:t>
            </a:r>
            <a:br>
              <a:rPr lang="en-US" dirty="0"/>
            </a:br>
            <a:r>
              <a:rPr lang="en-US" dirty="0"/>
              <a:t>   fulfilled at the same time.</a:t>
            </a:r>
            <a:br>
              <a:rPr lang="en-US" dirty="0"/>
            </a:br>
            <a:endParaRPr lang="en-US" dirty="0"/>
          </a:p>
          <a:p>
            <a:r>
              <a:rPr lang="en-US" dirty="0"/>
              <a:t>We can edit the existing custom field.</a:t>
            </a:r>
          </a:p>
          <a:p>
            <a:endParaRPr lang="en-US"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137</a:t>
            </a:fld>
            <a:r>
              <a:rPr lang="en-US" b="0"/>
              <a:t> of 102</a:t>
            </a:r>
            <a:endParaRPr lang="en-US" b="0"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Example 1</a:t>
            </a:r>
          </a:p>
          <a:p>
            <a:endParaRPr lang="en-US" dirty="0"/>
          </a:p>
          <a:p>
            <a:pPr marL="144000"/>
            <a:r>
              <a:rPr lang="en-US" dirty="0"/>
              <a:t>When you open the Custom Field editor you can from here edit the formula.</a:t>
            </a:r>
            <a:br>
              <a:rPr lang="en-US" dirty="0"/>
            </a:br>
            <a:endParaRPr lang="en-US" dirty="0"/>
          </a:p>
          <a:p>
            <a:pPr marL="144000"/>
            <a:r>
              <a:rPr lang="en-US" dirty="0"/>
              <a:t>By using the “&amp;” function between the two Boolean expressions BOTH have to be fulfilled at the same time to get a 1, and a pass in this case.</a:t>
            </a:r>
          </a:p>
          <a:p>
            <a:endParaRPr lang="en-US"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138</a:t>
            </a:fld>
            <a:r>
              <a:rPr lang="en-US" b="0"/>
              <a:t> of 102</a:t>
            </a:r>
            <a:endParaRPr lang="en-US" b="0"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Example 1</a:t>
            </a:r>
          </a:p>
          <a:p>
            <a:endParaRPr lang="en-US" dirty="0"/>
          </a:p>
          <a:p>
            <a:r>
              <a:rPr lang="en-US" dirty="0"/>
              <a:t>This is how the edited Custom Field now looks.</a:t>
            </a:r>
          </a:p>
          <a:p>
            <a:endParaRPr lang="en-US"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139</a:t>
            </a:fld>
            <a:r>
              <a:rPr lang="en-US" b="0"/>
              <a:t> of 102</a:t>
            </a:r>
            <a:endParaRPr lang="en-US" b="0"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Example 1</a:t>
            </a:r>
          </a:p>
          <a:p>
            <a:endParaRPr lang="en-US" dirty="0"/>
          </a:p>
          <a:p>
            <a:r>
              <a:rPr lang="en-US" dirty="0"/>
              <a:t>The </a:t>
            </a:r>
            <a:r>
              <a:rPr lang="en-US" dirty="0" err="1"/>
              <a:t>ThBr</a:t>
            </a:r>
            <a:r>
              <a:rPr lang="en-US" dirty="0"/>
              <a:t> peaks passes the test (Area = 25800 &gt; 20000), but </a:t>
            </a:r>
            <a:br>
              <a:rPr lang="en-US" dirty="0"/>
            </a:br>
            <a:r>
              <a:rPr lang="en-US" dirty="0"/>
              <a:t>   since the </a:t>
            </a:r>
            <a:r>
              <a:rPr lang="en-US" dirty="0" err="1"/>
              <a:t>Caf</a:t>
            </a:r>
            <a:r>
              <a:rPr lang="en-US" dirty="0"/>
              <a:t> Peak does  not (Area = 399190 &lt; 400000), the </a:t>
            </a:r>
            <a:br>
              <a:rPr lang="en-US" dirty="0"/>
            </a:br>
            <a:r>
              <a:rPr lang="en-US" dirty="0"/>
              <a:t>   overall outcome of the Custom Filed is a Fail.</a:t>
            </a:r>
            <a:br>
              <a:rPr lang="en-US" dirty="0"/>
            </a:br>
            <a:endParaRPr lang="en-US" dirty="0"/>
          </a:p>
          <a:p>
            <a:pPr marL="144000"/>
            <a:r>
              <a:rPr lang="en-US" dirty="0"/>
              <a:t>In the example above we did not need to use both CCompRef1 and 2, but could have just used CCompRef1, since we can specify a </a:t>
            </a:r>
            <a:r>
              <a:rPr lang="en-US" dirty="0" err="1"/>
              <a:t>CCompRef</a:t>
            </a:r>
            <a:r>
              <a:rPr lang="en-US" dirty="0"/>
              <a:t> for each component in the component table of the processing method.</a:t>
            </a:r>
          </a:p>
          <a:p>
            <a:endParaRPr lang="en-US"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140</a:t>
            </a:fld>
            <a:r>
              <a:rPr lang="en-US" b="0"/>
              <a:t> of 102</a:t>
            </a:r>
            <a:endParaRPr lang="en-US" b="0"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p:spPr>
      </p:sp>
      <p:sp>
        <p:nvSpPr>
          <p:cNvPr id="99331" name="Notes Placeholder 2"/>
          <p:cNvSpPr>
            <a:spLocks noGrp="1"/>
          </p:cNvSpPr>
          <p:nvPr>
            <p:ph type="body" idx="1"/>
          </p:nvPr>
        </p:nvSpPr>
        <p:spPr>
          <a:noFill/>
        </p:spPr>
        <p:txBody>
          <a:bodyPr/>
          <a:lstStyle/>
          <a:p>
            <a:pPr algn="ctr">
              <a:buNone/>
            </a:pPr>
            <a:r>
              <a:rPr lang="nl-NL" b="1" i="1" dirty="0"/>
              <a:t>Example 2, Enumerated Custom Field</a:t>
            </a:r>
          </a:p>
          <a:p>
            <a:endParaRPr lang="en-US" i="1" dirty="0"/>
          </a:p>
          <a:p>
            <a:r>
              <a:rPr lang="nl-NL" dirty="0"/>
              <a:t>A Boolean Custom Field can only have two different outcomes or </a:t>
            </a:r>
            <a:br>
              <a:rPr lang="nl-NL" dirty="0"/>
            </a:br>
            <a:r>
              <a:rPr lang="nl-NL" dirty="0"/>
              <a:t>   answers, 0 or 1 or Fail/Pass.</a:t>
            </a:r>
            <a:br>
              <a:rPr lang="nl-NL" dirty="0"/>
            </a:br>
            <a:endParaRPr lang="nl-NL" dirty="0"/>
          </a:p>
          <a:p>
            <a:r>
              <a:rPr lang="nl-NL" dirty="0"/>
              <a:t>An Enumerated Custom Field can have more than two possible </a:t>
            </a:r>
            <a:br>
              <a:rPr lang="nl-NL" dirty="0"/>
            </a:br>
            <a:r>
              <a:rPr lang="nl-NL" dirty="0"/>
              <a:t>   outcomes or answers.</a:t>
            </a:r>
            <a:br>
              <a:rPr lang="nl-NL" dirty="0"/>
            </a:br>
            <a:endParaRPr lang="nl-NL" dirty="0"/>
          </a:p>
          <a:p>
            <a:r>
              <a:rPr lang="nl-NL" dirty="0"/>
              <a:t>An Enumerated CF alwasy starts with ENUM, and the same </a:t>
            </a:r>
            <a:br>
              <a:rPr lang="nl-NL" dirty="0"/>
            </a:br>
            <a:r>
              <a:rPr lang="nl-NL" dirty="0"/>
              <a:t>   functions and operators as in Boolean fields apply.</a:t>
            </a:r>
            <a:br>
              <a:rPr lang="nl-NL" dirty="0"/>
            </a:br>
            <a:endParaRPr lang="nl-NL" dirty="0"/>
          </a:p>
          <a:p>
            <a:pPr marL="144000"/>
            <a:r>
              <a:rPr lang="nl-NL" dirty="0"/>
              <a:t>In the example above we have combined 3 Boolean expressions and therefore we can have 3 possible outcomes, 0,1 and 2 which we can translate to f.ex Low/Good/High</a:t>
            </a:r>
            <a:br>
              <a:rPr lang="nl-NL" dirty="0"/>
            </a:br>
            <a:endParaRPr lang="nl-NL" dirty="0"/>
          </a:p>
          <a:p>
            <a:pPr marL="144000" algn="ctr">
              <a:buNone/>
            </a:pPr>
            <a:r>
              <a:rPr lang="en-US" b="1" i="1" dirty="0"/>
              <a:t>Note: The Boolean expressions in an Enumerated field must be mutually exclusive. The field is evaluated from left to right, so when a statement is fulfilled the evaluation stops.</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142</a:t>
            </a:fld>
            <a:r>
              <a:rPr lang="en-US" b="0"/>
              <a:t> of 102</a:t>
            </a:r>
            <a:endParaRPr lang="en-US" b="0"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5" name="Notes Placeholder 2"/>
          <p:cNvSpPr>
            <a:spLocks noGrp="1"/>
          </p:cNvSpPr>
          <p:nvPr>
            <p:ph type="body" idx="1"/>
          </p:nvPr>
        </p:nvSpPr>
        <p:spPr>
          <a:noFill/>
        </p:spPr>
        <p:txBody>
          <a:bodyPr/>
          <a:lstStyle/>
          <a:p>
            <a:pPr algn="ctr">
              <a:buNone/>
            </a:pPr>
            <a:r>
              <a:rPr lang="nl-NL" b="1" i="1" dirty="0"/>
              <a:t>Example 2, Enumerated Custom Field</a:t>
            </a:r>
          </a:p>
          <a:p>
            <a:endParaRPr lang="en-US" dirty="0"/>
          </a:p>
          <a:p>
            <a:pPr marL="144000"/>
            <a:r>
              <a:rPr lang="en-US" dirty="0"/>
              <a:t>If a formula is incorrect you will get an error message, when you click Next in the CF wizard. </a:t>
            </a:r>
          </a:p>
          <a:p>
            <a:pPr marL="144000"/>
            <a:endParaRPr lang="en-US" dirty="0"/>
          </a:p>
          <a:p>
            <a:pPr marL="144000"/>
            <a:r>
              <a:rPr lang="en-US" dirty="0"/>
              <a:t>In the case above the formula is to big to fit into the formula entry area, so you cannot view the entire formula. In this case you can copy the formula into a word editor like Word or </a:t>
            </a:r>
            <a:r>
              <a:rPr lang="en-US" dirty="0" err="1"/>
              <a:t>Wordpad</a:t>
            </a:r>
            <a:r>
              <a:rPr lang="en-US" dirty="0"/>
              <a:t>, to better view the whole formula.</a:t>
            </a:r>
          </a:p>
          <a:p>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143</a:t>
            </a:fld>
            <a:r>
              <a:rPr lang="en-US" b="0"/>
              <a:t> of 102</a:t>
            </a:r>
            <a:endParaRPr lang="en-US" b="0"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p:spPr>
      </p:sp>
      <p:sp>
        <p:nvSpPr>
          <p:cNvPr id="101379" name="Notes Placeholder 2"/>
          <p:cNvSpPr>
            <a:spLocks noGrp="1"/>
          </p:cNvSpPr>
          <p:nvPr>
            <p:ph type="body" idx="1"/>
          </p:nvPr>
        </p:nvSpPr>
        <p:spPr>
          <a:noFill/>
        </p:spPr>
        <p:txBody>
          <a:bodyPr/>
          <a:lstStyle/>
          <a:p>
            <a:pPr algn="ctr">
              <a:buNone/>
            </a:pPr>
            <a:r>
              <a:rPr lang="en-US" b="1" i="1" dirty="0"/>
              <a:t>Example 2, Enumerated Custom Field</a:t>
            </a:r>
          </a:p>
          <a:p>
            <a:endParaRPr lang="en-US" dirty="0"/>
          </a:p>
          <a:p>
            <a:r>
              <a:rPr lang="en-US" dirty="0"/>
              <a:t>After copying we can see the we have missed a parenthesis at the </a:t>
            </a:r>
            <a:br>
              <a:rPr lang="en-US" dirty="0"/>
            </a:br>
            <a:r>
              <a:rPr lang="en-US" dirty="0"/>
              <a:t>   end of the formula.</a:t>
            </a:r>
            <a:br>
              <a:rPr lang="en-US" dirty="0"/>
            </a:br>
            <a:endParaRPr lang="en-US" dirty="0"/>
          </a:p>
          <a:p>
            <a:r>
              <a:rPr lang="en-US" dirty="0"/>
              <a:t>We can type this in in the Word document, and then copy and </a:t>
            </a:r>
            <a:br>
              <a:rPr lang="en-US" dirty="0"/>
            </a:br>
            <a:r>
              <a:rPr lang="en-US" dirty="0"/>
              <a:t>   paste the formula back into the CF wizard.</a:t>
            </a:r>
          </a:p>
          <a:p>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144</a:t>
            </a:fld>
            <a:r>
              <a:rPr lang="en-US" b="0"/>
              <a:t> of 102</a:t>
            </a:r>
            <a:endParaRPr lang="en-US" b="0"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p:spPr>
      </p:sp>
      <p:sp>
        <p:nvSpPr>
          <p:cNvPr id="102403" name="Notes Placeholder 2"/>
          <p:cNvSpPr>
            <a:spLocks noGrp="1"/>
          </p:cNvSpPr>
          <p:nvPr>
            <p:ph type="body" idx="1"/>
          </p:nvPr>
        </p:nvSpPr>
        <p:spPr>
          <a:noFill/>
        </p:spPr>
        <p:txBody>
          <a:bodyPr/>
          <a:lstStyle/>
          <a:p>
            <a:pPr algn="ctr">
              <a:buNone/>
            </a:pPr>
            <a:r>
              <a:rPr lang="nl-NL" b="1" i="1" dirty="0"/>
              <a:t>Example 2, Enumerated Custom Field</a:t>
            </a:r>
          </a:p>
          <a:p>
            <a:endParaRPr lang="en-US" dirty="0"/>
          </a:p>
          <a:p>
            <a:r>
              <a:rPr lang="en-US" dirty="0"/>
              <a:t>In the Translation definition Table we will have to enter 3 </a:t>
            </a:r>
            <a:br>
              <a:rPr lang="en-US" dirty="0"/>
            </a:br>
            <a:r>
              <a:rPr lang="en-US" dirty="0"/>
              <a:t>   translations, since we have 3 Boolean expressions.</a:t>
            </a:r>
          </a:p>
          <a:p>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145</a:t>
            </a:fld>
            <a:r>
              <a:rPr lang="en-US" b="0"/>
              <a:t> of 102</a:t>
            </a:r>
            <a:endParaRPr lang="en-US" b="0"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p:spPr>
      </p:sp>
      <p:sp>
        <p:nvSpPr>
          <p:cNvPr id="103427" name="Notes Placeholder 2"/>
          <p:cNvSpPr>
            <a:spLocks noGrp="1"/>
          </p:cNvSpPr>
          <p:nvPr>
            <p:ph type="body" idx="1"/>
          </p:nvPr>
        </p:nvSpPr>
        <p:spPr>
          <a:noFill/>
        </p:spPr>
        <p:txBody>
          <a:bodyPr/>
          <a:lstStyle/>
          <a:p>
            <a:pPr algn="ctr">
              <a:buNone/>
            </a:pPr>
            <a:r>
              <a:rPr lang="nl-NL" b="1" i="1" dirty="0"/>
              <a:t>Example 2, Enumerated Custom Field</a:t>
            </a:r>
          </a:p>
          <a:p>
            <a:endParaRPr lang="en-US" dirty="0"/>
          </a:p>
          <a:p>
            <a:pPr marL="144000"/>
            <a:r>
              <a:rPr lang="en-US" dirty="0"/>
              <a:t>Since the Area of the </a:t>
            </a:r>
            <a:r>
              <a:rPr lang="en-US" dirty="0" err="1"/>
              <a:t>ThBr</a:t>
            </a:r>
            <a:r>
              <a:rPr lang="en-US" dirty="0"/>
              <a:t> peak is within the range 20000 to 40000 we get a Good for this peak, but the Area of the </a:t>
            </a:r>
            <a:r>
              <a:rPr lang="en-US" dirty="0" err="1"/>
              <a:t>Caf</a:t>
            </a:r>
            <a:r>
              <a:rPr lang="en-US" dirty="0"/>
              <a:t> peak is lower than 400000 so we get a Low for this peak.</a:t>
            </a:r>
          </a:p>
          <a:p>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146</a:t>
            </a:fld>
            <a:r>
              <a:rPr lang="en-US" b="0"/>
              <a:t> of 102</a:t>
            </a:r>
            <a:endParaRPr lang="en-US" b="0"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p:spPr>
      </p:sp>
      <p:sp>
        <p:nvSpPr>
          <p:cNvPr id="104451" name="Notes Placeholder 2"/>
          <p:cNvSpPr>
            <a:spLocks noGrp="1"/>
          </p:cNvSpPr>
          <p:nvPr>
            <p:ph type="body" idx="1"/>
          </p:nvPr>
        </p:nvSpPr>
        <p:spPr>
          <a:noFill/>
        </p:spPr>
        <p:txBody>
          <a:bodyPr/>
          <a:lstStyle/>
          <a:p>
            <a:pPr algn="ctr">
              <a:buNone/>
            </a:pPr>
            <a:r>
              <a:rPr lang="en-US" b="1" i="1" dirty="0"/>
              <a:t>Example 3</a:t>
            </a:r>
          </a:p>
          <a:p>
            <a:endParaRPr lang="en-US" dirty="0"/>
          </a:p>
          <a:p>
            <a:pPr marL="144000"/>
            <a:r>
              <a:rPr lang="en-US" dirty="0"/>
              <a:t>In this example the challenge is to calculate the %Area as a percentage of the main peak (</a:t>
            </a:r>
            <a:r>
              <a:rPr lang="en-US" dirty="0" err="1"/>
              <a:t>Caf</a:t>
            </a:r>
            <a:r>
              <a:rPr lang="en-US" dirty="0"/>
              <a:t>) but only for the peaks that have an Area% that is above 0.5% of the </a:t>
            </a:r>
            <a:r>
              <a:rPr lang="en-US" dirty="0" err="1"/>
              <a:t>Caf</a:t>
            </a:r>
            <a:r>
              <a:rPr lang="en-US" dirty="0"/>
              <a:t> peak.</a:t>
            </a:r>
            <a:br>
              <a:rPr lang="en-US" dirty="0"/>
            </a:br>
            <a:endParaRPr lang="en-US" dirty="0"/>
          </a:p>
          <a:p>
            <a:pPr marL="144000"/>
            <a:r>
              <a:rPr lang="en-US" dirty="0"/>
              <a:t>First we need to create a CF that can pinpoint the peaks that have an area the is greater than 0.5% of the </a:t>
            </a:r>
            <a:r>
              <a:rPr lang="en-US" dirty="0" err="1"/>
              <a:t>Caf</a:t>
            </a:r>
            <a:r>
              <a:rPr lang="en-US" dirty="0"/>
              <a:t> peak.</a:t>
            </a:r>
            <a:br>
              <a:rPr lang="en-US" dirty="0"/>
            </a:br>
            <a:endParaRPr lang="en-US" dirty="0"/>
          </a:p>
          <a:p>
            <a:pPr marL="144000"/>
            <a:r>
              <a:rPr lang="en-US" dirty="0"/>
              <a:t>The formula is : GT(Area,(</a:t>
            </a:r>
            <a:r>
              <a:rPr lang="en-US" dirty="0" err="1"/>
              <a:t>Caf</a:t>
            </a:r>
            <a:r>
              <a:rPr lang="en-US" dirty="0"/>
              <a:t>[Area]*0.005)). If the Area of a peak is greater then 0.5% of the </a:t>
            </a:r>
            <a:r>
              <a:rPr lang="en-US" dirty="0" err="1"/>
              <a:t>Caf</a:t>
            </a:r>
            <a:r>
              <a:rPr lang="en-US" dirty="0"/>
              <a:t> peak we will get a 1, if not we will get a 0. </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147</a:t>
            </a:fld>
            <a:r>
              <a:rPr lang="en-US" b="0"/>
              <a:t> of 102</a:t>
            </a:r>
            <a:endParaRPr lang="en-US" b="0"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9" name="Notes Placeholder 2"/>
          <p:cNvSpPr>
            <a:spLocks noGrp="1"/>
          </p:cNvSpPr>
          <p:nvPr>
            <p:ph type="body" idx="1"/>
          </p:nvPr>
        </p:nvSpPr>
        <p:spPr>
          <a:noFill/>
        </p:spPr>
        <p:txBody>
          <a:bodyPr/>
          <a:lstStyle/>
          <a:p>
            <a:endParaRPr lang="en-US" dirty="0"/>
          </a:p>
          <a:p>
            <a:endParaRPr lang="en-US" dirty="0"/>
          </a:p>
          <a:p>
            <a:endParaRPr lang="en-US" dirty="0"/>
          </a:p>
        </p:txBody>
      </p:sp>
      <p:sp>
        <p:nvSpPr>
          <p:cNvPr id="5" name="Notes Placeholder 2"/>
          <p:cNvSpPr txBox="1">
            <a:spLocks/>
          </p:cNvSpPr>
          <p:nvPr/>
        </p:nvSpPr>
        <p:spPr bwMode="auto">
          <a:xfrm>
            <a:off x="830827" y="4880597"/>
            <a:ext cx="5438140" cy="435669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144000" algn="ctr" defTabSz="914400" rtl="0" eaLnBrk="0" fontAlgn="base" latinLnBrk="0" hangingPunct="0">
              <a:lnSpc>
                <a:spcPct val="100000"/>
              </a:lnSpc>
              <a:spcBef>
                <a:spcPct val="30000"/>
              </a:spcBef>
              <a:spcAft>
                <a:spcPct val="0"/>
              </a:spcAft>
              <a:buClr>
                <a:srgbClr val="0070C0"/>
              </a:buClr>
              <a:buSzPct val="150000"/>
              <a:buFont typeface="Wingdings" pitchFamily="2" charset="2"/>
              <a:buNone/>
              <a:tabLst/>
              <a:defRPr/>
            </a:pPr>
            <a:r>
              <a:rPr kumimoji="0" lang="en-US" sz="1200" b="1" i="1" u="none" strike="noStrike" kern="1200" cap="none" spc="0" normalizeH="0" baseline="0" noProof="0" dirty="0">
                <a:ln>
                  <a:noFill/>
                </a:ln>
                <a:solidFill>
                  <a:schemeClr val="tx1"/>
                </a:solidFill>
                <a:effectLst/>
                <a:uLnTx/>
                <a:uFillTx/>
                <a:latin typeface="Verdana" pitchFamily="34" charset="0"/>
                <a:ea typeface="Verdana" pitchFamily="34" charset="0"/>
                <a:cs typeface="Verdana" pitchFamily="34" charset="0"/>
              </a:rPr>
              <a:t>Example 3</a:t>
            </a:r>
          </a:p>
          <a:p>
            <a:pPr marL="0" marR="0" lvl="0" indent="-144000" algn="l" defTabSz="914400" rtl="0" eaLnBrk="0" fontAlgn="base" latinLnBrk="0" hangingPunct="0">
              <a:lnSpc>
                <a:spcPct val="100000"/>
              </a:lnSpc>
              <a:spcBef>
                <a:spcPct val="30000"/>
              </a:spcBef>
              <a:spcAft>
                <a:spcPct val="0"/>
              </a:spcAft>
              <a:buClr>
                <a:srgbClr val="0070C0"/>
              </a:buClr>
              <a:buSzPct val="150000"/>
              <a:buFont typeface="Wingdings" pitchFamily="2" charset="2"/>
              <a:buChar char="§"/>
              <a:tabLst/>
              <a:defRPr/>
            </a:pPr>
            <a:endParaRPr kumimoji="0" lang="en-US" sz="1200" b="0" i="0" u="none" strike="noStrike" kern="1200" cap="none" spc="0" normalizeH="0" baseline="0" noProof="0" dirty="0">
              <a:ln>
                <a:noFill/>
              </a:ln>
              <a:solidFill>
                <a:schemeClr val="tx1"/>
              </a:solidFill>
              <a:effectLst/>
              <a:uLnTx/>
              <a:uFillTx/>
              <a:latin typeface="Verdana" pitchFamily="34" charset="0"/>
              <a:ea typeface="Verdana" pitchFamily="34" charset="0"/>
              <a:cs typeface="Verdana" pitchFamily="34" charset="0"/>
            </a:endParaRPr>
          </a:p>
          <a:p>
            <a:pPr marL="144000" marR="0" lvl="0" indent="-144000" algn="l" defTabSz="914400" rtl="0" eaLnBrk="0" fontAlgn="base" latinLnBrk="0" hangingPunct="0">
              <a:lnSpc>
                <a:spcPct val="100000"/>
              </a:lnSpc>
              <a:spcBef>
                <a:spcPct val="30000"/>
              </a:spcBef>
              <a:spcAft>
                <a:spcPct val="0"/>
              </a:spcAft>
              <a:buClr>
                <a:srgbClr val="0070C0"/>
              </a:buClr>
              <a:buSzPct val="150000"/>
              <a:buFont typeface="Wingdings" pitchFamily="2" charset="2"/>
              <a:buChar char="§"/>
              <a:tabLst/>
              <a:defRPr/>
            </a:pPr>
            <a:r>
              <a:rPr kumimoji="0" lang="en-US" sz="1200" b="0" i="0" u="none" strike="noStrike" kern="1200" cap="none" spc="0" normalizeH="0" baseline="0" noProof="0" dirty="0">
                <a:ln>
                  <a:noFill/>
                </a:ln>
                <a:solidFill>
                  <a:schemeClr val="tx1"/>
                </a:solidFill>
                <a:effectLst/>
                <a:uLnTx/>
                <a:uFillTx/>
                <a:latin typeface="Verdana" pitchFamily="34" charset="0"/>
                <a:ea typeface="Verdana" pitchFamily="34" charset="0"/>
                <a:cs typeface="Verdana" pitchFamily="34" charset="0"/>
              </a:rPr>
              <a:t>In the translation table we use 0 and 1.</a:t>
            </a:r>
            <a:br>
              <a:rPr kumimoji="0" lang="en-US" sz="1200" b="0" i="0" u="none" strike="noStrike" kern="1200" cap="none" spc="0" normalizeH="0" baseline="0" noProof="0" dirty="0">
                <a:ln>
                  <a:noFill/>
                </a:ln>
                <a:solidFill>
                  <a:schemeClr val="tx1"/>
                </a:solidFill>
                <a:effectLst/>
                <a:uLnTx/>
                <a:uFillTx/>
                <a:latin typeface="Verdana" pitchFamily="34" charset="0"/>
                <a:ea typeface="Verdana" pitchFamily="34" charset="0"/>
                <a:cs typeface="Verdana" pitchFamily="34" charset="0"/>
              </a:rPr>
            </a:br>
            <a:endParaRPr kumimoji="0" lang="en-US" sz="1200" b="0" i="0" u="none" strike="noStrike" kern="1200" cap="none" spc="0" normalizeH="0" baseline="0" noProof="0" dirty="0">
              <a:ln>
                <a:noFill/>
              </a:ln>
              <a:solidFill>
                <a:schemeClr val="tx1"/>
              </a:solidFill>
              <a:effectLst/>
              <a:uLnTx/>
              <a:uFillTx/>
              <a:latin typeface="Verdana" pitchFamily="34" charset="0"/>
              <a:ea typeface="Verdana" pitchFamily="34" charset="0"/>
              <a:cs typeface="Verdana" pitchFamily="34" charset="0"/>
            </a:endParaRPr>
          </a:p>
          <a:p>
            <a:pPr marL="144000" marR="0" lvl="0" indent="-144000" algn="l" defTabSz="914400" rtl="0" eaLnBrk="0" fontAlgn="base" latinLnBrk="0" hangingPunct="0">
              <a:lnSpc>
                <a:spcPct val="100000"/>
              </a:lnSpc>
              <a:spcBef>
                <a:spcPct val="30000"/>
              </a:spcBef>
              <a:spcAft>
                <a:spcPct val="0"/>
              </a:spcAft>
              <a:buClr>
                <a:srgbClr val="0070C0"/>
              </a:buClr>
              <a:buSzPct val="150000"/>
              <a:buFont typeface="Wingdings" pitchFamily="2" charset="2"/>
              <a:buChar char="§"/>
              <a:tabLst/>
              <a:defRPr/>
            </a:pPr>
            <a:r>
              <a:rPr kumimoji="0" lang="en-US" sz="1200" b="0" i="0" u="none" strike="noStrike" kern="1200" cap="none" spc="0" normalizeH="0" baseline="0" noProof="0" dirty="0">
                <a:ln>
                  <a:noFill/>
                </a:ln>
                <a:solidFill>
                  <a:schemeClr val="tx1"/>
                </a:solidFill>
                <a:effectLst/>
                <a:uLnTx/>
                <a:uFillTx/>
                <a:latin typeface="Verdana" pitchFamily="34" charset="0"/>
                <a:ea typeface="Verdana" pitchFamily="34" charset="0"/>
                <a:cs typeface="Verdana" pitchFamily="34" charset="0"/>
              </a:rPr>
              <a:t>We name the field Area_Limit.</a:t>
            </a:r>
          </a:p>
        </p:txBody>
      </p:sp>
      <p:sp>
        <p:nvSpPr>
          <p:cNvPr id="8" name="Date Placeholder 7"/>
          <p:cNvSpPr>
            <a:spLocks noGrp="1"/>
          </p:cNvSpPr>
          <p:nvPr>
            <p:ph type="dt" idx="11"/>
          </p:nvPr>
        </p:nvSpPr>
        <p:spPr/>
        <p:txBody>
          <a:bodyPr/>
          <a:lstStyle/>
          <a:p>
            <a:pPr>
              <a:defRPr/>
            </a:pPr>
            <a:r>
              <a:rPr lang="en-US"/>
              <a:t>Rev. 21314</a:t>
            </a:r>
          </a:p>
        </p:txBody>
      </p:sp>
      <p:sp>
        <p:nvSpPr>
          <p:cNvPr id="9" name="Footer Placeholder 8"/>
          <p:cNvSpPr>
            <a:spLocks noGrp="1"/>
          </p:cNvSpPr>
          <p:nvPr>
            <p:ph type="ftr" sz="quarter" idx="12"/>
          </p:nvPr>
        </p:nvSpPr>
        <p:spPr/>
        <p:txBody>
          <a:bodyPr/>
          <a:lstStyle/>
          <a:p>
            <a:pPr>
              <a:defRPr/>
            </a:pPr>
            <a:r>
              <a:rPr lang="en-US"/>
              <a:t>Waters Confidential and Proprietary Information</a:t>
            </a:r>
            <a:endParaRPr lang="en-US" dirty="0"/>
          </a:p>
        </p:txBody>
      </p:sp>
      <p:sp>
        <p:nvSpPr>
          <p:cNvPr id="10" name="Header Placeholder 9"/>
          <p:cNvSpPr>
            <a:spLocks noGrp="1"/>
          </p:cNvSpPr>
          <p:nvPr>
            <p:ph type="hdr" sz="quarter" idx="13"/>
          </p:nvPr>
        </p:nvSpPr>
        <p:spPr/>
        <p:txBody>
          <a:bodyPr/>
          <a:lstStyle/>
          <a:p>
            <a:pPr>
              <a:defRPr/>
            </a:pPr>
            <a:r>
              <a:rPr lang="en-US"/>
              <a:t>Advanced Custom Fields</a:t>
            </a:r>
            <a:endParaRPr lang="en-US" dirty="0"/>
          </a:p>
        </p:txBody>
      </p:sp>
      <p:sp>
        <p:nvSpPr>
          <p:cNvPr id="11" name="Slide Number Placeholder 10"/>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148</a:t>
            </a:fld>
            <a:r>
              <a:rPr lang="en-US" b="0"/>
              <a:t> of 102</a:t>
            </a:r>
            <a:endParaRPr lang="en-US" b="0"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3" name="Notes Placeholder 2"/>
          <p:cNvSpPr>
            <a:spLocks noGrp="1"/>
          </p:cNvSpPr>
          <p:nvPr>
            <p:ph type="body" idx="1"/>
          </p:nvPr>
        </p:nvSpPr>
        <p:spPr>
          <a:noFill/>
        </p:spPr>
        <p:txBody>
          <a:bodyPr/>
          <a:lstStyle/>
          <a:p>
            <a:pPr lvl="0" algn="ctr">
              <a:buNone/>
            </a:pPr>
            <a:r>
              <a:rPr lang="en-US" b="1" i="1" dirty="0"/>
              <a:t>Example 3</a:t>
            </a:r>
          </a:p>
          <a:p>
            <a:endParaRPr lang="en-US" dirty="0"/>
          </a:p>
          <a:p>
            <a:pPr marL="144000"/>
            <a:r>
              <a:rPr lang="en-US" dirty="0"/>
              <a:t>Here we see the result of the Custom Field calculation. All peaks with an area % greater than 0.5% of the main peak (</a:t>
            </a:r>
            <a:r>
              <a:rPr lang="en-US" dirty="0" err="1"/>
              <a:t>Caf</a:t>
            </a:r>
            <a:r>
              <a:rPr lang="en-US" dirty="0"/>
              <a:t>) gets a 1 the others get a 0.</a:t>
            </a:r>
          </a:p>
          <a:p>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149</a:t>
            </a:fld>
            <a:r>
              <a:rPr lang="en-US" b="0"/>
              <a:t> of 102</a:t>
            </a:r>
            <a:endParaRPr lang="en-US" b="0"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p:spPr>
      </p:sp>
      <p:sp>
        <p:nvSpPr>
          <p:cNvPr id="108547" name="Notes Placeholder 2"/>
          <p:cNvSpPr>
            <a:spLocks noGrp="1"/>
          </p:cNvSpPr>
          <p:nvPr>
            <p:ph type="body" idx="1"/>
          </p:nvPr>
        </p:nvSpPr>
        <p:spPr>
          <a:noFill/>
        </p:spPr>
        <p:txBody>
          <a:bodyPr/>
          <a:lstStyle/>
          <a:p>
            <a:pPr lvl="0" algn="ctr">
              <a:buNone/>
            </a:pPr>
            <a:r>
              <a:rPr lang="en-US" b="1" i="1" dirty="0"/>
              <a:t>Example 3</a:t>
            </a:r>
          </a:p>
          <a:p>
            <a:endParaRPr lang="en-US" dirty="0"/>
          </a:p>
          <a:p>
            <a:r>
              <a:rPr lang="en-US" dirty="0"/>
              <a:t>If we want to make the CF more generic we can use CCompRef1 </a:t>
            </a:r>
            <a:br>
              <a:rPr lang="en-US" dirty="0"/>
            </a:br>
            <a:r>
              <a:rPr lang="en-US" dirty="0"/>
              <a:t>   instead of the peak name </a:t>
            </a:r>
            <a:r>
              <a:rPr lang="en-US" dirty="0" err="1"/>
              <a:t>Caf</a:t>
            </a:r>
            <a:r>
              <a:rPr lang="en-US" dirty="0"/>
              <a:t>.</a:t>
            </a:r>
          </a:p>
          <a:p>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150</a:t>
            </a:fld>
            <a:r>
              <a:rPr lang="en-US" b="0"/>
              <a:t> of 102</a:t>
            </a:r>
            <a:endParaRPr lang="en-US" b="0"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p:spPr>
      </p:sp>
      <p:sp>
        <p:nvSpPr>
          <p:cNvPr id="111619" name="Notes Placeholder 2"/>
          <p:cNvSpPr>
            <a:spLocks noGrp="1"/>
          </p:cNvSpPr>
          <p:nvPr>
            <p:ph type="body" idx="1"/>
          </p:nvPr>
        </p:nvSpPr>
        <p:spPr>
          <a:noFill/>
        </p:spPr>
        <p:txBody>
          <a:bodyPr/>
          <a:lstStyle/>
          <a:p>
            <a:pPr lvl="0" algn="ctr">
              <a:buNone/>
            </a:pPr>
            <a:r>
              <a:rPr lang="en-US" b="1" i="1" dirty="0"/>
              <a:t>Example 3</a:t>
            </a:r>
            <a:endParaRPr lang="en-US" dirty="0"/>
          </a:p>
          <a:p>
            <a:endParaRPr lang="en-US" dirty="0"/>
          </a:p>
          <a:p>
            <a:pPr marL="144000"/>
            <a:r>
              <a:rPr lang="en-US" dirty="0"/>
              <a:t>The problem with this is that then the CF is only calculated for the </a:t>
            </a:r>
            <a:r>
              <a:rPr lang="en-US" dirty="0" err="1"/>
              <a:t>Caf</a:t>
            </a:r>
            <a:r>
              <a:rPr lang="en-US" dirty="0"/>
              <a:t> peak, since we cannot specify </a:t>
            </a:r>
            <a:r>
              <a:rPr lang="en-US" dirty="0" err="1"/>
              <a:t>CCompRef</a:t>
            </a:r>
            <a:r>
              <a:rPr lang="en-US" dirty="0"/>
              <a:t> for </a:t>
            </a:r>
            <a:r>
              <a:rPr lang="en-US" dirty="0" err="1"/>
              <a:t>alle</a:t>
            </a:r>
            <a:r>
              <a:rPr lang="en-US" dirty="0"/>
              <a:t> the unknown peaks that are not part of the component table.</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151</a:t>
            </a:fld>
            <a:r>
              <a:rPr lang="en-US" b="0"/>
              <a:t> of 102</a:t>
            </a:r>
            <a:endParaRPr lang="en-US" b="0"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p:spPr>
      </p:sp>
      <p:sp>
        <p:nvSpPr>
          <p:cNvPr id="112643" name="Notes Placeholder 2"/>
          <p:cNvSpPr>
            <a:spLocks noGrp="1"/>
          </p:cNvSpPr>
          <p:nvPr>
            <p:ph type="body" idx="1"/>
          </p:nvPr>
        </p:nvSpPr>
        <p:spPr>
          <a:noFill/>
        </p:spPr>
        <p:txBody>
          <a:bodyPr/>
          <a:lstStyle/>
          <a:p>
            <a:pPr lvl="0" algn="ctr">
              <a:buNone/>
            </a:pPr>
            <a:r>
              <a:rPr lang="en-US" b="1" i="1" dirty="0"/>
              <a:t>Example 3</a:t>
            </a:r>
          </a:p>
          <a:p>
            <a:endParaRPr lang="en-US" dirty="0"/>
          </a:p>
          <a:p>
            <a:r>
              <a:rPr lang="en-US" dirty="0"/>
              <a:t>Above you see the explanation for how </a:t>
            </a:r>
            <a:r>
              <a:rPr lang="en-US" dirty="0" err="1"/>
              <a:t>CCompRef</a:t>
            </a:r>
            <a:r>
              <a:rPr lang="en-US" dirty="0"/>
              <a:t>, </a:t>
            </a:r>
            <a:r>
              <a:rPr lang="en-US" dirty="0" err="1"/>
              <a:t>Cconst</a:t>
            </a:r>
            <a:r>
              <a:rPr lang="en-US" dirty="0"/>
              <a:t> and </a:t>
            </a:r>
            <a:br>
              <a:rPr lang="en-US" dirty="0"/>
            </a:br>
            <a:r>
              <a:rPr lang="en-US" dirty="0"/>
              <a:t>   </a:t>
            </a:r>
            <a:r>
              <a:rPr lang="en-US" dirty="0" err="1"/>
              <a:t>CCalRef</a:t>
            </a:r>
            <a:r>
              <a:rPr lang="en-US" dirty="0"/>
              <a:t> are used.</a:t>
            </a:r>
            <a:br>
              <a:rPr lang="en-US" dirty="0"/>
            </a:br>
            <a:endParaRPr lang="en-US" dirty="0"/>
          </a:p>
          <a:p>
            <a:r>
              <a:rPr lang="en-US" dirty="0"/>
              <a:t>So in our example we can change to CCalRef1 instead of using </a:t>
            </a:r>
            <a:br>
              <a:rPr lang="en-US" dirty="0"/>
            </a:br>
            <a:r>
              <a:rPr lang="en-US" dirty="0"/>
              <a:t>   CCompRef1.</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152</a:t>
            </a:fld>
            <a:r>
              <a:rPr lang="en-US" b="0"/>
              <a:t> of 102</a:t>
            </a:r>
            <a:endParaRPr lang="en-US" b="0"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p:spPr>
      </p:sp>
      <p:sp>
        <p:nvSpPr>
          <p:cNvPr id="114691" name="Notes Placeholder 2"/>
          <p:cNvSpPr>
            <a:spLocks noGrp="1"/>
          </p:cNvSpPr>
          <p:nvPr>
            <p:ph type="body" idx="1"/>
          </p:nvPr>
        </p:nvSpPr>
        <p:spPr>
          <a:noFill/>
        </p:spPr>
        <p:txBody>
          <a:bodyPr/>
          <a:lstStyle/>
          <a:p>
            <a:pPr lvl="0" algn="ctr">
              <a:buNone/>
            </a:pPr>
            <a:r>
              <a:rPr lang="en-US" b="1" i="1" dirty="0"/>
              <a:t>Example 3</a:t>
            </a:r>
          </a:p>
          <a:p>
            <a:endParaRPr lang="en-US" dirty="0"/>
          </a:p>
          <a:p>
            <a:r>
              <a:rPr lang="en-US" dirty="0"/>
              <a:t>Here we see the changed formula.</a:t>
            </a:r>
          </a:p>
          <a:p>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153</a:t>
            </a:fld>
            <a:r>
              <a:rPr lang="en-US" b="0"/>
              <a:t> of 102</a:t>
            </a:r>
            <a:endParaRPr lang="en-US" b="0"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p:spPr>
      </p:sp>
      <p:sp>
        <p:nvSpPr>
          <p:cNvPr id="115715" name="Notes Placeholder 2"/>
          <p:cNvSpPr>
            <a:spLocks noGrp="1"/>
          </p:cNvSpPr>
          <p:nvPr>
            <p:ph type="body" idx="1"/>
          </p:nvPr>
        </p:nvSpPr>
        <p:spPr>
          <a:noFill/>
        </p:spPr>
        <p:txBody>
          <a:bodyPr/>
          <a:lstStyle/>
          <a:p>
            <a:pPr lvl="0" algn="ctr">
              <a:buNone/>
            </a:pPr>
            <a:r>
              <a:rPr lang="en-US" b="1" i="1" dirty="0"/>
              <a:t>Example 3</a:t>
            </a:r>
          </a:p>
          <a:p>
            <a:endParaRPr lang="en-US" dirty="0"/>
          </a:p>
          <a:p>
            <a:r>
              <a:rPr lang="en-US" dirty="0"/>
              <a:t>In this case the CF will be calculated for all peaks.</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154</a:t>
            </a:fld>
            <a:r>
              <a:rPr lang="en-US" b="0"/>
              <a:t> of 102</a:t>
            </a:r>
            <a:endParaRPr lang="en-US" b="0"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9" name="Notes Placeholder 2"/>
          <p:cNvSpPr>
            <a:spLocks noGrp="1"/>
          </p:cNvSpPr>
          <p:nvPr>
            <p:ph type="body" idx="1"/>
          </p:nvPr>
        </p:nvSpPr>
        <p:spPr>
          <a:xfrm>
            <a:off x="844560" y="4959358"/>
            <a:ext cx="5159261" cy="4257216"/>
          </a:xfrm>
          <a:noFill/>
        </p:spPr>
        <p:txBody>
          <a:bodyPr/>
          <a:lstStyle/>
          <a:p>
            <a:pPr lvl="0" algn="ctr">
              <a:buNone/>
            </a:pPr>
            <a:r>
              <a:rPr lang="en-US" b="1" i="1" dirty="0"/>
              <a:t>Example 3</a:t>
            </a:r>
          </a:p>
          <a:p>
            <a:endParaRPr lang="en-US" dirty="0"/>
          </a:p>
          <a:p>
            <a:pPr marL="144000"/>
            <a:r>
              <a:rPr lang="en-US" dirty="0"/>
              <a:t>The next step is then to create a custom field that will only show the are of the peaks with an Area% greater than 0.5% of the main peak.</a:t>
            </a:r>
            <a:br>
              <a:rPr lang="en-US" dirty="0"/>
            </a:br>
            <a:endParaRPr lang="en-US" dirty="0"/>
          </a:p>
          <a:p>
            <a:pPr marL="144000"/>
            <a:r>
              <a:rPr lang="en-US" dirty="0"/>
              <a:t>This is easy we just create a field where we multiply the Area with the Area_Limit CF we just created. This will multiply the Area with 1 if the area% is greater than 0.5% and with 0 if it is not.</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155</a:t>
            </a:fld>
            <a:r>
              <a:rPr lang="en-US" b="0"/>
              <a:t> of 102</a:t>
            </a:r>
            <a:endParaRPr lang="en-US" b="0"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p:spPr>
      </p:sp>
      <p:sp>
        <p:nvSpPr>
          <p:cNvPr id="118787" name="Notes Placeholder 2"/>
          <p:cNvSpPr>
            <a:spLocks noGrp="1"/>
          </p:cNvSpPr>
          <p:nvPr>
            <p:ph type="body" idx="1"/>
          </p:nvPr>
        </p:nvSpPr>
        <p:spPr>
          <a:noFill/>
        </p:spPr>
        <p:txBody>
          <a:bodyPr/>
          <a:lstStyle/>
          <a:p>
            <a:pPr lvl="0" algn="ctr">
              <a:buNone/>
            </a:pPr>
            <a:r>
              <a:rPr lang="en-US" b="1" i="1" dirty="0"/>
              <a:t>Example 3</a:t>
            </a:r>
          </a:p>
          <a:p>
            <a:endParaRPr lang="nl-NL" dirty="0"/>
          </a:p>
          <a:p>
            <a:r>
              <a:rPr lang="nl-NL" dirty="0"/>
              <a:t>Here we see the result of this CF, called Area_GT_05.</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156</a:t>
            </a:fld>
            <a:r>
              <a:rPr lang="en-US" b="0"/>
              <a:t> of 102</a:t>
            </a:r>
            <a:endParaRPr lang="en-US" b="0"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p:spPr>
      </p:sp>
      <p:sp>
        <p:nvSpPr>
          <p:cNvPr id="119811" name="Notes Placeholder 2"/>
          <p:cNvSpPr>
            <a:spLocks noGrp="1"/>
          </p:cNvSpPr>
          <p:nvPr>
            <p:ph type="body" idx="1"/>
          </p:nvPr>
        </p:nvSpPr>
        <p:spPr>
          <a:noFill/>
        </p:spPr>
        <p:txBody>
          <a:bodyPr/>
          <a:lstStyle/>
          <a:p>
            <a:pPr lvl="0" algn="ctr">
              <a:buNone/>
            </a:pPr>
            <a:r>
              <a:rPr lang="en-US" b="1" i="1" dirty="0"/>
              <a:t>Example 3</a:t>
            </a:r>
          </a:p>
          <a:p>
            <a:endParaRPr lang="en-US" dirty="0"/>
          </a:p>
          <a:p>
            <a:pPr marL="144000"/>
            <a:r>
              <a:rPr lang="en-US" dirty="0"/>
              <a:t>Lets go back to the first CF we created, Area_Limit. Instead of using 0 and 1 in the translation table we would like the outcome to </a:t>
            </a:r>
            <a:r>
              <a:rPr lang="en-US" dirty="0" err="1"/>
              <a:t>to</a:t>
            </a:r>
            <a:r>
              <a:rPr lang="en-US" dirty="0"/>
              <a:t> be &lt; 0.5% and &gt; 0.5%. But we need the 0 and 1 for our further calculation in the CF “Area_GT_05”.</a:t>
            </a:r>
            <a:br>
              <a:rPr lang="en-US" dirty="0"/>
            </a:br>
            <a:endParaRPr lang="en-US" dirty="0"/>
          </a:p>
          <a:p>
            <a:pPr marL="144000"/>
            <a:r>
              <a:rPr lang="en-US" dirty="0"/>
              <a:t>This can be accomplished by using the “Use As” function in the CF wizard, which is directly related to Boolean and Enumerated CF.</a:t>
            </a:r>
            <a:br>
              <a:rPr lang="en-US" dirty="0"/>
            </a:br>
            <a:endParaRPr lang="en-US" dirty="0"/>
          </a:p>
          <a:p>
            <a:pPr marL="144000"/>
            <a:r>
              <a:rPr lang="en-US" dirty="0"/>
              <a:t>By setting the Use As to Position, the 0 and 1 in the value column will be used in any further calculation where this CF is used, but the translation column will be the outcome of the CF itself.</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157</a:t>
            </a:fld>
            <a:r>
              <a:rPr lang="en-US" b="0"/>
              <a:t> of 102</a:t>
            </a:r>
            <a:endParaRPr lang="en-US" b="0"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p:spPr>
      </p:sp>
      <p:sp>
        <p:nvSpPr>
          <p:cNvPr id="120835" name="Notes Placeholder 2"/>
          <p:cNvSpPr>
            <a:spLocks noGrp="1"/>
          </p:cNvSpPr>
          <p:nvPr>
            <p:ph type="body" idx="1"/>
          </p:nvPr>
        </p:nvSpPr>
        <p:spPr>
          <a:noFill/>
        </p:spPr>
        <p:txBody>
          <a:bodyPr/>
          <a:lstStyle/>
          <a:p>
            <a:pPr lvl="0" algn="ctr">
              <a:buNone/>
            </a:pPr>
            <a:r>
              <a:rPr lang="en-US" b="1" i="1" dirty="0"/>
              <a:t>Example 3</a:t>
            </a:r>
          </a:p>
          <a:p>
            <a:endParaRPr lang="en-US" dirty="0"/>
          </a:p>
          <a:p>
            <a:r>
              <a:rPr lang="en-US" dirty="0"/>
              <a:t>This is how the changes we make to the Area_Limit CF looks like.</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158</a:t>
            </a:fld>
            <a:r>
              <a:rPr lang="en-US" b="0"/>
              <a:t> of 102</a:t>
            </a:r>
            <a:endParaRPr lang="en-US" b="0"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p:spPr>
      </p:sp>
      <p:sp>
        <p:nvSpPr>
          <p:cNvPr id="121859" name="Notes Placeholder 2"/>
          <p:cNvSpPr>
            <a:spLocks noGrp="1"/>
          </p:cNvSpPr>
          <p:nvPr>
            <p:ph type="body" idx="1"/>
          </p:nvPr>
        </p:nvSpPr>
        <p:spPr>
          <a:noFill/>
        </p:spPr>
        <p:txBody>
          <a:bodyPr/>
          <a:lstStyle/>
          <a:p>
            <a:pPr lvl="0" algn="ctr">
              <a:buNone/>
            </a:pPr>
            <a:r>
              <a:rPr lang="en-US" b="1" i="1" dirty="0"/>
              <a:t>Example 3</a:t>
            </a:r>
          </a:p>
          <a:p>
            <a:endParaRPr lang="en-US" dirty="0"/>
          </a:p>
          <a:p>
            <a:pPr marL="144000"/>
            <a:r>
              <a:rPr lang="en-US" dirty="0"/>
              <a:t>Here we see the result of the new calculation. Area-Limit now shows &lt; 0.5% or &gt; 0.5% whereas the Area_GT_05 is the same as before.</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159</a:t>
            </a:fld>
            <a:r>
              <a:rPr lang="en-US" b="0"/>
              <a:t> of 102</a:t>
            </a:r>
            <a:endParaRPr lang="en-US" b="0"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noChangeArrowheads="1"/>
          </p:cNvSpPr>
          <p:nvPr>
            <p:ph type="dt" sz="quarter" idx="1"/>
          </p:nvPr>
        </p:nvSpPr>
        <p:spPr>
          <a:noFill/>
        </p:spPr>
        <p:txBody>
          <a:bodyPr/>
          <a:lstStyle/>
          <a:p>
            <a:r>
              <a:rPr lang="en-US"/>
              <a:t>Rev. 21314</a:t>
            </a:r>
          </a:p>
        </p:txBody>
      </p:sp>
      <p:sp>
        <p:nvSpPr>
          <p:cNvPr id="100356" name="Rectangle 2"/>
          <p:cNvSpPr>
            <a:spLocks noGrp="1" noChangeArrowheads="1"/>
          </p:cNvSpPr>
          <p:nvPr>
            <p:ph type="hdr" sz="quarter"/>
          </p:nvPr>
        </p:nvSpPr>
        <p:spPr>
          <a:noFill/>
        </p:spPr>
        <p:txBody>
          <a:bodyPr/>
          <a:lstStyle/>
          <a:p>
            <a:r>
              <a:rPr lang="en-US"/>
              <a:t>Advanced Custom Fields</a:t>
            </a:r>
          </a:p>
        </p:txBody>
      </p:sp>
      <p:sp>
        <p:nvSpPr>
          <p:cNvPr id="100357" name="Rectangle 2"/>
          <p:cNvSpPr>
            <a:spLocks noGrp="1" noRot="1" noChangeAspect="1" noChangeArrowheads="1" noTextEdit="1"/>
          </p:cNvSpPr>
          <p:nvPr>
            <p:ph type="sldImg"/>
          </p:nvPr>
        </p:nvSpPr>
        <p:spPr>
          <a:xfrm>
            <a:off x="920750" y="742950"/>
            <a:ext cx="4965700" cy="3725863"/>
          </a:xfrm>
          <a:ln/>
        </p:spPr>
      </p:sp>
      <p:sp>
        <p:nvSpPr>
          <p:cNvPr id="100358" name="Rectangle 3"/>
          <p:cNvSpPr>
            <a:spLocks noGrp="1" noChangeArrowheads="1"/>
          </p:cNvSpPr>
          <p:nvPr>
            <p:ph type="body" idx="1"/>
          </p:nvPr>
        </p:nvSpPr>
        <p:spPr>
          <a:xfrm>
            <a:off x="906463" y="4714876"/>
            <a:ext cx="4984750" cy="4030021"/>
          </a:xfrm>
          <a:noFill/>
          <a:ln/>
        </p:spPr>
        <p:txBody>
          <a:bodyPr/>
          <a:lstStyle/>
          <a:p>
            <a:pPr lvl="0" algn="ctr">
              <a:buNone/>
              <a:defRPr/>
            </a:pPr>
            <a:r>
              <a:rPr lang="en-US" b="1" i="1" dirty="0"/>
              <a:t>The “Use As” function</a:t>
            </a:r>
          </a:p>
          <a:p>
            <a:pPr lvl="0" algn="ctr">
              <a:buNone/>
              <a:defRPr/>
            </a:pPr>
            <a:endParaRPr lang="en-US" b="1" i="1" dirty="0"/>
          </a:p>
          <a:p>
            <a:pPr>
              <a:defRPr/>
            </a:pPr>
            <a:r>
              <a:rPr lang="en-US" dirty="0"/>
              <a:t>There are 4 possible choices for the “Use As” function.</a:t>
            </a:r>
            <a:br>
              <a:rPr lang="en-US" dirty="0"/>
            </a:br>
            <a:endParaRPr lang="en-US" dirty="0"/>
          </a:p>
          <a:p>
            <a:pPr lvl="1">
              <a:defRPr/>
            </a:pPr>
            <a:r>
              <a:rPr lang="en-US" dirty="0"/>
              <a:t>Position : This will use the number in the value column of the translation definition table, 0,1,2….</a:t>
            </a:r>
          </a:p>
          <a:p>
            <a:pPr>
              <a:defRPr/>
            </a:pPr>
            <a:endParaRPr lang="en-US" dirty="0"/>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161</a:t>
            </a:fld>
            <a:r>
              <a:rPr lang="en-US" b="0"/>
              <a:t> of 102</a:t>
            </a:r>
            <a:endParaRPr lang="en-US" b="0"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noChangeArrowheads="1"/>
          </p:cNvSpPr>
          <p:nvPr>
            <p:ph type="dt" sz="quarter" idx="1"/>
          </p:nvPr>
        </p:nvSpPr>
        <p:spPr>
          <a:noFill/>
        </p:spPr>
        <p:txBody>
          <a:bodyPr/>
          <a:lstStyle/>
          <a:p>
            <a:r>
              <a:rPr lang="en-US"/>
              <a:t>Rev. 21314</a:t>
            </a:r>
          </a:p>
        </p:txBody>
      </p:sp>
      <p:sp>
        <p:nvSpPr>
          <p:cNvPr id="100356" name="Rectangle 2"/>
          <p:cNvSpPr>
            <a:spLocks noGrp="1" noChangeArrowheads="1"/>
          </p:cNvSpPr>
          <p:nvPr>
            <p:ph type="hdr" sz="quarter"/>
          </p:nvPr>
        </p:nvSpPr>
        <p:spPr>
          <a:noFill/>
        </p:spPr>
        <p:txBody>
          <a:bodyPr/>
          <a:lstStyle/>
          <a:p>
            <a:r>
              <a:rPr lang="en-US"/>
              <a:t>Advanced Custom Fields</a:t>
            </a:r>
          </a:p>
        </p:txBody>
      </p:sp>
      <p:sp>
        <p:nvSpPr>
          <p:cNvPr id="100357" name="Rectangle 2"/>
          <p:cNvSpPr>
            <a:spLocks noGrp="1" noRot="1" noChangeAspect="1" noChangeArrowheads="1" noTextEdit="1"/>
          </p:cNvSpPr>
          <p:nvPr>
            <p:ph type="sldImg"/>
          </p:nvPr>
        </p:nvSpPr>
        <p:spPr>
          <a:xfrm>
            <a:off x="920750" y="742950"/>
            <a:ext cx="4965700" cy="3725863"/>
          </a:xfrm>
          <a:ln/>
        </p:spPr>
      </p:sp>
      <p:sp>
        <p:nvSpPr>
          <p:cNvPr id="100358" name="Rectangle 3"/>
          <p:cNvSpPr>
            <a:spLocks noGrp="1" noChangeArrowheads="1"/>
          </p:cNvSpPr>
          <p:nvPr>
            <p:ph type="body" idx="1"/>
          </p:nvPr>
        </p:nvSpPr>
        <p:spPr>
          <a:xfrm>
            <a:off x="906463" y="4714876"/>
            <a:ext cx="4984750" cy="4030021"/>
          </a:xfrm>
          <a:noFill/>
          <a:ln/>
        </p:spPr>
        <p:txBody>
          <a:bodyPr/>
          <a:lstStyle/>
          <a:p>
            <a:pPr lvl="0" algn="ctr">
              <a:buNone/>
              <a:defRPr/>
            </a:pPr>
            <a:r>
              <a:rPr lang="en-US" b="1" i="1" dirty="0"/>
              <a:t>The “Use As” function</a:t>
            </a:r>
          </a:p>
          <a:p>
            <a:pPr lvl="0" algn="ctr">
              <a:buNone/>
              <a:defRPr/>
            </a:pPr>
            <a:endParaRPr lang="en-US" b="1" i="1" dirty="0"/>
          </a:p>
          <a:p>
            <a:pPr>
              <a:defRPr/>
            </a:pPr>
            <a:r>
              <a:rPr lang="en-US" dirty="0"/>
              <a:t>There are 4 possible choices for the “Use As” function.</a:t>
            </a:r>
            <a:br>
              <a:rPr lang="en-US" dirty="0"/>
            </a:br>
            <a:endParaRPr lang="en-US" dirty="0"/>
          </a:p>
          <a:p>
            <a:pPr lvl="1">
              <a:defRPr/>
            </a:pPr>
            <a:r>
              <a:rPr lang="en-US" dirty="0"/>
              <a:t>Text : This will use whatever there is in the translation column of the translation definition table as a text.</a:t>
            </a:r>
            <a:br>
              <a:rPr lang="en-US" dirty="0"/>
            </a:br>
            <a:endParaRPr lang="en-US" dirty="0"/>
          </a:p>
          <a:p>
            <a:pPr lvl="1">
              <a:defRPr/>
            </a:pPr>
            <a:r>
              <a:rPr lang="en-US" dirty="0"/>
              <a:t>Value : This will use whatever there is in the translation column of the translation definition table as a value, in this case the translation must be a number.</a:t>
            </a:r>
            <a:br>
              <a:rPr lang="en-US" dirty="0"/>
            </a:br>
            <a:endParaRPr lang="en-US" dirty="0"/>
          </a:p>
          <a:p>
            <a:pPr lvl="1">
              <a:defRPr/>
            </a:pPr>
            <a:r>
              <a:rPr lang="en-US" dirty="0"/>
              <a:t>Field : This will use the field value of the field entered in the translation column of the translation definition table , but requires that the field name is followed by a space and (</a:t>
            </a:r>
            <a:r>
              <a:rPr lang="en-US" dirty="0" err="1"/>
              <a:t>fc</a:t>
            </a:r>
            <a:r>
              <a:rPr lang="en-US" dirty="0"/>
              <a:t>). All the other entries in the translation definition table will be treated as text.</a:t>
            </a:r>
          </a:p>
          <a:p>
            <a:pPr eaLnBrk="1" hangingPunct="1"/>
            <a:endParaRPr lang="en-US" dirty="0"/>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162</a:t>
            </a:fld>
            <a:r>
              <a:rPr lang="en-US" b="0"/>
              <a:t> of 102</a:t>
            </a:r>
            <a:endParaRPr lang="en-US" b="0"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noChangeArrowheads="1"/>
          </p:cNvSpPr>
          <p:nvPr>
            <p:ph type="dt" sz="quarter" idx="1"/>
          </p:nvPr>
        </p:nvSpPr>
        <p:spPr>
          <a:noFill/>
        </p:spPr>
        <p:txBody>
          <a:bodyPr/>
          <a:lstStyle/>
          <a:p>
            <a:r>
              <a:rPr lang="en-US"/>
              <a:t>Rev. 21314</a:t>
            </a:r>
          </a:p>
        </p:txBody>
      </p:sp>
      <p:sp>
        <p:nvSpPr>
          <p:cNvPr id="100356" name="Rectangle 2"/>
          <p:cNvSpPr>
            <a:spLocks noGrp="1" noChangeArrowheads="1"/>
          </p:cNvSpPr>
          <p:nvPr>
            <p:ph type="hdr" sz="quarter"/>
          </p:nvPr>
        </p:nvSpPr>
        <p:spPr>
          <a:noFill/>
        </p:spPr>
        <p:txBody>
          <a:bodyPr/>
          <a:lstStyle/>
          <a:p>
            <a:r>
              <a:rPr lang="en-US"/>
              <a:t>Advanced Custom Fields</a:t>
            </a:r>
          </a:p>
        </p:txBody>
      </p:sp>
      <p:sp>
        <p:nvSpPr>
          <p:cNvPr id="100357" name="Rectangle 2"/>
          <p:cNvSpPr>
            <a:spLocks noGrp="1" noRot="1" noChangeAspect="1" noChangeArrowheads="1" noTextEdit="1"/>
          </p:cNvSpPr>
          <p:nvPr>
            <p:ph type="sldImg"/>
          </p:nvPr>
        </p:nvSpPr>
        <p:spPr>
          <a:xfrm>
            <a:off x="920750" y="742950"/>
            <a:ext cx="4965700" cy="3725863"/>
          </a:xfrm>
          <a:ln/>
        </p:spPr>
      </p:sp>
      <p:sp>
        <p:nvSpPr>
          <p:cNvPr id="100358" name="Rectangle 3"/>
          <p:cNvSpPr>
            <a:spLocks noGrp="1" noChangeArrowheads="1"/>
          </p:cNvSpPr>
          <p:nvPr>
            <p:ph type="body" idx="1"/>
          </p:nvPr>
        </p:nvSpPr>
        <p:spPr>
          <a:xfrm>
            <a:off x="906463" y="4714876"/>
            <a:ext cx="4984750" cy="4030021"/>
          </a:xfrm>
          <a:noFill/>
          <a:ln/>
        </p:spPr>
        <p:txBody>
          <a:bodyPr/>
          <a:lstStyle/>
          <a:p>
            <a:pPr lvl="0" algn="ctr">
              <a:buNone/>
              <a:defRPr/>
            </a:pPr>
            <a:r>
              <a:rPr lang="en-US" b="1" i="1" dirty="0"/>
              <a:t>The “Use As” function</a:t>
            </a:r>
          </a:p>
          <a:p>
            <a:pPr lvl="0" algn="ctr">
              <a:buNone/>
              <a:defRPr/>
            </a:pPr>
            <a:endParaRPr lang="en-US" b="1" i="1" dirty="0"/>
          </a:p>
          <a:p>
            <a:pPr>
              <a:defRPr/>
            </a:pPr>
            <a:r>
              <a:rPr lang="en-US" dirty="0"/>
              <a:t>There are 4 possible choices for the “Use As” function.</a:t>
            </a:r>
            <a:br>
              <a:rPr lang="en-US" dirty="0"/>
            </a:br>
            <a:endParaRPr lang="en-US" dirty="0"/>
          </a:p>
          <a:p>
            <a:pPr lvl="1">
              <a:defRPr/>
            </a:pPr>
            <a:r>
              <a:rPr lang="en-US" dirty="0"/>
              <a:t>Text : This will use whatever there is in the translation column of the translation definition table as a text.</a:t>
            </a:r>
            <a:br>
              <a:rPr lang="en-US" dirty="0"/>
            </a:br>
            <a:endParaRPr lang="en-US" dirty="0"/>
          </a:p>
          <a:p>
            <a:pPr lvl="1">
              <a:defRPr/>
            </a:pPr>
            <a:r>
              <a:rPr lang="en-US" dirty="0"/>
              <a:t>Value : This will use whatever there is in the translation column of the translation definition table as a value, in this case the translation must be a number.</a:t>
            </a:r>
            <a:br>
              <a:rPr lang="en-US" dirty="0"/>
            </a:br>
            <a:endParaRPr lang="en-US" dirty="0"/>
          </a:p>
          <a:p>
            <a:pPr lvl="1">
              <a:defRPr/>
            </a:pPr>
            <a:r>
              <a:rPr lang="en-US" dirty="0"/>
              <a:t>Field : This will use the field value of the field entered in the translation column of the translation definition table , but requires that the field name is followed by a space and (</a:t>
            </a:r>
            <a:r>
              <a:rPr lang="en-US" dirty="0" err="1"/>
              <a:t>fc</a:t>
            </a:r>
            <a:r>
              <a:rPr lang="en-US" dirty="0"/>
              <a:t>). All the other entries in the translation definition table will be treated as text.</a:t>
            </a:r>
          </a:p>
          <a:p>
            <a:pPr eaLnBrk="1" hangingPunct="1"/>
            <a:endParaRPr lang="en-US" dirty="0"/>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163</a:t>
            </a:fld>
            <a:r>
              <a:rPr lang="en-US" b="0"/>
              <a:t> of 102</a:t>
            </a:r>
            <a:endParaRPr lang="en-US" b="0"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lgn="ctr">
              <a:buNone/>
            </a:pPr>
            <a:r>
              <a:rPr lang="en-US" b="1" i="1" dirty="0"/>
              <a:t>Example 3</a:t>
            </a:r>
          </a:p>
          <a:p>
            <a:endParaRPr lang="nl-NL" dirty="0"/>
          </a:p>
          <a:p>
            <a:r>
              <a:rPr lang="nl-NL" dirty="0"/>
              <a:t>Lets return to our example.</a:t>
            </a:r>
            <a:br>
              <a:rPr lang="nl-NL" dirty="0"/>
            </a:br>
            <a:endParaRPr lang="nl-NL" dirty="0"/>
          </a:p>
          <a:p>
            <a:pPr marL="144000"/>
            <a:r>
              <a:rPr lang="nl-NL" dirty="0"/>
              <a:t>The next step in the process is to create a custom filed that can sum up all the area of the peaks with an area% greater than 0.5%. We already have afiled that only shows area for peaks with an area% above 0,5%, so we simply use the SUM operator on ths field. We name this field Sum_Area_GT05</a:t>
            </a:r>
            <a:br>
              <a:rPr lang="nl-NL" dirty="0"/>
            </a:br>
            <a:endParaRPr lang="nl-NL" dirty="0"/>
          </a:p>
          <a:p>
            <a:pPr marL="144000"/>
            <a:r>
              <a:rPr lang="nl-NL" dirty="0"/>
              <a:t>Since we only have 1 result for the entire chromatogram this is a result type CF.</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165</a:t>
            </a:fld>
            <a:r>
              <a:rPr lang="en-US" b="0"/>
              <a:t> of 102</a:t>
            </a:r>
            <a:endParaRPr lang="en-US" b="0"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lgn="ctr">
              <a:buNone/>
            </a:pPr>
            <a:r>
              <a:rPr lang="en-US" b="1" i="1" dirty="0"/>
              <a:t>Example 3</a:t>
            </a:r>
          </a:p>
          <a:p>
            <a:endParaRPr lang="nl-NL" dirty="0"/>
          </a:p>
          <a:p>
            <a:r>
              <a:rPr lang="nl-NL" dirty="0"/>
              <a:t>To view the result of this CF we need to go to the result window of </a:t>
            </a:r>
            <a:br>
              <a:rPr lang="nl-NL" dirty="0"/>
            </a:br>
            <a:r>
              <a:rPr lang="nl-NL" dirty="0"/>
              <a:t>   Review.</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166</a:t>
            </a:fld>
            <a:r>
              <a:rPr lang="en-US" b="0"/>
              <a:t> of 102</a:t>
            </a:r>
            <a:endParaRPr lang="en-US" b="0"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lgn="ctr">
              <a:buNone/>
            </a:pPr>
            <a:r>
              <a:rPr lang="en-US" b="1" i="1" dirty="0"/>
              <a:t>Example 3</a:t>
            </a:r>
          </a:p>
          <a:p>
            <a:endParaRPr lang="nl-NL" dirty="0"/>
          </a:p>
          <a:p>
            <a:pPr marL="144000"/>
            <a:r>
              <a:rPr lang="nl-NL" dirty="0"/>
              <a:t>Finally we need the CF that will calculate the area of the peaks with an Area% above 0.5% as a percentage of the total area of these peaks.</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167</a:t>
            </a:fld>
            <a:r>
              <a:rPr lang="en-US" b="0"/>
              <a:t> of 102</a:t>
            </a:r>
            <a:endParaRPr lang="en-US" b="0"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p:spPr>
      </p:sp>
      <p:sp>
        <p:nvSpPr>
          <p:cNvPr id="129027" name="Notes Placeholder 2"/>
          <p:cNvSpPr>
            <a:spLocks noGrp="1"/>
          </p:cNvSpPr>
          <p:nvPr>
            <p:ph type="body" idx="1"/>
          </p:nvPr>
        </p:nvSpPr>
        <p:spPr>
          <a:noFill/>
        </p:spPr>
        <p:txBody>
          <a:bodyPr/>
          <a:lstStyle/>
          <a:p>
            <a:pPr lvl="0" algn="ctr">
              <a:buNone/>
            </a:pPr>
            <a:r>
              <a:rPr lang="en-US" b="1" i="1" dirty="0"/>
              <a:t>Example 3</a:t>
            </a:r>
          </a:p>
          <a:p>
            <a:endParaRPr lang="en-US" dirty="0"/>
          </a:p>
          <a:p>
            <a:r>
              <a:rPr lang="en-US" dirty="0"/>
              <a:t>This is what the final CF, Pct_Area_GT05, looks like.</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168</a:t>
            </a:fld>
            <a:r>
              <a:rPr lang="en-US" b="0"/>
              <a:t> of 102</a:t>
            </a:r>
            <a:endParaRPr lang="en-US" b="0"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lgn="ctr">
              <a:buNone/>
            </a:pPr>
            <a:r>
              <a:rPr lang="en-US" b="1" i="1" dirty="0"/>
              <a:t>Example 3</a:t>
            </a:r>
          </a:p>
          <a:p>
            <a:endParaRPr lang="nl-NL" dirty="0"/>
          </a:p>
          <a:p>
            <a:r>
              <a:rPr lang="nl-NL" dirty="0"/>
              <a:t>Here we se the results for the 3 peak fields we have created.</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169</a:t>
            </a:fld>
            <a:r>
              <a:rPr lang="en-US" b="0"/>
              <a:t> of 102</a:t>
            </a:r>
            <a:endParaRPr lang="en-US" b="0"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eaLnBrk="1" hangingPunct="1">
              <a:buNone/>
            </a:pPr>
            <a:r>
              <a:rPr lang="en-US" b="1" i="1" dirty="0"/>
              <a:t>The Use As Field function</a:t>
            </a:r>
          </a:p>
          <a:p>
            <a:pPr algn="ctr" eaLnBrk="1" hangingPunct="1">
              <a:buNone/>
            </a:pPr>
            <a:endParaRPr lang="en-US" b="1" i="1" dirty="0"/>
          </a:p>
          <a:p>
            <a:pPr eaLnBrk="1" hangingPunct="1"/>
            <a:r>
              <a:rPr lang="en-US" dirty="0"/>
              <a:t>Lets return to the function “Use As”, when we use Field.</a:t>
            </a:r>
            <a:br>
              <a:rPr lang="en-US" dirty="0"/>
            </a:br>
            <a:endParaRPr lang="en-US" dirty="0"/>
          </a:p>
          <a:p>
            <a:pPr marL="144000" eaLnBrk="1" hangingPunct="1"/>
            <a:r>
              <a:rPr lang="en-US" dirty="0"/>
              <a:t>In the first example above we use the signal to noise (s/n) calculation to show if the peak is below the LOD. If the s/n is lower then 10 we want the text “Below LOD”, but if the s/n is greater than or equal to 10 we want the CF to show the actual s/n value.</a:t>
            </a:r>
            <a:br>
              <a:rPr lang="en-US" dirty="0"/>
            </a:br>
            <a:endParaRPr lang="en-US" dirty="0"/>
          </a:p>
          <a:p>
            <a:pPr marL="144000" eaLnBrk="1" hangingPunct="1"/>
            <a:r>
              <a:rPr lang="en-US" dirty="0"/>
              <a:t>In the second example we are monitoring a reaction. If amount is to low we want the text “Keep Mixing” and if the Amount is to high we want the text “Over cooked”, but if the amount is just right we want the vale of the amount.</a:t>
            </a:r>
          </a:p>
          <a:p>
            <a:endParaRPr lang="en-SG" dirty="0"/>
          </a:p>
        </p:txBody>
      </p:sp>
      <p:sp>
        <p:nvSpPr>
          <p:cNvPr id="4" name="Date Placeholder 3"/>
          <p:cNvSpPr>
            <a:spLocks noGrp="1"/>
          </p:cNvSpPr>
          <p:nvPr>
            <p:ph type="dt" idx="10"/>
          </p:nvPr>
        </p:nvSpPr>
        <p:spPr/>
        <p:txBody>
          <a:bodyPr/>
          <a:lstStyle/>
          <a:p>
            <a:pPr>
              <a:defRPr/>
            </a:pPr>
            <a:r>
              <a:rPr lang="en-US"/>
              <a:t>Rev. 21314</a:t>
            </a:r>
          </a:p>
        </p:txBody>
      </p:sp>
      <p:sp>
        <p:nvSpPr>
          <p:cNvPr id="5" name="Slide Number Placeholder 4"/>
          <p:cNvSpPr>
            <a:spLocks noGrp="1"/>
          </p:cNvSpPr>
          <p:nvPr>
            <p:ph type="sldNum" sz="quarter" idx="11"/>
          </p:nvPr>
        </p:nvSpPr>
        <p:spPr/>
        <p:txBody>
          <a:bodyPr/>
          <a:lstStyle/>
          <a:p>
            <a:pPr>
              <a:defRPr/>
            </a:pPr>
            <a:r>
              <a:rPr lang="en-US"/>
              <a:t>Chapter  Two: </a:t>
            </a:r>
            <a:r>
              <a:rPr lang="en-US" b="0"/>
              <a:t>Page </a:t>
            </a:r>
            <a:fld id="{32155B68-2FBB-48A0-88DC-1DBD4888FA3D}" type="slidenum">
              <a:rPr lang="en-US" b="0" smtClean="0"/>
              <a:pPr>
                <a:defRPr/>
              </a:pPr>
              <a:t>170</a:t>
            </a:fld>
            <a:r>
              <a:rPr lang="en-US" b="0"/>
              <a:t> of 102</a:t>
            </a:r>
            <a:endParaRPr lang="en-US" b="0" dirty="0"/>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Tree>
    <p:extLst>
      <p:ext uri="{BB962C8B-B14F-4D97-AF65-F5344CB8AC3E}">
        <p14:creationId xmlns:p14="http://schemas.microsoft.com/office/powerpoint/2010/main" val="414513218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ln/>
        </p:spPr>
        <p:txBody>
          <a:bodyPr/>
          <a:lstStyle/>
          <a:p>
            <a:pPr algn="ctr" eaLnBrk="1" hangingPunct="1">
              <a:buNone/>
            </a:pPr>
            <a:r>
              <a:rPr lang="en-US" b="1" i="1" dirty="0"/>
              <a:t>Example 4</a:t>
            </a:r>
          </a:p>
          <a:p>
            <a:pPr algn="ctr" eaLnBrk="1" hangingPunct="1">
              <a:buNone/>
            </a:pPr>
            <a:endParaRPr lang="en-US" b="1" i="1" dirty="0"/>
          </a:p>
          <a:p>
            <a:pPr marL="144000" eaLnBrk="1" hangingPunct="1"/>
            <a:r>
              <a:rPr lang="en-US" dirty="0"/>
              <a:t>The first example is simple. We just create the CF </a:t>
            </a:r>
            <a:r>
              <a:rPr lang="en-US" dirty="0" err="1"/>
              <a:t>LODAcceptance</a:t>
            </a:r>
            <a:r>
              <a:rPr lang="en-US" dirty="0"/>
              <a:t> with the formula GTE([s/n],10).</a:t>
            </a:r>
            <a:br>
              <a:rPr lang="en-US" dirty="0"/>
            </a:br>
            <a:endParaRPr lang="en-US" dirty="0"/>
          </a:p>
          <a:p>
            <a:pPr marL="144000" eaLnBrk="1" hangingPunct="1"/>
            <a:r>
              <a:rPr lang="en-US" dirty="0"/>
              <a:t>In the translation definition table we enter Below LOD for the 0 value, and [s/n] (</a:t>
            </a:r>
            <a:r>
              <a:rPr lang="en-US" dirty="0" err="1"/>
              <a:t>fc</a:t>
            </a:r>
            <a:r>
              <a:rPr lang="en-US" dirty="0"/>
              <a:t>) for the 1 value.</a:t>
            </a:r>
            <a:br>
              <a:rPr lang="en-US" dirty="0"/>
            </a:br>
            <a:endParaRPr lang="en-US" dirty="0"/>
          </a:p>
          <a:p>
            <a:pPr marL="144000" eaLnBrk="1" hangingPunct="1"/>
            <a:r>
              <a:rPr lang="en-US" dirty="0"/>
              <a:t>Remember that we need to put “Field” in the Use As drop down </a:t>
            </a:r>
            <a:br>
              <a:rPr lang="en-US" dirty="0"/>
            </a:br>
            <a:r>
              <a:rPr lang="en-US" dirty="0"/>
              <a:t>list.</a:t>
            </a:r>
          </a:p>
          <a:p>
            <a:pPr marL="144000" eaLnBrk="1" hangingPunct="1"/>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171</a:t>
            </a:fld>
            <a:r>
              <a:rPr lang="en-US" b="0"/>
              <a:t> of 102</a:t>
            </a:r>
            <a:endParaRPr lang="en-US" b="0"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ln/>
        </p:spPr>
        <p:txBody>
          <a:bodyPr/>
          <a:lstStyle/>
          <a:p>
            <a:pPr algn="ctr" eaLnBrk="1" hangingPunct="1">
              <a:buNone/>
            </a:pPr>
            <a:r>
              <a:rPr lang="en-US" b="1" i="1" dirty="0"/>
              <a:t>Example 4</a:t>
            </a:r>
          </a:p>
          <a:p>
            <a:pPr algn="ctr" eaLnBrk="1" hangingPunct="1">
              <a:buNone/>
            </a:pPr>
            <a:endParaRPr lang="en-US" b="1" i="1" dirty="0"/>
          </a:p>
          <a:p>
            <a:pPr eaLnBrk="1" hangingPunct="1"/>
            <a:r>
              <a:rPr lang="en-US" dirty="0"/>
              <a:t>Here we see the result of the CF calculation.</a:t>
            </a:r>
          </a:p>
          <a:p>
            <a:pPr eaLnBrk="1" hangingPunct="1"/>
            <a:endParaRPr lang="en-US" dirty="0"/>
          </a:p>
          <a:p>
            <a:pPr eaLnBrk="1" hangingPunct="1"/>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172</a:t>
            </a:fld>
            <a:r>
              <a:rPr lang="en-US" b="0"/>
              <a:t> of 102</a:t>
            </a:r>
            <a:endParaRPr lang="en-US" b="0"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a:ln/>
        </p:spPr>
      </p:sp>
      <p:sp>
        <p:nvSpPr>
          <p:cNvPr id="110595" name="Notes Placeholder 2"/>
          <p:cNvSpPr>
            <a:spLocks noGrp="1"/>
          </p:cNvSpPr>
          <p:nvPr>
            <p:ph type="body" idx="1"/>
          </p:nvPr>
        </p:nvSpPr>
        <p:spPr>
          <a:noFill/>
          <a:ln/>
        </p:spPr>
        <p:txBody>
          <a:bodyPr/>
          <a:lstStyle/>
          <a:p>
            <a:pPr algn="ctr" eaLnBrk="1" hangingPunct="1">
              <a:buNone/>
            </a:pPr>
            <a:r>
              <a:rPr lang="en-US" b="1" i="1" dirty="0"/>
              <a:t>Example 5</a:t>
            </a:r>
          </a:p>
          <a:p>
            <a:pPr algn="ctr" eaLnBrk="1" hangingPunct="1">
              <a:buNone/>
            </a:pPr>
            <a:endParaRPr lang="en-US" b="1" i="1" dirty="0"/>
          </a:p>
          <a:p>
            <a:pPr eaLnBrk="1" hangingPunct="1"/>
            <a:r>
              <a:rPr lang="en-US" dirty="0"/>
              <a:t>In the second example we need to use an Enumerated CF, </a:t>
            </a:r>
            <a:br>
              <a:rPr lang="en-US" dirty="0"/>
            </a:br>
            <a:r>
              <a:rPr lang="en-US" dirty="0"/>
              <a:t>   because we ant 3 options/answers.</a:t>
            </a:r>
            <a:br>
              <a:rPr lang="en-US" dirty="0"/>
            </a:br>
            <a:endParaRPr lang="en-US" dirty="0"/>
          </a:p>
          <a:p>
            <a:pPr eaLnBrk="1" hangingPunct="1"/>
            <a:r>
              <a:rPr lang="en-US" dirty="0"/>
              <a:t>In this case we want the Amount to be between 150 and 152.</a:t>
            </a:r>
            <a:br>
              <a:rPr lang="en-US" dirty="0"/>
            </a:br>
            <a:endParaRPr lang="en-US" dirty="0"/>
          </a:p>
          <a:p>
            <a:pPr eaLnBrk="1" hangingPunct="1"/>
            <a:r>
              <a:rPr lang="en-US" dirty="0"/>
              <a:t>In the translation table we enter Amount (</a:t>
            </a:r>
            <a:r>
              <a:rPr lang="en-US" dirty="0" err="1"/>
              <a:t>fc</a:t>
            </a:r>
            <a:r>
              <a:rPr lang="en-US" dirty="0"/>
              <a:t>) and remember to </a:t>
            </a:r>
            <a:br>
              <a:rPr lang="en-US" dirty="0"/>
            </a:br>
            <a:r>
              <a:rPr lang="en-US" dirty="0"/>
              <a:t>   use Field in the Use As function.</a:t>
            </a:r>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173</a:t>
            </a:fld>
            <a:r>
              <a:rPr lang="en-US" b="0"/>
              <a:t> of 102</a:t>
            </a:r>
            <a:endParaRPr lang="en-US" b="0"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Example 5</a:t>
            </a:r>
          </a:p>
          <a:p>
            <a:pPr algn="ctr">
              <a:buNone/>
            </a:pPr>
            <a:endParaRPr lang="en-US" b="1" i="1" dirty="0"/>
          </a:p>
          <a:p>
            <a:r>
              <a:rPr lang="en-US" dirty="0"/>
              <a:t>On this and the next page we see the 3 different outcomes of this </a:t>
            </a:r>
            <a:br>
              <a:rPr lang="en-US" dirty="0"/>
            </a:br>
            <a:r>
              <a:rPr lang="en-US" dirty="0"/>
              <a:t>   CF.</a:t>
            </a:r>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174</a:t>
            </a:fld>
            <a:r>
              <a:rPr lang="en-US" b="0"/>
              <a:t> of 102</a:t>
            </a:r>
            <a:endParaRPr lang="en-US" b="0"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Example 5</a:t>
            </a:r>
          </a:p>
          <a:p>
            <a:endParaRPr lang="nl-NL" dirty="0"/>
          </a:p>
          <a:p>
            <a:endParaRPr lang="nl-NL" dirty="0"/>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175</a:t>
            </a:fld>
            <a:r>
              <a:rPr lang="en-US" b="0"/>
              <a:t> of 102</a:t>
            </a:r>
            <a:endParaRPr lang="en-US" b="0"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noChangeArrowheads="1"/>
          </p:cNvSpPr>
          <p:nvPr>
            <p:ph type="dt" sz="quarter" idx="1"/>
          </p:nvPr>
        </p:nvSpPr>
        <p:spPr>
          <a:noFill/>
        </p:spPr>
        <p:txBody>
          <a:bodyPr/>
          <a:lstStyle/>
          <a:p>
            <a:r>
              <a:rPr lang="en-US"/>
              <a:t>Rev. 21314</a:t>
            </a:r>
          </a:p>
        </p:txBody>
      </p:sp>
      <p:sp>
        <p:nvSpPr>
          <p:cNvPr id="111620" name="Rectangle 2"/>
          <p:cNvSpPr>
            <a:spLocks noGrp="1" noChangeArrowheads="1"/>
          </p:cNvSpPr>
          <p:nvPr>
            <p:ph type="hdr" sz="quarter"/>
          </p:nvPr>
        </p:nvSpPr>
        <p:spPr>
          <a:noFill/>
        </p:spPr>
        <p:txBody>
          <a:bodyPr/>
          <a:lstStyle/>
          <a:p>
            <a:r>
              <a:rPr lang="en-US"/>
              <a:t>Advanced Custom Fields</a:t>
            </a:r>
          </a:p>
        </p:txBody>
      </p:sp>
      <p:sp>
        <p:nvSpPr>
          <p:cNvPr id="111621" name="Rectangle 2"/>
          <p:cNvSpPr>
            <a:spLocks noGrp="1" noRot="1" noChangeAspect="1" noChangeArrowheads="1" noTextEdit="1"/>
          </p:cNvSpPr>
          <p:nvPr>
            <p:ph type="sldImg"/>
          </p:nvPr>
        </p:nvSpPr>
        <p:spPr>
          <a:xfrm>
            <a:off x="896938" y="749300"/>
            <a:ext cx="4997450" cy="3748088"/>
          </a:xfrm>
          <a:ln/>
        </p:spPr>
      </p:sp>
      <p:sp>
        <p:nvSpPr>
          <p:cNvPr id="111622" name="Rectangle 3"/>
          <p:cNvSpPr>
            <a:spLocks noGrp="1" noChangeArrowheads="1"/>
          </p:cNvSpPr>
          <p:nvPr>
            <p:ph type="body" idx="1"/>
          </p:nvPr>
        </p:nvSpPr>
        <p:spPr>
          <a:xfrm>
            <a:off x="679451" y="4714876"/>
            <a:ext cx="5438775" cy="4467225"/>
          </a:xfrm>
          <a:noFill/>
          <a:ln/>
        </p:spPr>
        <p:txBody>
          <a:bodyPr/>
          <a:lstStyle/>
          <a:p>
            <a:pPr algn="ctr" eaLnBrk="1" hangingPunct="1">
              <a:buNone/>
            </a:pPr>
            <a:r>
              <a:rPr lang="en-US" b="1" i="1" dirty="0"/>
              <a:t>The ROUND Function</a:t>
            </a:r>
          </a:p>
          <a:p>
            <a:pPr eaLnBrk="1" hangingPunct="1"/>
            <a:endParaRPr lang="en-US" dirty="0"/>
          </a:p>
          <a:p>
            <a:pPr marL="144000" eaLnBrk="1" hangingPunct="1"/>
            <a:r>
              <a:rPr lang="en-US" dirty="0"/>
              <a:t>The ROUND function ROUND (field,#) allows you to round large numbers in calculations. You can use this function in the New Custom Field Wizard – Formula Entry page. For example, ROUND(25.678,0) is rounded to 26; ROUND(256575.36,3) is rounded to 267000. The # symbol can represent a negative number. For example, ROUND(123.456789,-3) gives a result of 123.457. </a:t>
            </a:r>
          </a:p>
          <a:p>
            <a:pPr eaLnBrk="1" hangingPunct="1"/>
            <a:endParaRPr lang="en-US" dirty="0"/>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176</a:t>
            </a:fld>
            <a:r>
              <a:rPr lang="en-US" b="0"/>
              <a:t> of 102</a:t>
            </a:r>
            <a:endParaRPr lang="en-US" b="0"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noChangeArrowheads="1"/>
          </p:cNvSpPr>
          <p:nvPr>
            <p:ph type="dt" sz="quarter" idx="1"/>
          </p:nvPr>
        </p:nvSpPr>
        <p:spPr>
          <a:noFill/>
        </p:spPr>
        <p:txBody>
          <a:bodyPr/>
          <a:lstStyle/>
          <a:p>
            <a:r>
              <a:rPr lang="en-US"/>
              <a:t>Rev. 21314</a:t>
            </a:r>
          </a:p>
        </p:txBody>
      </p:sp>
      <p:sp>
        <p:nvSpPr>
          <p:cNvPr id="112644" name="Rectangle 2"/>
          <p:cNvSpPr>
            <a:spLocks noGrp="1" noChangeArrowheads="1"/>
          </p:cNvSpPr>
          <p:nvPr>
            <p:ph type="hdr" sz="quarter"/>
          </p:nvPr>
        </p:nvSpPr>
        <p:spPr>
          <a:noFill/>
        </p:spPr>
        <p:txBody>
          <a:bodyPr/>
          <a:lstStyle/>
          <a:p>
            <a:r>
              <a:rPr lang="en-US"/>
              <a:t>Advanced Custom Fields</a:t>
            </a:r>
          </a:p>
        </p:txBody>
      </p:sp>
      <p:sp>
        <p:nvSpPr>
          <p:cNvPr id="112645" name="Rectangle 2"/>
          <p:cNvSpPr>
            <a:spLocks noGrp="1" noRot="1" noChangeAspect="1" noChangeArrowheads="1" noTextEdit="1"/>
          </p:cNvSpPr>
          <p:nvPr>
            <p:ph type="sldImg"/>
          </p:nvPr>
        </p:nvSpPr>
        <p:spPr>
          <a:xfrm>
            <a:off x="896938" y="749300"/>
            <a:ext cx="4997450" cy="3748088"/>
          </a:xfrm>
          <a:ln/>
        </p:spPr>
      </p:sp>
      <p:sp>
        <p:nvSpPr>
          <p:cNvPr id="112646" name="Rectangle 3"/>
          <p:cNvSpPr>
            <a:spLocks noGrp="1" noChangeArrowheads="1"/>
          </p:cNvSpPr>
          <p:nvPr>
            <p:ph type="body" idx="1"/>
          </p:nvPr>
        </p:nvSpPr>
        <p:spPr>
          <a:xfrm>
            <a:off x="679451" y="4714876"/>
            <a:ext cx="5438775" cy="4467225"/>
          </a:xfrm>
          <a:noFill/>
          <a:ln/>
        </p:spPr>
        <p:txBody>
          <a:bodyPr/>
          <a:lstStyle/>
          <a:p>
            <a:pPr algn="ctr" eaLnBrk="1" hangingPunct="1">
              <a:buNone/>
            </a:pPr>
            <a:r>
              <a:rPr lang="en-US" b="1" i="1" dirty="0"/>
              <a:t>ROUND, Example 6</a:t>
            </a:r>
          </a:p>
          <a:p>
            <a:pPr eaLnBrk="1" hangingPunct="1"/>
            <a:endParaRPr lang="en-US" dirty="0"/>
          </a:p>
          <a:p>
            <a:pPr marL="144000" eaLnBrk="1" hangingPunct="1"/>
            <a:r>
              <a:rPr lang="en-US" dirty="0"/>
              <a:t>We create a CF to round of the Plate count calculation to whole hundreds.</a:t>
            </a:r>
            <a:br>
              <a:rPr lang="en-US" dirty="0"/>
            </a:br>
            <a:endParaRPr lang="en-US" dirty="0"/>
          </a:p>
          <a:p>
            <a:pPr marL="144000" eaLnBrk="1" hangingPunct="1"/>
            <a:r>
              <a:rPr lang="en-US" dirty="0"/>
              <a:t>Formula is ROUND(EP Plate Count,2). EP Plate Count is a standard system suitability calculation in Empower.</a:t>
            </a:r>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177</a:t>
            </a:fld>
            <a:r>
              <a:rPr lang="en-US" b="0"/>
              <a:t> of 102</a:t>
            </a:r>
            <a:endParaRPr lang="en-US" b="0"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p:cNvSpPr>
            <a:spLocks noGrp="1" noChangeArrowheads="1"/>
          </p:cNvSpPr>
          <p:nvPr>
            <p:ph type="dt" sz="quarter" idx="1"/>
          </p:nvPr>
        </p:nvSpPr>
        <p:spPr>
          <a:noFill/>
        </p:spPr>
        <p:txBody>
          <a:bodyPr/>
          <a:lstStyle/>
          <a:p>
            <a:r>
              <a:rPr lang="en-US"/>
              <a:t>Rev. 21314</a:t>
            </a:r>
          </a:p>
        </p:txBody>
      </p:sp>
      <p:sp>
        <p:nvSpPr>
          <p:cNvPr id="113668" name="Rectangle 2"/>
          <p:cNvSpPr>
            <a:spLocks noGrp="1" noChangeArrowheads="1"/>
          </p:cNvSpPr>
          <p:nvPr>
            <p:ph type="hdr" sz="quarter"/>
          </p:nvPr>
        </p:nvSpPr>
        <p:spPr>
          <a:noFill/>
        </p:spPr>
        <p:txBody>
          <a:bodyPr/>
          <a:lstStyle/>
          <a:p>
            <a:r>
              <a:rPr lang="en-US"/>
              <a:t>Advanced Custom Fields</a:t>
            </a:r>
          </a:p>
        </p:txBody>
      </p:sp>
      <p:sp>
        <p:nvSpPr>
          <p:cNvPr id="113669" name="Rectangle 2"/>
          <p:cNvSpPr>
            <a:spLocks noGrp="1" noRot="1" noChangeAspect="1" noChangeArrowheads="1" noTextEdit="1"/>
          </p:cNvSpPr>
          <p:nvPr>
            <p:ph type="sldImg"/>
          </p:nvPr>
        </p:nvSpPr>
        <p:spPr>
          <a:xfrm>
            <a:off x="896938" y="749300"/>
            <a:ext cx="4997450" cy="3748088"/>
          </a:xfrm>
          <a:ln/>
        </p:spPr>
      </p:sp>
      <p:sp>
        <p:nvSpPr>
          <p:cNvPr id="113670" name="Rectangle 3"/>
          <p:cNvSpPr>
            <a:spLocks noGrp="1" noChangeArrowheads="1"/>
          </p:cNvSpPr>
          <p:nvPr>
            <p:ph type="body" idx="1"/>
          </p:nvPr>
        </p:nvSpPr>
        <p:spPr>
          <a:xfrm>
            <a:off x="679451" y="4714876"/>
            <a:ext cx="5438775" cy="4467225"/>
          </a:xfrm>
          <a:noFill/>
          <a:ln/>
        </p:spPr>
        <p:txBody>
          <a:bodyPr/>
          <a:lstStyle/>
          <a:p>
            <a:pPr algn="ctr" eaLnBrk="1" hangingPunct="1">
              <a:buNone/>
            </a:pPr>
            <a:r>
              <a:rPr lang="en-US" b="1" i="1" dirty="0"/>
              <a:t>ROUND, Example 6</a:t>
            </a:r>
          </a:p>
          <a:p>
            <a:pPr eaLnBrk="1" hangingPunct="1"/>
            <a:endParaRPr lang="en-US" dirty="0"/>
          </a:p>
          <a:p>
            <a:pPr eaLnBrk="1" hangingPunct="1"/>
            <a:r>
              <a:rPr lang="en-US" dirty="0"/>
              <a:t>Here we see the results of the CF calculation.</a:t>
            </a:r>
          </a:p>
          <a:p>
            <a:pPr eaLnBrk="1" hangingPunct="1"/>
            <a:endParaRPr lang="en-US" dirty="0"/>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178</a:t>
            </a:fld>
            <a:r>
              <a:rPr lang="en-US" b="0"/>
              <a:t> of 102</a:t>
            </a:r>
            <a:endParaRPr lang="en-US" b="0"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The REPLACE Function</a:t>
            </a:r>
          </a:p>
          <a:p>
            <a:endParaRPr lang="nl-NL" dirty="0"/>
          </a:p>
          <a:p>
            <a:pPr marL="144000"/>
            <a:r>
              <a:rPr lang="en-US" dirty="0"/>
              <a:t>This function is designed specifically to replace a null value with zero.  This may be required when nesting custom fields (incorporating a custom field in another custom field) because if a null value occurs, subsequent fields can not be calculated.  If the null value is replaced with zero, subsequent fields can be calculated.  Also, when using a LIMS, it may be necessary to replace null values. </a:t>
            </a:r>
            <a:br>
              <a:rPr lang="en-US" dirty="0"/>
            </a:br>
            <a:endParaRPr lang="en-US" dirty="0"/>
          </a:p>
          <a:p>
            <a:pPr marL="144000"/>
            <a:r>
              <a:rPr lang="en-US" dirty="0"/>
              <a:t>For example, REPLACE (Amount,0) replaces the value of an </a:t>
            </a:r>
            <a:br>
              <a:rPr lang="en-US" dirty="0"/>
            </a:br>
            <a:r>
              <a:rPr lang="en-US" dirty="0"/>
              <a:t>Amount field with 0 when Amount is invalid/null. An invalid value will be converted to a valid value.</a:t>
            </a:r>
          </a:p>
          <a:p>
            <a:endParaRPr lang="nl-NL" dirty="0"/>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180</a:t>
            </a:fld>
            <a:r>
              <a:rPr lang="en-US" b="0"/>
              <a:t> of 102</a:t>
            </a:r>
            <a:endParaRPr lang="en-US" b="0"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REPLACE, Example 7</a:t>
            </a:r>
          </a:p>
          <a:p>
            <a:endParaRPr lang="nl-NL" dirty="0"/>
          </a:p>
          <a:p>
            <a:pPr marL="144000"/>
            <a:r>
              <a:rPr lang="nl-NL" dirty="0"/>
              <a:t>In </a:t>
            </a:r>
            <a:r>
              <a:rPr lang="en-US" dirty="0"/>
              <a:t>this</a:t>
            </a:r>
            <a:r>
              <a:rPr lang="nl-NL" dirty="0"/>
              <a:t> example Amount is not calculated for the two missing peaks, Benzoic Acid and Sorbic Acid, so we get a blank field for Amount for these.</a:t>
            </a:r>
            <a:br>
              <a:rPr lang="nl-NL" dirty="0"/>
            </a:br>
            <a:endParaRPr lang="nl-NL" dirty="0"/>
          </a:p>
          <a:p>
            <a:pPr marL="144000"/>
            <a:r>
              <a:rPr lang="nl-NL" dirty="0"/>
              <a:t>We can convert the blank (invalid) field to a 0.</a:t>
            </a:r>
          </a:p>
          <a:p>
            <a:endParaRPr lang="en-US"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181</a:t>
            </a:fld>
            <a:r>
              <a:rPr lang="en-US" b="0"/>
              <a:t> of 102</a:t>
            </a:r>
            <a:endParaRPr lang="en-US" b="0"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REPLACE, Example 7</a:t>
            </a:r>
          </a:p>
          <a:p>
            <a:endParaRPr lang="nl-NL" dirty="0"/>
          </a:p>
          <a:p>
            <a:r>
              <a:rPr lang="nl-NL" dirty="0"/>
              <a:t>This is how the CF calculation looks.</a:t>
            </a:r>
            <a:br>
              <a:rPr lang="nl-NL" dirty="0"/>
            </a:br>
            <a:endParaRPr lang="nl-NL" dirty="0"/>
          </a:p>
          <a:p>
            <a:r>
              <a:rPr lang="nl-NL" dirty="0"/>
              <a:t>The formula is just REPLACE(Amount,0).</a:t>
            </a:r>
            <a:br>
              <a:rPr lang="nl-NL" dirty="0"/>
            </a:br>
            <a:endParaRPr lang="nl-NL" dirty="0"/>
          </a:p>
          <a:p>
            <a:r>
              <a:rPr lang="nl-NL" dirty="0"/>
              <a:t>To calculate this for the missing peaks we need to put a tick mark </a:t>
            </a:r>
            <a:br>
              <a:rPr lang="nl-NL" dirty="0"/>
            </a:br>
            <a:r>
              <a:rPr lang="nl-NL" dirty="0"/>
              <a:t>   in the “Missing Peak” box.</a:t>
            </a:r>
            <a:br>
              <a:rPr lang="nl-NL" dirty="0"/>
            </a:br>
            <a:endParaRPr lang="nl-NL" dirty="0"/>
          </a:p>
          <a:p>
            <a:r>
              <a:rPr lang="nl-NL" dirty="0"/>
              <a:t>Since this CF is only relevant for Unknown samples we select </a:t>
            </a:r>
            <a:br>
              <a:rPr lang="nl-NL" dirty="0"/>
            </a:br>
            <a:r>
              <a:rPr lang="nl-NL" dirty="0"/>
              <a:t>   “Unknowns Only” in the Sample Type drop down list.</a:t>
            </a:r>
            <a:br>
              <a:rPr lang="nl-NL" dirty="0"/>
            </a:br>
            <a:endParaRPr lang="nl-NL" dirty="0"/>
          </a:p>
          <a:p>
            <a:r>
              <a:rPr lang="nl-NL" dirty="0"/>
              <a:t>The name of the field is Final_Amount</a:t>
            </a:r>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182</a:t>
            </a:fld>
            <a:r>
              <a:rPr lang="en-US" b="0"/>
              <a:t> of 102</a:t>
            </a:r>
            <a:endParaRPr lang="en-US" b="0"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REPLACE, Example 7</a:t>
            </a:r>
          </a:p>
          <a:p>
            <a:pPr algn="ctr">
              <a:buNone/>
            </a:pPr>
            <a:endParaRPr lang="en-US" b="1" i="1" dirty="0"/>
          </a:p>
          <a:p>
            <a:r>
              <a:rPr lang="en-US" dirty="0"/>
              <a:t>Here we see that we now get a 0 for the Amount for the two </a:t>
            </a:r>
            <a:br>
              <a:rPr lang="en-US" dirty="0"/>
            </a:br>
            <a:r>
              <a:rPr lang="en-US" dirty="0"/>
              <a:t>   missing peaks.</a:t>
            </a:r>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183</a:t>
            </a:fld>
            <a:r>
              <a:rPr lang="en-US" b="0"/>
              <a:t> of 102</a:t>
            </a:r>
            <a:endParaRPr lang="en-US" b="0"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44000" algn="ctr" eaLnBrk="1" hangingPunct="1">
              <a:buNone/>
            </a:pPr>
            <a:r>
              <a:rPr lang="da-DK" b="1" i="1" dirty="0">
                <a:ea typeface="宋体" pitchFamily="2" charset="-122"/>
              </a:rPr>
              <a:t>Special Values</a:t>
            </a:r>
          </a:p>
          <a:p>
            <a:pPr marL="144000" eaLnBrk="1" hangingPunct="1"/>
            <a:endParaRPr lang="da-DK" dirty="0">
              <a:ea typeface="宋体" pitchFamily="2" charset="-122"/>
            </a:endParaRPr>
          </a:p>
          <a:p>
            <a:pPr marL="144000" eaLnBrk="1" hangingPunct="1"/>
            <a:r>
              <a:rPr lang="da-DK" dirty="0">
                <a:ea typeface="宋体" pitchFamily="2" charset="-122"/>
              </a:rPr>
              <a:t>In this slide You can see some special values you are allowed to use in Empower custom fields. This means that if you for instance get a calculation to give the result -60002 then Empower returns the answer ”Not Detected”. In this way you can get both calculated results together with text results.</a:t>
            </a:r>
            <a:br>
              <a:rPr lang="da-DK" dirty="0">
                <a:ea typeface="宋体" pitchFamily="2" charset="-122"/>
              </a:rPr>
            </a:br>
            <a:endParaRPr lang="da-DK" dirty="0">
              <a:ea typeface="宋体" pitchFamily="2" charset="-122"/>
            </a:endParaRPr>
          </a:p>
          <a:p>
            <a:pPr marL="144000" eaLnBrk="1" hangingPunct="1"/>
            <a:r>
              <a:rPr lang="da-DK" dirty="0">
                <a:ea typeface="宋体" pitchFamily="2" charset="-122"/>
              </a:rPr>
              <a:t>The negative values will never appear in any regular calculation in Empower.</a:t>
            </a:r>
            <a:endParaRPr lang="en-US" dirty="0">
              <a:ea typeface="宋体" pitchFamily="2" charset="-122"/>
            </a:endParaRPr>
          </a:p>
          <a:p>
            <a:pPr eaLnBrk="1" hangingPunct="1"/>
            <a:endParaRPr lang="en-US" dirty="0">
              <a:ea typeface="宋体" pitchFamily="2" charset="-122"/>
            </a:endParaRPr>
          </a:p>
          <a:p>
            <a:endParaRPr lang="en-SG" dirty="0"/>
          </a:p>
        </p:txBody>
      </p:sp>
      <p:sp>
        <p:nvSpPr>
          <p:cNvPr id="4" name="Date Placeholder 3"/>
          <p:cNvSpPr>
            <a:spLocks noGrp="1"/>
          </p:cNvSpPr>
          <p:nvPr>
            <p:ph type="dt" idx="10"/>
          </p:nvPr>
        </p:nvSpPr>
        <p:spPr/>
        <p:txBody>
          <a:bodyPr/>
          <a:lstStyle/>
          <a:p>
            <a:pPr>
              <a:defRPr/>
            </a:pPr>
            <a:r>
              <a:rPr lang="en-US"/>
              <a:t>Rev. 21314</a:t>
            </a:r>
          </a:p>
        </p:txBody>
      </p:sp>
      <p:sp>
        <p:nvSpPr>
          <p:cNvPr id="5" name="Slide Number Placeholder 4"/>
          <p:cNvSpPr>
            <a:spLocks noGrp="1"/>
          </p:cNvSpPr>
          <p:nvPr>
            <p:ph type="sldNum" sz="quarter" idx="11"/>
          </p:nvPr>
        </p:nvSpPr>
        <p:spPr/>
        <p:txBody>
          <a:bodyPr/>
          <a:lstStyle/>
          <a:p>
            <a:pPr>
              <a:defRPr/>
            </a:pPr>
            <a:r>
              <a:rPr lang="en-US"/>
              <a:t>Chapter  Two: </a:t>
            </a:r>
            <a:r>
              <a:rPr lang="en-US" b="0"/>
              <a:t>Page </a:t>
            </a:r>
            <a:fld id="{32155B68-2FBB-48A0-88DC-1DBD4888FA3D}" type="slidenum">
              <a:rPr lang="en-US" b="0" smtClean="0"/>
              <a:pPr>
                <a:defRPr/>
              </a:pPr>
              <a:t>184</a:t>
            </a:fld>
            <a:r>
              <a:rPr lang="en-US" b="0"/>
              <a:t> of 102</a:t>
            </a:r>
            <a:endParaRPr lang="en-US" b="0" dirty="0"/>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Tree>
    <p:extLst>
      <p:ext uri="{BB962C8B-B14F-4D97-AF65-F5344CB8AC3E}">
        <p14:creationId xmlns:p14="http://schemas.microsoft.com/office/powerpoint/2010/main" val="338681828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eaLnBrk="1" hangingPunct="1">
              <a:buNone/>
            </a:pPr>
            <a:r>
              <a:rPr lang="da-DK" b="1" i="1" dirty="0">
                <a:ea typeface="宋体" pitchFamily="2" charset="-122"/>
              </a:rPr>
              <a:t>Special Values, Example 8</a:t>
            </a:r>
          </a:p>
          <a:p>
            <a:pPr eaLnBrk="1" hangingPunct="1">
              <a:buNone/>
            </a:pPr>
            <a:endParaRPr lang="da-DK" sz="800" dirty="0">
              <a:ea typeface="宋体" pitchFamily="2" charset="-122"/>
            </a:endParaRPr>
          </a:p>
          <a:p>
            <a:pPr marL="144000" eaLnBrk="1" hangingPunct="1"/>
            <a:r>
              <a:rPr lang="da-DK" dirty="0">
                <a:ea typeface="宋体" pitchFamily="2" charset="-122"/>
              </a:rPr>
              <a:t>This example shows how to use some of these special values in pracsis. We want to check whether our amount are above the LOQ or below the LOQ. Depending on this we would like Empower to return either the amount or ”Not Detected”. The third possibility is that the amount is above limit of detection but below limit of quantitation, then we want the answer ”Below Peak Quantification Limit”.</a:t>
            </a:r>
            <a:br>
              <a:rPr lang="da-DK" dirty="0">
                <a:ea typeface="宋体" pitchFamily="2" charset="-122"/>
              </a:rPr>
            </a:br>
            <a:endParaRPr lang="da-DK" dirty="0">
              <a:ea typeface="宋体" pitchFamily="2" charset="-122"/>
            </a:endParaRPr>
          </a:p>
          <a:p>
            <a:pPr marL="144000" eaLnBrk="1" hangingPunct="1"/>
            <a:r>
              <a:rPr lang="da-DK" dirty="0">
                <a:ea typeface="宋体" pitchFamily="2" charset="-122"/>
              </a:rPr>
              <a:t>In the formula we can see the first part of the formula shows that the amount will be compared to the value of 0.6 which was the LOQ then the amount is compared to the value of  0.2 which is the LOD and finally the amount is compared to the range of 0.2 to 0.6 to determine if the amount is below peak quantitation limit.</a:t>
            </a:r>
            <a:br>
              <a:rPr lang="da-DK" dirty="0">
                <a:ea typeface="宋体" pitchFamily="2" charset="-122"/>
              </a:rPr>
            </a:br>
            <a:endParaRPr lang="da-DK" dirty="0">
              <a:ea typeface="宋体" pitchFamily="2" charset="-122"/>
            </a:endParaRPr>
          </a:p>
          <a:p>
            <a:pPr marL="144000" eaLnBrk="1" hangingPunct="1"/>
            <a:r>
              <a:rPr lang="da-DK" dirty="0">
                <a:ea typeface="宋体" pitchFamily="2" charset="-122"/>
              </a:rPr>
              <a:t>In this way we do not have to sit and check all our result and compare them to some values. Empower will do the job.</a:t>
            </a:r>
            <a:endParaRPr lang="en-US" dirty="0">
              <a:ea typeface="宋体" pitchFamily="2" charset="-122"/>
            </a:endParaRPr>
          </a:p>
          <a:p>
            <a:pPr eaLnBrk="1" hangingPunct="1">
              <a:buNone/>
            </a:pPr>
            <a:endParaRPr lang="en-US" sz="1050" dirty="0">
              <a:ea typeface="宋体" pitchFamily="2" charset="-122"/>
            </a:endParaRPr>
          </a:p>
          <a:p>
            <a:endParaRPr lang="en-SG" dirty="0"/>
          </a:p>
        </p:txBody>
      </p:sp>
      <p:sp>
        <p:nvSpPr>
          <p:cNvPr id="4" name="Date Placeholder 3"/>
          <p:cNvSpPr>
            <a:spLocks noGrp="1"/>
          </p:cNvSpPr>
          <p:nvPr>
            <p:ph type="dt" idx="10"/>
          </p:nvPr>
        </p:nvSpPr>
        <p:spPr/>
        <p:txBody>
          <a:bodyPr/>
          <a:lstStyle/>
          <a:p>
            <a:pPr>
              <a:defRPr/>
            </a:pPr>
            <a:r>
              <a:rPr lang="en-US"/>
              <a:t>Rev. 21314</a:t>
            </a:r>
          </a:p>
        </p:txBody>
      </p:sp>
      <p:sp>
        <p:nvSpPr>
          <p:cNvPr id="5" name="Slide Number Placeholder 4"/>
          <p:cNvSpPr>
            <a:spLocks noGrp="1"/>
          </p:cNvSpPr>
          <p:nvPr>
            <p:ph type="sldNum" sz="quarter" idx="11"/>
          </p:nvPr>
        </p:nvSpPr>
        <p:spPr/>
        <p:txBody>
          <a:bodyPr/>
          <a:lstStyle/>
          <a:p>
            <a:pPr>
              <a:defRPr/>
            </a:pPr>
            <a:r>
              <a:rPr lang="en-US"/>
              <a:t>Chapter  Two: </a:t>
            </a:r>
            <a:r>
              <a:rPr lang="en-US" b="0"/>
              <a:t>Page </a:t>
            </a:r>
            <a:fld id="{32155B68-2FBB-48A0-88DC-1DBD4888FA3D}" type="slidenum">
              <a:rPr lang="en-US" b="0" smtClean="0"/>
              <a:pPr>
                <a:defRPr/>
              </a:pPr>
              <a:t>185</a:t>
            </a:fld>
            <a:r>
              <a:rPr lang="en-US" b="0"/>
              <a:t> of 102</a:t>
            </a:r>
            <a:endParaRPr lang="en-US" b="0" dirty="0"/>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Tree>
    <p:extLst>
      <p:ext uri="{BB962C8B-B14F-4D97-AF65-F5344CB8AC3E}">
        <p14:creationId xmlns:p14="http://schemas.microsoft.com/office/powerpoint/2010/main" val="45193993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da-DK" b="1" i="1" dirty="0">
                <a:ea typeface="宋体" pitchFamily="2" charset="-122"/>
              </a:rPr>
              <a:t>Special Values, Example 8</a:t>
            </a:r>
          </a:p>
          <a:p>
            <a:pPr algn="ctr">
              <a:buNone/>
            </a:pPr>
            <a:endParaRPr lang="da-DK" b="1" i="1" dirty="0">
              <a:ea typeface="宋体" pitchFamily="2" charset="-122"/>
            </a:endParaRPr>
          </a:p>
          <a:p>
            <a:r>
              <a:rPr lang="da-DK" dirty="0">
                <a:ea typeface="宋体" pitchFamily="2" charset="-122"/>
              </a:rPr>
              <a:t>Here we see the CF named</a:t>
            </a:r>
            <a:r>
              <a:rPr lang="da-DK" baseline="0" dirty="0">
                <a:ea typeface="宋体" pitchFamily="2" charset="-122"/>
              </a:rPr>
              <a:t> Final_Amount. We calculate for </a:t>
            </a:r>
            <a:br>
              <a:rPr lang="da-DK" baseline="0" dirty="0">
                <a:ea typeface="宋体" pitchFamily="2" charset="-122"/>
              </a:rPr>
            </a:br>
            <a:r>
              <a:rPr lang="da-DK" baseline="0" dirty="0">
                <a:ea typeface="宋体" pitchFamily="2" charset="-122"/>
              </a:rPr>
              <a:t>   Uknown samples only.</a:t>
            </a:r>
            <a:br>
              <a:rPr lang="da-DK" baseline="0" dirty="0">
                <a:ea typeface="宋体" pitchFamily="2" charset="-122"/>
              </a:rPr>
            </a:br>
            <a:endParaRPr lang="da-DK" baseline="0" dirty="0">
              <a:ea typeface="宋体" pitchFamily="2" charset="-122"/>
            </a:endParaRPr>
          </a:p>
          <a:p>
            <a:pPr marL="144000"/>
            <a:r>
              <a:rPr lang="da-DK" baseline="0" dirty="0">
                <a:ea typeface="宋体" pitchFamily="2" charset="-122"/>
              </a:rPr>
              <a:t>Below we see the outcome for 5 different samples. For the first two we get the Amount since it is above 0.6 which was the quantitation limit. For sample C and E we get ”Below Detection Limit” and for sample D we get Below Peak Quantitation Limit”.</a:t>
            </a:r>
            <a:endParaRPr lang="da-DK" dirty="0">
              <a:ea typeface="宋体" pitchFamily="2" charset="-122"/>
            </a:endParaRPr>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186</a:t>
            </a:fld>
            <a:r>
              <a:rPr lang="en-US" b="0"/>
              <a:t> of 102</a:t>
            </a:r>
            <a:endParaRPr lang="en-US" b="0"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bwMode="auto">
          <a:noFill/>
          <a:ln>
            <a:solidFill>
              <a:srgbClr val="000000"/>
            </a:solidFill>
            <a:miter lim="800000"/>
            <a:headEnd/>
            <a:tailEnd/>
          </a:ln>
        </p:spPr>
      </p:sp>
      <p:sp>
        <p:nvSpPr>
          <p:cNvPr id="131075" name="Notes Placeholder 2"/>
          <p:cNvSpPr>
            <a:spLocks noGrp="1"/>
          </p:cNvSpPr>
          <p:nvPr>
            <p:ph type="body" idx="1"/>
          </p:nvPr>
        </p:nvSpPr>
        <p:spPr>
          <a:noFill/>
        </p:spPr>
        <p:txBody>
          <a:bodyPr/>
          <a:lstStyle/>
          <a:p>
            <a:pPr algn="ctr" defTabSz="930259">
              <a:buNone/>
              <a:defRPr/>
            </a:pPr>
            <a:r>
              <a:rPr lang="en-US" b="1" i="1" dirty="0"/>
              <a:t>Intersample Calculations, Syntax</a:t>
            </a:r>
          </a:p>
          <a:p>
            <a:pPr defTabSz="930259">
              <a:defRPr/>
            </a:pPr>
            <a:endParaRPr lang="en-US" dirty="0"/>
          </a:p>
          <a:p>
            <a:pPr defTabSz="930259">
              <a:defRPr/>
            </a:pPr>
            <a:r>
              <a:rPr lang="en-US" dirty="0"/>
              <a:t>There are three components to the syntax:</a:t>
            </a:r>
          </a:p>
          <a:p>
            <a:pPr marL="464999" lvl="1" indent="-233309" defTabSz="930259">
              <a:buClr>
                <a:srgbClr val="3874D4"/>
              </a:buClr>
              <a:buFont typeface="+mj-lt"/>
              <a:buAutoNum type="arabicPeriod"/>
              <a:defRPr/>
            </a:pPr>
            <a:r>
              <a:rPr lang="en-US" sz="1200" b="1" dirty="0"/>
              <a:t>Label</a:t>
            </a:r>
            <a:r>
              <a:rPr lang="en-US" sz="1200" dirty="0"/>
              <a:t>: Defined within the sample set method before acquiring data, you can also add sample labels after data acquisition using Alter Sample.</a:t>
            </a:r>
          </a:p>
          <a:p>
            <a:pPr marL="464999" lvl="1" indent="-233309" defTabSz="930259">
              <a:buClr>
                <a:srgbClr val="3874D4"/>
              </a:buClr>
              <a:buFont typeface="+mj-lt"/>
              <a:buAutoNum type="arabicPeriod"/>
              <a:defRPr/>
            </a:pPr>
            <a:r>
              <a:rPr lang="en-US" sz="1200" b="1" dirty="0"/>
              <a:t>Injection</a:t>
            </a:r>
            <a:r>
              <a:rPr lang="en-US" sz="1200" dirty="0"/>
              <a:t>: Within the same row or sample label, you can have multiple injections. You can select among these by specifying the injection(s) of interest.</a:t>
            </a:r>
          </a:p>
          <a:p>
            <a:pPr marL="464999" lvl="1" indent="-233309" defTabSz="930259">
              <a:buClr>
                <a:srgbClr val="3874D4"/>
              </a:buClr>
              <a:buFont typeface="+mj-lt"/>
              <a:buAutoNum type="arabicPeriod"/>
              <a:defRPr/>
            </a:pPr>
            <a:r>
              <a:rPr lang="en-US" sz="1200" b="1" dirty="0"/>
              <a:t>Channe</a:t>
            </a:r>
            <a:r>
              <a:rPr lang="en-US" sz="1200" dirty="0"/>
              <a:t>l: Within the same sample label and injection, you can have multiple channels. You can select among these by specifying the channel(s) of interest.</a:t>
            </a:r>
            <a:br>
              <a:rPr lang="en-US" sz="1200" dirty="0"/>
            </a:br>
            <a:endParaRPr lang="en-US" sz="1200" dirty="0"/>
          </a:p>
          <a:p>
            <a:pPr marL="233309" indent="-233309" defTabSz="930259">
              <a:buClr>
                <a:srgbClr val="3874D4"/>
              </a:buClr>
              <a:buFont typeface="Wingdings 2" pitchFamily="18" charset="2"/>
              <a:buChar char="¡"/>
              <a:defRPr/>
            </a:pPr>
            <a:r>
              <a:rPr lang="en-US" dirty="0"/>
              <a:t>Case and spelling must match.</a:t>
            </a:r>
            <a:endParaRPr lang="en-US" i="1" dirty="0"/>
          </a:p>
          <a:p>
            <a:endParaRPr lang="nl-NL"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189</a:t>
            </a:fld>
            <a:r>
              <a:rPr lang="en-US" b="0"/>
              <a:t> of 102</a:t>
            </a:r>
            <a:endParaRPr lang="en-US" b="0"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bwMode="auto">
          <a:noFill/>
          <a:ln>
            <a:solidFill>
              <a:srgbClr val="000000"/>
            </a:solidFill>
            <a:miter lim="800000"/>
            <a:headEnd/>
            <a:tailEnd/>
          </a:ln>
        </p:spPr>
      </p:sp>
      <p:sp>
        <p:nvSpPr>
          <p:cNvPr id="131075" name="Notes Placeholder 2"/>
          <p:cNvSpPr>
            <a:spLocks noGrp="1"/>
          </p:cNvSpPr>
          <p:nvPr>
            <p:ph type="body" idx="1"/>
          </p:nvPr>
        </p:nvSpPr>
        <p:spPr>
          <a:noFill/>
        </p:spPr>
        <p:txBody>
          <a:bodyPr/>
          <a:lstStyle/>
          <a:p>
            <a:pPr algn="ctr" defTabSz="930259">
              <a:buNone/>
              <a:defRPr/>
            </a:pPr>
            <a:r>
              <a:rPr lang="en-US" b="1" i="1" dirty="0"/>
              <a:t>Intersample Calculations, Syntax</a:t>
            </a:r>
          </a:p>
          <a:p>
            <a:pPr defTabSz="930259">
              <a:defRPr/>
            </a:pPr>
            <a:endParaRPr lang="en-US" dirty="0"/>
          </a:p>
          <a:p>
            <a:pPr defTabSz="930259">
              <a:defRPr/>
            </a:pPr>
            <a:r>
              <a:rPr lang="en-US" dirty="0"/>
              <a:t>There are three components to the syntax:</a:t>
            </a:r>
          </a:p>
          <a:p>
            <a:pPr marL="464999" lvl="1" indent="-233309" defTabSz="930259">
              <a:buClr>
                <a:srgbClr val="3874D4"/>
              </a:buClr>
              <a:buFont typeface="+mj-lt"/>
              <a:buAutoNum type="arabicPeriod"/>
              <a:defRPr/>
            </a:pPr>
            <a:r>
              <a:rPr lang="en-US" sz="1200" b="1" dirty="0"/>
              <a:t>Label</a:t>
            </a:r>
            <a:r>
              <a:rPr lang="en-US" sz="1200" dirty="0"/>
              <a:t>: Defined within the sample set method before acquiring data, you can also add sample labels after data acquisition using Alter Sample.</a:t>
            </a:r>
          </a:p>
          <a:p>
            <a:pPr marL="464999" lvl="1" indent="-233309" defTabSz="930259">
              <a:buClr>
                <a:srgbClr val="3874D4"/>
              </a:buClr>
              <a:buFont typeface="+mj-lt"/>
              <a:buAutoNum type="arabicPeriod"/>
              <a:defRPr/>
            </a:pPr>
            <a:r>
              <a:rPr lang="en-US" sz="1200" b="1" dirty="0"/>
              <a:t>Injection</a:t>
            </a:r>
            <a:r>
              <a:rPr lang="en-US" sz="1200" dirty="0"/>
              <a:t>: Within the same row or sample label, you can have multiple injections. You can select among these by specifying the injection(s) of interest.</a:t>
            </a:r>
          </a:p>
          <a:p>
            <a:pPr marL="464999" lvl="1" indent="-233309" defTabSz="930259">
              <a:buClr>
                <a:srgbClr val="3874D4"/>
              </a:buClr>
              <a:buFont typeface="+mj-lt"/>
              <a:buAutoNum type="arabicPeriod"/>
              <a:defRPr/>
            </a:pPr>
            <a:r>
              <a:rPr lang="en-US" sz="1200" b="1" dirty="0"/>
              <a:t>Channe</a:t>
            </a:r>
            <a:r>
              <a:rPr lang="en-US" sz="1200" dirty="0"/>
              <a:t>l: Within the same sample label and injection, you can have multiple channels. You can select among these by specifying the channel(s) of interest.</a:t>
            </a:r>
            <a:br>
              <a:rPr lang="en-US" sz="1200" dirty="0"/>
            </a:br>
            <a:endParaRPr lang="en-US" sz="1200" dirty="0"/>
          </a:p>
          <a:p>
            <a:pPr marL="233309" indent="-233309" defTabSz="930259">
              <a:buClr>
                <a:srgbClr val="3874D4"/>
              </a:buClr>
              <a:buFont typeface="Wingdings 2" pitchFamily="18" charset="2"/>
              <a:buChar char="¡"/>
              <a:defRPr/>
            </a:pPr>
            <a:r>
              <a:rPr lang="en-US" dirty="0"/>
              <a:t>Case and spelling must match.</a:t>
            </a:r>
            <a:endParaRPr lang="en-US" i="1" dirty="0"/>
          </a:p>
          <a:p>
            <a:endParaRPr lang="nl-NL"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190</a:t>
            </a:fld>
            <a:r>
              <a:rPr lang="en-US" b="0"/>
              <a:t> of 102</a:t>
            </a:r>
            <a:endParaRPr lang="en-US" b="0"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3"/>
          <p:cNvSpPr>
            <a:spLocks noGrp="1" noChangeArrowheads="1"/>
          </p:cNvSpPr>
          <p:nvPr>
            <p:ph type="dt" sz="quarter" idx="1"/>
          </p:nvPr>
        </p:nvSpPr>
        <p:spPr>
          <a:noFill/>
        </p:spPr>
        <p:txBody>
          <a:bodyPr/>
          <a:lstStyle/>
          <a:p>
            <a:r>
              <a:rPr lang="en-US"/>
              <a:t>Rev. 21314</a:t>
            </a:r>
          </a:p>
        </p:txBody>
      </p:sp>
      <p:sp>
        <p:nvSpPr>
          <p:cNvPr id="139268" name="Rectangle 2"/>
          <p:cNvSpPr>
            <a:spLocks noGrp="1" noChangeArrowheads="1"/>
          </p:cNvSpPr>
          <p:nvPr>
            <p:ph type="hdr" sz="quarter"/>
          </p:nvPr>
        </p:nvSpPr>
        <p:spPr>
          <a:noFill/>
        </p:spPr>
        <p:txBody>
          <a:bodyPr/>
          <a:lstStyle/>
          <a:p>
            <a:r>
              <a:rPr lang="en-US"/>
              <a:t>Advanced Custom Fields</a:t>
            </a:r>
          </a:p>
        </p:txBody>
      </p:sp>
      <p:sp>
        <p:nvSpPr>
          <p:cNvPr id="139269" name="Rectangle 2"/>
          <p:cNvSpPr>
            <a:spLocks noGrp="1" noRot="1" noChangeAspect="1" noChangeArrowheads="1" noTextEdit="1"/>
          </p:cNvSpPr>
          <p:nvPr>
            <p:ph type="sldImg"/>
          </p:nvPr>
        </p:nvSpPr>
        <p:spPr>
          <a:xfrm>
            <a:off x="896938" y="749300"/>
            <a:ext cx="4997450" cy="3748088"/>
          </a:xfrm>
          <a:ln/>
        </p:spPr>
      </p:sp>
      <p:sp>
        <p:nvSpPr>
          <p:cNvPr id="139270" name="Rectangle 3"/>
          <p:cNvSpPr>
            <a:spLocks noGrp="1" noChangeArrowheads="1"/>
          </p:cNvSpPr>
          <p:nvPr>
            <p:ph type="body" idx="1"/>
          </p:nvPr>
        </p:nvSpPr>
        <p:spPr>
          <a:xfrm>
            <a:off x="895350" y="4748213"/>
            <a:ext cx="5000625" cy="4414838"/>
          </a:xfrm>
          <a:noFill/>
          <a:ln/>
        </p:spPr>
        <p:txBody>
          <a:bodyPr/>
          <a:lstStyle/>
          <a:p>
            <a:pPr marL="144000" algn="ctr">
              <a:buNone/>
            </a:pPr>
            <a:r>
              <a:rPr lang="en-US" b="1" i="1" dirty="0"/>
              <a:t>Intersample Calculations, Syntax</a:t>
            </a:r>
          </a:p>
          <a:p>
            <a:pPr marL="144000" lvl="0"/>
            <a:endParaRPr lang="en-US" sz="1200" b="1" kern="1200" dirty="0">
              <a:solidFill>
                <a:schemeClr val="tx1"/>
              </a:solidFill>
              <a:latin typeface="Verdana" pitchFamily="34" charset="0"/>
              <a:ea typeface="Verdana" pitchFamily="34" charset="0"/>
              <a:cs typeface="Verdana" pitchFamily="34" charset="0"/>
            </a:endParaRPr>
          </a:p>
          <a:p>
            <a:pPr marL="144000" lvl="0"/>
            <a:endParaRPr lang="en-US" b="1" dirty="0"/>
          </a:p>
          <a:p>
            <a:pPr marL="144000" lvl="0"/>
            <a:r>
              <a:rPr lang="en-US" sz="1200" b="1" kern="1200" dirty="0">
                <a:solidFill>
                  <a:schemeClr val="tx1"/>
                </a:solidFill>
                <a:latin typeface="Verdana" pitchFamily="34" charset="0"/>
                <a:ea typeface="Verdana" pitchFamily="34" charset="0"/>
                <a:cs typeface="Verdana" pitchFamily="34" charset="0"/>
              </a:rPr>
              <a:t>Wildcards – </a:t>
            </a:r>
            <a:r>
              <a:rPr lang="en-US" sz="1200" kern="1200" dirty="0">
                <a:solidFill>
                  <a:schemeClr val="tx1"/>
                </a:solidFill>
                <a:latin typeface="Verdana" pitchFamily="34" charset="0"/>
                <a:ea typeface="Verdana" pitchFamily="34" charset="0"/>
                <a:cs typeface="Verdana" pitchFamily="34" charset="0"/>
              </a:rPr>
              <a:t>The “%” wildcard specified all labels, injections or channels when used in the appropriate position of the inter-sample syntax.  The “?” wildcard replaces one character and can also be used in any of the three positions of the inter-sample syntax.</a:t>
            </a:r>
            <a:br>
              <a:rPr lang="en-US" sz="1200" kern="1200" dirty="0">
                <a:solidFill>
                  <a:schemeClr val="tx1"/>
                </a:solidFill>
                <a:latin typeface="Verdana" pitchFamily="34" charset="0"/>
                <a:ea typeface="Verdana" pitchFamily="34" charset="0"/>
                <a:cs typeface="Verdana" pitchFamily="34" charset="0"/>
              </a:rPr>
            </a:br>
            <a:endParaRPr lang="en-US" sz="1200" kern="1200" dirty="0">
              <a:solidFill>
                <a:schemeClr val="tx1"/>
              </a:solidFill>
              <a:latin typeface="Verdana" pitchFamily="34" charset="0"/>
              <a:ea typeface="Verdana" pitchFamily="34" charset="0"/>
              <a:cs typeface="Verdana" pitchFamily="34" charset="0"/>
            </a:endParaRPr>
          </a:p>
          <a:p>
            <a:pPr marL="144000"/>
            <a:r>
              <a:rPr lang="en-US" b="1" dirty="0"/>
              <a:t>SAME functionality</a:t>
            </a:r>
            <a:r>
              <a:rPr lang="en-US" dirty="0"/>
              <a:t> – When using inter-sample calculations, SAME can be specified for the label, injection or channel descriptor in the inter-sample syntax.  For example, SAME.1.486 requests the software to use a result containing the same label (and injection 1, channel 486) as the current result.  Std.1.SAME requests the software to use a result of the same channel (and label Std and injection 1) as the current result.</a:t>
            </a:r>
          </a:p>
          <a:p>
            <a:pPr lvl="0"/>
            <a:endParaRPr lang="en-US" sz="1200" kern="1200" dirty="0">
              <a:solidFill>
                <a:schemeClr val="tx1"/>
              </a:solidFill>
              <a:latin typeface="Verdana" pitchFamily="34" charset="0"/>
              <a:ea typeface="Verdana" pitchFamily="34" charset="0"/>
              <a:cs typeface="Verdana" pitchFamily="34" charset="0"/>
            </a:endParaRPr>
          </a:p>
          <a:p>
            <a:pPr eaLnBrk="1" hangingPunct="1"/>
            <a:endParaRPr lang="en-US" dirty="0"/>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191</a:t>
            </a:fld>
            <a:r>
              <a:rPr lang="en-US" b="0"/>
              <a:t> of 102</a:t>
            </a:r>
            <a:endParaRPr lang="en-US" b="0"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3"/>
          <p:cNvSpPr>
            <a:spLocks noGrp="1" noChangeArrowheads="1"/>
          </p:cNvSpPr>
          <p:nvPr>
            <p:ph type="dt" sz="quarter" idx="1"/>
          </p:nvPr>
        </p:nvSpPr>
        <p:spPr>
          <a:noFill/>
        </p:spPr>
        <p:txBody>
          <a:bodyPr/>
          <a:lstStyle/>
          <a:p>
            <a:r>
              <a:rPr lang="en-US"/>
              <a:t>Rev. 21314</a:t>
            </a:r>
          </a:p>
        </p:txBody>
      </p:sp>
      <p:sp>
        <p:nvSpPr>
          <p:cNvPr id="125956" name="Rectangle 2"/>
          <p:cNvSpPr>
            <a:spLocks noGrp="1" noChangeArrowheads="1"/>
          </p:cNvSpPr>
          <p:nvPr>
            <p:ph type="hdr" sz="quarter"/>
          </p:nvPr>
        </p:nvSpPr>
        <p:spPr>
          <a:noFill/>
        </p:spPr>
        <p:txBody>
          <a:bodyPr/>
          <a:lstStyle/>
          <a:p>
            <a:r>
              <a:rPr lang="en-US"/>
              <a:t>Advanced Custom Fields</a:t>
            </a:r>
          </a:p>
        </p:txBody>
      </p:sp>
      <p:sp>
        <p:nvSpPr>
          <p:cNvPr id="125957" name="Rectangle 2"/>
          <p:cNvSpPr>
            <a:spLocks noGrp="1" noRot="1" noChangeAspect="1" noChangeArrowheads="1" noTextEdit="1"/>
          </p:cNvSpPr>
          <p:nvPr>
            <p:ph type="sldImg"/>
          </p:nvPr>
        </p:nvSpPr>
        <p:spPr>
          <a:xfrm>
            <a:off x="896938" y="749300"/>
            <a:ext cx="4997450" cy="3748088"/>
          </a:xfrm>
          <a:ln/>
        </p:spPr>
      </p:sp>
      <p:sp>
        <p:nvSpPr>
          <p:cNvPr id="125958" name="Rectangle 3"/>
          <p:cNvSpPr>
            <a:spLocks noGrp="1" noChangeArrowheads="1"/>
          </p:cNvSpPr>
          <p:nvPr>
            <p:ph type="body" idx="1"/>
          </p:nvPr>
        </p:nvSpPr>
        <p:spPr>
          <a:xfrm>
            <a:off x="895350" y="4748213"/>
            <a:ext cx="5000625" cy="4414838"/>
          </a:xfrm>
          <a:noFill/>
          <a:ln/>
        </p:spPr>
        <p:txBody>
          <a:bodyPr/>
          <a:lstStyle/>
          <a:p>
            <a:pPr algn="ctr" eaLnBrk="1" hangingPunct="1">
              <a:buNone/>
            </a:pPr>
            <a:r>
              <a:rPr lang="en-US" b="1" i="1" dirty="0"/>
              <a:t>Intersample Calculation, Example 1</a:t>
            </a:r>
            <a:br>
              <a:rPr lang="en-US" b="1" i="1" dirty="0"/>
            </a:br>
            <a:endParaRPr lang="en-US" dirty="0"/>
          </a:p>
          <a:p>
            <a:pPr marL="144000" eaLnBrk="1" hangingPunct="1"/>
            <a:r>
              <a:rPr lang="en-US" dirty="0"/>
              <a:t>In this example we have a peak in the blank injection that elutes at the same time as the Caffeine peak in the standards and samples.</a:t>
            </a:r>
            <a:br>
              <a:rPr lang="en-US" dirty="0"/>
            </a:br>
            <a:endParaRPr lang="en-US" dirty="0"/>
          </a:p>
          <a:p>
            <a:pPr marL="144000" eaLnBrk="1" hangingPunct="1"/>
            <a:r>
              <a:rPr lang="en-US" dirty="0"/>
              <a:t>We need to subtract the area of the peak in the blank injection from all standards and samples.</a:t>
            </a:r>
            <a:br>
              <a:rPr lang="en-US" dirty="0"/>
            </a:br>
            <a:endParaRPr lang="en-US" dirty="0"/>
          </a:p>
          <a:p>
            <a:pPr marL="144000" eaLnBrk="1" hangingPunct="1"/>
            <a:r>
              <a:rPr lang="en-US" dirty="0"/>
              <a:t>Formula  Area-(BL..(Area)).</a:t>
            </a:r>
            <a:br>
              <a:rPr lang="en-US" dirty="0"/>
            </a:br>
            <a:endParaRPr lang="en-US" dirty="0"/>
          </a:p>
          <a:p>
            <a:pPr marL="144000" eaLnBrk="1" hangingPunct="1"/>
            <a:r>
              <a:rPr lang="en-US" dirty="0"/>
              <a:t>We also need to use this corrected area as the basis for our calibration curve (Y-value).</a:t>
            </a:r>
          </a:p>
          <a:p>
            <a:pPr eaLnBrk="1" hangingPunct="1"/>
            <a:endParaRPr lang="en-US" dirty="0"/>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192</a:t>
            </a:fld>
            <a:r>
              <a:rPr lang="en-US" b="0"/>
              <a:t> of 102</a:t>
            </a:r>
            <a:endParaRPr lang="en-US" b="0"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p:cNvSpPr>
            <a:spLocks noGrp="1" noChangeArrowheads="1"/>
          </p:cNvSpPr>
          <p:nvPr>
            <p:ph type="dt" sz="quarter" idx="1"/>
          </p:nvPr>
        </p:nvSpPr>
        <p:spPr>
          <a:noFill/>
        </p:spPr>
        <p:txBody>
          <a:bodyPr/>
          <a:lstStyle/>
          <a:p>
            <a:r>
              <a:rPr lang="en-US"/>
              <a:t>Rev. 21314</a:t>
            </a:r>
          </a:p>
        </p:txBody>
      </p:sp>
      <p:sp>
        <p:nvSpPr>
          <p:cNvPr id="126980" name="Rectangle 2"/>
          <p:cNvSpPr>
            <a:spLocks noGrp="1" noChangeArrowheads="1"/>
          </p:cNvSpPr>
          <p:nvPr>
            <p:ph type="hdr" sz="quarter"/>
          </p:nvPr>
        </p:nvSpPr>
        <p:spPr>
          <a:noFill/>
        </p:spPr>
        <p:txBody>
          <a:bodyPr/>
          <a:lstStyle/>
          <a:p>
            <a:r>
              <a:rPr lang="en-US"/>
              <a:t>Advanced Custom Fields</a:t>
            </a:r>
          </a:p>
        </p:txBody>
      </p:sp>
      <p:sp>
        <p:nvSpPr>
          <p:cNvPr id="126981" name="Rectangle 2"/>
          <p:cNvSpPr>
            <a:spLocks noGrp="1" noRot="1" noChangeAspect="1" noChangeArrowheads="1" noTextEdit="1"/>
          </p:cNvSpPr>
          <p:nvPr>
            <p:ph type="sldImg"/>
          </p:nvPr>
        </p:nvSpPr>
        <p:spPr>
          <a:xfrm>
            <a:off x="896938" y="749300"/>
            <a:ext cx="4997450" cy="3748088"/>
          </a:xfrm>
          <a:ln/>
        </p:spPr>
      </p:sp>
      <p:sp>
        <p:nvSpPr>
          <p:cNvPr id="126982" name="Rectangle 3"/>
          <p:cNvSpPr>
            <a:spLocks noGrp="1" noChangeArrowheads="1"/>
          </p:cNvSpPr>
          <p:nvPr>
            <p:ph type="body" idx="1"/>
          </p:nvPr>
        </p:nvSpPr>
        <p:spPr>
          <a:xfrm>
            <a:off x="895350" y="4748213"/>
            <a:ext cx="5000625" cy="4414838"/>
          </a:xfrm>
          <a:noFill/>
          <a:ln/>
        </p:spPr>
        <p:txBody>
          <a:bodyPr/>
          <a:lstStyle/>
          <a:p>
            <a:pPr algn="ctr" eaLnBrk="1" hangingPunct="1">
              <a:buNone/>
            </a:pPr>
            <a:r>
              <a:rPr lang="en-US" b="1" i="1" dirty="0"/>
              <a:t>Intersample Calculation, Example 1</a:t>
            </a:r>
            <a:endParaRPr lang="en-US" dirty="0"/>
          </a:p>
          <a:p>
            <a:pPr eaLnBrk="1" hangingPunct="1"/>
            <a:endParaRPr lang="en-US" dirty="0"/>
          </a:p>
          <a:p>
            <a:pPr eaLnBrk="1" hangingPunct="1"/>
            <a:r>
              <a:rPr lang="en-US" dirty="0"/>
              <a:t>Here is the CF we need to create. In this case we do not </a:t>
            </a:r>
            <a:br>
              <a:rPr lang="en-US" dirty="0"/>
            </a:br>
            <a:r>
              <a:rPr lang="en-US" dirty="0"/>
              <a:t>   need to specify the injection and channel.</a:t>
            </a:r>
            <a:br>
              <a:rPr lang="en-US" dirty="0"/>
            </a:br>
            <a:endParaRPr lang="en-US" dirty="0"/>
          </a:p>
          <a:p>
            <a:pPr marL="144000" eaLnBrk="1" hangingPunct="1"/>
            <a:r>
              <a:rPr lang="en-US" b="1" dirty="0"/>
              <a:t>Search Order Functionality</a:t>
            </a:r>
            <a:r>
              <a:rPr lang="en-US" dirty="0"/>
              <a:t> – When using inter-sample calculations, the Search Order drop-down list allows you to specify where, and the order in which the software looks to find the sample that is referenced with the </a:t>
            </a:r>
            <a:r>
              <a:rPr lang="en-US" dirty="0" err="1"/>
              <a:t>Label.Inj.Channel</a:t>
            </a:r>
            <a:br>
              <a:rPr lang="en-US" dirty="0"/>
            </a:br>
            <a:endParaRPr lang="en-US" dirty="0"/>
          </a:p>
          <a:p>
            <a:pPr marL="144000" eaLnBrk="1" hangingPunct="1"/>
            <a:r>
              <a:rPr lang="en-US" dirty="0"/>
              <a:t>Here we specify “Result Set Only” to make sure we use the blank injection from the current sample set/result set.</a:t>
            </a:r>
            <a:br>
              <a:rPr lang="en-US" dirty="0"/>
            </a:br>
            <a:endParaRPr lang="en-US" dirty="0"/>
          </a:p>
          <a:p>
            <a:pPr marL="144000" eaLnBrk="1" hangingPunct="1"/>
            <a:r>
              <a:rPr lang="en-US" dirty="0"/>
              <a:t>We also need to remember to label the blank injection BL in the sample set.</a:t>
            </a:r>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193</a:t>
            </a:fld>
            <a:r>
              <a:rPr lang="en-US" b="0"/>
              <a:t> of 102</a:t>
            </a:r>
            <a:endParaRPr lang="en-US" b="0" dirty="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Intersample Calculation, Example 1</a:t>
            </a:r>
            <a:endParaRPr lang="nl-NL" dirty="0"/>
          </a:p>
          <a:p>
            <a:endParaRPr lang="nl-NL" dirty="0"/>
          </a:p>
          <a:p>
            <a:r>
              <a:rPr lang="en-US" dirty="0"/>
              <a:t>In the component table we need to specify the CF Corr_Area as </a:t>
            </a:r>
            <a:br>
              <a:rPr lang="en-US" dirty="0"/>
            </a:br>
            <a:r>
              <a:rPr lang="en-US" dirty="0"/>
              <a:t>   the Y-Value for the calibration curve. </a:t>
            </a:r>
            <a:br>
              <a:rPr lang="en-US" dirty="0"/>
            </a:br>
            <a:endParaRPr lang="en-US" dirty="0"/>
          </a:p>
          <a:p>
            <a:r>
              <a:rPr lang="en-US" dirty="0"/>
              <a:t>We also need to</a:t>
            </a:r>
            <a:r>
              <a:rPr lang="en-US" baseline="0" dirty="0"/>
              <a:t> process the Blank injection first.</a:t>
            </a:r>
            <a:br>
              <a:rPr lang="en-US" baseline="0" dirty="0"/>
            </a:br>
            <a:endParaRPr lang="en-US" baseline="0" dirty="0"/>
          </a:p>
          <a:p>
            <a:pPr marL="144000"/>
            <a:r>
              <a:rPr lang="en-US" dirty="0"/>
              <a:t>Here we see the result of the calculation. The Corr_Area for the blank injection for the caffeine peaks is 0, because we subtract the area from itself.</a:t>
            </a:r>
            <a:br>
              <a:rPr lang="en-US" dirty="0"/>
            </a:br>
            <a:endParaRPr lang="en-US" dirty="0"/>
          </a:p>
          <a:p>
            <a:pPr marL="144000"/>
            <a:r>
              <a:rPr lang="en-US" dirty="0"/>
              <a:t>For the we see the Corr_Area for the Caffeine peak. Also notice that the area for the Theobromine peak has not been corrected since we have no peak at the retention time for this peak in the blank injection.</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194</a:t>
            </a:fld>
            <a:r>
              <a:rPr lang="en-US" b="0"/>
              <a:t> of 102</a:t>
            </a:r>
            <a:endParaRPr lang="en-US" b="0" dirty="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type="dt" sz="quarter" idx="1"/>
          </p:nvPr>
        </p:nvSpPr>
        <p:spPr>
          <a:noFill/>
        </p:spPr>
        <p:txBody>
          <a:bodyPr/>
          <a:lstStyle/>
          <a:p>
            <a:r>
              <a:rPr lang="en-US"/>
              <a:t>Rev. 21314</a:t>
            </a:r>
          </a:p>
        </p:txBody>
      </p:sp>
      <p:sp>
        <p:nvSpPr>
          <p:cNvPr id="129028" name="Rectangle 2"/>
          <p:cNvSpPr>
            <a:spLocks noGrp="1" noChangeArrowheads="1"/>
          </p:cNvSpPr>
          <p:nvPr>
            <p:ph type="hdr" sz="quarter"/>
          </p:nvPr>
        </p:nvSpPr>
        <p:spPr>
          <a:noFill/>
        </p:spPr>
        <p:txBody>
          <a:bodyPr/>
          <a:lstStyle/>
          <a:p>
            <a:r>
              <a:rPr lang="en-US"/>
              <a:t>Advanced Custom Fields</a:t>
            </a:r>
          </a:p>
        </p:txBody>
      </p:sp>
      <p:sp>
        <p:nvSpPr>
          <p:cNvPr id="129029" name="Rectangle 2"/>
          <p:cNvSpPr>
            <a:spLocks noGrp="1" noRot="1" noChangeAspect="1" noChangeArrowheads="1" noTextEdit="1"/>
          </p:cNvSpPr>
          <p:nvPr>
            <p:ph type="sldImg"/>
          </p:nvPr>
        </p:nvSpPr>
        <p:spPr>
          <a:xfrm>
            <a:off x="896938" y="749300"/>
            <a:ext cx="4997450" cy="3748088"/>
          </a:xfrm>
          <a:ln/>
        </p:spPr>
      </p:sp>
      <p:sp>
        <p:nvSpPr>
          <p:cNvPr id="129030" name="Rectangle 3"/>
          <p:cNvSpPr>
            <a:spLocks noGrp="1" noChangeArrowheads="1"/>
          </p:cNvSpPr>
          <p:nvPr>
            <p:ph type="body" idx="1"/>
          </p:nvPr>
        </p:nvSpPr>
        <p:spPr>
          <a:xfrm>
            <a:off x="895350" y="4748213"/>
            <a:ext cx="5000625" cy="4414838"/>
          </a:xfrm>
          <a:noFill/>
          <a:ln/>
        </p:spPr>
        <p:txBody>
          <a:bodyPr/>
          <a:lstStyle/>
          <a:p>
            <a:pPr algn="ctr" eaLnBrk="1" hangingPunct="1">
              <a:buNone/>
            </a:pPr>
            <a:r>
              <a:rPr lang="en-US" b="1" i="1" dirty="0"/>
              <a:t>Intersample Calculation, Example 1</a:t>
            </a:r>
            <a:endParaRPr lang="en-US" dirty="0"/>
          </a:p>
          <a:p>
            <a:pPr eaLnBrk="1" hangingPunct="1"/>
            <a:endParaRPr lang="en-US" dirty="0"/>
          </a:p>
          <a:p>
            <a:pPr eaLnBrk="1" hangingPunct="1"/>
            <a:r>
              <a:rPr lang="en-US" dirty="0"/>
              <a:t>Looking at the calibration curve we see that the value of the Y-axis is Corr_Area.</a:t>
            </a:r>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195</a:t>
            </a:fld>
            <a:r>
              <a:rPr lang="en-US" b="0"/>
              <a:t> of 102</a:t>
            </a:r>
            <a:endParaRPr lang="en-US" b="0" dirty="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lgn="ctr">
              <a:buNone/>
            </a:pPr>
            <a:r>
              <a:rPr lang="en-US" sz="1200" b="1" kern="1200" dirty="0">
                <a:solidFill>
                  <a:schemeClr val="tx1"/>
                </a:solidFill>
                <a:latin typeface="Verdana" pitchFamily="34" charset="0"/>
                <a:ea typeface="Verdana" pitchFamily="34" charset="0"/>
                <a:cs typeface="Verdana" pitchFamily="34" charset="0"/>
              </a:rPr>
              <a:t>Search Order Functionality</a:t>
            </a:r>
            <a:r>
              <a:rPr lang="en-US" sz="1200" kern="1200" dirty="0">
                <a:solidFill>
                  <a:schemeClr val="tx1"/>
                </a:solidFill>
                <a:latin typeface="Verdana" pitchFamily="34" charset="0"/>
                <a:ea typeface="Verdana" pitchFamily="34" charset="0"/>
                <a:cs typeface="Verdana" pitchFamily="34" charset="0"/>
              </a:rPr>
              <a:t> </a:t>
            </a:r>
          </a:p>
          <a:p>
            <a:pPr lvl="0"/>
            <a:r>
              <a:rPr lang="en-US" sz="1200" kern="1200" dirty="0">
                <a:solidFill>
                  <a:schemeClr val="tx1"/>
                </a:solidFill>
                <a:latin typeface="Verdana" pitchFamily="34" charset="0"/>
                <a:ea typeface="Verdana" pitchFamily="34" charset="0"/>
                <a:cs typeface="Verdana" pitchFamily="34" charset="0"/>
              </a:rPr>
              <a:t>Available choices are the following:</a:t>
            </a:r>
            <a:br>
              <a:rPr lang="en-US" sz="1200" kern="1200" dirty="0">
                <a:solidFill>
                  <a:schemeClr val="tx1"/>
                </a:solidFill>
                <a:latin typeface="Verdana" pitchFamily="34" charset="0"/>
                <a:ea typeface="Verdana" pitchFamily="34" charset="0"/>
                <a:cs typeface="Verdana" pitchFamily="34" charset="0"/>
              </a:rPr>
            </a:br>
            <a:endParaRPr lang="en-US" sz="1200" kern="1200" dirty="0">
              <a:solidFill>
                <a:schemeClr val="tx1"/>
              </a:solidFill>
              <a:latin typeface="Verdana" pitchFamily="34" charset="0"/>
              <a:ea typeface="Verdana" pitchFamily="34" charset="0"/>
              <a:cs typeface="Verdana" pitchFamily="34" charset="0"/>
            </a:endParaRPr>
          </a:p>
          <a:p>
            <a:pPr marL="463550" lvl="1" indent="-228600">
              <a:buFont typeface="+mj-lt"/>
              <a:buAutoNum type="arabicPeriod"/>
            </a:pPr>
            <a:r>
              <a:rPr lang="en-US" sz="1000" b="1" kern="1200" dirty="0">
                <a:solidFill>
                  <a:schemeClr val="tx1"/>
                </a:solidFill>
                <a:latin typeface="Verdana" pitchFamily="34" charset="0"/>
                <a:ea typeface="Verdana" pitchFamily="34" charset="0"/>
                <a:cs typeface="Verdana" pitchFamily="34" charset="0"/>
              </a:rPr>
              <a:t>Result Set First</a:t>
            </a:r>
            <a:r>
              <a:rPr lang="en-US" sz="1000" kern="1200" dirty="0">
                <a:solidFill>
                  <a:schemeClr val="tx1"/>
                </a:solidFill>
                <a:latin typeface="Verdana" pitchFamily="34" charset="0"/>
                <a:ea typeface="Verdana" pitchFamily="34" charset="0"/>
                <a:cs typeface="Verdana" pitchFamily="34" charset="0"/>
              </a:rPr>
              <a:t> – Inter-sample calculations are performed on the current result set first.  If no targeted result is found in the current result set, the software looks outside of the result set to find a targeted result.  When using this selection, the </a:t>
            </a:r>
            <a:r>
              <a:rPr lang="en-US" sz="1000" kern="1200" dirty="0" err="1">
                <a:solidFill>
                  <a:schemeClr val="tx1"/>
                </a:solidFill>
                <a:latin typeface="Verdana" pitchFamily="34" charset="0"/>
                <a:ea typeface="Verdana" pitchFamily="34" charset="0"/>
                <a:cs typeface="Verdana" pitchFamily="34" charset="0"/>
              </a:rPr>
              <a:t>intersample</a:t>
            </a:r>
            <a:r>
              <a:rPr lang="en-US" sz="1000" kern="1200" dirty="0">
                <a:solidFill>
                  <a:schemeClr val="tx1"/>
                </a:solidFill>
                <a:latin typeface="Verdana" pitchFamily="34" charset="0"/>
                <a:ea typeface="Verdana" pitchFamily="34" charset="0"/>
                <a:cs typeface="Verdana" pitchFamily="34" charset="0"/>
              </a:rPr>
              <a:t> syntax must contain the label descriptor (or a ‘%’ in place of the label when performing an inter-sample summary calculation) in order to search outside of the current result set..</a:t>
            </a:r>
          </a:p>
          <a:p>
            <a:pPr marL="463550" lvl="1" indent="-228600">
              <a:buFont typeface="+mj-lt"/>
              <a:buAutoNum type="arabicPeriod"/>
            </a:pPr>
            <a:r>
              <a:rPr lang="en-US" sz="1000" b="1" kern="1200" dirty="0">
                <a:solidFill>
                  <a:schemeClr val="tx1"/>
                </a:solidFill>
                <a:latin typeface="Verdana" pitchFamily="34" charset="0"/>
                <a:ea typeface="Verdana" pitchFamily="34" charset="0"/>
                <a:cs typeface="Verdana" pitchFamily="34" charset="0"/>
              </a:rPr>
              <a:t>Result Set Only</a:t>
            </a:r>
            <a:r>
              <a:rPr lang="en-US" sz="1000" kern="1200" dirty="0">
                <a:solidFill>
                  <a:schemeClr val="tx1"/>
                </a:solidFill>
                <a:latin typeface="Verdana" pitchFamily="34" charset="0"/>
                <a:ea typeface="Verdana" pitchFamily="34" charset="0"/>
                <a:cs typeface="Verdana" pitchFamily="34" charset="0"/>
              </a:rPr>
              <a:t> – Inter-sample calculations are performed only within the current result set.  If the result being processed is not part of a result set, this choice is not valid and the custom field will not be calculated.</a:t>
            </a:r>
          </a:p>
          <a:p>
            <a:pPr marL="463550" lvl="1" indent="-228600">
              <a:buFont typeface="+mj-lt"/>
              <a:buAutoNum type="arabicPeriod"/>
            </a:pPr>
            <a:r>
              <a:rPr lang="en-US" sz="1000" b="1" kern="1200" dirty="0">
                <a:solidFill>
                  <a:schemeClr val="tx1"/>
                </a:solidFill>
                <a:latin typeface="Verdana" pitchFamily="34" charset="0"/>
                <a:ea typeface="Verdana" pitchFamily="34" charset="0"/>
                <a:cs typeface="Verdana" pitchFamily="34" charset="0"/>
              </a:rPr>
              <a:t>Outside First</a:t>
            </a:r>
            <a:r>
              <a:rPr lang="en-US" sz="1000" kern="1200" dirty="0">
                <a:solidFill>
                  <a:schemeClr val="tx1"/>
                </a:solidFill>
                <a:latin typeface="Verdana" pitchFamily="34" charset="0"/>
                <a:ea typeface="Verdana" pitchFamily="34" charset="0"/>
                <a:cs typeface="Verdana" pitchFamily="34" charset="0"/>
              </a:rPr>
              <a:t> – Inter-sample calculations are performed outside of the result set first.  If no targeted result if found outside of the result set, the software looks inside the current result set to find a targeted result.  When using this selection, the inter-sample syntax must contain the label descriptor (or a ‘%’ in place of the label when performing an inter-sample summary calculation) in order to search outside of the current result set.</a:t>
            </a:r>
          </a:p>
          <a:p>
            <a:pPr marL="463550" lvl="1" indent="-228600">
              <a:buFont typeface="+mj-lt"/>
              <a:buAutoNum type="arabicPeriod"/>
            </a:pPr>
            <a:r>
              <a:rPr lang="en-US" sz="1000" b="1" kern="1200" dirty="0">
                <a:solidFill>
                  <a:schemeClr val="tx1"/>
                </a:solidFill>
                <a:latin typeface="Verdana" pitchFamily="34" charset="0"/>
                <a:ea typeface="Verdana" pitchFamily="34" charset="0"/>
                <a:cs typeface="Verdana" pitchFamily="34" charset="0"/>
              </a:rPr>
              <a:t>Outside Only</a:t>
            </a:r>
            <a:r>
              <a:rPr lang="en-US" sz="1000" kern="1200" dirty="0">
                <a:solidFill>
                  <a:schemeClr val="tx1"/>
                </a:solidFill>
                <a:latin typeface="Verdana" pitchFamily="34" charset="0"/>
                <a:ea typeface="Verdana" pitchFamily="34" charset="0"/>
                <a:cs typeface="Verdana" pitchFamily="34" charset="0"/>
              </a:rPr>
              <a:t> – Inter-sample calculations are performed using results that are not part of the current result set.  When using this selection, the inter-sample syntax must contain the label descriptor (or a ‘%’ in place of the label when performing an inter-sample summary calculation) in order to search outside of the current result set.</a:t>
            </a:r>
            <a:endParaRPr lang="en-US" dirty="0"/>
          </a:p>
          <a:p>
            <a:endParaRPr lang="en-US" dirty="0"/>
          </a:p>
        </p:txBody>
      </p:sp>
      <p:sp>
        <p:nvSpPr>
          <p:cNvPr id="4" name="Date Placeholder 3"/>
          <p:cNvSpPr>
            <a:spLocks noGrp="1"/>
          </p:cNvSpPr>
          <p:nvPr>
            <p:ph type="dt" idx="10"/>
          </p:nvPr>
        </p:nvSpPr>
        <p:spPr/>
        <p:txBody>
          <a:bodyPr/>
          <a:lstStyle/>
          <a:p>
            <a:pPr>
              <a:defRPr/>
            </a:pPr>
            <a:r>
              <a:rPr lang="en-US"/>
              <a:t>Rev. 21314</a:t>
            </a:r>
          </a:p>
        </p:txBody>
      </p:sp>
      <p:sp>
        <p:nvSpPr>
          <p:cNvPr id="5" name="Slide Number Placeholder 4"/>
          <p:cNvSpPr>
            <a:spLocks noGrp="1"/>
          </p:cNvSpPr>
          <p:nvPr>
            <p:ph type="sldNum" sz="quarter" idx="11"/>
          </p:nvPr>
        </p:nvSpPr>
        <p:spPr/>
        <p:txBody>
          <a:bodyPr/>
          <a:lstStyle/>
          <a:p>
            <a:pPr>
              <a:defRPr/>
            </a:pPr>
            <a:r>
              <a:rPr lang="en-US"/>
              <a:t>Chapter  Two: </a:t>
            </a:r>
            <a:r>
              <a:rPr lang="en-US" b="0"/>
              <a:t>Page </a:t>
            </a:r>
            <a:fld id="{32155B68-2FBB-48A0-88DC-1DBD4888FA3D}" type="slidenum">
              <a:rPr lang="en-US" b="0" smtClean="0"/>
              <a:pPr>
                <a:defRPr/>
              </a:pPr>
              <a:t>196</a:t>
            </a:fld>
            <a:r>
              <a:rPr lang="en-US" b="0"/>
              <a:t> of 102</a:t>
            </a:r>
            <a:endParaRPr lang="en-US" b="0" dirty="0"/>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4" name="Rectangle 2"/>
          <p:cNvSpPr>
            <a:spLocks noGrp="1" noRot="1" noChangeAspect="1" noChangeArrowheads="1" noTextEdit="1"/>
          </p:cNvSpPr>
          <p:nvPr>
            <p:ph type="sldImg"/>
          </p:nvPr>
        </p:nvSpPr>
        <p:spPr>
          <a:ln/>
        </p:spPr>
      </p:sp>
      <p:sp>
        <p:nvSpPr>
          <p:cNvPr id="945155" name="Rectangle 3"/>
          <p:cNvSpPr>
            <a:spLocks noGrp="1" noChangeArrowheads="1"/>
          </p:cNvSpPr>
          <p:nvPr>
            <p:ph type="body" idx="1"/>
          </p:nvPr>
        </p:nvSpPr>
        <p:spPr/>
        <p:txBody>
          <a:bodyPr/>
          <a:lstStyle/>
          <a:p>
            <a:pPr algn="ctr">
              <a:buNone/>
            </a:pPr>
            <a:r>
              <a:rPr lang="en-US" b="1" i="1" dirty="0"/>
              <a:t>Intersample Calculation, Rules of Syntax</a:t>
            </a:r>
          </a:p>
          <a:p>
            <a:pPr algn="ctr">
              <a:buNone/>
            </a:pPr>
            <a:endParaRPr lang="en-US" dirty="0"/>
          </a:p>
          <a:p>
            <a:r>
              <a:rPr lang="en-US" dirty="0"/>
              <a:t>There are several rules of syntax when performing Intersample </a:t>
            </a:r>
            <a:br>
              <a:rPr lang="en-US" dirty="0"/>
            </a:br>
            <a:r>
              <a:rPr lang="en-US" dirty="0"/>
              <a:t>   calculations.</a:t>
            </a:r>
            <a:br>
              <a:rPr lang="en-US" dirty="0"/>
            </a:br>
            <a:endParaRPr lang="en-US" dirty="0"/>
          </a:p>
          <a:p>
            <a:pPr algn="ctr">
              <a:buNone/>
            </a:pPr>
            <a:r>
              <a:rPr lang="en-US" b="1" i="1" dirty="0"/>
              <a:t>Note : These rules also applies to Intersample Summary calculations.</a:t>
            </a:r>
          </a:p>
        </p:txBody>
      </p:sp>
      <p:sp>
        <p:nvSpPr>
          <p:cNvPr id="9" name="Date Placeholder 8"/>
          <p:cNvSpPr>
            <a:spLocks noGrp="1"/>
          </p:cNvSpPr>
          <p:nvPr>
            <p:ph type="dt" idx="10"/>
          </p:nvPr>
        </p:nvSpPr>
        <p:spPr/>
        <p:txBody>
          <a:bodyPr/>
          <a:lstStyle/>
          <a:p>
            <a:pPr>
              <a:defRPr/>
            </a:pPr>
            <a:r>
              <a:rPr lang="en-US"/>
              <a:t>Rev. 21314</a:t>
            </a:r>
          </a:p>
        </p:txBody>
      </p:sp>
      <p:sp>
        <p:nvSpPr>
          <p:cNvPr id="11" name="Footer Placeholder 10"/>
          <p:cNvSpPr>
            <a:spLocks noGrp="1"/>
          </p:cNvSpPr>
          <p:nvPr>
            <p:ph type="ftr" sz="quarter" idx="12"/>
          </p:nvPr>
        </p:nvSpPr>
        <p:spPr/>
        <p:txBody>
          <a:bodyPr/>
          <a:lstStyle/>
          <a:p>
            <a:pPr>
              <a:defRPr/>
            </a:pPr>
            <a:r>
              <a:rPr lang="en-US"/>
              <a:t>Waters Confidential and Proprietary Information</a:t>
            </a:r>
            <a:endParaRPr lang="en-US" dirty="0"/>
          </a:p>
        </p:txBody>
      </p:sp>
      <p:sp>
        <p:nvSpPr>
          <p:cNvPr id="14" name="Header Placeholder 13"/>
          <p:cNvSpPr>
            <a:spLocks noGrp="1"/>
          </p:cNvSpPr>
          <p:nvPr>
            <p:ph type="hdr" sz="quarter" idx="15"/>
          </p:nvPr>
        </p:nvSpPr>
        <p:spPr/>
        <p:txBody>
          <a:bodyPr/>
          <a:lstStyle/>
          <a:p>
            <a:pPr>
              <a:defRPr/>
            </a:pPr>
            <a:r>
              <a:rPr lang="en-US"/>
              <a:t>Advanced Custom Fields</a:t>
            </a:r>
            <a:endParaRPr lang="en-US" dirty="0"/>
          </a:p>
        </p:txBody>
      </p:sp>
      <p:sp>
        <p:nvSpPr>
          <p:cNvPr id="8" name="Slide Number Placeholder 7"/>
          <p:cNvSpPr>
            <a:spLocks noGrp="1"/>
          </p:cNvSpPr>
          <p:nvPr>
            <p:ph type="sldNum" sz="quarter" idx="16"/>
          </p:nvPr>
        </p:nvSpPr>
        <p:spPr/>
        <p:txBody>
          <a:bodyPr/>
          <a:lstStyle/>
          <a:p>
            <a:pPr>
              <a:defRPr/>
            </a:pPr>
            <a:r>
              <a:rPr lang="en-US"/>
              <a:t>Chapter  Two: </a:t>
            </a:r>
            <a:r>
              <a:rPr lang="en-US" b="0"/>
              <a:t>Page </a:t>
            </a:r>
            <a:fld id="{32155B68-2FBB-48A0-88DC-1DBD4888FA3D}" type="slidenum">
              <a:rPr lang="en-US" b="0" smtClean="0"/>
              <a:pPr>
                <a:defRPr/>
              </a:pPr>
              <a:t>197</a:t>
            </a:fld>
            <a:r>
              <a:rPr lang="en-US" b="0"/>
              <a:t> of 102</a:t>
            </a:r>
            <a:endParaRPr lang="en-US" b="0" dirty="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4" name="Rectangle 2"/>
          <p:cNvSpPr>
            <a:spLocks noGrp="1" noRot="1" noChangeAspect="1" noChangeArrowheads="1" noTextEdit="1"/>
          </p:cNvSpPr>
          <p:nvPr>
            <p:ph type="sldImg"/>
          </p:nvPr>
        </p:nvSpPr>
        <p:spPr>
          <a:ln/>
        </p:spPr>
      </p:sp>
      <p:sp>
        <p:nvSpPr>
          <p:cNvPr id="945155" name="Rectangle 3"/>
          <p:cNvSpPr>
            <a:spLocks noGrp="1" noChangeArrowheads="1"/>
          </p:cNvSpPr>
          <p:nvPr>
            <p:ph type="body" idx="1"/>
          </p:nvPr>
        </p:nvSpPr>
        <p:spPr/>
        <p:txBody>
          <a:bodyPr/>
          <a:lstStyle/>
          <a:p>
            <a:pPr algn="ctr">
              <a:buNone/>
            </a:pPr>
            <a:r>
              <a:rPr lang="en-US" b="1" i="1" dirty="0"/>
              <a:t>Intersample Calculation, Rules of Syntax</a:t>
            </a:r>
          </a:p>
          <a:p>
            <a:pPr algn="ctr">
              <a:buNone/>
            </a:pPr>
            <a:endParaRPr lang="en-US" b="1" i="1" dirty="0"/>
          </a:p>
          <a:p>
            <a:r>
              <a:rPr lang="en-US" dirty="0"/>
              <a:t>In the following pages we will try and illustrate the rules with </a:t>
            </a:r>
            <a:br>
              <a:rPr lang="en-US" dirty="0"/>
            </a:br>
            <a:r>
              <a:rPr lang="en-US" dirty="0"/>
              <a:t>   examples.</a:t>
            </a:r>
          </a:p>
        </p:txBody>
      </p:sp>
      <p:sp>
        <p:nvSpPr>
          <p:cNvPr id="9" name="Date Placeholder 8"/>
          <p:cNvSpPr>
            <a:spLocks noGrp="1"/>
          </p:cNvSpPr>
          <p:nvPr>
            <p:ph type="dt" idx="10"/>
          </p:nvPr>
        </p:nvSpPr>
        <p:spPr/>
        <p:txBody>
          <a:bodyPr/>
          <a:lstStyle/>
          <a:p>
            <a:pPr>
              <a:defRPr/>
            </a:pPr>
            <a:r>
              <a:rPr lang="en-US"/>
              <a:t>Rev. 21314</a:t>
            </a:r>
          </a:p>
        </p:txBody>
      </p:sp>
      <p:sp>
        <p:nvSpPr>
          <p:cNvPr id="11" name="Footer Placeholder 10"/>
          <p:cNvSpPr>
            <a:spLocks noGrp="1"/>
          </p:cNvSpPr>
          <p:nvPr>
            <p:ph type="ftr" sz="quarter" idx="12"/>
          </p:nvPr>
        </p:nvSpPr>
        <p:spPr/>
        <p:txBody>
          <a:bodyPr/>
          <a:lstStyle/>
          <a:p>
            <a:pPr>
              <a:defRPr/>
            </a:pPr>
            <a:r>
              <a:rPr lang="en-US"/>
              <a:t>Waters Confidential and Proprietary Information</a:t>
            </a:r>
            <a:endParaRPr lang="en-US" dirty="0"/>
          </a:p>
        </p:txBody>
      </p:sp>
      <p:sp>
        <p:nvSpPr>
          <p:cNvPr id="14" name="Header Placeholder 13"/>
          <p:cNvSpPr>
            <a:spLocks noGrp="1"/>
          </p:cNvSpPr>
          <p:nvPr>
            <p:ph type="hdr" sz="quarter" idx="15"/>
          </p:nvPr>
        </p:nvSpPr>
        <p:spPr/>
        <p:txBody>
          <a:bodyPr/>
          <a:lstStyle/>
          <a:p>
            <a:pPr>
              <a:defRPr/>
            </a:pPr>
            <a:r>
              <a:rPr lang="en-US"/>
              <a:t>Advanced Custom Fields</a:t>
            </a:r>
            <a:endParaRPr lang="en-US" dirty="0"/>
          </a:p>
        </p:txBody>
      </p:sp>
      <p:sp>
        <p:nvSpPr>
          <p:cNvPr id="8" name="Slide Number Placeholder 7"/>
          <p:cNvSpPr>
            <a:spLocks noGrp="1"/>
          </p:cNvSpPr>
          <p:nvPr>
            <p:ph type="sldNum" sz="quarter" idx="16"/>
          </p:nvPr>
        </p:nvSpPr>
        <p:spPr/>
        <p:txBody>
          <a:bodyPr/>
          <a:lstStyle/>
          <a:p>
            <a:pPr>
              <a:defRPr/>
            </a:pPr>
            <a:r>
              <a:rPr lang="en-US"/>
              <a:t>Chapter  Two: </a:t>
            </a:r>
            <a:r>
              <a:rPr lang="en-US" b="0"/>
              <a:t>Page </a:t>
            </a:r>
            <a:fld id="{32155B68-2FBB-48A0-88DC-1DBD4888FA3D}" type="slidenum">
              <a:rPr lang="en-US" b="0" smtClean="0"/>
              <a:pPr>
                <a:defRPr/>
              </a:pPr>
              <a:t>198</a:t>
            </a:fld>
            <a:r>
              <a:rPr lang="en-US" b="0"/>
              <a:t> of 102</a:t>
            </a:r>
            <a:endParaRPr lang="en-US" b="0" dirty="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Rules of Syntax, examples</a:t>
            </a:r>
          </a:p>
          <a:p>
            <a:pPr algn="ctr">
              <a:buNone/>
            </a:pPr>
            <a:endParaRPr lang="en-US" b="1" i="1" dirty="0"/>
          </a:p>
          <a:p>
            <a:pPr marL="144000" algn="l"/>
            <a:r>
              <a:rPr lang="en-US" b="0" i="0" dirty="0"/>
              <a:t>Here we have created 4 different intersample calculation CF. For simplicity it is not actually calculation as we have just specified Amount as the filed we want to use.</a:t>
            </a:r>
            <a:br>
              <a:rPr lang="en-US" b="0" i="0" dirty="0"/>
            </a:br>
            <a:endParaRPr lang="en-US" b="0" i="0" dirty="0"/>
          </a:p>
          <a:p>
            <a:pPr marL="144000"/>
            <a:r>
              <a:rPr lang="en-US" dirty="0"/>
              <a:t>In the first field ..(Amount) we have not specified a label or and injection. In this case rule 8 applies, which tells us that the </a:t>
            </a:r>
            <a:r>
              <a:rPr lang="en-US" altLang="zh-CN" dirty="0">
                <a:solidFill>
                  <a:srgbClr val="0070C0"/>
                </a:solidFill>
                <a:ea typeface="宋体" pitchFamily="2" charset="-122"/>
              </a:rPr>
              <a:t>current injection is used as the targeted result. </a:t>
            </a:r>
            <a:br>
              <a:rPr lang="en-US" dirty="0"/>
            </a:br>
            <a:endParaRPr lang="en-US" dirty="0"/>
          </a:p>
          <a:p>
            <a:pPr marL="144000" algn="l"/>
            <a:r>
              <a:rPr lang="en-US" b="0" i="0" dirty="0"/>
              <a:t>In the second and third field we have specified injection 1 and 2 respectively. So for the inj. 1 field we get the amount for injection 1 for both injection 1 and 2 results. For </a:t>
            </a:r>
            <a:r>
              <a:rPr lang="en-US" dirty="0"/>
              <a:t>the inj. 2 field we get the amount for inj. 2 and nothing for inj. 1 since inj.2 has not yet been calculated.</a:t>
            </a:r>
            <a:br>
              <a:rPr lang="en-US" dirty="0"/>
            </a:br>
            <a:endParaRPr lang="en-US" dirty="0"/>
          </a:p>
          <a:p>
            <a:pPr marL="144000"/>
            <a:r>
              <a:rPr lang="en-US" b="0" i="0" dirty="0"/>
              <a:t>In the last field we have specified the injection, though as the wildcard %. In this case rule 2 applies which says : </a:t>
            </a:r>
            <a:r>
              <a:rPr lang="en-US" altLang="zh-CN" dirty="0">
                <a:solidFill>
                  <a:srgbClr val="00B050"/>
                </a:solidFill>
                <a:ea typeface="宋体" pitchFamily="2" charset="-122"/>
              </a:rPr>
              <a:t>If the current result matches the inter-sample syntax no search will be conducted and the current result will be used. </a:t>
            </a:r>
            <a:endParaRPr lang="nl-NL" i="0"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199</a:t>
            </a:fld>
            <a:r>
              <a:rPr lang="en-US" b="0"/>
              <a:t> of 102</a:t>
            </a:r>
            <a:endParaRPr lang="en-US" b="0" dirty="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Rules of Syntax, examples</a:t>
            </a:r>
          </a:p>
          <a:p>
            <a:endParaRPr lang="nl-NL" dirty="0"/>
          </a:p>
          <a:p>
            <a:r>
              <a:rPr lang="nl-NL" dirty="0"/>
              <a:t>Here we have two different syntaxes.</a:t>
            </a:r>
            <a:br>
              <a:rPr lang="nl-NL" dirty="0"/>
            </a:br>
            <a:endParaRPr lang="nl-NL" dirty="0"/>
          </a:p>
          <a:p>
            <a:pPr marL="144000"/>
            <a:r>
              <a:rPr lang="nl-NL" dirty="0"/>
              <a:t>In the first we have specified the label (U%) but not the injection, so rule 9 applies, saying that the most recent result </a:t>
            </a:r>
            <a:r>
              <a:rPr lang="nl-NL" b="1" dirty="0"/>
              <a:t>befor</a:t>
            </a:r>
            <a:r>
              <a:rPr lang="nl-NL" dirty="0"/>
              <a:t>e the curretn result will be used. So for line/sample 2 in the results table we get the result (Amount) for line/sample 1, and so on. For line/sample 1 we do not get any result.</a:t>
            </a:r>
            <a:br>
              <a:rPr lang="nl-NL" dirty="0"/>
            </a:br>
            <a:endParaRPr lang="nl-NL" dirty="0"/>
          </a:p>
          <a:p>
            <a:pPr marL="144000"/>
            <a:r>
              <a:rPr lang="nl-NL" dirty="0"/>
              <a:t>In the second CF we have specified both the label (U%) and the injection (%), so we get the result (Amount) for each line/sample.</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200</a:t>
            </a:fld>
            <a:r>
              <a:rPr lang="en-US" b="0"/>
              <a:t> of 102</a:t>
            </a:r>
            <a:endParaRPr lang="en-US" b="0" dirty="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nl-NL" b="1" i="1" dirty="0"/>
              <a:t>Rules of Syntax, Examples</a:t>
            </a:r>
          </a:p>
          <a:p>
            <a:endParaRPr lang="nl-NL" dirty="0"/>
          </a:p>
          <a:p>
            <a:pPr marL="144000"/>
            <a:r>
              <a:rPr lang="nl-NL" dirty="0"/>
              <a:t>Here we have created 2 different CF with the Average function, to calculate the average amount for two injections from the same vial. We are comparing these results with the one we created previously that was not a summary calculation. Note that since we have a summarize custom field function in the sample set we get results for all the “standard” intersample calculation, even though all or nothing has been enabled.</a:t>
            </a:r>
            <a:br>
              <a:rPr lang="nl-NL" dirty="0"/>
            </a:br>
            <a:endParaRPr lang="nl-NL" dirty="0"/>
          </a:p>
          <a:p>
            <a:pPr marL="144000" lvl="0"/>
            <a:r>
              <a:rPr lang="nl-NL" dirty="0"/>
              <a:t>The first CF has no label or injection specified and according to rule 8 of the intersample calculations, </a:t>
            </a:r>
            <a:r>
              <a:rPr lang="en-US" dirty="0"/>
              <a:t>the current injection is used as the targeted result</a:t>
            </a:r>
            <a:r>
              <a:rPr lang="nl-NL" dirty="0"/>
              <a:t>, so in this case we do not get the average but only the amount for the current injection.</a:t>
            </a:r>
            <a:br>
              <a:rPr lang="nl-NL" dirty="0"/>
            </a:br>
            <a:endParaRPr lang="nl-NL" dirty="0"/>
          </a:p>
          <a:p>
            <a:pPr marL="144000"/>
            <a:r>
              <a:rPr lang="nl-NL" dirty="0"/>
              <a:t>If we specify the injection we get the rigth results.</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201</a:t>
            </a:fld>
            <a:r>
              <a:rPr lang="en-US" b="0"/>
              <a:t> of 102</a:t>
            </a:r>
            <a:endParaRPr lang="en-US" b="0" dirty="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nl-NL" b="1" i="1" dirty="0"/>
              <a:t>Rules of Syntax, Examples</a:t>
            </a:r>
          </a:p>
          <a:p>
            <a:endParaRPr lang="nl-NL" dirty="0"/>
          </a:p>
          <a:p>
            <a:r>
              <a:rPr lang="nl-NL" dirty="0"/>
              <a:t>When we use a label that covers all the samples (U%) we get an </a:t>
            </a:r>
            <a:br>
              <a:rPr lang="nl-NL" dirty="0"/>
            </a:br>
            <a:r>
              <a:rPr lang="nl-NL" dirty="0"/>
              <a:t>   average of all the injections.</a:t>
            </a:r>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202</a:t>
            </a:fld>
            <a:r>
              <a:rPr lang="en-US" b="0"/>
              <a:t> of 102</a:t>
            </a:r>
            <a:endParaRPr lang="en-US" b="0" dirty="0"/>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144000" algn="ctr" defTabSz="914400" rtl="0" eaLnBrk="0" fontAlgn="base" latinLnBrk="0" hangingPunct="0">
              <a:lnSpc>
                <a:spcPct val="100000"/>
              </a:lnSpc>
              <a:spcBef>
                <a:spcPct val="30000"/>
              </a:spcBef>
              <a:spcAft>
                <a:spcPct val="0"/>
              </a:spcAft>
              <a:buClr>
                <a:srgbClr val="0070C0"/>
              </a:buClr>
              <a:buSzPct val="150000"/>
              <a:buFont typeface="Wingdings" pitchFamily="2" charset="2"/>
              <a:buNone/>
              <a:tabLst/>
              <a:defRPr/>
            </a:pPr>
            <a:r>
              <a:rPr lang="nl-NL" b="1" i="1" dirty="0"/>
              <a:t>Rules of Syntax, Examples</a:t>
            </a:r>
          </a:p>
          <a:p>
            <a:pPr marL="0" marR="0" indent="-144000" algn="ctr" defTabSz="914400" rtl="0" eaLnBrk="0" fontAlgn="base" latinLnBrk="0" hangingPunct="0">
              <a:lnSpc>
                <a:spcPct val="100000"/>
              </a:lnSpc>
              <a:spcBef>
                <a:spcPct val="30000"/>
              </a:spcBef>
              <a:spcAft>
                <a:spcPct val="0"/>
              </a:spcAft>
              <a:buClr>
                <a:srgbClr val="0070C0"/>
              </a:buClr>
              <a:buSzPct val="150000"/>
              <a:buFont typeface="Wingdings" pitchFamily="2" charset="2"/>
              <a:buNone/>
              <a:tabLst/>
              <a:defRPr/>
            </a:pPr>
            <a:endParaRPr lang="nl-NL" b="1" i="1" dirty="0"/>
          </a:p>
          <a:p>
            <a:pPr marL="144000"/>
            <a:r>
              <a:rPr lang="nl-NL" dirty="0"/>
              <a:t>Here we see the use of the SAME function which in this case will give us an average of all injectons from samples A and B, and from Samples C and D.</a:t>
            </a:r>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203</a:t>
            </a:fld>
            <a:r>
              <a:rPr lang="en-US" b="0"/>
              <a:t> of 102</a:t>
            </a:r>
            <a:endParaRPr lang="en-US" b="0" dirty="0"/>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3"/>
          <p:cNvSpPr>
            <a:spLocks noGrp="1" noChangeArrowheads="1"/>
          </p:cNvSpPr>
          <p:nvPr>
            <p:ph type="dt" sz="quarter" idx="1"/>
          </p:nvPr>
        </p:nvSpPr>
        <p:spPr>
          <a:noFill/>
        </p:spPr>
        <p:txBody>
          <a:bodyPr/>
          <a:lstStyle/>
          <a:p>
            <a:r>
              <a:rPr lang="en-US"/>
              <a:t>Rev. 21314</a:t>
            </a:r>
          </a:p>
        </p:txBody>
      </p:sp>
      <p:sp>
        <p:nvSpPr>
          <p:cNvPr id="123908" name="Rectangle 2"/>
          <p:cNvSpPr>
            <a:spLocks noGrp="1" noChangeArrowheads="1"/>
          </p:cNvSpPr>
          <p:nvPr>
            <p:ph type="hdr" sz="quarter"/>
          </p:nvPr>
        </p:nvSpPr>
        <p:spPr>
          <a:noFill/>
        </p:spPr>
        <p:txBody>
          <a:bodyPr/>
          <a:lstStyle/>
          <a:p>
            <a:r>
              <a:rPr lang="en-US"/>
              <a:t>Advanced Custom Fields</a:t>
            </a:r>
          </a:p>
        </p:txBody>
      </p:sp>
      <p:sp>
        <p:nvSpPr>
          <p:cNvPr id="123909" name="Rectangle 2"/>
          <p:cNvSpPr>
            <a:spLocks noGrp="1" noRot="1" noChangeAspect="1" noChangeArrowheads="1" noTextEdit="1"/>
          </p:cNvSpPr>
          <p:nvPr>
            <p:ph type="sldImg"/>
          </p:nvPr>
        </p:nvSpPr>
        <p:spPr>
          <a:xfrm>
            <a:off x="914400" y="762000"/>
            <a:ext cx="4973638" cy="3730625"/>
          </a:xfrm>
          <a:ln/>
        </p:spPr>
      </p:sp>
      <p:sp>
        <p:nvSpPr>
          <p:cNvPr id="123910" name="Rectangle 3"/>
          <p:cNvSpPr>
            <a:spLocks noGrp="1" noChangeArrowheads="1"/>
          </p:cNvSpPr>
          <p:nvPr>
            <p:ph type="body" idx="1"/>
          </p:nvPr>
        </p:nvSpPr>
        <p:spPr>
          <a:xfrm>
            <a:off x="906463" y="4746626"/>
            <a:ext cx="4984750" cy="4408488"/>
          </a:xfrm>
          <a:noFill/>
          <a:ln/>
        </p:spPr>
        <p:txBody>
          <a:bodyPr/>
          <a:lstStyle/>
          <a:p>
            <a:pPr algn="ctr" eaLnBrk="1" hangingPunct="1">
              <a:buNone/>
            </a:pPr>
            <a:r>
              <a:rPr lang="en-US" altLang="zh-CN" b="1" i="1" dirty="0"/>
              <a:t>The All or Nothing Function</a:t>
            </a:r>
          </a:p>
          <a:p>
            <a:pPr algn="ctr" eaLnBrk="1" hangingPunct="1">
              <a:buNone/>
            </a:pPr>
            <a:endParaRPr lang="en-US" b="1" i="1" dirty="0">
              <a:ea typeface="宋体" pitchFamily="2" charset="-122"/>
            </a:endParaRPr>
          </a:p>
          <a:p>
            <a:pPr marL="144000" lvl="0" eaLnBrk="1" hangingPunct="1"/>
            <a:r>
              <a:rPr lang="en-US" dirty="0"/>
              <a:t>When using intersample calculations, and this function is enabled, the software only calculates the custom field if it is able to locate all targeted results.  If the field is disabled, the calculation is performed regardless of whether all targeted results are found.  (All or Nothing functionality is not applied to a summary formula. If you use another type of mathematical operation inside of a summary function, the All or Nothing functionality does apply to that portion of the calculation.)</a:t>
            </a:r>
          </a:p>
          <a:p>
            <a:pPr eaLnBrk="1" hangingPunct="1"/>
            <a:endParaRPr lang="en-US" dirty="0">
              <a:ea typeface="宋体" pitchFamily="2" charset="-122"/>
            </a:endParaRPr>
          </a:p>
        </p:txBody>
      </p:sp>
      <p:sp>
        <p:nvSpPr>
          <p:cNvPr id="9" name="Footer Placeholder 8"/>
          <p:cNvSpPr>
            <a:spLocks noGrp="1"/>
          </p:cNvSpPr>
          <p:nvPr>
            <p:ph type="ftr" sz="quarter" idx="11"/>
          </p:nvPr>
        </p:nvSpPr>
        <p:spPr/>
        <p:txBody>
          <a:bodyPr/>
          <a:lstStyle/>
          <a:p>
            <a:pPr>
              <a:defRPr/>
            </a:pPr>
            <a:r>
              <a:rPr lang="en-US"/>
              <a:t>Waters Confidential and Proprietary Information</a:t>
            </a:r>
            <a:endParaRPr lang="en-US" dirty="0"/>
          </a:p>
        </p:txBody>
      </p:sp>
      <p:sp>
        <p:nvSpPr>
          <p:cNvPr id="10" name="Slide Number Placeholder 9"/>
          <p:cNvSpPr>
            <a:spLocks noGrp="1"/>
          </p:cNvSpPr>
          <p:nvPr>
            <p:ph type="sldNum" sz="quarter" idx="12"/>
          </p:nvPr>
        </p:nvSpPr>
        <p:spPr/>
        <p:txBody>
          <a:bodyPr/>
          <a:lstStyle/>
          <a:p>
            <a:pPr>
              <a:defRPr/>
            </a:pPr>
            <a:r>
              <a:rPr lang="en-US"/>
              <a:t>Chapter  Two: </a:t>
            </a:r>
            <a:r>
              <a:rPr lang="en-US" b="0"/>
              <a:t>Page </a:t>
            </a:r>
            <a:fld id="{32155B68-2FBB-48A0-88DC-1DBD4888FA3D}" type="slidenum">
              <a:rPr lang="en-US" b="0" smtClean="0"/>
              <a:pPr>
                <a:defRPr/>
              </a:pPr>
              <a:t>204</a:t>
            </a:fld>
            <a:r>
              <a:rPr lang="en-US" b="0"/>
              <a:t> of 102</a:t>
            </a:r>
            <a:endParaRPr lang="en-US" b="0" dirty="0"/>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eaLnBrk="1" hangingPunct="1">
              <a:buNone/>
            </a:pPr>
            <a:r>
              <a:rPr lang="en-US" b="1" i="1" dirty="0">
                <a:ea typeface="宋体" pitchFamily="2" charset="-122"/>
              </a:rPr>
              <a:t>All or Nothing, Example 2</a:t>
            </a:r>
          </a:p>
          <a:p>
            <a:pPr algn="ctr" eaLnBrk="1" hangingPunct="1">
              <a:buNone/>
            </a:pPr>
            <a:endParaRPr lang="en-US" b="1" i="1" dirty="0">
              <a:ea typeface="宋体" pitchFamily="2" charset="-122"/>
            </a:endParaRPr>
          </a:p>
          <a:p>
            <a:pPr marL="144000" eaLnBrk="1" hangingPunct="1"/>
            <a:r>
              <a:rPr lang="en-US" dirty="0">
                <a:ea typeface="宋体" pitchFamily="2" charset="-122"/>
              </a:rPr>
              <a:t>Here we have a situation were we have injected twice from each sample. We want to calculate the average amount for the 2 injections from each sample.</a:t>
            </a:r>
            <a:br>
              <a:rPr lang="en-US" dirty="0">
                <a:ea typeface="宋体" pitchFamily="2" charset="-122"/>
              </a:rPr>
            </a:br>
            <a:endParaRPr lang="en-US" dirty="0">
              <a:ea typeface="宋体" pitchFamily="2" charset="-122"/>
            </a:endParaRPr>
          </a:p>
          <a:p>
            <a:pPr marL="144000" eaLnBrk="1" hangingPunct="1"/>
            <a:r>
              <a:rPr lang="en-US" dirty="0">
                <a:ea typeface="宋体" pitchFamily="2" charset="-122"/>
              </a:rPr>
              <a:t>We create a custom field that adds the amounts from the two injection and divide by 2.</a:t>
            </a:r>
          </a:p>
          <a:p>
            <a:endParaRPr lang="en-US" dirty="0"/>
          </a:p>
        </p:txBody>
      </p:sp>
      <p:sp>
        <p:nvSpPr>
          <p:cNvPr id="4" name="Date Placeholder 3"/>
          <p:cNvSpPr>
            <a:spLocks noGrp="1"/>
          </p:cNvSpPr>
          <p:nvPr>
            <p:ph type="dt" idx="10"/>
          </p:nvPr>
        </p:nvSpPr>
        <p:spPr/>
        <p:txBody>
          <a:bodyPr/>
          <a:lstStyle/>
          <a:p>
            <a:pPr>
              <a:defRPr/>
            </a:pPr>
            <a:r>
              <a:rPr lang="en-US"/>
              <a:t>Rev. 21314</a:t>
            </a:r>
          </a:p>
        </p:txBody>
      </p:sp>
      <p:sp>
        <p:nvSpPr>
          <p:cNvPr id="5" name="Slide Number Placeholder 4"/>
          <p:cNvSpPr>
            <a:spLocks noGrp="1"/>
          </p:cNvSpPr>
          <p:nvPr>
            <p:ph type="sldNum" sz="quarter" idx="11"/>
          </p:nvPr>
        </p:nvSpPr>
        <p:spPr/>
        <p:txBody>
          <a:bodyPr/>
          <a:lstStyle/>
          <a:p>
            <a:pPr>
              <a:defRPr/>
            </a:pPr>
            <a:r>
              <a:rPr lang="en-US"/>
              <a:t>Chapter  Two: </a:t>
            </a:r>
            <a:r>
              <a:rPr lang="en-US" b="0"/>
              <a:t>Page </a:t>
            </a:r>
            <a:fld id="{32155B68-2FBB-48A0-88DC-1DBD4888FA3D}" type="slidenum">
              <a:rPr lang="en-US" b="0" smtClean="0"/>
              <a:pPr>
                <a:defRPr/>
              </a:pPr>
              <a:t>205</a:t>
            </a:fld>
            <a:r>
              <a:rPr lang="en-US" b="0"/>
              <a:t> of 102</a:t>
            </a:r>
            <a:endParaRPr lang="en-US" b="0" dirty="0"/>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ea typeface="宋体" pitchFamily="2" charset="-122"/>
              </a:rPr>
              <a:t>All or Nothing, Example 2</a:t>
            </a:r>
          </a:p>
          <a:p>
            <a:endParaRPr lang="en-US" dirty="0"/>
          </a:p>
          <a:p>
            <a:pPr marL="144000"/>
            <a:r>
              <a:rPr lang="en-US" dirty="0"/>
              <a:t>If we do not enable the All or Nothing function, we get half the amount of injection 1 for all the first injections, since the amount for injection 2 has not yet been calculated when we calculate the CF. Remember that a sample set is calculated in the order it was acquired.</a:t>
            </a:r>
            <a:br>
              <a:rPr lang="en-US" dirty="0"/>
            </a:br>
            <a:endParaRPr lang="en-US" dirty="0"/>
          </a:p>
          <a:p>
            <a:pPr marL="144000"/>
            <a:r>
              <a:rPr lang="en-US" dirty="0"/>
              <a:t>If we enable the All or Nothing function we only get results for all the second injections.</a:t>
            </a:r>
            <a:br>
              <a:rPr lang="en-US" dirty="0"/>
            </a:br>
            <a:endParaRPr lang="en-US" dirty="0"/>
          </a:p>
          <a:p>
            <a:pPr marL="144000"/>
            <a:r>
              <a:rPr lang="en-US" dirty="0"/>
              <a:t>If we insert the function “Summarize Custom Fields” ad the end of the sample set, we get all samples calculated correctly since we wait with the calculations until all the standard Empower calculations have been performed. We will discuss this function later in more detail.</a:t>
            </a:r>
          </a:p>
          <a:p>
            <a:endParaRPr lang="en-US"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206</a:t>
            </a:fld>
            <a:r>
              <a:rPr lang="en-US" b="0"/>
              <a:t> of 102</a:t>
            </a:r>
            <a:endParaRPr lang="en-US" b="0" dirty="0"/>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Rules of Syntax, examples</a:t>
            </a:r>
          </a:p>
          <a:p>
            <a:pPr algn="ctr">
              <a:buNone/>
            </a:pPr>
            <a:endParaRPr lang="en-US" b="1" i="1" dirty="0"/>
          </a:p>
          <a:p>
            <a:pPr marL="144000"/>
            <a:r>
              <a:rPr lang="en-US" dirty="0"/>
              <a:t>In this example we are using the same average calculating of 2 injections from the same vial as in the previous example, but here we are calculation a sample set with two data channels, one from a PDA detector set at 273nm and one from an ELSD detector.</a:t>
            </a:r>
            <a:br>
              <a:rPr lang="en-US" dirty="0"/>
            </a:br>
            <a:endParaRPr lang="en-US" dirty="0"/>
          </a:p>
          <a:p>
            <a:pPr marL="144000"/>
            <a:r>
              <a:rPr lang="en-US" dirty="0"/>
              <a:t>In the first CF we have not specified a channel, so rule 4 applies which states that we always then refer to the current channel. This will ensure that results from different channels will not get mixed.</a:t>
            </a:r>
            <a:br>
              <a:rPr lang="en-US" dirty="0"/>
            </a:br>
            <a:endParaRPr lang="en-US" dirty="0"/>
          </a:p>
          <a:p>
            <a:pPr marL="144000"/>
            <a:r>
              <a:rPr lang="en-US" dirty="0"/>
              <a:t>In the second CF we have specified the channel as the ELSD (ELSD%), where we are using the wildcard % to specify any character after ELSD. In this case we only get results for the ELSD channels.</a:t>
            </a:r>
            <a:br>
              <a:rPr lang="en-US" dirty="0"/>
            </a:br>
            <a:endParaRPr lang="en-US" dirty="0"/>
          </a:p>
          <a:p>
            <a:pPr marL="144000"/>
            <a:r>
              <a:rPr lang="en-US" dirty="0"/>
              <a:t>In both cases we have enabled the All or Nothing function so we only get results for the second injections from each vial.</a:t>
            </a:r>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207</a:t>
            </a:fld>
            <a:r>
              <a:rPr lang="en-US" b="0"/>
              <a:t> of 102</a:t>
            </a:r>
            <a:endParaRPr lang="en-US" b="0" dirty="0"/>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2"/>
          <p:cNvSpPr>
            <a:spLocks noGrp="1" noRot="1" noChangeAspect="1" noChangeArrowheads="1" noTextEdit="1"/>
          </p:cNvSpPr>
          <p:nvPr>
            <p:ph type="sldImg"/>
          </p:nvPr>
        </p:nvSpPr>
        <p:spPr>
          <a:solidFill>
            <a:srgbClr val="FFFFFF"/>
          </a:solidFill>
          <a:ln/>
        </p:spPr>
      </p:sp>
      <p:sp>
        <p:nvSpPr>
          <p:cNvPr id="64516" name="Rectangle 3"/>
          <p:cNvSpPr>
            <a:spLocks noGrp="1" noChangeArrowheads="1"/>
          </p:cNvSpPr>
          <p:nvPr>
            <p:ph type="body" idx="1"/>
          </p:nvPr>
        </p:nvSpPr>
        <p:spPr>
          <a:solidFill>
            <a:srgbClr val="FFFFFF"/>
          </a:solidFill>
          <a:ln>
            <a:noFill/>
          </a:ln>
        </p:spPr>
        <p:txBody>
          <a:bodyPr/>
          <a:lstStyle/>
          <a:p>
            <a:pPr algn="ctr" eaLnBrk="1" hangingPunct="1">
              <a:buNone/>
            </a:pPr>
            <a:r>
              <a:rPr lang="en-US" b="1" i="1" dirty="0"/>
              <a:t>Intersample Summary</a:t>
            </a:r>
            <a:r>
              <a:rPr lang="en-US" i="1" dirty="0"/>
              <a:t> </a:t>
            </a:r>
            <a:br>
              <a:rPr lang="en-US" dirty="0"/>
            </a:br>
            <a:endParaRPr lang="en-US" dirty="0"/>
          </a:p>
          <a:p>
            <a:pPr marL="144000" eaLnBrk="1" hangingPunct="1"/>
            <a:r>
              <a:rPr lang="en-US" dirty="0"/>
              <a:t>This functionality allows you to generate a result that is a summary of a certain peak parameter for peaks over multiple results, i.e. average amount. </a:t>
            </a:r>
            <a:br>
              <a:rPr lang="en-US" dirty="0"/>
            </a:br>
            <a:endParaRPr lang="en-US" altLang="zh-CN" dirty="0"/>
          </a:p>
          <a:p>
            <a:pPr eaLnBrk="1" hangingPunct="1"/>
            <a:r>
              <a:rPr lang="en-US" altLang="zh-CN" dirty="0"/>
              <a:t>Inter-Sample summary custom field also applies to Peak type only.</a:t>
            </a:r>
            <a:br>
              <a:rPr lang="en-US" altLang="zh-CN" dirty="0"/>
            </a:br>
            <a:endParaRPr lang="en-US" altLang="zh-CN" dirty="0"/>
          </a:p>
          <a:p>
            <a:pPr eaLnBrk="1" hangingPunct="1"/>
            <a:r>
              <a:rPr lang="en-US" altLang="zh-CN" dirty="0"/>
              <a:t>The syntax is the same as for Intersample calculations but we </a:t>
            </a:r>
            <a:br>
              <a:rPr lang="en-US" altLang="zh-CN" dirty="0"/>
            </a:br>
            <a:r>
              <a:rPr lang="en-US" altLang="zh-CN" dirty="0"/>
              <a:t>   need to add an extra period and the summary function.</a:t>
            </a:r>
            <a:br>
              <a:rPr lang="en-US" altLang="zh-CN" dirty="0"/>
            </a:br>
            <a:endParaRPr lang="en-US" altLang="zh-CN" dirty="0"/>
          </a:p>
          <a:p>
            <a:pPr eaLnBrk="1" hangingPunct="1"/>
            <a:endParaRPr lang="en-US" altLang="zh-CN" dirty="0"/>
          </a:p>
          <a:p>
            <a:pPr eaLnBrk="1" hangingPunct="1"/>
            <a:endParaRPr lang="en-US" dirty="0"/>
          </a:p>
        </p:txBody>
      </p:sp>
      <p:sp>
        <p:nvSpPr>
          <p:cNvPr id="7" name="Date Placeholder 6"/>
          <p:cNvSpPr>
            <a:spLocks noGrp="1"/>
          </p:cNvSpPr>
          <p:nvPr>
            <p:ph type="dt" idx="11"/>
          </p:nvPr>
        </p:nvSpPr>
        <p:spPr/>
        <p:txBody>
          <a:bodyPr/>
          <a:lstStyle/>
          <a:p>
            <a:pPr>
              <a:defRPr/>
            </a:pPr>
            <a:r>
              <a:rPr lang="en-US"/>
              <a:t>Rev. 21314</a:t>
            </a:r>
          </a:p>
        </p:txBody>
      </p:sp>
      <p:sp>
        <p:nvSpPr>
          <p:cNvPr id="8" name="Footer Placeholder 7"/>
          <p:cNvSpPr>
            <a:spLocks noGrp="1"/>
          </p:cNvSpPr>
          <p:nvPr>
            <p:ph type="ftr" sz="quarter" idx="12"/>
          </p:nvPr>
        </p:nvSpPr>
        <p:spPr/>
        <p:txBody>
          <a:bodyPr/>
          <a:lstStyle/>
          <a:p>
            <a:pPr>
              <a:defRPr/>
            </a:pPr>
            <a:r>
              <a:rPr lang="en-US"/>
              <a:t>Waters Confidential and Proprietary Information</a:t>
            </a:r>
            <a:endParaRPr lang="en-US" dirty="0"/>
          </a:p>
        </p:txBody>
      </p:sp>
      <p:sp>
        <p:nvSpPr>
          <p:cNvPr id="9" name="Header Placeholder 8"/>
          <p:cNvSpPr>
            <a:spLocks noGrp="1"/>
          </p:cNvSpPr>
          <p:nvPr>
            <p:ph type="hdr" sz="quarter" idx="13"/>
          </p:nvPr>
        </p:nvSpPr>
        <p:spPr/>
        <p:txBody>
          <a:bodyPr/>
          <a:lstStyle/>
          <a:p>
            <a:pPr>
              <a:defRPr/>
            </a:pPr>
            <a:r>
              <a:rPr lang="en-US"/>
              <a:t>Advanced Custom Fields</a:t>
            </a:r>
            <a:endParaRPr lang="en-US" dirty="0"/>
          </a:p>
        </p:txBody>
      </p:sp>
      <p:sp>
        <p:nvSpPr>
          <p:cNvPr id="10" name="Slide Number Placeholder 9"/>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209</a:t>
            </a:fld>
            <a:r>
              <a:rPr lang="en-US" b="0"/>
              <a:t> of 102</a:t>
            </a:r>
            <a:endParaRPr lang="en-US" b="0" dirty="0"/>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nl-NL" b="1" i="1" dirty="0"/>
              <a:t>Intersample Summary Functions</a:t>
            </a:r>
          </a:p>
          <a:p>
            <a:pPr algn="ctr">
              <a:buNone/>
            </a:pPr>
            <a:endParaRPr lang="nl-NL" b="1" i="1" dirty="0"/>
          </a:p>
          <a:p>
            <a:r>
              <a:rPr lang="nl-NL" dirty="0"/>
              <a:t>This is the available summery functions.</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210</a:t>
            </a:fld>
            <a:r>
              <a:rPr lang="en-US" b="0"/>
              <a:t> of 102</a:t>
            </a:r>
            <a:endParaRPr lang="en-US" b="0" dirty="0"/>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Intersample Summary Calculations, Rules of Syntax</a:t>
            </a:r>
          </a:p>
          <a:p>
            <a:pPr algn="ctr">
              <a:buNone/>
            </a:pPr>
            <a:endParaRPr lang="en-US" dirty="0"/>
          </a:p>
          <a:p>
            <a:r>
              <a:rPr lang="en-US" dirty="0"/>
              <a:t>There are also several rules of syntax when performing </a:t>
            </a:r>
            <a:br>
              <a:rPr lang="en-US" dirty="0"/>
            </a:br>
            <a:r>
              <a:rPr lang="en-US" dirty="0"/>
              <a:t>   Intersample summary calculations.</a:t>
            </a:r>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211</a:t>
            </a:fld>
            <a:r>
              <a:rPr lang="en-US" b="0"/>
              <a:t> of 102</a:t>
            </a:r>
            <a:endParaRPr lang="en-US" b="0" dirty="0"/>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Intersample Summary Calculations, Rules of Syntax</a:t>
            </a:r>
          </a:p>
          <a:p>
            <a:pPr algn="ctr">
              <a:buNone/>
            </a:pPr>
            <a:endParaRPr lang="en-US" b="1" i="1" dirty="0"/>
          </a:p>
          <a:p>
            <a:r>
              <a:rPr lang="en-US" dirty="0"/>
              <a:t>In the following pages we will try and illustrate the rules with </a:t>
            </a:r>
            <a:br>
              <a:rPr lang="en-US" dirty="0"/>
            </a:br>
            <a:r>
              <a:rPr lang="en-US" dirty="0"/>
              <a:t>   examples.</a:t>
            </a:r>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212</a:t>
            </a:fld>
            <a:r>
              <a:rPr lang="en-US" b="0"/>
              <a:t> of 102</a:t>
            </a:r>
            <a:endParaRPr lang="en-US" b="0" dirty="0"/>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lgn="ctr">
              <a:buNone/>
            </a:pPr>
            <a:r>
              <a:rPr lang="nl-NL" b="1" i="1" dirty="0"/>
              <a:t>Summarize Custom Fields Function</a:t>
            </a:r>
          </a:p>
          <a:p>
            <a:endParaRPr lang="nl-NL" dirty="0"/>
          </a:p>
          <a:p>
            <a:pPr marL="144000"/>
            <a:r>
              <a:rPr lang="en-US" dirty="0"/>
              <a:t>To calculate summary-type custom fields, such as average or %RSD, you must include one of the following four Summarize Custom Fields functions in the sample set:</a:t>
            </a:r>
          </a:p>
          <a:p>
            <a:pPr marL="463550" lvl="1" indent="-228600">
              <a:buFont typeface="+mj-lt"/>
              <a:buAutoNum type="arabicPeriod"/>
            </a:pPr>
            <a:r>
              <a:rPr lang="en-US" dirty="0"/>
              <a:t>Summarize Custom Fields – add this function at the end of a sample set to calculate summary results using all samples above this table row in the sample set. This function stores its summary value for all samples above its table row in the sample set. </a:t>
            </a:r>
          </a:p>
          <a:p>
            <a:pPr marL="463550" lvl="1" indent="-228600">
              <a:buFont typeface="+mj-lt"/>
              <a:buAutoNum type="arabicPeriod"/>
            </a:pPr>
            <a:r>
              <a:rPr lang="en-US" dirty="0"/>
              <a:t>Summarize Custom Fields (Exclude Faulted) – add this function at the end of a sample set to calculate summary results for all samples above this table row (that match the custom field syntax). The results are determined excluding injections that are faulted due to individual results falling outside of system suitability limits. </a:t>
            </a:r>
          </a:p>
          <a:p>
            <a:pPr marL="463550" lvl="1" indent="-228600">
              <a:buFont typeface="+mj-lt"/>
              <a:buAutoNum type="arabicPeriod"/>
            </a:pPr>
            <a:r>
              <a:rPr lang="en-US" dirty="0"/>
              <a:t>Summarize Custom Fields Incrementally – add one or more of these functions to a sample set to calculate summary results using all samples above this table row (that match the custom field syntax). </a:t>
            </a:r>
          </a:p>
          <a:p>
            <a:pPr marL="463550" lvl="1" indent="-228600">
              <a:buFont typeface="+mj-lt"/>
              <a:buAutoNum type="arabicPeriod"/>
            </a:pPr>
            <a:r>
              <a:rPr lang="en-US" dirty="0"/>
              <a:t>Summarize Custom Fields Incrementally (Excluded Faulted) – add one or more of these functions to a sample set to calculate summary results using all samples above this table row (that match the custom field syntax) and store them in the results listed above this table row and below any previous Summarize Custom Fields function rows. The results are determined excluding injections that are faulted due to individual results falling outside of system suitability limits. </a:t>
            </a:r>
          </a:p>
          <a:p>
            <a:r>
              <a:rPr lang="en-US" dirty="0"/>
              <a:t>Tip: If you did not include one of the four Summarize Custom Fields </a:t>
            </a:r>
            <a:br>
              <a:rPr lang="en-US" dirty="0"/>
            </a:br>
            <a:r>
              <a:rPr lang="en-US" dirty="0"/>
              <a:t>   functions to the sample set, you can do so using the Alter Sample </a:t>
            </a:r>
            <a:br>
              <a:rPr lang="en-US" dirty="0"/>
            </a:br>
            <a:r>
              <a:rPr lang="en-US" dirty="0"/>
              <a:t>   window.</a:t>
            </a:r>
          </a:p>
          <a:p>
            <a:endParaRPr lang="nl-NL" dirty="0"/>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214</a:t>
            </a:fld>
            <a:r>
              <a:rPr lang="en-US" b="0"/>
              <a:t> of 102</a:t>
            </a:r>
            <a:endParaRPr lang="en-US" b="0" dirty="0"/>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nl-NL" b="1" i="1" dirty="0"/>
              <a:t>Summarize Custom Fields Function</a:t>
            </a:r>
          </a:p>
          <a:p>
            <a:pPr>
              <a:buNone/>
            </a:pPr>
            <a:endParaRPr lang="nl-NL" dirty="0"/>
          </a:p>
          <a:p>
            <a:pPr marL="144000"/>
            <a:r>
              <a:rPr lang="en-US" dirty="0"/>
              <a:t>Summarize Custom Fields functions in the sample set:</a:t>
            </a:r>
          </a:p>
          <a:p>
            <a:pPr marL="463550" lvl="1" indent="-228600">
              <a:buFont typeface="+mj-lt"/>
              <a:buAutoNum type="arabicPeriod"/>
            </a:pPr>
            <a:r>
              <a:rPr lang="en-US" dirty="0"/>
              <a:t>Summarize Custom Fields – add this function at the end of a sample set to calculate summary results using all samples above this table row in the sample set. This function stores its summary value for all samples above its table row in the sample set. </a:t>
            </a:r>
          </a:p>
          <a:p>
            <a:pPr marL="463550" lvl="1" indent="-228600">
              <a:buFont typeface="+mj-lt"/>
              <a:buAutoNum type="arabicPeriod"/>
            </a:pPr>
            <a:r>
              <a:rPr lang="en-US" dirty="0"/>
              <a:t>Summarize Custom Fields (Exclude Faulted) – add this function at the end of a sample set to calculate summary results for all samples above this table row (that match the custom field syntax). The results are determined excluding injections that are faulted due to individual results falling outside of system suitability limits. </a:t>
            </a:r>
          </a:p>
          <a:p>
            <a:endParaRPr lang="nl-NL" dirty="0"/>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215</a:t>
            </a:fld>
            <a:r>
              <a:rPr lang="en-US" b="0"/>
              <a:t> of 102</a:t>
            </a:r>
            <a:endParaRPr lang="en-US" b="0" dirty="0"/>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nl-NL" b="1" i="1" dirty="0"/>
              <a:t>Summarize Custom Fields Function</a:t>
            </a:r>
          </a:p>
          <a:p>
            <a:pPr>
              <a:buNone/>
            </a:pPr>
            <a:endParaRPr lang="nl-NL" dirty="0"/>
          </a:p>
          <a:p>
            <a:pPr marL="144000"/>
            <a:r>
              <a:rPr lang="en-US" dirty="0"/>
              <a:t>Summarize Custom Fields functions in the sample set:</a:t>
            </a:r>
          </a:p>
          <a:p>
            <a:pPr marL="463550" lvl="1" indent="-228600">
              <a:buFont typeface="+mj-lt"/>
              <a:buAutoNum type="arabicPeriod" startAt="3"/>
            </a:pPr>
            <a:r>
              <a:rPr lang="en-US" dirty="0"/>
              <a:t>Summarize Custom Fields Incrementally – add one or more of these functions to a sample set to calculate summary results using all samples above this table row (that match the custom field syntax). </a:t>
            </a:r>
          </a:p>
          <a:p>
            <a:pPr marL="463550" lvl="1" indent="-228600">
              <a:buFont typeface="+mj-lt"/>
              <a:buAutoNum type="arabicPeriod" startAt="3"/>
            </a:pPr>
            <a:r>
              <a:rPr lang="en-US" dirty="0"/>
              <a:t>Summarize Custom Fields Incrementally (Excluded Faulted) – add one or more of these functions to a sample set to calculate summary results using all samples above this table row (that match the custom field syntax) and store them in the results listed above this table row and below any previous Summarize Custom Fields function rows. The results are determined excluding injections that are faulted due to individual results falling outside of system suitability limits. </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216</a:t>
            </a:fld>
            <a:r>
              <a:rPr lang="en-US" b="0"/>
              <a:t> of 102</a:t>
            </a:r>
            <a:endParaRPr lang="en-US" b="0" dirty="0"/>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Summarize Custom Fields Incrementally Function</a:t>
            </a:r>
          </a:p>
          <a:p>
            <a:endParaRPr lang="en-US" dirty="0"/>
          </a:p>
          <a:p>
            <a:pPr marL="144000"/>
            <a:r>
              <a:rPr lang="en-US" dirty="0"/>
              <a:t>Next we will look at how to use the Summarize CF incrementally function.</a:t>
            </a:r>
            <a:br>
              <a:rPr lang="en-US" dirty="0"/>
            </a:br>
            <a:endParaRPr lang="en-US" dirty="0"/>
          </a:p>
          <a:p>
            <a:pPr marL="144000"/>
            <a:r>
              <a:rPr lang="en-US" dirty="0"/>
              <a:t>In the sample set we have inserted the function after the series of standards, and then again after the last sample.</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217</a:t>
            </a:fld>
            <a:r>
              <a:rPr lang="en-US" b="0"/>
              <a:t> of 102</a:t>
            </a:r>
            <a:endParaRPr lang="en-US" b="0" dirty="0"/>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buNone/>
            </a:pPr>
            <a:r>
              <a:rPr lang="en-US" b="1" i="1" dirty="0"/>
              <a:t>Summarize Custom Fields Incrementally Function</a:t>
            </a:r>
          </a:p>
          <a:p>
            <a:pPr algn="ctr">
              <a:buNone/>
            </a:pPr>
            <a:endParaRPr lang="en-US" b="1" i="1" dirty="0"/>
          </a:p>
          <a:p>
            <a:r>
              <a:rPr lang="en-US" dirty="0"/>
              <a:t>Here we see the result of the calculation.</a:t>
            </a:r>
          </a:p>
        </p:txBody>
      </p:sp>
      <p:sp>
        <p:nvSpPr>
          <p:cNvPr id="4" name="Date Placeholder 3"/>
          <p:cNvSpPr>
            <a:spLocks noGrp="1"/>
          </p:cNvSpPr>
          <p:nvPr>
            <p:ph type="dt" idx="10"/>
          </p:nvPr>
        </p:nvSpPr>
        <p:spPr/>
        <p:txBody>
          <a:bodyPr/>
          <a:lstStyle/>
          <a:p>
            <a:pPr>
              <a:defRPr/>
            </a:pPr>
            <a:r>
              <a:rPr lang="en-US"/>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218</a:t>
            </a:fld>
            <a:r>
              <a:rPr lang="en-US" b="0"/>
              <a:t> of 102</a:t>
            </a:r>
            <a:endParaRPr lang="en-US" b="0" dirty="0"/>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a:xfrm>
            <a:off x="0" y="9273234"/>
            <a:ext cx="2128994" cy="496332"/>
          </a:xfrm>
        </p:spPr>
        <p:txBody>
          <a:bodyPr/>
          <a:lstStyle/>
          <a:p>
            <a:pPr>
              <a:defRPr/>
            </a:pPr>
            <a:r>
              <a:rPr lang="en-US" dirty="0"/>
              <a:t>Rev. 21314</a:t>
            </a:r>
          </a:p>
        </p:txBody>
      </p:sp>
      <p:sp>
        <p:nvSpPr>
          <p:cNvPr id="6" name="Header Placeholder 5"/>
          <p:cNvSpPr>
            <a:spLocks noGrp="1"/>
          </p:cNvSpPr>
          <p:nvPr>
            <p:ph type="hdr" sz="quarter" idx="12"/>
          </p:nvPr>
        </p:nvSpPr>
        <p:spPr/>
        <p:txBody>
          <a:bodyPr/>
          <a:lstStyle/>
          <a:p>
            <a:pPr>
              <a:defRPr/>
            </a:pPr>
            <a:r>
              <a:rPr lang="en-US"/>
              <a:t>Advanced Custom Fields</a:t>
            </a:r>
            <a:endParaRPr lang="en-US" dirty="0"/>
          </a:p>
        </p:txBody>
      </p:sp>
      <p:sp>
        <p:nvSpPr>
          <p:cNvPr id="7" name="Footer Placeholder 6"/>
          <p:cNvSpPr>
            <a:spLocks noGrp="1"/>
          </p:cNvSpPr>
          <p:nvPr>
            <p:ph type="ftr" sz="quarter" idx="13"/>
          </p:nvPr>
        </p:nvSpPr>
        <p:spPr/>
        <p:txBody>
          <a:bodyPr/>
          <a:lstStyle/>
          <a:p>
            <a:pPr>
              <a:defRPr/>
            </a:pPr>
            <a:r>
              <a:rPr lang="en-US"/>
              <a:t>Waters Confidential and Proprietary Information</a:t>
            </a:r>
            <a:endParaRPr lang="en-US" dirty="0"/>
          </a:p>
        </p:txBody>
      </p:sp>
      <p:sp>
        <p:nvSpPr>
          <p:cNvPr id="8" name="Slide Number Placeholder 7"/>
          <p:cNvSpPr>
            <a:spLocks noGrp="1"/>
          </p:cNvSpPr>
          <p:nvPr>
            <p:ph type="sldNum" sz="quarter" idx="14"/>
          </p:nvPr>
        </p:nvSpPr>
        <p:spPr/>
        <p:txBody>
          <a:bodyPr/>
          <a:lstStyle/>
          <a:p>
            <a:pPr>
              <a:defRPr/>
            </a:pPr>
            <a:r>
              <a:rPr lang="en-US"/>
              <a:t>Chapter  Two: </a:t>
            </a:r>
            <a:r>
              <a:rPr lang="en-US" b="0"/>
              <a:t>Page </a:t>
            </a:r>
            <a:fld id="{32155B68-2FBB-48A0-88DC-1DBD4888FA3D}" type="slidenum">
              <a:rPr lang="en-US" b="0" smtClean="0"/>
              <a:pPr>
                <a:defRPr/>
              </a:pPr>
              <a:t>219</a:t>
            </a:fld>
            <a:r>
              <a:rPr lang="en-US" b="0"/>
              <a:t> of 102</a:t>
            </a:r>
            <a:endParaRPr lang="en-US" b="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017 Title Slide">
    <p:spTree>
      <p:nvGrpSpPr>
        <p:cNvPr id="1" name=""/>
        <p:cNvGrpSpPr/>
        <p:nvPr/>
      </p:nvGrpSpPr>
      <p:grpSpPr>
        <a:xfrm>
          <a:off x="0" y="0"/>
          <a:ext cx="0" cy="0"/>
          <a:chOff x="0" y="0"/>
          <a:chExt cx="0" cy="0"/>
        </a:xfrm>
      </p:grpSpPr>
      <p:sp>
        <p:nvSpPr>
          <p:cNvPr id="6" name="Rectangle 8"/>
          <p:cNvSpPr>
            <a:spLocks noGrp="1" noChangeArrowheads="1"/>
          </p:cNvSpPr>
          <p:nvPr>
            <p:ph type="ctrTitle"/>
          </p:nvPr>
        </p:nvSpPr>
        <p:spPr>
          <a:xfrm>
            <a:off x="685800" y="2130425"/>
            <a:ext cx="7772400" cy="1470025"/>
          </a:xfrm>
        </p:spPr>
        <p:txBody>
          <a:bodyPr lIns="0" tIns="0" rIns="0" bIns="0" anchor="b" anchorCtr="0"/>
          <a:lstStyle>
            <a:lvl1pPr algn="ctr">
              <a:lnSpc>
                <a:spcPct val="110000"/>
              </a:lnSpc>
              <a:defRPr smtClean="0">
                <a:solidFill>
                  <a:schemeClr val="tx1"/>
                </a:solidFill>
                <a:effectLst/>
              </a:defRPr>
            </a:lvl1pPr>
          </a:lstStyle>
          <a:p>
            <a:r>
              <a:rPr lang="en-US"/>
              <a:t>Click to edit Master title style</a:t>
            </a:r>
            <a:endParaRPr lang="en-US" dirty="0"/>
          </a:p>
        </p:txBody>
      </p:sp>
      <p:sp>
        <p:nvSpPr>
          <p:cNvPr id="7" name="Rectangle 14"/>
          <p:cNvSpPr>
            <a:spLocks noGrp="1" noChangeArrowheads="1"/>
          </p:cNvSpPr>
          <p:nvPr>
            <p:ph type="subTitle" idx="1"/>
          </p:nvPr>
        </p:nvSpPr>
        <p:spPr>
          <a:xfrm>
            <a:off x="1371600" y="3810000"/>
            <a:ext cx="6400800" cy="1295400"/>
          </a:xfrm>
        </p:spPr>
        <p:txBody>
          <a:bodyPr anchor="t" anchorCtr="0"/>
          <a:lstStyle>
            <a:lvl1pPr marL="0" indent="0" algn="ctr">
              <a:buFont typeface="Wingdings 2" pitchFamily="18" charset="2"/>
              <a:buNone/>
              <a:defRPr b="0" smtClean="0">
                <a:solidFill>
                  <a:srgbClr val="006DAC"/>
                </a:solidFill>
                <a:effectLst/>
              </a:defRPr>
            </a:lvl1pPr>
          </a:lstStyle>
          <a:p>
            <a:r>
              <a:rPr lang="en-US"/>
              <a:t>Click to edit Master subtitle style</a:t>
            </a:r>
            <a:endParaRPr lang="en-US" dirty="0"/>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017 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0" y="2906713"/>
            <a:ext cx="9144000" cy="1500187"/>
          </a:xfrm>
        </p:spPr>
        <p:txBody>
          <a:bodyPr anchor="ctr"/>
          <a:lstStyle>
            <a:lvl1pPr marL="0" indent="0" algn="ctr">
              <a:buNone/>
              <a:defRPr sz="2400" b="0">
                <a:solidFill>
                  <a:srgbClr val="006DAC"/>
                </a:solidFill>
                <a:effectLst/>
                <a:latin typeface="Arial"/>
                <a:cs typeface="Aria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017 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12000"/>
            <a:ext cx="8360228" cy="5029200"/>
          </a:xfrm>
        </p:spPr>
        <p:txBody>
          <a:bodyPr>
            <a:normAutofit/>
          </a:bodyPr>
          <a:lstStyle>
            <a:lvl1pPr marL="233363" marR="0" indent="-233363" algn="l" defTabSz="914400" rtl="0" eaLnBrk="1" fontAlgn="base" latinLnBrk="0" hangingPunct="1">
              <a:lnSpc>
                <a:spcPct val="110000"/>
              </a:lnSpc>
              <a:spcBef>
                <a:spcPct val="20000"/>
              </a:spcBef>
              <a:spcAft>
                <a:spcPct val="0"/>
              </a:spcAft>
              <a:buClr>
                <a:srgbClr val="4F81BD"/>
              </a:buClr>
              <a:buSzTx/>
              <a:buFont typeface="Wingdings 2" pitchFamily="18" charset="2"/>
              <a:buChar char="¡"/>
              <a:tabLst/>
              <a:defRPr/>
            </a:lvl1pPr>
            <a:lvl2pPr marL="457200" marR="0" indent="-223838" algn="l" defTabSz="914400" rtl="0" eaLnBrk="1" fontAlgn="base" latinLnBrk="0" hangingPunct="1">
              <a:lnSpc>
                <a:spcPct val="110000"/>
              </a:lnSpc>
              <a:spcBef>
                <a:spcPct val="20000"/>
              </a:spcBef>
              <a:spcAft>
                <a:spcPct val="0"/>
              </a:spcAft>
              <a:buClr>
                <a:srgbClr val="4F81BD"/>
              </a:buClr>
              <a:buSzTx/>
              <a:buFont typeface="Verdana" pitchFamily="34" charset="0"/>
              <a:buChar char="–"/>
              <a:tabLst/>
              <a:defRPr/>
            </a:lvl2pPr>
            <a:lvl3pPr marL="693738" marR="0" indent="-228600" algn="l" defTabSz="914400" rtl="0" eaLnBrk="1" fontAlgn="base" latinLnBrk="0" hangingPunct="1">
              <a:lnSpc>
                <a:spcPct val="110000"/>
              </a:lnSpc>
              <a:spcBef>
                <a:spcPct val="20000"/>
              </a:spcBef>
              <a:spcAft>
                <a:spcPct val="0"/>
              </a:spcAft>
              <a:buClr>
                <a:srgbClr val="4F81BD"/>
              </a:buClr>
              <a:buSzPct val="80000"/>
              <a:buFont typeface="Courier New" pitchFamily="49" charset="0"/>
              <a:buChar char="o"/>
              <a:tabLst/>
              <a:defRPr/>
            </a:lvl3pPr>
            <a:lvl4pPr marL="917575" marR="0" indent="-228600" algn="l" defTabSz="914400" rtl="0" eaLnBrk="1" fontAlgn="base" latinLnBrk="0" hangingPunct="1">
              <a:lnSpc>
                <a:spcPct val="110000"/>
              </a:lnSpc>
              <a:spcBef>
                <a:spcPct val="20000"/>
              </a:spcBef>
              <a:spcAft>
                <a:spcPct val="0"/>
              </a:spcAft>
              <a:buClr>
                <a:srgbClr val="4F81BD"/>
              </a:buClr>
              <a:buSzTx/>
              <a:buFont typeface="Arial" pitchFamily="34" charset="0"/>
              <a:buChar char="•"/>
              <a:tabLst/>
              <a:defRPr baseline="0"/>
            </a:lvl4pPr>
            <a:lvl5pPr marL="1150938" marR="0" indent="-228600" algn="l" defTabSz="914400" rtl="0" eaLnBrk="1" fontAlgn="base" latinLnBrk="0" hangingPunct="1">
              <a:lnSpc>
                <a:spcPct val="110000"/>
              </a:lnSpc>
              <a:spcBef>
                <a:spcPct val="20000"/>
              </a:spcBef>
              <a:spcAft>
                <a:spcPct val="0"/>
              </a:spcAft>
              <a:buClr>
                <a:srgbClr val="4F81BD"/>
              </a:buClr>
              <a:buSzTx/>
              <a:buFont typeface="Arial" pitchFamily="34" charset="0"/>
              <a:buChar cha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16"/>
          <p:cNvSpPr>
            <a:spLocks noGrp="1" noChangeArrowheads="1"/>
          </p:cNvSpPr>
          <p:nvPr>
            <p:ph type="title"/>
          </p:nvPr>
        </p:nvSpPr>
        <p:spPr bwMode="gray">
          <a:xfrm>
            <a:off x="457200" y="31468"/>
            <a:ext cx="6311536" cy="1005840"/>
          </a:xfrm>
          <a:prstGeom prst="rect">
            <a:avLst/>
          </a:prstGeom>
          <a:noFill/>
          <a:ln w="9525">
            <a:noFill/>
            <a:miter lim="800000"/>
            <a:headEnd/>
            <a:tailEnd/>
          </a:ln>
          <a:effectLst/>
        </p:spPr>
        <p:txBody>
          <a:bodyPr/>
          <a:lstStyle>
            <a:lvl1pPr>
              <a:defRPr>
                <a:solidFill>
                  <a:srgbClr val="006DAC"/>
                </a:solidFill>
              </a:defRPr>
            </a:lvl1pPr>
          </a:lstStyle>
          <a:p>
            <a:pPr lvl="0"/>
            <a:r>
              <a:rPr lang="en-US"/>
              <a:t>Click to edit Master title style</a:t>
            </a:r>
            <a:endParaRPr lang="en-US" dirty="0"/>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017 Title Only">
    <p:spTree>
      <p:nvGrpSpPr>
        <p:cNvPr id="1" name=""/>
        <p:cNvGrpSpPr/>
        <p:nvPr/>
      </p:nvGrpSpPr>
      <p:grpSpPr>
        <a:xfrm>
          <a:off x="0" y="0"/>
          <a:ext cx="0" cy="0"/>
          <a:chOff x="0" y="0"/>
          <a:chExt cx="0" cy="0"/>
        </a:xfrm>
      </p:grpSpPr>
      <p:sp>
        <p:nvSpPr>
          <p:cNvPr id="4" name="Rectangle 16"/>
          <p:cNvSpPr>
            <a:spLocks noGrp="1" noChangeArrowheads="1"/>
          </p:cNvSpPr>
          <p:nvPr>
            <p:ph type="title"/>
          </p:nvPr>
        </p:nvSpPr>
        <p:spPr bwMode="gray">
          <a:xfrm>
            <a:off x="457200" y="31468"/>
            <a:ext cx="6311536" cy="1005840"/>
          </a:xfrm>
          <a:prstGeom prst="rect">
            <a:avLst/>
          </a:prstGeom>
          <a:noFill/>
          <a:ln w="9525">
            <a:noFill/>
            <a:miter lim="800000"/>
            <a:headEnd/>
            <a:tailEnd/>
          </a:ln>
          <a:effectLst/>
        </p:spPr>
        <p:txBody>
          <a:bodyPr/>
          <a:lstStyle>
            <a:lvl1pPr>
              <a:defRPr>
                <a:solidFill>
                  <a:srgbClr val="006DAC"/>
                </a:solidFill>
              </a:defRPr>
            </a:lvl1pPr>
          </a:lstStyle>
          <a:p>
            <a:pPr lvl="0"/>
            <a:r>
              <a:rPr lang="en-US"/>
              <a:t>Click to edit Master title style</a:t>
            </a:r>
            <a:endParaRPr lang="en-US" dirty="0"/>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2017 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017 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328056"/>
            <a:ext cx="3886200" cy="5029200"/>
          </a:xfrm>
        </p:spPr>
        <p:txBody>
          <a:bodyPr>
            <a:normAutofit/>
          </a:bodyPr>
          <a:lstStyle>
            <a:lvl1pPr marL="233363" marR="0" indent="-233363" algn="l" defTabSz="914400" rtl="0" eaLnBrk="1" fontAlgn="base" latinLnBrk="0" hangingPunct="1">
              <a:lnSpc>
                <a:spcPct val="110000"/>
              </a:lnSpc>
              <a:spcBef>
                <a:spcPct val="20000"/>
              </a:spcBef>
              <a:spcAft>
                <a:spcPct val="0"/>
              </a:spcAft>
              <a:buClr>
                <a:schemeClr val="accent1"/>
              </a:buClr>
              <a:buSzTx/>
              <a:buFont typeface="Wingdings 2" pitchFamily="18" charset="2"/>
              <a:buChar char="¡"/>
              <a:tabLst/>
              <a:defRPr sz="1800">
                <a:latin typeface="Arial"/>
                <a:cs typeface="Arial"/>
              </a:defRPr>
            </a:lvl1pPr>
            <a:lvl2pPr marL="457200" marR="0" indent="-223838" algn="l" defTabSz="914400" rtl="0" eaLnBrk="1" fontAlgn="base" latinLnBrk="0" hangingPunct="1">
              <a:lnSpc>
                <a:spcPct val="110000"/>
              </a:lnSpc>
              <a:spcBef>
                <a:spcPct val="20000"/>
              </a:spcBef>
              <a:spcAft>
                <a:spcPct val="0"/>
              </a:spcAft>
              <a:buClr>
                <a:schemeClr val="accent1"/>
              </a:buClr>
              <a:buSzTx/>
              <a:buFont typeface="Verdana" pitchFamily="34" charset="0"/>
              <a:buChar char="–"/>
              <a:tabLst/>
              <a:defRPr sz="1600">
                <a:latin typeface="Arial"/>
                <a:cs typeface="Arial"/>
              </a:defRPr>
            </a:lvl2pPr>
            <a:lvl3pPr marL="693738" marR="0" indent="-228600" algn="l" defTabSz="914400" rtl="0" eaLnBrk="1" fontAlgn="base" latinLnBrk="0" hangingPunct="1">
              <a:lnSpc>
                <a:spcPct val="110000"/>
              </a:lnSpc>
              <a:spcBef>
                <a:spcPct val="20000"/>
              </a:spcBef>
              <a:spcAft>
                <a:spcPct val="0"/>
              </a:spcAft>
              <a:buClr>
                <a:schemeClr val="accent1"/>
              </a:buClr>
              <a:buSzPct val="80000"/>
              <a:buFont typeface="Courier New" pitchFamily="49" charset="0"/>
              <a:buChar char="o"/>
              <a:tabLst/>
              <a:defRPr sz="1600">
                <a:latin typeface="Arial"/>
                <a:cs typeface="Arial"/>
              </a:defRPr>
            </a:lvl3pPr>
            <a:lvl4pPr marL="917575" marR="0" indent="-228600" algn="l" defTabSz="914400" rtl="0" eaLnBrk="1" fontAlgn="base" latinLnBrk="0" hangingPunct="1">
              <a:lnSpc>
                <a:spcPct val="110000"/>
              </a:lnSpc>
              <a:spcBef>
                <a:spcPct val="20000"/>
              </a:spcBef>
              <a:spcAft>
                <a:spcPct val="0"/>
              </a:spcAft>
              <a:buClr>
                <a:schemeClr val="accent1"/>
              </a:buClr>
              <a:buSzTx/>
              <a:buFont typeface="Arial" pitchFamily="34" charset="0"/>
              <a:buChar char="•"/>
              <a:tabLst/>
              <a:defRPr sz="1600">
                <a:latin typeface="Arial"/>
                <a:cs typeface="Arial"/>
              </a:defRPr>
            </a:lvl4pPr>
            <a:lvl5pPr marL="1150938" marR="0" indent="-228600" algn="l" defTabSz="914400" rtl="0" eaLnBrk="1" fontAlgn="base" latinLnBrk="0" hangingPunct="1">
              <a:lnSpc>
                <a:spcPct val="110000"/>
              </a:lnSpc>
              <a:spcBef>
                <a:spcPct val="20000"/>
              </a:spcBef>
              <a:spcAft>
                <a:spcPct val="0"/>
              </a:spcAft>
              <a:buClr>
                <a:schemeClr val="accent1"/>
              </a:buClr>
              <a:buSzTx/>
              <a:buFont typeface="Arial" pitchFamily="34" charset="0"/>
              <a:buChar char="•"/>
              <a:tabLst/>
              <a:defRPr sz="1600">
                <a:latin typeface="Arial"/>
                <a:cs typeface="Arial"/>
              </a:defRPr>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Content Placeholder 3"/>
          <p:cNvSpPr>
            <a:spLocks noGrp="1"/>
          </p:cNvSpPr>
          <p:nvPr>
            <p:ph sz="half" idx="2"/>
          </p:nvPr>
        </p:nvSpPr>
        <p:spPr>
          <a:xfrm>
            <a:off x="4495800" y="1328056"/>
            <a:ext cx="4038600" cy="5029200"/>
          </a:xfrm>
        </p:spPr>
        <p:txBody>
          <a:bodyPr>
            <a:normAutofit/>
          </a:bodyPr>
          <a:lstStyle>
            <a:lvl1pPr marL="233363" marR="0" indent="-233363" algn="l" defTabSz="914400" rtl="0" eaLnBrk="1" fontAlgn="base" latinLnBrk="0" hangingPunct="1">
              <a:lnSpc>
                <a:spcPct val="110000"/>
              </a:lnSpc>
              <a:spcBef>
                <a:spcPct val="20000"/>
              </a:spcBef>
              <a:spcAft>
                <a:spcPct val="0"/>
              </a:spcAft>
              <a:buClr>
                <a:schemeClr val="accent1"/>
              </a:buClr>
              <a:buSzTx/>
              <a:buFont typeface="Wingdings 2" pitchFamily="18" charset="2"/>
              <a:buChar char="¡"/>
              <a:tabLst/>
              <a:defRPr sz="1800">
                <a:latin typeface="Arial"/>
                <a:cs typeface="Arial"/>
              </a:defRPr>
            </a:lvl1pPr>
            <a:lvl2pPr marL="457200" marR="0" indent="-223838" algn="l" defTabSz="914400" rtl="0" eaLnBrk="1" fontAlgn="base" latinLnBrk="0" hangingPunct="1">
              <a:lnSpc>
                <a:spcPct val="110000"/>
              </a:lnSpc>
              <a:spcBef>
                <a:spcPct val="20000"/>
              </a:spcBef>
              <a:spcAft>
                <a:spcPct val="0"/>
              </a:spcAft>
              <a:buClr>
                <a:schemeClr val="accent1"/>
              </a:buClr>
              <a:buSzTx/>
              <a:buFont typeface="Verdana" pitchFamily="34" charset="0"/>
              <a:buChar char="–"/>
              <a:tabLst/>
              <a:defRPr sz="1600">
                <a:latin typeface="Arial"/>
                <a:cs typeface="Arial"/>
              </a:defRPr>
            </a:lvl2pPr>
            <a:lvl3pPr marL="693738" marR="0" indent="-228600" algn="l" defTabSz="914400" rtl="0" eaLnBrk="1" fontAlgn="base" latinLnBrk="0" hangingPunct="1">
              <a:lnSpc>
                <a:spcPct val="110000"/>
              </a:lnSpc>
              <a:spcBef>
                <a:spcPct val="20000"/>
              </a:spcBef>
              <a:spcAft>
                <a:spcPct val="0"/>
              </a:spcAft>
              <a:buClr>
                <a:schemeClr val="accent1"/>
              </a:buClr>
              <a:buSzPct val="80000"/>
              <a:buFont typeface="Courier New" pitchFamily="49" charset="0"/>
              <a:buChar char="o"/>
              <a:tabLst/>
              <a:defRPr sz="1600">
                <a:latin typeface="Arial"/>
                <a:cs typeface="Arial"/>
              </a:defRPr>
            </a:lvl3pPr>
            <a:lvl4pPr marL="917575" marR="0" indent="-228600" algn="l" defTabSz="914400" rtl="0" eaLnBrk="1" fontAlgn="base" latinLnBrk="0" hangingPunct="1">
              <a:lnSpc>
                <a:spcPct val="110000"/>
              </a:lnSpc>
              <a:spcBef>
                <a:spcPct val="20000"/>
              </a:spcBef>
              <a:spcAft>
                <a:spcPct val="0"/>
              </a:spcAft>
              <a:buClr>
                <a:schemeClr val="accent1"/>
              </a:buClr>
              <a:buSzTx/>
              <a:buFont typeface="Arial" pitchFamily="34" charset="0"/>
              <a:buChar char="•"/>
              <a:tabLst/>
              <a:defRPr sz="1600">
                <a:latin typeface="Arial"/>
                <a:cs typeface="Arial"/>
              </a:defRPr>
            </a:lvl4pPr>
            <a:lvl5pPr marL="1150938" marR="0" indent="-228600" algn="l" defTabSz="914400" rtl="0" eaLnBrk="1" fontAlgn="base" latinLnBrk="0" hangingPunct="1">
              <a:lnSpc>
                <a:spcPct val="110000"/>
              </a:lnSpc>
              <a:spcBef>
                <a:spcPct val="20000"/>
              </a:spcBef>
              <a:spcAft>
                <a:spcPct val="0"/>
              </a:spcAft>
              <a:buClr>
                <a:schemeClr val="accent1"/>
              </a:buClr>
              <a:buSzTx/>
              <a:buFont typeface="Arial" pitchFamily="34" charset="0"/>
              <a:buChar char="•"/>
              <a:tabLst/>
              <a:defRPr sz="1600">
                <a:latin typeface="Arial"/>
                <a:cs typeface="Arial"/>
              </a:defRPr>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Rectangle 16"/>
          <p:cNvSpPr>
            <a:spLocks noGrp="1" noChangeArrowheads="1"/>
          </p:cNvSpPr>
          <p:nvPr>
            <p:ph type="title"/>
          </p:nvPr>
        </p:nvSpPr>
        <p:spPr bwMode="gray">
          <a:xfrm>
            <a:off x="457200" y="31468"/>
            <a:ext cx="6311536" cy="1005840"/>
          </a:xfrm>
          <a:prstGeom prst="rect">
            <a:avLst/>
          </a:prstGeom>
          <a:noFill/>
          <a:ln w="9525">
            <a:noFill/>
            <a:miter lim="800000"/>
            <a:headEnd/>
            <a:tailEnd/>
          </a:ln>
          <a:effectLst/>
        </p:spPr>
        <p:txBody>
          <a:bodyPr/>
          <a:lstStyle>
            <a:lvl1pPr>
              <a:defRPr>
                <a:solidFill>
                  <a:schemeClr val="accent1"/>
                </a:solidFill>
              </a:defRPr>
            </a:lvl1pPr>
          </a:lstStyle>
          <a:p>
            <a:pPr lvl="0"/>
            <a:r>
              <a:rPr lang="en-US"/>
              <a:t>Click to edit Master title style</a:t>
            </a:r>
            <a:endParaRPr lang="en-US" dirty="0"/>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017 1_3 Boxes">
    <p:spTree>
      <p:nvGrpSpPr>
        <p:cNvPr id="1" name=""/>
        <p:cNvGrpSpPr/>
        <p:nvPr/>
      </p:nvGrpSpPr>
      <p:grpSpPr>
        <a:xfrm>
          <a:off x="0" y="0"/>
          <a:ext cx="0" cy="0"/>
          <a:chOff x="0" y="0"/>
          <a:chExt cx="0" cy="0"/>
        </a:xfrm>
      </p:grpSpPr>
      <p:sp>
        <p:nvSpPr>
          <p:cNvPr id="7" name="Rectangle 16"/>
          <p:cNvSpPr>
            <a:spLocks noGrp="1" noChangeArrowheads="1"/>
          </p:cNvSpPr>
          <p:nvPr>
            <p:ph type="title"/>
          </p:nvPr>
        </p:nvSpPr>
        <p:spPr bwMode="gray">
          <a:xfrm>
            <a:off x="139336" y="31468"/>
            <a:ext cx="6629400" cy="1005840"/>
          </a:xfrm>
          <a:prstGeom prst="rect">
            <a:avLst/>
          </a:prstGeom>
          <a:noFill/>
          <a:ln w="9525">
            <a:noFill/>
            <a:miter lim="800000"/>
            <a:headEnd/>
            <a:tailEnd/>
          </a:ln>
          <a:effectLst/>
        </p:spPr>
        <p:txBody>
          <a:bodyPr/>
          <a:lstStyle>
            <a:lvl1pPr>
              <a:defRPr>
                <a:solidFill>
                  <a:srgbClr val="006DAC"/>
                </a:solidFill>
              </a:defRPr>
            </a:lvl1pPr>
          </a:lstStyle>
          <a:p>
            <a:pPr lvl="0"/>
            <a:r>
              <a:rPr lang="en-US"/>
              <a:t>Click to edit Master title style</a:t>
            </a:r>
            <a:endParaRPr lang="en-US" dirty="0"/>
          </a:p>
        </p:txBody>
      </p:sp>
      <p:sp>
        <p:nvSpPr>
          <p:cNvPr id="10" name="Content Placeholder 3"/>
          <p:cNvSpPr>
            <a:spLocks noGrp="1"/>
          </p:cNvSpPr>
          <p:nvPr>
            <p:ph sz="half" idx="12"/>
          </p:nvPr>
        </p:nvSpPr>
        <p:spPr>
          <a:xfrm>
            <a:off x="228600" y="4025030"/>
            <a:ext cx="8686800" cy="2560320"/>
          </a:xfrm>
          <a:noFill/>
          <a:ln>
            <a:solidFill>
              <a:schemeClr val="tx1"/>
            </a:solidFill>
          </a:ln>
        </p:spPr>
        <p:txBody>
          <a:bodyPr/>
          <a:lstStyle>
            <a:lvl1pPr marL="233363" indent="-233363">
              <a:defRPr sz="1600">
                <a:latin typeface="Arial"/>
                <a:cs typeface="Arial"/>
              </a:defRPr>
            </a:lvl1pPr>
            <a:lvl2pPr marL="457200" indent="-233363">
              <a:defRPr sz="1400">
                <a:latin typeface="Arial"/>
                <a:cs typeface="Arial"/>
              </a:defRPr>
            </a:lvl2pPr>
            <a:lvl3pPr marL="630238" indent="-173038">
              <a:defRPr sz="1400">
                <a:latin typeface="Arial"/>
                <a:cs typeface="Arial"/>
              </a:defRPr>
            </a:lvl3pPr>
            <a:lvl4pPr marL="744538" indent="-174625">
              <a:defRPr sz="1400">
                <a:latin typeface="Arial"/>
                <a:cs typeface="Arial"/>
              </a:defRPr>
            </a:lvl4pPr>
            <a:lvl5pPr marL="854075" indent="-173038">
              <a:defRPr sz="14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3"/>
          <p:cNvSpPr>
            <a:spLocks noGrp="1"/>
          </p:cNvSpPr>
          <p:nvPr>
            <p:ph sz="half" idx="13"/>
          </p:nvPr>
        </p:nvSpPr>
        <p:spPr>
          <a:xfrm>
            <a:off x="228600" y="1336764"/>
            <a:ext cx="8686800" cy="2560320"/>
          </a:xfrm>
          <a:noFill/>
          <a:ln>
            <a:solidFill>
              <a:schemeClr val="tx1"/>
            </a:solidFill>
          </a:ln>
        </p:spPr>
        <p:txBody>
          <a:bodyPr/>
          <a:lstStyle>
            <a:lvl1pPr marL="233363" indent="-233363">
              <a:defRPr sz="1600">
                <a:latin typeface="Arial"/>
                <a:cs typeface="Arial"/>
              </a:defRPr>
            </a:lvl1pPr>
            <a:lvl2pPr marL="457200" indent="-233363">
              <a:defRPr sz="1400">
                <a:latin typeface="Arial"/>
                <a:cs typeface="Arial"/>
              </a:defRPr>
            </a:lvl2pPr>
            <a:lvl3pPr marL="630238" indent="-173038">
              <a:defRPr sz="1400">
                <a:latin typeface="Arial"/>
                <a:cs typeface="Arial"/>
              </a:defRPr>
            </a:lvl3pPr>
            <a:lvl4pPr marL="744538" indent="-174625">
              <a:defRPr sz="1400">
                <a:latin typeface="Arial"/>
                <a:cs typeface="Arial"/>
              </a:defRPr>
            </a:lvl4pPr>
            <a:lvl5pPr marL="854075" indent="-173038">
              <a:defRPr sz="14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017 Comparison with Header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48200" y="1219200"/>
            <a:ext cx="4267200" cy="914400"/>
          </a:xfrm>
          <a:solidFill>
            <a:srgbClr val="0077BB"/>
          </a:solidFill>
          <a:ln>
            <a:solidFill>
              <a:schemeClr val="tx1"/>
            </a:solidFill>
          </a:ln>
        </p:spPr>
        <p:txBody>
          <a:bodyPr anchor="ctr">
            <a:normAutofit/>
          </a:bodyPr>
          <a:lstStyle>
            <a:lvl1pPr marL="0" indent="0" algn="ctr">
              <a:buNone/>
              <a:defRPr sz="16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228600" y="1219200"/>
            <a:ext cx="4267200" cy="914400"/>
          </a:xfrm>
          <a:solidFill>
            <a:srgbClr val="0077BB"/>
          </a:solidFill>
          <a:ln>
            <a:solidFill>
              <a:schemeClr val="tx1"/>
            </a:solidFill>
          </a:ln>
        </p:spPr>
        <p:txBody>
          <a:bodyPr anchor="ctr">
            <a:normAutofit/>
          </a:bodyPr>
          <a:lstStyle>
            <a:lvl1pPr marL="0" indent="0" algn="ctr">
              <a:buNone/>
              <a:defRPr sz="16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10"/>
          </p:nvPr>
        </p:nvSpPr>
        <p:spPr>
          <a:xfrm>
            <a:off x="228600" y="2133600"/>
            <a:ext cx="4267200" cy="4572000"/>
          </a:xfrm>
          <a:ln>
            <a:solidFill>
              <a:schemeClr val="tx1"/>
            </a:solidFill>
          </a:ln>
        </p:spPr>
        <p:txBody>
          <a:bodyPr/>
          <a:lstStyle>
            <a:lvl1pPr marL="228600" indent="-228600">
              <a:defRPr sz="1600">
                <a:latin typeface="Arial"/>
                <a:cs typeface="Arial"/>
              </a:defRPr>
            </a:lvl1pPr>
            <a:lvl2pPr marL="284163" indent="-173038">
              <a:defRPr sz="1400">
                <a:latin typeface="Arial"/>
                <a:cs typeface="Arial"/>
              </a:defRPr>
            </a:lvl2pPr>
            <a:lvl3pPr marL="396875" indent="-112713">
              <a:defRPr sz="1400">
                <a:latin typeface="Arial"/>
                <a:cs typeface="Arial"/>
              </a:defRPr>
            </a:lvl3pPr>
            <a:lvl4pPr marL="512763" indent="-112713">
              <a:defRPr sz="1400">
                <a:latin typeface="Arial"/>
                <a:cs typeface="Arial"/>
              </a:defRPr>
            </a:lvl4pPr>
            <a:lvl5pPr marL="627063" indent="-112713">
              <a:defRPr sz="1400">
                <a:latin typeface="Arial"/>
                <a:cs typeface="Aria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16"/>
          <p:cNvSpPr>
            <a:spLocks noGrp="1" noChangeArrowheads="1"/>
          </p:cNvSpPr>
          <p:nvPr>
            <p:ph type="title"/>
          </p:nvPr>
        </p:nvSpPr>
        <p:spPr bwMode="gray">
          <a:xfrm>
            <a:off x="139336" y="32656"/>
            <a:ext cx="6629400" cy="1005840"/>
          </a:xfrm>
          <a:prstGeom prst="rect">
            <a:avLst/>
          </a:prstGeom>
          <a:noFill/>
          <a:ln w="9525">
            <a:noFill/>
            <a:miter lim="800000"/>
            <a:headEnd/>
            <a:tailEnd/>
          </a:ln>
          <a:effectLst/>
        </p:spPr>
        <p:txBody>
          <a:bodyPr/>
          <a:lstStyle>
            <a:lvl1pPr>
              <a:defRPr lang="en-US" sz="2400" b="0" dirty="0" smtClean="0">
                <a:solidFill>
                  <a:srgbClr val="0077BB"/>
                </a:solidFill>
                <a:effectLst/>
                <a:latin typeface="Arial"/>
                <a:ea typeface="MS PGothic" pitchFamily="34" charset="-128"/>
                <a:cs typeface="Arial"/>
              </a:defRPr>
            </a:lvl1pPr>
          </a:lstStyle>
          <a:p>
            <a:pPr lvl="0"/>
            <a:r>
              <a:rPr lang="en-US"/>
              <a:t>Click to edit Master title style</a:t>
            </a:r>
            <a:endParaRPr lang="en-US" dirty="0"/>
          </a:p>
        </p:txBody>
      </p:sp>
      <p:sp>
        <p:nvSpPr>
          <p:cNvPr id="7" name="Content Placeholder 5"/>
          <p:cNvSpPr>
            <a:spLocks noGrp="1"/>
          </p:cNvSpPr>
          <p:nvPr>
            <p:ph sz="quarter" idx="11"/>
          </p:nvPr>
        </p:nvSpPr>
        <p:spPr>
          <a:xfrm>
            <a:off x="4648200" y="2139402"/>
            <a:ext cx="4267200" cy="4572000"/>
          </a:xfrm>
          <a:ln>
            <a:solidFill>
              <a:schemeClr val="tx1"/>
            </a:solidFill>
          </a:ln>
        </p:spPr>
        <p:txBody>
          <a:bodyPr/>
          <a:lstStyle>
            <a:lvl1pPr marL="228600" indent="-228600">
              <a:defRPr sz="1600">
                <a:latin typeface="Arial"/>
                <a:cs typeface="Arial"/>
              </a:defRPr>
            </a:lvl1pPr>
            <a:lvl2pPr marL="284163" indent="-173038">
              <a:defRPr sz="1400">
                <a:latin typeface="Arial"/>
                <a:cs typeface="Arial"/>
              </a:defRPr>
            </a:lvl2pPr>
            <a:lvl3pPr marL="396875" indent="-112713">
              <a:defRPr sz="1400">
                <a:latin typeface="Arial"/>
                <a:cs typeface="Arial"/>
              </a:defRPr>
            </a:lvl3pPr>
            <a:lvl4pPr marL="512763" indent="-112713">
              <a:defRPr sz="1400">
                <a:latin typeface="Arial"/>
                <a:cs typeface="Arial"/>
              </a:defRPr>
            </a:lvl4pPr>
            <a:lvl5pPr marL="627063" indent="-112713">
              <a:defRPr sz="1400">
                <a:latin typeface="Arial"/>
                <a:cs typeface="Aria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017 4 Boxes">
    <p:spTree>
      <p:nvGrpSpPr>
        <p:cNvPr id="1" name=""/>
        <p:cNvGrpSpPr/>
        <p:nvPr/>
      </p:nvGrpSpPr>
      <p:grpSpPr>
        <a:xfrm>
          <a:off x="0" y="0"/>
          <a:ext cx="0" cy="0"/>
          <a:chOff x="0" y="0"/>
          <a:chExt cx="0" cy="0"/>
        </a:xfrm>
      </p:grpSpPr>
      <p:sp>
        <p:nvSpPr>
          <p:cNvPr id="2" name="Title 1"/>
          <p:cNvSpPr>
            <a:spLocks noGrp="1"/>
          </p:cNvSpPr>
          <p:nvPr>
            <p:ph type="title"/>
          </p:nvPr>
        </p:nvSpPr>
        <p:spPr>
          <a:xfrm>
            <a:off x="139336" y="31468"/>
            <a:ext cx="6629400" cy="1005840"/>
          </a:xfrm>
        </p:spPr>
        <p:txBody>
          <a:bodyPr/>
          <a:lstStyle>
            <a:lvl1pPr>
              <a:defRPr>
                <a:solidFill>
                  <a:srgbClr val="0077BB"/>
                </a:solidFill>
              </a:defRPr>
            </a:lvl1pPr>
          </a:lstStyle>
          <a:p>
            <a:r>
              <a:rPr lang="en-US"/>
              <a:t>Click to edit Master title style</a:t>
            </a:r>
            <a:endParaRPr lang="en-US" dirty="0"/>
          </a:p>
        </p:txBody>
      </p:sp>
      <p:sp>
        <p:nvSpPr>
          <p:cNvPr id="3" name="Content Placeholder 2"/>
          <p:cNvSpPr>
            <a:spLocks noGrp="1"/>
          </p:cNvSpPr>
          <p:nvPr>
            <p:ph sz="half" idx="1"/>
          </p:nvPr>
        </p:nvSpPr>
        <p:spPr>
          <a:xfrm>
            <a:off x="223838" y="1338744"/>
            <a:ext cx="4114800" cy="2514600"/>
          </a:xfrm>
        </p:spPr>
        <p:txBody>
          <a:bodyPr/>
          <a:lstStyle>
            <a:lvl1pPr marL="233363" indent="-233363">
              <a:defRPr sz="1600">
                <a:latin typeface="Arial"/>
                <a:cs typeface="Arial"/>
              </a:defRPr>
            </a:lvl1pPr>
            <a:lvl2pPr marL="284163" indent="-171450">
              <a:defRPr sz="1400">
                <a:latin typeface="Arial"/>
                <a:cs typeface="Arial"/>
              </a:defRPr>
            </a:lvl2pPr>
            <a:lvl3pPr marL="396875" indent="-165100">
              <a:defRPr sz="1400">
                <a:latin typeface="Arial"/>
                <a:cs typeface="Arial"/>
              </a:defRPr>
            </a:lvl3pPr>
            <a:lvl4pPr marL="630238" indent="-173038">
              <a:defRPr sz="1400">
                <a:latin typeface="Arial"/>
                <a:cs typeface="Arial"/>
              </a:defRPr>
            </a:lvl4pPr>
            <a:lvl5pPr marL="801688" indent="-171450">
              <a:defRPr sz="14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sz="half" idx="10"/>
          </p:nvPr>
        </p:nvSpPr>
        <p:spPr>
          <a:xfrm>
            <a:off x="4703134" y="1338744"/>
            <a:ext cx="4114800" cy="2514600"/>
          </a:xfrm>
        </p:spPr>
        <p:txBody>
          <a:bodyPr/>
          <a:lstStyle>
            <a:lvl1pPr marL="233363" indent="-233363">
              <a:defRPr sz="1600">
                <a:latin typeface="Arial"/>
                <a:cs typeface="Arial"/>
              </a:defRPr>
            </a:lvl1pPr>
            <a:lvl2pPr marL="287338" indent="-174625">
              <a:defRPr sz="1400">
                <a:latin typeface="Arial"/>
                <a:cs typeface="Arial"/>
              </a:defRPr>
            </a:lvl2pPr>
            <a:lvl3pPr marL="382588" indent="-153988">
              <a:defRPr sz="1400">
                <a:latin typeface="Arial"/>
                <a:cs typeface="Arial"/>
              </a:defRPr>
            </a:lvl3pPr>
            <a:lvl4pPr marL="606425" indent="-149225">
              <a:defRPr sz="1400">
                <a:latin typeface="Arial"/>
                <a:cs typeface="Arial"/>
              </a:defRPr>
            </a:lvl4pPr>
            <a:lvl5pPr marL="796925" indent="-173038">
              <a:defRPr sz="14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half" idx="11"/>
          </p:nvPr>
        </p:nvSpPr>
        <p:spPr>
          <a:xfrm>
            <a:off x="228600" y="4038600"/>
            <a:ext cx="4114800" cy="2514600"/>
          </a:xfrm>
        </p:spPr>
        <p:txBody>
          <a:bodyPr/>
          <a:lstStyle>
            <a:lvl1pPr marL="233363" indent="-233363">
              <a:defRPr sz="1600">
                <a:latin typeface="Arial"/>
                <a:cs typeface="Arial"/>
              </a:defRPr>
            </a:lvl1pPr>
            <a:lvl2pPr marL="287338" indent="-174625">
              <a:defRPr sz="1400">
                <a:latin typeface="Arial"/>
                <a:cs typeface="Arial"/>
              </a:defRPr>
            </a:lvl2pPr>
            <a:lvl3pPr marL="396875" indent="-165100">
              <a:defRPr sz="1400">
                <a:latin typeface="Arial"/>
                <a:cs typeface="Arial"/>
              </a:defRPr>
            </a:lvl3pPr>
            <a:lvl4pPr marL="627063" indent="-169863">
              <a:defRPr sz="1400">
                <a:latin typeface="Arial"/>
                <a:cs typeface="Arial"/>
              </a:defRPr>
            </a:lvl4pPr>
            <a:lvl5pPr marL="800100" indent="-173038">
              <a:defRPr sz="14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sz="half" idx="12"/>
          </p:nvPr>
        </p:nvSpPr>
        <p:spPr>
          <a:xfrm>
            <a:off x="4707896" y="4038600"/>
            <a:ext cx="4114800" cy="2514600"/>
          </a:xfrm>
        </p:spPr>
        <p:txBody>
          <a:bodyPr/>
          <a:lstStyle>
            <a:lvl1pPr marL="233363" indent="-233363">
              <a:defRPr sz="1600">
                <a:latin typeface="Arial"/>
                <a:cs typeface="Arial"/>
              </a:defRPr>
            </a:lvl1pPr>
            <a:lvl2pPr marL="287338" indent="-174625">
              <a:defRPr sz="1400">
                <a:latin typeface="Arial"/>
                <a:cs typeface="Arial"/>
              </a:defRPr>
            </a:lvl2pPr>
            <a:lvl3pPr marL="382588" indent="-153988">
              <a:defRPr sz="1400">
                <a:latin typeface="Arial"/>
                <a:cs typeface="Arial"/>
              </a:defRPr>
            </a:lvl3pPr>
            <a:lvl4pPr marL="606425" indent="-153988">
              <a:defRPr sz="1400">
                <a:latin typeface="Arial"/>
                <a:cs typeface="Arial"/>
              </a:defRPr>
            </a:lvl4pPr>
            <a:lvl5pPr marL="862013" indent="-173038">
              <a:defRPr sz="14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017 3 Boxes">
    <p:spTree>
      <p:nvGrpSpPr>
        <p:cNvPr id="1" name=""/>
        <p:cNvGrpSpPr/>
        <p:nvPr/>
      </p:nvGrpSpPr>
      <p:grpSpPr>
        <a:xfrm>
          <a:off x="0" y="0"/>
          <a:ext cx="0" cy="0"/>
          <a:chOff x="0" y="0"/>
          <a:chExt cx="0" cy="0"/>
        </a:xfrm>
      </p:grpSpPr>
      <p:sp>
        <p:nvSpPr>
          <p:cNvPr id="7" name="Rectangle 16"/>
          <p:cNvSpPr>
            <a:spLocks noGrp="1" noChangeArrowheads="1"/>
          </p:cNvSpPr>
          <p:nvPr>
            <p:ph type="title"/>
          </p:nvPr>
        </p:nvSpPr>
        <p:spPr bwMode="gray">
          <a:xfrm>
            <a:off x="139336" y="31468"/>
            <a:ext cx="6629400" cy="1005840"/>
          </a:xfrm>
          <a:prstGeom prst="rect">
            <a:avLst/>
          </a:prstGeom>
          <a:noFill/>
          <a:ln w="9525">
            <a:noFill/>
            <a:miter lim="800000"/>
            <a:headEnd/>
            <a:tailEnd/>
          </a:ln>
          <a:effectLst/>
        </p:spPr>
        <p:txBody>
          <a:bodyPr/>
          <a:lstStyle>
            <a:lvl1pPr>
              <a:defRPr>
                <a:solidFill>
                  <a:srgbClr val="0077BB"/>
                </a:solidFill>
              </a:defRPr>
            </a:lvl1pPr>
          </a:lstStyle>
          <a:p>
            <a:pPr lvl="0"/>
            <a:r>
              <a:rPr lang="en-US"/>
              <a:t>Click to edit Master title style</a:t>
            </a:r>
            <a:endParaRPr lang="en-US" dirty="0"/>
          </a:p>
        </p:txBody>
      </p:sp>
      <p:sp>
        <p:nvSpPr>
          <p:cNvPr id="10" name="Content Placeholder 2"/>
          <p:cNvSpPr>
            <a:spLocks noGrp="1"/>
          </p:cNvSpPr>
          <p:nvPr>
            <p:ph sz="half" idx="1"/>
          </p:nvPr>
        </p:nvSpPr>
        <p:spPr>
          <a:xfrm>
            <a:off x="223838" y="1338944"/>
            <a:ext cx="4114800" cy="2514600"/>
          </a:xfrm>
        </p:spPr>
        <p:txBody>
          <a:bodyPr/>
          <a:lstStyle>
            <a:lvl1pPr marL="233363" indent="-233363">
              <a:defRPr sz="1600">
                <a:latin typeface="Arial"/>
                <a:cs typeface="Arial"/>
              </a:defRPr>
            </a:lvl1pPr>
            <a:lvl2pPr marL="284163" indent="-171450">
              <a:defRPr sz="1400">
                <a:latin typeface="Arial"/>
                <a:cs typeface="Arial"/>
              </a:defRPr>
            </a:lvl2pPr>
            <a:lvl3pPr marL="396875" indent="-165100">
              <a:defRPr sz="1400">
                <a:latin typeface="Arial"/>
                <a:cs typeface="Arial"/>
              </a:defRPr>
            </a:lvl3pPr>
            <a:lvl4pPr marL="630238" indent="-173038">
              <a:defRPr sz="1400">
                <a:latin typeface="Arial"/>
                <a:cs typeface="Arial"/>
              </a:defRPr>
            </a:lvl4pPr>
            <a:lvl5pPr marL="801688" indent="-171450">
              <a:defRPr sz="14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sz="half" idx="12"/>
          </p:nvPr>
        </p:nvSpPr>
        <p:spPr>
          <a:xfrm>
            <a:off x="4701364" y="1338944"/>
            <a:ext cx="4256315" cy="2514600"/>
          </a:xfrm>
        </p:spPr>
        <p:txBody>
          <a:bodyPr/>
          <a:lstStyle>
            <a:lvl1pPr marL="233363" indent="-233363">
              <a:defRPr sz="1600">
                <a:latin typeface="Arial"/>
                <a:cs typeface="Arial"/>
              </a:defRPr>
            </a:lvl1pPr>
            <a:lvl2pPr marL="284163" indent="-171450">
              <a:defRPr sz="1400">
                <a:latin typeface="Arial"/>
                <a:cs typeface="Arial"/>
              </a:defRPr>
            </a:lvl2pPr>
            <a:lvl3pPr marL="382588" indent="-150813">
              <a:defRPr sz="1400">
                <a:latin typeface="Arial"/>
                <a:cs typeface="Arial"/>
              </a:defRPr>
            </a:lvl3pPr>
            <a:lvl4pPr marL="606425" indent="-149225">
              <a:defRPr sz="1400">
                <a:latin typeface="Arial"/>
                <a:cs typeface="Arial"/>
              </a:defRPr>
            </a:lvl4pPr>
            <a:lvl5pPr marL="798513" indent="-171450">
              <a:defRPr sz="14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p:cNvSpPr>
            <a:spLocks noGrp="1"/>
          </p:cNvSpPr>
          <p:nvPr>
            <p:ph sz="half" idx="13"/>
          </p:nvPr>
        </p:nvSpPr>
        <p:spPr>
          <a:xfrm>
            <a:off x="228600" y="4025791"/>
            <a:ext cx="8675914" cy="2560320"/>
          </a:xfrm>
          <a:noFill/>
          <a:ln>
            <a:solidFill>
              <a:schemeClr val="tx1"/>
            </a:solidFill>
          </a:ln>
        </p:spPr>
        <p:txBody>
          <a:bodyPr/>
          <a:lstStyle>
            <a:lvl1pPr marL="233363" indent="-233363">
              <a:defRPr sz="1600">
                <a:latin typeface="Arial"/>
                <a:cs typeface="Arial"/>
              </a:defRPr>
            </a:lvl1pPr>
            <a:lvl2pPr marL="287338" indent="-163513">
              <a:defRPr sz="1400">
                <a:latin typeface="Arial"/>
                <a:cs typeface="Arial"/>
              </a:defRPr>
            </a:lvl2pPr>
            <a:lvl3pPr marL="393700" indent="-163513">
              <a:tabLst/>
              <a:defRPr sz="1400">
                <a:latin typeface="Arial"/>
                <a:cs typeface="Arial"/>
              </a:defRPr>
            </a:lvl3pPr>
            <a:lvl4pPr marL="627063" indent="-168275">
              <a:defRPr sz="1400">
                <a:latin typeface="Arial"/>
                <a:cs typeface="Arial"/>
              </a:defRPr>
            </a:lvl4pPr>
            <a:lvl5pPr marL="792163" indent="-165100">
              <a:defRPr sz="1400">
                <a:latin typeface="Arial"/>
                <a:cs typeface="Aria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011 Planning Title">
    <p:spTree>
      <p:nvGrpSpPr>
        <p:cNvPr id="1" name=""/>
        <p:cNvGrpSpPr/>
        <p:nvPr/>
      </p:nvGrpSpPr>
      <p:grpSpPr>
        <a:xfrm>
          <a:off x="0" y="0"/>
          <a:ext cx="0" cy="0"/>
          <a:chOff x="0" y="0"/>
          <a:chExt cx="0" cy="0"/>
        </a:xfrm>
      </p:grpSpPr>
      <p:sp>
        <p:nvSpPr>
          <p:cNvPr id="7" name="Rectangle 14"/>
          <p:cNvSpPr>
            <a:spLocks noGrp="1" noChangeArrowheads="1"/>
          </p:cNvSpPr>
          <p:nvPr>
            <p:ph type="subTitle" idx="1"/>
          </p:nvPr>
        </p:nvSpPr>
        <p:spPr>
          <a:xfrm>
            <a:off x="1371600" y="3886200"/>
            <a:ext cx="6400800" cy="1752600"/>
          </a:xfrm>
        </p:spPr>
        <p:txBody>
          <a:bodyPr/>
          <a:lstStyle>
            <a:lvl1pPr marL="0" indent="0" algn="ctr">
              <a:buFont typeface="Wingdings 2" pitchFamily="18" charset="2"/>
              <a:buNone/>
              <a:defRPr smtClean="0">
                <a:solidFill>
                  <a:schemeClr val="accent1"/>
                </a:solidFill>
                <a:effectLst/>
              </a:defRPr>
            </a:lvl1pPr>
          </a:lstStyle>
          <a:p>
            <a:r>
              <a:rPr lang="en-US"/>
              <a:t>Click to edit Master subtitle style</a:t>
            </a:r>
            <a:endParaRPr lang="en-US" dirty="0"/>
          </a:p>
        </p:txBody>
      </p:sp>
      <p:pic>
        <p:nvPicPr>
          <p:cNvPr id="4" name="Picture 9" descr="ppt_header_white_ltblue.jpg"/>
          <p:cNvPicPr>
            <a:picLocks noChangeAspect="1"/>
          </p:cNvPicPr>
          <p:nvPr userDrawn="1"/>
        </p:nvPicPr>
        <p:blipFill>
          <a:blip r:embed="rId2" cstate="print">
            <a:extLst>
              <a:ext uri="{28A0092B-C50C-407E-A947-70E740481C1C}">
                <a14:useLocalDpi xmlns:a14="http://schemas.microsoft.com/office/drawing/2010/main" val="0"/>
              </a:ext>
            </a:extLst>
          </a:blip>
          <a:srcRect t="1224" b="11974"/>
          <a:stretch>
            <a:fillRect/>
          </a:stretch>
        </p:blipFill>
        <p:spPr bwMode="auto">
          <a:xfrm>
            <a:off x="0" y="0"/>
            <a:ext cx="91440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8"/>
          <p:cNvSpPr>
            <a:spLocks noGrp="1" noChangeArrowheads="1"/>
          </p:cNvSpPr>
          <p:nvPr>
            <p:ph type="ctrTitle"/>
          </p:nvPr>
        </p:nvSpPr>
        <p:spPr>
          <a:xfrm>
            <a:off x="0" y="1"/>
            <a:ext cx="7772400" cy="1143000"/>
          </a:xfrm>
        </p:spPr>
        <p:txBody>
          <a:bodyPr lIns="0" tIns="0" rIns="0" bIns="0" anchor="b" anchorCtr="0"/>
          <a:lstStyle>
            <a:lvl1pPr algn="l">
              <a:lnSpc>
                <a:spcPct val="110000"/>
              </a:lnSpc>
              <a:defRPr smtClean="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456400853"/>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8086" y="0"/>
            <a:ext cx="6542314" cy="1066800"/>
          </a:xfrm>
        </p:spPr>
        <p:txBody>
          <a:bodyPr/>
          <a:lstStyle/>
          <a:p>
            <a:r>
              <a:rPr lang="en-US"/>
              <a:t>Click to edit Master title style</a:t>
            </a:r>
            <a:endParaRPr lang="en-US" dirty="0"/>
          </a:p>
        </p:txBody>
      </p:sp>
      <p:sp>
        <p:nvSpPr>
          <p:cNvPr id="3" name="Content Placeholder 2"/>
          <p:cNvSpPr>
            <a:spLocks noGrp="1"/>
          </p:cNvSpPr>
          <p:nvPr>
            <p:ph idx="1"/>
          </p:nvPr>
        </p:nvSpPr>
        <p:spPr>
          <a:xfrm>
            <a:off x="446314" y="1312000"/>
            <a:ext cx="8392886" cy="5029200"/>
          </a:xfrm>
        </p:spPr>
        <p:txBody>
          <a:bodyPr>
            <a:normAutofit/>
          </a:bodyPr>
          <a:lstStyle>
            <a:lvl1pPr marL="228600" indent="-228600">
              <a:defRPr/>
            </a:lvl1pPr>
            <a:lvl2pPr marL="685800" indent="-338138">
              <a:defRPr/>
            </a:lvl2pPr>
            <a:lvl3pPr>
              <a:defRPr/>
            </a:lvl3pPr>
            <a:lvl4pPr>
              <a:defRPr baseline="0"/>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365653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Rectangle 16"/>
          <p:cNvSpPr>
            <a:spLocks noGrp="1" noChangeArrowheads="1"/>
          </p:cNvSpPr>
          <p:nvPr>
            <p:ph type="title"/>
          </p:nvPr>
        </p:nvSpPr>
        <p:spPr bwMode="gray">
          <a:xfrm>
            <a:off x="152400" y="0"/>
            <a:ext cx="6489700" cy="1041400"/>
          </a:xfrm>
          <a:prstGeom prst="rect">
            <a:avLst/>
          </a:prstGeom>
          <a:noFill/>
          <a:ln w="9525">
            <a:noFill/>
            <a:miter lim="800000"/>
            <a:headEnd/>
            <a:tailEnd/>
          </a:ln>
          <a:effectLst/>
        </p:spPr>
        <p:txBody>
          <a:bodyPr/>
          <a:lstStyle/>
          <a:p>
            <a:pPr lvl="0"/>
            <a:r>
              <a:rPr lang="en-US"/>
              <a:t>Click to edit Master title style</a:t>
            </a:r>
            <a:endParaRPr lang="en-US" dirty="0"/>
          </a:p>
        </p:txBody>
      </p:sp>
    </p:spTree>
    <p:extLst>
      <p:ext uri="{BB962C8B-B14F-4D97-AF65-F5344CB8AC3E}">
        <p14:creationId xmlns:p14="http://schemas.microsoft.com/office/powerpoint/2010/main" val="51668467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77800" y="106363"/>
            <a:ext cx="7747000" cy="935037"/>
          </a:xfrm>
        </p:spPr>
        <p:txBody>
          <a:bodyPr/>
          <a:lstStyle/>
          <a:p>
            <a:r>
              <a:rPr lang="en-US"/>
              <a:t>Click to edit Master title style</a:t>
            </a:r>
          </a:p>
        </p:txBody>
      </p:sp>
      <p:sp>
        <p:nvSpPr>
          <p:cNvPr id="3" name="Table Placeholder 2"/>
          <p:cNvSpPr>
            <a:spLocks noGrp="1"/>
          </p:cNvSpPr>
          <p:nvPr>
            <p:ph type="tbl" idx="1"/>
          </p:nvPr>
        </p:nvSpPr>
        <p:spPr>
          <a:xfrm>
            <a:off x="455613" y="1219200"/>
            <a:ext cx="8293100" cy="5224463"/>
          </a:xfrm>
        </p:spPr>
        <p:txBody>
          <a:bodyPr/>
          <a:lstStyle/>
          <a:p>
            <a:pPr lvl="0"/>
            <a:endParaRPr lang="en-US" noProof="0"/>
          </a:p>
        </p:txBody>
      </p:sp>
      <p:sp>
        <p:nvSpPr>
          <p:cNvPr id="4" name="Rectangle 6"/>
          <p:cNvSpPr>
            <a:spLocks noGrp="1" noChangeArrowheads="1"/>
          </p:cNvSpPr>
          <p:nvPr>
            <p:ph type="sldNum" sz="quarter" idx="10"/>
          </p:nvPr>
        </p:nvSpPr>
        <p:spPr>
          <a:xfrm>
            <a:off x="7010400" y="6381750"/>
            <a:ext cx="2133600" cy="476250"/>
          </a:xfrm>
          <a:prstGeom prst="rect">
            <a:avLst/>
          </a:prstGeom>
          <a:ln/>
        </p:spPr>
        <p:txBody>
          <a:bodyPr/>
          <a:lstStyle>
            <a:lvl1pPr>
              <a:defRPr/>
            </a:lvl1pPr>
          </a:lstStyle>
          <a:p>
            <a:pPr>
              <a:defRPr/>
            </a:pPr>
            <a:fld id="{D01AFF37-9858-46F2-827C-BFE737A1D321}" type="slidenum">
              <a:rPr lang="en-US"/>
              <a:pPr>
                <a:defRPr/>
              </a:pPr>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7950" y="1295400"/>
            <a:ext cx="4343400" cy="5029200"/>
          </a:xfrm>
        </p:spPr>
        <p:txBody>
          <a:bodyPr>
            <a:normAutofit/>
          </a:bodyPr>
          <a:lstStyle>
            <a:lvl1pPr marL="228600" indent="-228600">
              <a:defRPr sz="1800"/>
            </a:lvl1pPr>
            <a:lvl2pPr>
              <a:defRPr sz="1600">
                <a:latin typeface="+mn-lt"/>
              </a:defRPr>
            </a:lvl2pPr>
            <a:lvl3pPr>
              <a:defRPr sz="1600">
                <a:latin typeface="+mn-lt"/>
              </a:defRPr>
            </a:lvl3pPr>
            <a:lvl4pPr>
              <a:defRPr sz="1600">
                <a:latin typeface="+mn-lt"/>
              </a:defRPr>
            </a:lvl4pPr>
            <a:lvl5pPr>
              <a:defRPr sz="1600">
                <a:latin typeface="+mn-lt"/>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95400"/>
            <a:ext cx="4343400" cy="5029200"/>
          </a:xfrm>
        </p:spPr>
        <p:txBody>
          <a:bodyPr>
            <a:normAutofit/>
          </a:bodyPr>
          <a:lstStyle>
            <a:lvl1pPr marL="228600" indent="-228600">
              <a:defRPr sz="1800"/>
            </a:lvl1pPr>
            <a:lvl2pPr>
              <a:defRPr sz="1600">
                <a:latin typeface="+mn-lt"/>
              </a:defRPr>
            </a:lvl2pPr>
            <a:lvl3pPr>
              <a:defRPr sz="1600">
                <a:latin typeface="+mn-lt"/>
              </a:defRPr>
            </a:lvl3pPr>
            <a:lvl4pPr>
              <a:defRPr sz="1600">
                <a:latin typeface="+mn-lt"/>
              </a:defRPr>
            </a:lvl4pPr>
            <a:lvl5pPr>
              <a:defRPr sz="1600">
                <a:latin typeface="+mn-lt"/>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6"/>
          <p:cNvSpPr>
            <a:spLocks noGrp="1" noChangeArrowheads="1"/>
          </p:cNvSpPr>
          <p:nvPr>
            <p:ph type="title"/>
          </p:nvPr>
        </p:nvSpPr>
        <p:spPr bwMode="gray">
          <a:xfrm>
            <a:off x="152400" y="0"/>
            <a:ext cx="6489700" cy="1041400"/>
          </a:xfrm>
          <a:prstGeom prst="rect">
            <a:avLst/>
          </a:prstGeom>
          <a:noFill/>
          <a:ln w="9525">
            <a:noFill/>
            <a:miter lim="800000"/>
            <a:headEnd/>
            <a:tailEnd/>
          </a:ln>
          <a:effectLst/>
        </p:spPr>
        <p:txBody>
          <a:bodyPr/>
          <a:lstStyle/>
          <a:p>
            <a:pPr lvl="0"/>
            <a:r>
              <a:rPr lang="en-US"/>
              <a:t>Click to edit Master title style</a:t>
            </a:r>
            <a:endParaRPr lang="en-US" dirty="0"/>
          </a:p>
        </p:txBody>
      </p:sp>
    </p:spTree>
    <p:extLst>
      <p:ext uri="{BB962C8B-B14F-4D97-AF65-F5344CB8AC3E}">
        <p14:creationId xmlns:p14="http://schemas.microsoft.com/office/powerpoint/2010/main" val="168142301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5613" y="1681163"/>
            <a:ext cx="8293100" cy="4762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p:cNvSpPr>
            <a:spLocks noGrp="1"/>
          </p:cNvSpPr>
          <p:nvPr>
            <p:ph type="title"/>
          </p:nvPr>
        </p:nvSpPr>
        <p:spPr/>
        <p:txBody>
          <a:bodyPr/>
          <a:lstStyle/>
          <a:p>
            <a:r>
              <a:rPr lang="en-US"/>
              <a:t>Click to edit Master title style</a:t>
            </a:r>
            <a:endParaRPr lang="nl-NL"/>
          </a:p>
        </p:txBody>
      </p:sp>
    </p:spTree>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17 Wates Brand 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1243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17.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7" name="Rectangle 14"/>
          <p:cNvSpPr>
            <a:spLocks noGrp="1" noChangeArrowheads="1"/>
          </p:cNvSpPr>
          <p:nvPr>
            <p:ph type="body" idx="1"/>
          </p:nvPr>
        </p:nvSpPr>
        <p:spPr bwMode="gray">
          <a:xfrm>
            <a:off x="130175" y="1328738"/>
            <a:ext cx="8686800" cy="51482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Text Box 4"/>
          <p:cNvSpPr txBox="1">
            <a:spLocks noChangeArrowheads="1"/>
          </p:cNvSpPr>
          <p:nvPr/>
        </p:nvSpPr>
        <p:spPr bwMode="auto">
          <a:xfrm>
            <a:off x="12700" y="6681788"/>
            <a:ext cx="1401763" cy="198437"/>
          </a:xfrm>
          <a:prstGeom prst="rect">
            <a:avLst/>
          </a:prstGeom>
          <a:noFill/>
          <a:ln>
            <a:noFill/>
          </a:ln>
        </p:spPr>
        <p:txBody>
          <a:bodyPr wrap="none">
            <a:spAutoFit/>
          </a:bodyPr>
          <a:lstStyle/>
          <a:p>
            <a:pPr algn="r" eaLnBrk="0" hangingPunct="0">
              <a:buFont typeface="Verdana" pitchFamily="34" charset="0"/>
              <a:buNone/>
            </a:pPr>
            <a:r>
              <a:rPr lang="en-US" sz="700" dirty="0">
                <a:solidFill>
                  <a:srgbClr val="000000"/>
                </a:solidFill>
              </a:rPr>
              <a:t>©2017 Waters Corporation</a:t>
            </a:r>
          </a:p>
        </p:txBody>
      </p:sp>
      <p:sp>
        <p:nvSpPr>
          <p:cNvPr id="1029" name="Rectangle 16"/>
          <p:cNvSpPr>
            <a:spLocks noGrp="1" noChangeArrowheads="1"/>
          </p:cNvSpPr>
          <p:nvPr>
            <p:ph type="title"/>
          </p:nvPr>
        </p:nvSpPr>
        <p:spPr bwMode="gray">
          <a:xfrm>
            <a:off x="131763" y="0"/>
            <a:ext cx="6629400" cy="1005840"/>
          </a:xfrm>
          <a:prstGeom prst="rect">
            <a:avLst/>
          </a:prstGeom>
          <a:noFill/>
          <a:ln>
            <a:noFill/>
          </a:ln>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7" name="Text Box 4"/>
          <p:cNvSpPr txBox="1">
            <a:spLocks noChangeArrowheads="1"/>
          </p:cNvSpPr>
          <p:nvPr/>
        </p:nvSpPr>
        <p:spPr bwMode="auto">
          <a:xfrm>
            <a:off x="8774113" y="6656388"/>
            <a:ext cx="369887" cy="200025"/>
          </a:xfrm>
          <a:prstGeom prst="rect">
            <a:avLst/>
          </a:prstGeom>
          <a:noFill/>
          <a:ln>
            <a:noFill/>
          </a:ln>
        </p:spPr>
        <p:txBody>
          <a:bodyPr wrap="none">
            <a:spAutoFit/>
          </a:bodyPr>
          <a:lstStyle/>
          <a:p>
            <a:pPr algn="r" eaLnBrk="0" hangingPunct="0">
              <a:buFont typeface="Verdana" pitchFamily="34" charset="0"/>
              <a:buNone/>
            </a:pPr>
            <a:r>
              <a:rPr lang="en-US" sz="700">
                <a:solidFill>
                  <a:srgbClr val="000000"/>
                </a:solidFill>
              </a:rPr>
              <a:t> </a:t>
            </a:r>
            <a:fld id="{1DC86048-271D-4142-A41A-6A8CAD4046AD}" type="slidenum">
              <a:rPr lang="en-US" sz="700">
                <a:solidFill>
                  <a:srgbClr val="000000"/>
                </a:solidFill>
              </a:rPr>
              <a:pPr algn="r" eaLnBrk="0" hangingPunct="0">
                <a:buFont typeface="Verdana" pitchFamily="34" charset="0"/>
                <a:buNone/>
              </a:pPr>
              <a:t>‹#›</a:t>
            </a:fld>
            <a:endParaRPr lang="en-US" sz="700">
              <a:solidFill>
                <a:srgbClr val="000000"/>
              </a:solidFill>
            </a:endParaRPr>
          </a:p>
        </p:txBody>
      </p:sp>
      <p:pic>
        <p:nvPicPr>
          <p:cNvPr id="8" name="Picture 7" descr="Waters_logo_black.png"/>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6958266" y="470796"/>
            <a:ext cx="2022197" cy="466914"/>
          </a:xfrm>
          <a:prstGeom prst="rect">
            <a:avLst/>
          </a:prstGeom>
        </p:spPr>
      </p:pic>
      <p:pic>
        <p:nvPicPr>
          <p:cNvPr id="2" name="Picture 1" descr="WATERS_PPT_ARTBAR_10x.5.png"/>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0" y="0"/>
            <a:ext cx="9144000" cy="457200"/>
          </a:xfrm>
          <a:prstGeom prst="rect">
            <a:avLst/>
          </a:prstGeom>
        </p:spPr>
      </p:pic>
      <p:sp>
        <p:nvSpPr>
          <p:cNvPr id="9" name="TextBox 8"/>
          <p:cNvSpPr txBox="1"/>
          <p:nvPr/>
        </p:nvSpPr>
        <p:spPr>
          <a:xfrm>
            <a:off x="1400254" y="6646928"/>
            <a:ext cx="1800493" cy="246221"/>
          </a:xfrm>
          <a:prstGeom prst="rect">
            <a:avLst/>
          </a:prstGeom>
          <a:noFill/>
        </p:spPr>
        <p:txBody>
          <a:bodyPr wrap="none" rtlCol="0">
            <a:spAutoFit/>
          </a:bodyPr>
          <a:lstStyle/>
          <a:p>
            <a:r>
              <a:rPr lang="en-US" sz="1000" dirty="0">
                <a:latin typeface="Arial"/>
                <a:cs typeface="Arial"/>
              </a:rPr>
              <a:t>COMPANY CONFIDENTIAL</a:t>
            </a: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60" r:id="rId16"/>
  </p:sldLayoutIdLst>
  <p:transition>
    <p:wipe dir="r"/>
  </p:transition>
  <p:txStyles>
    <p:titleStyle>
      <a:lvl1pPr algn="l" rtl="0" eaLnBrk="1" fontAlgn="base" hangingPunct="1">
        <a:spcBef>
          <a:spcPct val="0"/>
        </a:spcBef>
        <a:spcAft>
          <a:spcPct val="0"/>
        </a:spcAft>
        <a:defRPr sz="2400" b="0">
          <a:solidFill>
            <a:schemeClr val="accent1"/>
          </a:solidFill>
          <a:effectLst/>
          <a:latin typeface="Arial"/>
          <a:ea typeface="MS PGothic" pitchFamily="34" charset="-128"/>
          <a:cs typeface="Arial"/>
        </a:defRPr>
      </a:lvl1pPr>
      <a:lvl2pPr algn="l" rtl="0" eaLnBrk="1" fontAlgn="base" hangingPunct="1">
        <a:spcBef>
          <a:spcPct val="0"/>
        </a:spcBef>
        <a:spcAft>
          <a:spcPct val="0"/>
        </a:spcAft>
        <a:defRPr sz="2400" b="1">
          <a:solidFill>
            <a:schemeClr val="bg1"/>
          </a:solidFill>
          <a:effectLst>
            <a:outerShdw blurRad="38100" dist="38100" dir="2700000" algn="tl">
              <a:srgbClr val="C0C0C0"/>
            </a:outerShdw>
          </a:effectLst>
          <a:latin typeface="Verdana" pitchFamily="34" charset="0"/>
          <a:ea typeface="MS PGothic" pitchFamily="34" charset="-128"/>
          <a:cs typeface="MS PGothic" charset="0"/>
        </a:defRPr>
      </a:lvl2pPr>
      <a:lvl3pPr algn="l" rtl="0" eaLnBrk="1" fontAlgn="base" hangingPunct="1">
        <a:spcBef>
          <a:spcPct val="0"/>
        </a:spcBef>
        <a:spcAft>
          <a:spcPct val="0"/>
        </a:spcAft>
        <a:defRPr sz="2400" b="1">
          <a:solidFill>
            <a:schemeClr val="bg1"/>
          </a:solidFill>
          <a:effectLst>
            <a:outerShdw blurRad="38100" dist="38100" dir="2700000" algn="tl">
              <a:srgbClr val="C0C0C0"/>
            </a:outerShdw>
          </a:effectLst>
          <a:latin typeface="Verdana" pitchFamily="34" charset="0"/>
          <a:ea typeface="MS PGothic" pitchFamily="34" charset="-128"/>
          <a:cs typeface="MS PGothic" charset="0"/>
        </a:defRPr>
      </a:lvl3pPr>
      <a:lvl4pPr algn="l" rtl="0" eaLnBrk="1" fontAlgn="base" hangingPunct="1">
        <a:spcBef>
          <a:spcPct val="0"/>
        </a:spcBef>
        <a:spcAft>
          <a:spcPct val="0"/>
        </a:spcAft>
        <a:defRPr sz="2400" b="1">
          <a:solidFill>
            <a:schemeClr val="bg1"/>
          </a:solidFill>
          <a:effectLst>
            <a:outerShdw blurRad="38100" dist="38100" dir="2700000" algn="tl">
              <a:srgbClr val="C0C0C0"/>
            </a:outerShdw>
          </a:effectLst>
          <a:latin typeface="Verdana" pitchFamily="34" charset="0"/>
          <a:ea typeface="MS PGothic" pitchFamily="34" charset="-128"/>
          <a:cs typeface="MS PGothic" charset="0"/>
        </a:defRPr>
      </a:lvl4pPr>
      <a:lvl5pPr algn="l" rtl="0" eaLnBrk="1" fontAlgn="base" hangingPunct="1">
        <a:spcBef>
          <a:spcPct val="0"/>
        </a:spcBef>
        <a:spcAft>
          <a:spcPct val="0"/>
        </a:spcAft>
        <a:defRPr sz="2400" b="1">
          <a:solidFill>
            <a:schemeClr val="bg1"/>
          </a:solidFill>
          <a:effectLst>
            <a:outerShdw blurRad="38100" dist="38100" dir="2700000" algn="tl">
              <a:srgbClr val="C0C0C0"/>
            </a:outerShdw>
          </a:effectLst>
          <a:latin typeface="Verdana" pitchFamily="34" charset="0"/>
          <a:ea typeface="MS PGothic" pitchFamily="34" charset="-128"/>
          <a:cs typeface="MS PGothic" charset="0"/>
        </a:defRPr>
      </a:lvl5pPr>
      <a:lvl6pPr marL="457200" algn="l" rtl="0" eaLnBrk="1" fontAlgn="base" hangingPunct="1">
        <a:spcBef>
          <a:spcPct val="0"/>
        </a:spcBef>
        <a:spcAft>
          <a:spcPct val="0"/>
        </a:spcAft>
        <a:defRPr sz="2400" b="1">
          <a:solidFill>
            <a:schemeClr val="bg1"/>
          </a:solidFill>
          <a:latin typeface="Verdana" pitchFamily="34" charset="0"/>
        </a:defRPr>
      </a:lvl6pPr>
      <a:lvl7pPr marL="914400" algn="l" rtl="0" eaLnBrk="1" fontAlgn="base" hangingPunct="1">
        <a:spcBef>
          <a:spcPct val="0"/>
        </a:spcBef>
        <a:spcAft>
          <a:spcPct val="0"/>
        </a:spcAft>
        <a:defRPr sz="2400" b="1">
          <a:solidFill>
            <a:schemeClr val="bg1"/>
          </a:solidFill>
          <a:latin typeface="Verdana" pitchFamily="34" charset="0"/>
        </a:defRPr>
      </a:lvl7pPr>
      <a:lvl8pPr marL="1371600" algn="l" rtl="0" eaLnBrk="1" fontAlgn="base" hangingPunct="1">
        <a:spcBef>
          <a:spcPct val="0"/>
        </a:spcBef>
        <a:spcAft>
          <a:spcPct val="0"/>
        </a:spcAft>
        <a:defRPr sz="2400" b="1">
          <a:solidFill>
            <a:schemeClr val="bg1"/>
          </a:solidFill>
          <a:latin typeface="Verdana" pitchFamily="34" charset="0"/>
        </a:defRPr>
      </a:lvl8pPr>
      <a:lvl9pPr marL="1828800" algn="l" rtl="0" eaLnBrk="1" fontAlgn="base" hangingPunct="1">
        <a:spcBef>
          <a:spcPct val="0"/>
        </a:spcBef>
        <a:spcAft>
          <a:spcPct val="0"/>
        </a:spcAft>
        <a:defRPr sz="2400" b="1">
          <a:solidFill>
            <a:schemeClr val="bg1"/>
          </a:solidFill>
          <a:latin typeface="Verdana" pitchFamily="34" charset="0"/>
        </a:defRPr>
      </a:lvl9pPr>
    </p:titleStyle>
    <p:bodyStyle>
      <a:lvl1pPr marL="233363" indent="-233363" algn="l" rtl="0" eaLnBrk="1" fontAlgn="base" hangingPunct="1">
        <a:lnSpc>
          <a:spcPct val="110000"/>
        </a:lnSpc>
        <a:spcBef>
          <a:spcPct val="20000"/>
        </a:spcBef>
        <a:spcAft>
          <a:spcPct val="0"/>
        </a:spcAft>
        <a:buClr>
          <a:schemeClr val="accent1"/>
        </a:buClr>
        <a:buFont typeface="Wingdings 2" charset="2"/>
        <a:buChar char="¡"/>
        <a:defRPr sz="2000">
          <a:solidFill>
            <a:schemeClr val="tx1"/>
          </a:solidFill>
          <a:latin typeface="Arial"/>
          <a:ea typeface="MS PGothic" pitchFamily="34" charset="-128"/>
          <a:cs typeface="Arial"/>
        </a:defRPr>
      </a:lvl1pPr>
      <a:lvl2pPr marL="457200" indent="-223838" algn="l" rtl="0" eaLnBrk="1" fontAlgn="base" hangingPunct="1">
        <a:lnSpc>
          <a:spcPct val="110000"/>
        </a:lnSpc>
        <a:spcBef>
          <a:spcPct val="20000"/>
        </a:spcBef>
        <a:spcAft>
          <a:spcPct val="0"/>
        </a:spcAft>
        <a:buClr>
          <a:schemeClr val="accent1"/>
        </a:buClr>
        <a:buFont typeface="Verdana" pitchFamily="34" charset="0"/>
        <a:buChar char="–"/>
        <a:defRPr>
          <a:solidFill>
            <a:schemeClr val="tx1"/>
          </a:solidFill>
          <a:latin typeface="Arial"/>
          <a:ea typeface="MS PGothic" pitchFamily="34" charset="-128"/>
          <a:cs typeface="Arial"/>
        </a:defRPr>
      </a:lvl2pPr>
      <a:lvl3pPr marL="693738" indent="-228600" algn="l" rtl="0" eaLnBrk="1" fontAlgn="base" hangingPunct="1">
        <a:lnSpc>
          <a:spcPct val="110000"/>
        </a:lnSpc>
        <a:spcBef>
          <a:spcPct val="20000"/>
        </a:spcBef>
        <a:spcAft>
          <a:spcPct val="0"/>
        </a:spcAft>
        <a:buClr>
          <a:schemeClr val="accent1"/>
        </a:buClr>
        <a:buSzPct val="80000"/>
        <a:buFont typeface="Courier New" pitchFamily="49" charset="0"/>
        <a:buChar char="o"/>
        <a:defRPr>
          <a:solidFill>
            <a:schemeClr val="tx1"/>
          </a:solidFill>
          <a:latin typeface="Arial"/>
          <a:ea typeface="MS PGothic" pitchFamily="34" charset="-128"/>
          <a:cs typeface="Arial"/>
        </a:defRPr>
      </a:lvl3pPr>
      <a:lvl4pPr marL="917575" indent="-228600" algn="l" rtl="0" eaLnBrk="1" fontAlgn="base" hangingPunct="1">
        <a:lnSpc>
          <a:spcPct val="110000"/>
        </a:lnSpc>
        <a:spcBef>
          <a:spcPct val="20000"/>
        </a:spcBef>
        <a:spcAft>
          <a:spcPct val="0"/>
        </a:spcAft>
        <a:buClr>
          <a:schemeClr val="accent1"/>
        </a:buClr>
        <a:buFont typeface="Arial" charset="0"/>
        <a:buChar char="•"/>
        <a:defRPr>
          <a:solidFill>
            <a:schemeClr val="tx1"/>
          </a:solidFill>
          <a:latin typeface="Arial"/>
          <a:ea typeface="MS PGothic" pitchFamily="34" charset="-128"/>
          <a:cs typeface="Arial"/>
        </a:defRPr>
      </a:lvl4pPr>
      <a:lvl5pPr marL="1150938" indent="-228600" algn="l" rtl="0" eaLnBrk="1" fontAlgn="base" hangingPunct="1">
        <a:lnSpc>
          <a:spcPct val="110000"/>
        </a:lnSpc>
        <a:spcBef>
          <a:spcPct val="20000"/>
        </a:spcBef>
        <a:spcAft>
          <a:spcPct val="0"/>
        </a:spcAft>
        <a:buClr>
          <a:schemeClr val="accent1"/>
        </a:buClr>
        <a:buFont typeface="Arial" charset="0"/>
        <a:buChar char="•"/>
        <a:defRPr>
          <a:solidFill>
            <a:schemeClr val="tx1"/>
          </a:solidFill>
          <a:latin typeface="Arial"/>
          <a:ea typeface="MS PGothic" pitchFamily="34" charset="-128"/>
          <a:cs typeface="Arial"/>
        </a:defRPr>
      </a:lvl5pPr>
      <a:lvl6pPr marL="2514600" indent="-228600" algn="l" rtl="0" eaLnBrk="1" fontAlgn="base" hangingPunct="1">
        <a:spcBef>
          <a:spcPct val="20000"/>
        </a:spcBef>
        <a:spcAft>
          <a:spcPct val="0"/>
        </a:spcAft>
        <a:buClr>
          <a:srgbClr val="3374D4"/>
        </a:buClr>
        <a:buFont typeface="Arial" pitchFamily="34" charset="0"/>
        <a:buChar char="•"/>
        <a:defRPr sz="1800" baseline="0">
          <a:solidFill>
            <a:schemeClr val="tx1"/>
          </a:solidFill>
          <a:latin typeface="+mn-lt"/>
        </a:defRPr>
      </a:lvl6pPr>
      <a:lvl7pPr marL="2971800" indent="-228600" algn="l" rtl="0" eaLnBrk="1" fontAlgn="base" hangingPunct="1">
        <a:spcBef>
          <a:spcPct val="20000"/>
        </a:spcBef>
        <a:spcAft>
          <a:spcPct val="0"/>
        </a:spcAft>
        <a:buClr>
          <a:srgbClr val="3374D4"/>
        </a:buClr>
        <a:buFont typeface="Arial" pitchFamily="34" charset="0"/>
        <a:buChar char="•"/>
        <a:defRPr sz="1800" baseline="0">
          <a:solidFill>
            <a:schemeClr val="tx1"/>
          </a:solidFill>
          <a:latin typeface="+mn-lt"/>
        </a:defRPr>
      </a:lvl7pPr>
      <a:lvl8pPr marL="3429000" indent="-228600" algn="l" rtl="0" eaLnBrk="1" fontAlgn="base" hangingPunct="1">
        <a:spcBef>
          <a:spcPct val="20000"/>
        </a:spcBef>
        <a:spcAft>
          <a:spcPct val="0"/>
        </a:spcAft>
        <a:buNone/>
        <a:defRPr sz="1800" baseline="0">
          <a:solidFill>
            <a:schemeClr val="tx1"/>
          </a:solidFill>
          <a:latin typeface="+mn-lt"/>
        </a:defRPr>
      </a:lvl8pPr>
      <a:lvl9pPr marL="3886200" indent="-228600" algn="l" rtl="0" eaLnBrk="1" fontAlgn="base" hangingPunct="1">
        <a:spcBef>
          <a:spcPct val="20000"/>
        </a:spcBef>
        <a:spcAft>
          <a:spcPct val="0"/>
        </a:spcAft>
        <a:buNone/>
        <a:defRPr sz="2000" baseline="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Waters_logo_black.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2200" y="2895600"/>
            <a:ext cx="4620294" cy="1066800"/>
          </a:xfrm>
          <a:prstGeom prst="rect">
            <a:avLst/>
          </a:prstGeom>
        </p:spPr>
      </p:pic>
      <p:pic>
        <p:nvPicPr>
          <p:cNvPr id="5" name="Picture 4" descr="WATERS_PPT_ARTBAR_10x.5.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9144000" cy="457200"/>
          </a:xfrm>
          <a:prstGeom prst="rect">
            <a:avLst/>
          </a:prstGeom>
        </p:spPr>
      </p:pic>
    </p:spTree>
    <p:extLst>
      <p:ext uri="{BB962C8B-B14F-4D97-AF65-F5344CB8AC3E}">
        <p14:creationId xmlns:p14="http://schemas.microsoft.com/office/powerpoint/2010/main" val="1280013341"/>
      </p:ext>
    </p:extLst>
  </p:cSld>
  <p:clrMap bg1="lt1" tx1="dk1" bg2="lt2" tx2="dk2" accent1="accent1" accent2="accent2" accent3="accent3" accent4="accent4" accent5="accent5" accent6="accent6" hlink="hlink" folHlink="folHlink"/>
  <p:sldLayoutIdLst>
    <p:sldLayoutId id="2147483779"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oleObject" Target="../embeddings/oleObject3.bin"/><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oleObject" Target="../embeddings/oleObject4.bin"/></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oleObject" Target="../embeddings/oleObject4.bin"/><Relationship Id="rId5" Type="http://schemas.openxmlformats.org/officeDocument/2006/relationships/image" Target="../media/image21.png"/><Relationship Id="rId4" Type="http://schemas.openxmlformats.org/officeDocument/2006/relationships/oleObject" Target="../embeddings/oleObject5.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oleObject" Target="../embeddings/oleObject12.bin"/><Relationship Id="rId18" Type="http://schemas.openxmlformats.org/officeDocument/2006/relationships/image" Target="../media/image38.png"/><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35.png"/><Relationship Id="rId17" Type="http://schemas.openxmlformats.org/officeDocument/2006/relationships/oleObject" Target="../embeddings/oleObject14.bin"/><Relationship Id="rId2" Type="http://schemas.openxmlformats.org/officeDocument/2006/relationships/notesSlide" Target="../notesSlides/notesSlide49.xml"/><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34.png"/><Relationship Id="rId4" Type="http://schemas.openxmlformats.org/officeDocument/2006/relationships/image" Target="../media/image31.png"/><Relationship Id="rId9" Type="http://schemas.openxmlformats.org/officeDocument/2006/relationships/oleObject" Target="../embeddings/oleObject10.bin"/><Relationship Id="rId14" Type="http://schemas.openxmlformats.org/officeDocument/2006/relationships/image" Target="../media/image36.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1.xml"/><Relationship Id="rId1" Type="http://schemas.openxmlformats.org/officeDocument/2006/relationships/slideLayout" Target="../slideLayouts/slideLayout3.xml"/><Relationship Id="rId5" Type="http://schemas.openxmlformats.org/officeDocument/2006/relationships/image" Target="../media/image52.jpeg"/><Relationship Id="rId4" Type="http://schemas.openxmlformats.org/officeDocument/2006/relationships/image" Target="../media/image51.jpe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61.png"/></Relationships>
</file>

<file path=ppt/slides/_rels/slide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5.xml"/><Relationship Id="rId1" Type="http://schemas.openxmlformats.org/officeDocument/2006/relationships/slideLayout" Target="../slideLayouts/slideLayout3.xml"/><Relationship Id="rId4" Type="http://schemas.openxmlformats.org/officeDocument/2006/relationships/image" Target="../media/image67.jpe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9.xml"/><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9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6.xml"/><Relationship Id="rId1" Type="http://schemas.openxmlformats.org/officeDocument/2006/relationships/slideLayout" Target="../slideLayouts/slideLayout3.xml"/><Relationship Id="rId4" Type="http://schemas.openxmlformats.org/officeDocument/2006/relationships/image" Target="../media/image84.png"/></Relationships>
</file>

<file path=ppt/slides/_rels/slide10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1.xml"/><Relationship Id="rId1" Type="http://schemas.openxmlformats.org/officeDocument/2006/relationships/slideLayout" Target="../slideLayouts/slideLayout3.xml"/><Relationship Id="rId4" Type="http://schemas.openxmlformats.org/officeDocument/2006/relationships/image" Target="../media/image90.jpe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94.xml"/><Relationship Id="rId1" Type="http://schemas.openxmlformats.org/officeDocument/2006/relationships/slideLayout" Target="../slideLayouts/slideLayout3.xml"/><Relationship Id="rId4" Type="http://schemas.openxmlformats.org/officeDocument/2006/relationships/image" Target="../media/image91.png"/></Relationships>
</file>

<file path=ppt/slides/_rels/slide11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95.xml"/><Relationship Id="rId1" Type="http://schemas.openxmlformats.org/officeDocument/2006/relationships/slideLayout" Target="../slideLayouts/slideLayout3.xml"/><Relationship Id="rId5" Type="http://schemas.openxmlformats.org/officeDocument/2006/relationships/image" Target="../media/image96.png"/><Relationship Id="rId4" Type="http://schemas.openxmlformats.org/officeDocument/2006/relationships/image" Target="../media/image95.png"/></Relationships>
</file>

<file path=ppt/slides/_rels/slide11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96.xml"/><Relationship Id="rId1" Type="http://schemas.openxmlformats.org/officeDocument/2006/relationships/slideLayout" Target="../slideLayouts/slideLayout3.xml"/><Relationship Id="rId4" Type="http://schemas.openxmlformats.org/officeDocument/2006/relationships/image" Target="../media/image91.png"/></Relationships>
</file>

<file path=ppt/slides/_rels/slide11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98.xml"/><Relationship Id="rId1" Type="http://schemas.openxmlformats.org/officeDocument/2006/relationships/slideLayout" Target="../slideLayouts/slideLayout3.xml"/><Relationship Id="rId5" Type="http://schemas.openxmlformats.org/officeDocument/2006/relationships/image" Target="../media/image96.png"/><Relationship Id="rId4" Type="http://schemas.openxmlformats.org/officeDocument/2006/relationships/image" Target="../media/image100.png"/></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01.xml"/><Relationship Id="rId1" Type="http://schemas.openxmlformats.org/officeDocument/2006/relationships/slideLayout" Target="../slideLayouts/slideLayout3.xml"/><Relationship Id="rId4" Type="http://schemas.openxmlformats.org/officeDocument/2006/relationships/image" Target="../media/image103.png"/></Relationships>
</file>

<file path=ppt/slides/_rels/slide11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openxmlformats.org/officeDocument/2006/relationships/image" Target="../media/image108.jpeg"/><Relationship Id="rId7" Type="http://schemas.openxmlformats.org/officeDocument/2006/relationships/image" Target="../media/image112.jpeg"/><Relationship Id="rId2" Type="http://schemas.openxmlformats.org/officeDocument/2006/relationships/notesSlide" Target="../notesSlides/notesSlide107.xml"/><Relationship Id="rId1" Type="http://schemas.openxmlformats.org/officeDocument/2006/relationships/slideLayout" Target="../slideLayouts/slideLayout3.xml"/><Relationship Id="rId6" Type="http://schemas.openxmlformats.org/officeDocument/2006/relationships/image" Target="../media/image111.jpeg"/><Relationship Id="rId5" Type="http://schemas.openxmlformats.org/officeDocument/2006/relationships/image" Target="../media/image110.png"/><Relationship Id="rId4" Type="http://schemas.openxmlformats.org/officeDocument/2006/relationships/image" Target="../media/image109.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21.xml"/><Relationship Id="rId1" Type="http://schemas.openxmlformats.org/officeDocument/2006/relationships/slideLayout" Target="../slideLayouts/slideLayout13.xml"/><Relationship Id="rId4" Type="http://schemas.openxmlformats.org/officeDocument/2006/relationships/image" Target="../media/image120.png"/></Relationships>
</file>

<file path=ppt/slides/_rels/slide13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23.xml"/><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25.xml"/><Relationship Id="rId1" Type="http://schemas.openxmlformats.org/officeDocument/2006/relationships/slideLayout" Target="../slideLayouts/slideLayout3.xml"/><Relationship Id="rId4" Type="http://schemas.openxmlformats.org/officeDocument/2006/relationships/image" Target="../media/image124.png"/></Relationships>
</file>

<file path=ppt/slides/_rels/slide144.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26.xml"/><Relationship Id="rId1" Type="http://schemas.openxmlformats.org/officeDocument/2006/relationships/slideLayout" Target="../slideLayouts/slideLayout13.xml"/><Relationship Id="rId4" Type="http://schemas.openxmlformats.org/officeDocument/2006/relationships/image" Target="../media/image126.png"/></Relationships>
</file>

<file path=ppt/slides/_rels/slide14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27.xml"/><Relationship Id="rId1" Type="http://schemas.openxmlformats.org/officeDocument/2006/relationships/slideLayout" Target="../slideLayouts/slideLayout13.xml"/><Relationship Id="rId4" Type="http://schemas.openxmlformats.org/officeDocument/2006/relationships/image" Target="../media/image128.png"/></Relationships>
</file>

<file path=ppt/slides/_rels/slide146.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28.xml"/><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29.xml"/><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30.xml"/><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31.xm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32.xml"/><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33.xml"/><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35.xml"/><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36.xml"/><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37.xml"/><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38.xml"/><Relationship Id="rId1" Type="http://schemas.openxmlformats.org/officeDocument/2006/relationships/slideLayout" Target="../slideLayouts/slideLayout4.xml"/></Relationships>
</file>

<file path=ppt/slides/_rels/slide157.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39.xml"/><Relationship Id="rId1" Type="http://schemas.openxmlformats.org/officeDocument/2006/relationships/slideLayout" Target="../slideLayouts/slideLayout4.xml"/><Relationship Id="rId4" Type="http://schemas.openxmlformats.org/officeDocument/2006/relationships/image" Target="../media/image140.png"/></Relationships>
</file>

<file path=ppt/slides/_rels/slide158.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40.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41.xml"/><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42.xml"/><Relationship Id="rId1" Type="http://schemas.openxmlformats.org/officeDocument/2006/relationships/slideLayout" Target="../slideLayouts/slideLayout3.xml"/><Relationship Id="rId4" Type="http://schemas.openxmlformats.org/officeDocument/2006/relationships/image" Target="../media/image144.png"/></Relationships>
</file>

<file path=ppt/slides/_rels/slide16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43.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44.xml"/><Relationship Id="rId1" Type="http://schemas.openxmlformats.org/officeDocument/2006/relationships/slideLayout" Target="../slideLayouts/slideLayout3.xml"/><Relationship Id="rId4" Type="http://schemas.openxmlformats.org/officeDocument/2006/relationships/image" Target="../media/image146.png"/></Relationships>
</file>

<file path=ppt/slides/_rels/slide164.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45.xml"/><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46.xml"/><Relationship Id="rId1" Type="http://schemas.openxmlformats.org/officeDocument/2006/relationships/slideLayout" Target="../slideLayouts/slideLayout4.xml"/><Relationship Id="rId4" Type="http://schemas.openxmlformats.org/officeDocument/2006/relationships/image" Target="../media/image150.png"/></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48.xml"/><Relationship Id="rId1" Type="http://schemas.openxmlformats.org/officeDocument/2006/relationships/slideLayout" Target="../slideLayouts/slideLayout4.xml"/></Relationships>
</file>

<file path=ppt/slides/_rels/slide169.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49.xml"/><Relationship Id="rId1" Type="http://schemas.openxmlformats.org/officeDocument/2006/relationships/slideLayout" Target="../slideLayouts/slideLayout4.xml"/><Relationship Id="rId4" Type="http://schemas.openxmlformats.org/officeDocument/2006/relationships/image" Target="../media/image153.png"/></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51.xml"/><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152.xml"/><Relationship Id="rId1" Type="http://schemas.openxmlformats.org/officeDocument/2006/relationships/slideLayout" Target="../slideLayouts/slideLayout3.xml"/><Relationship Id="rId4" Type="http://schemas.openxmlformats.org/officeDocument/2006/relationships/image" Target="../media/image156.png"/></Relationships>
</file>

<file path=ppt/slides/_rels/slide173.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153.xml"/><Relationship Id="rId1" Type="http://schemas.openxmlformats.org/officeDocument/2006/relationships/slideLayout" Target="../slideLayouts/slideLayout3.xml"/><Relationship Id="rId4" Type="http://schemas.openxmlformats.org/officeDocument/2006/relationships/image" Target="../media/image146.png"/></Relationships>
</file>

<file path=ppt/slides/_rels/slide174.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54.xml"/><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55.xml"/><Relationship Id="rId1" Type="http://schemas.openxmlformats.org/officeDocument/2006/relationships/slideLayout" Target="../slideLayouts/slideLayout4.xml"/><Relationship Id="rId4" Type="http://schemas.openxmlformats.org/officeDocument/2006/relationships/image" Target="../media/image160.png"/></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157.xml"/><Relationship Id="rId1" Type="http://schemas.openxmlformats.org/officeDocument/2006/relationships/slideLayout" Target="../slideLayouts/slideLayout3.xml"/><Relationship Id="rId4" Type="http://schemas.openxmlformats.org/officeDocument/2006/relationships/image" Target="../media/image162.png"/></Relationships>
</file>

<file path=ppt/slides/_rels/slide178.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58.xml"/><Relationship Id="rId1" Type="http://schemas.openxmlformats.org/officeDocument/2006/relationships/slideLayout" Target="../slideLayouts/slideLayout4.xml"/><Relationship Id="rId4" Type="http://schemas.openxmlformats.org/officeDocument/2006/relationships/image" Target="../media/image164.png"/></Relationships>
</file>

<file path=ppt/slides/_rels/slide179.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60.xml"/><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161.xml"/><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62.xml"/><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65.xml"/><Relationship Id="rId1" Type="http://schemas.openxmlformats.org/officeDocument/2006/relationships/slideLayout" Target="../slideLayouts/slideLayout4.xml"/><Relationship Id="rId4" Type="http://schemas.openxmlformats.org/officeDocument/2006/relationships/image" Target="../media/image17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69.xml"/><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170.xml"/><Relationship Id="rId1" Type="http://schemas.openxmlformats.org/officeDocument/2006/relationships/slideLayout" Target="../slideLayouts/slideLayout4.xml"/><Relationship Id="rId5" Type="http://schemas.openxmlformats.org/officeDocument/2006/relationships/image" Target="../media/image175.png"/><Relationship Id="rId4" Type="http://schemas.openxmlformats.org/officeDocument/2006/relationships/image" Target="../media/image174.png"/></Relationships>
</file>

<file path=ppt/slides/_rels/slide194.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71.xml"/><Relationship Id="rId1" Type="http://schemas.openxmlformats.org/officeDocument/2006/relationships/slideLayout" Target="../slideLayouts/slideLayout4.xml"/><Relationship Id="rId4" Type="http://schemas.openxmlformats.org/officeDocument/2006/relationships/image" Target="../media/image177.png"/></Relationships>
</file>

<file path=ppt/slides/_rels/slide195.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172.xml"/><Relationship Id="rId1" Type="http://schemas.openxmlformats.org/officeDocument/2006/relationships/slideLayout" Target="../slideLayouts/slideLayout4.xml"/><Relationship Id="rId4" Type="http://schemas.openxmlformats.org/officeDocument/2006/relationships/image" Target="../media/image179.png"/></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3.xml"/></Relationships>
</file>

<file path=ppt/slides/_rels/slide19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76.xml"/><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77.xml"/><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178.xml"/><Relationship Id="rId1" Type="http://schemas.openxmlformats.org/officeDocument/2006/relationships/slideLayout" Target="../slideLayouts/slideLayout4.xml"/></Relationships>
</file>

<file path=ppt/slides/_rels/slide202.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79.xml"/><Relationship Id="rId1" Type="http://schemas.openxmlformats.org/officeDocument/2006/relationships/slideLayout" Target="../slideLayouts/slideLayout4.xml"/><Relationship Id="rId4" Type="http://schemas.openxmlformats.org/officeDocument/2006/relationships/image" Target="../media/image183.png"/></Relationships>
</file>

<file path=ppt/slides/_rels/slide203.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180.xml"/><Relationship Id="rId1" Type="http://schemas.openxmlformats.org/officeDocument/2006/relationships/slideLayout" Target="../slideLayouts/slideLayout4.xml"/><Relationship Id="rId4" Type="http://schemas.openxmlformats.org/officeDocument/2006/relationships/image" Target="../media/image184.png"/></Relationships>
</file>

<file path=ppt/slides/_rels/slide204.xml.rels><?xml version="1.0" encoding="UTF-8" standalone="yes"?>
<Relationships xmlns="http://schemas.openxmlformats.org/package/2006/relationships"><Relationship Id="rId3" Type="http://schemas.openxmlformats.org/officeDocument/2006/relationships/image" Target="../media/image185.png"/><Relationship Id="rId2" Type="http://schemas.openxmlformats.org/officeDocument/2006/relationships/notesSlide" Target="../notesSlides/notesSlide181.xml"/><Relationship Id="rId1" Type="http://schemas.openxmlformats.org/officeDocument/2006/relationships/slideLayout" Target="../slideLayouts/slideLayout3.xml"/><Relationship Id="rId4" Type="http://schemas.openxmlformats.org/officeDocument/2006/relationships/image" Target="../media/image186.png"/></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183.xml"/><Relationship Id="rId1" Type="http://schemas.openxmlformats.org/officeDocument/2006/relationships/slideLayout" Target="../slideLayouts/slideLayout4.xml"/><Relationship Id="rId4" Type="http://schemas.openxmlformats.org/officeDocument/2006/relationships/image" Target="../media/image188.png"/></Relationships>
</file>

<file path=ppt/slides/_rels/slide207.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184.xml"/><Relationship Id="rId1" Type="http://schemas.openxmlformats.org/officeDocument/2006/relationships/slideLayout" Target="../slideLayouts/slideLayout4.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4.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4.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notesSlide" Target="../notesSlides/notesSlide189.xml"/><Relationship Id="rId1" Type="http://schemas.openxmlformats.org/officeDocument/2006/relationships/slideLayout" Target="../slideLayouts/slideLayout4.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3" Type="http://schemas.openxmlformats.org/officeDocument/2006/relationships/image" Target="../media/image191.jpeg"/><Relationship Id="rId2" Type="http://schemas.openxmlformats.org/officeDocument/2006/relationships/notesSlide" Target="../notesSlides/notesSlide192.xml"/><Relationship Id="rId1" Type="http://schemas.openxmlformats.org/officeDocument/2006/relationships/slideLayout" Target="../slideLayouts/slideLayout4.xml"/></Relationships>
</file>

<file path=ppt/slides/_rels/slide218.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193.xml"/><Relationship Id="rId1" Type="http://schemas.openxmlformats.org/officeDocument/2006/relationships/slideLayout" Target="../slideLayouts/slideLayout4.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4"/>
          <p:cNvSpPr>
            <a:spLocks noGrp="1"/>
          </p:cNvSpPr>
          <p:nvPr>
            <p:ph type="ctrTitle"/>
          </p:nvPr>
        </p:nvSpPr>
        <p:spPr>
          <a:xfrm>
            <a:off x="5346700" y="2730500"/>
            <a:ext cx="2882900" cy="908050"/>
          </a:xfrm>
        </p:spPr>
        <p:txBody>
          <a:bodyPr/>
          <a:lstStyle/>
          <a:p>
            <a:pPr algn="l">
              <a:lnSpc>
                <a:spcPct val="100000"/>
              </a:lnSpc>
              <a:spcBef>
                <a:spcPts val="300"/>
              </a:spcBef>
            </a:pPr>
            <a:r>
              <a:rPr lang="en-US" sz="2800" b="1" dirty="0">
                <a:latin typeface="Century Gothic" pitchFamily="34" charset="0"/>
              </a:rPr>
              <a:t>Custom Fields</a:t>
            </a:r>
            <a:r>
              <a:rPr lang="en-US" sz="2800" dirty="0">
                <a:latin typeface="Century Gothic" pitchFamily="34" charset="0"/>
              </a:rPr>
              <a:t>:</a:t>
            </a:r>
            <a:br>
              <a:rPr lang="en-US" sz="2800" dirty="0">
                <a:latin typeface="Century Gothic" pitchFamily="34" charset="0"/>
              </a:rPr>
            </a:br>
            <a:r>
              <a:rPr lang="en-US" sz="2800" dirty="0">
                <a:latin typeface="Century Gothic" pitchFamily="34" charset="0"/>
              </a:rPr>
              <a:t>An Introduction</a:t>
            </a:r>
          </a:p>
        </p:txBody>
      </p:sp>
      <p:pic>
        <p:nvPicPr>
          <p:cNvPr id="160770" name="Picture 2" descr="Image result for empower 3 logo"/>
          <p:cNvPicPr>
            <a:picLocks noChangeAspect="1" noChangeArrowheads="1"/>
          </p:cNvPicPr>
          <p:nvPr/>
        </p:nvPicPr>
        <p:blipFill>
          <a:blip r:embed="rId3" cstate="print"/>
          <a:srcRect/>
          <a:stretch>
            <a:fillRect/>
          </a:stretch>
        </p:blipFill>
        <p:spPr bwMode="auto">
          <a:xfrm>
            <a:off x="1075879" y="2098023"/>
            <a:ext cx="4080321" cy="1626723"/>
          </a:xfrm>
          <a:prstGeom prst="rect">
            <a:avLst/>
          </a:prstGeom>
          <a:noFill/>
        </p:spPr>
      </p:pic>
      <p:sp>
        <p:nvSpPr>
          <p:cNvPr id="2" name="Subtitle 1"/>
          <p:cNvSpPr>
            <a:spLocks noGrp="1"/>
          </p:cNvSpPr>
          <p:nvPr>
            <p:ph type="subTitle" idx="1"/>
          </p:nvPr>
        </p:nvSpPr>
        <p:spPr/>
        <p:txBody>
          <a:bodyPr/>
          <a:lstStyle/>
          <a:p>
            <a:r>
              <a:rPr lang="en-AU" dirty="0"/>
              <a:t>Part 1 – Introduction to Custom Fields</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What is a Custom Field</a:t>
            </a:r>
          </a:p>
          <a:p>
            <a:r>
              <a:rPr lang="en-US" dirty="0"/>
              <a:t>Creating a New Custom Field</a:t>
            </a:r>
          </a:p>
          <a:p>
            <a:pPr lvl="1"/>
            <a:r>
              <a:rPr lang="en-US" dirty="0"/>
              <a:t>Custom Field Types</a:t>
            </a:r>
          </a:p>
          <a:p>
            <a:pPr lvl="1"/>
            <a:r>
              <a:rPr lang="en-US" dirty="0"/>
              <a:t>Data Types</a:t>
            </a:r>
          </a:p>
          <a:p>
            <a:pPr lvl="1"/>
            <a:r>
              <a:rPr lang="en-US" dirty="0"/>
              <a:t>Entering Formulas</a:t>
            </a:r>
          </a:p>
          <a:p>
            <a:r>
              <a:rPr lang="en-US" dirty="0"/>
              <a:t>Custom Fields Creation Examples</a:t>
            </a:r>
          </a:p>
          <a:p>
            <a:pPr lvl="1"/>
            <a:r>
              <a:rPr lang="en-US" dirty="0"/>
              <a:t>Sample</a:t>
            </a:r>
          </a:p>
          <a:p>
            <a:pPr lvl="1"/>
            <a:r>
              <a:rPr lang="en-US" dirty="0"/>
              <a:t>Sample Set</a:t>
            </a:r>
          </a:p>
          <a:p>
            <a:pPr lvl="1"/>
            <a:r>
              <a:rPr lang="en-US" dirty="0"/>
              <a:t>Component</a:t>
            </a:r>
          </a:p>
          <a:p>
            <a:pPr lvl="1"/>
            <a:r>
              <a:rPr lang="en-US" dirty="0"/>
              <a:t>Peak</a:t>
            </a:r>
          </a:p>
          <a:p>
            <a:pPr lvl="1"/>
            <a:r>
              <a:rPr lang="en-US" dirty="0"/>
              <a:t>Result</a:t>
            </a:r>
          </a:p>
          <a:p>
            <a:pPr lvl="1"/>
            <a:r>
              <a:rPr lang="en-US" dirty="0"/>
              <a:t>Using CCompRef1, CConst1</a:t>
            </a:r>
          </a:p>
        </p:txBody>
      </p:sp>
      <p:sp>
        <p:nvSpPr>
          <p:cNvPr id="3" name="Title 2"/>
          <p:cNvSpPr>
            <a:spLocks noGrp="1"/>
          </p:cNvSpPr>
          <p:nvPr>
            <p:ph type="title"/>
          </p:nvPr>
        </p:nvSpPr>
        <p:spPr/>
        <p:txBody>
          <a:bodyPr/>
          <a:lstStyle/>
          <a:p>
            <a:r>
              <a:rPr lang="en-US" dirty="0"/>
              <a:t>Content</a:t>
            </a:r>
          </a:p>
        </p:txBody>
      </p:sp>
      <p:pic>
        <p:nvPicPr>
          <p:cNvPr id="109570" name="Picture 2" descr="Image result for demystifying images"/>
          <p:cNvPicPr>
            <a:picLocks noChangeAspect="1" noChangeArrowheads="1"/>
          </p:cNvPicPr>
          <p:nvPr/>
        </p:nvPicPr>
        <p:blipFill rotWithShape="1">
          <a:blip r:embed="rId3">
            <a:extLst>
              <a:ext uri="{28A0092B-C50C-407E-A947-70E740481C1C}">
                <a14:useLocalDpi xmlns:a14="http://schemas.microsoft.com/office/drawing/2010/main" val="0"/>
              </a:ext>
            </a:extLst>
          </a:blip>
          <a:srcRect l="46028" r="3775"/>
          <a:stretch/>
        </p:blipFill>
        <p:spPr bwMode="auto">
          <a:xfrm>
            <a:off x="5257798" y="2374900"/>
            <a:ext cx="3384786" cy="2855913"/>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a:t>Understanding custom fields is like understanding a programming language</a:t>
            </a:r>
          </a:p>
          <a:p>
            <a:endParaRPr lang="en-AU" dirty="0"/>
          </a:p>
          <a:p>
            <a:pPr lvl="1"/>
            <a:r>
              <a:rPr lang="en-AU" dirty="0"/>
              <a:t>There is </a:t>
            </a:r>
            <a:r>
              <a:rPr lang="en-AU" dirty="0">
                <a:solidFill>
                  <a:srgbClr val="FF0000"/>
                </a:solidFill>
              </a:rPr>
              <a:t>no recipe boo</a:t>
            </a:r>
            <a:r>
              <a:rPr lang="en-AU" dirty="0"/>
              <a:t>k for what you can develop</a:t>
            </a:r>
          </a:p>
          <a:p>
            <a:pPr lvl="1"/>
            <a:r>
              <a:rPr lang="en-AU" dirty="0"/>
              <a:t>There are usually </a:t>
            </a:r>
            <a:r>
              <a:rPr lang="en-AU" dirty="0">
                <a:solidFill>
                  <a:srgbClr val="FF0000"/>
                </a:solidFill>
              </a:rPr>
              <a:t>multiple ways </a:t>
            </a:r>
            <a:r>
              <a:rPr lang="en-AU" dirty="0"/>
              <a:t>to develop specific calculations</a:t>
            </a:r>
          </a:p>
          <a:p>
            <a:pPr lvl="1"/>
            <a:r>
              <a:rPr lang="en-AU" dirty="0">
                <a:solidFill>
                  <a:srgbClr val="FF0000"/>
                </a:solidFill>
              </a:rPr>
              <a:t>Practice</a:t>
            </a:r>
            <a:r>
              <a:rPr lang="en-AU" dirty="0"/>
              <a:t> is the only way to learn</a:t>
            </a:r>
          </a:p>
          <a:p>
            <a:pPr lvl="1"/>
            <a:r>
              <a:rPr lang="en-AU" dirty="0">
                <a:solidFill>
                  <a:srgbClr val="FF0000"/>
                </a:solidFill>
              </a:rPr>
              <a:t>Try</a:t>
            </a:r>
            <a:r>
              <a:rPr lang="en-AU" dirty="0"/>
              <a:t> and see what happens</a:t>
            </a:r>
          </a:p>
          <a:p>
            <a:pPr lvl="1"/>
            <a:r>
              <a:rPr lang="en-AU" dirty="0"/>
              <a:t>Learn from and </a:t>
            </a:r>
            <a:r>
              <a:rPr lang="en-AU" dirty="0">
                <a:solidFill>
                  <a:srgbClr val="FF0000"/>
                </a:solidFill>
              </a:rPr>
              <a:t>discuss</a:t>
            </a:r>
            <a:r>
              <a:rPr lang="en-AU" dirty="0"/>
              <a:t> with others </a:t>
            </a:r>
          </a:p>
        </p:txBody>
      </p:sp>
      <p:sp>
        <p:nvSpPr>
          <p:cNvPr id="3" name="Title 2"/>
          <p:cNvSpPr>
            <a:spLocks noGrp="1"/>
          </p:cNvSpPr>
          <p:nvPr>
            <p:ph type="title"/>
          </p:nvPr>
        </p:nvSpPr>
        <p:spPr/>
        <p:txBody>
          <a:bodyPr/>
          <a:lstStyle/>
          <a:p>
            <a:r>
              <a:rPr lang="en-AU" dirty="0"/>
              <a:t>Understanding Custom Fields</a:t>
            </a:r>
          </a:p>
        </p:txBody>
      </p:sp>
      <p:pic>
        <p:nvPicPr>
          <p:cNvPr id="108546" name="Picture 2" descr="Image result for practice imag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708" y="4381500"/>
            <a:ext cx="3701941" cy="2476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6569539"/>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1027"/>
          <p:cNvSpPr>
            <a:spLocks noGrp="1" noChangeArrowheads="1"/>
          </p:cNvSpPr>
          <p:nvPr>
            <p:ph idx="1"/>
          </p:nvPr>
        </p:nvSpPr>
        <p:spPr/>
        <p:txBody>
          <a:bodyPr/>
          <a:lstStyle/>
          <a:p>
            <a:r>
              <a:rPr lang="en-US" dirty="0"/>
              <a:t>A field is a column of information in a table.</a:t>
            </a:r>
          </a:p>
          <a:p>
            <a:endParaRPr lang="en-US" dirty="0"/>
          </a:p>
          <a:p>
            <a:r>
              <a:rPr lang="en-US" dirty="0"/>
              <a:t>A custom field is a user-defined field in a table.</a:t>
            </a:r>
          </a:p>
          <a:p>
            <a:endParaRPr lang="en-US" dirty="0"/>
          </a:p>
          <a:p>
            <a:r>
              <a:rPr lang="en-US" dirty="0"/>
              <a:t>Custom fields can be descriptors and formulas.</a:t>
            </a:r>
          </a:p>
          <a:p>
            <a:endParaRPr lang="en-US" dirty="0"/>
          </a:p>
        </p:txBody>
      </p:sp>
      <p:sp>
        <p:nvSpPr>
          <p:cNvPr id="670722" name="Rectangle 1026" descr="25%"/>
          <p:cNvSpPr>
            <a:spLocks noGrp="1" noChangeArrowheads="1"/>
          </p:cNvSpPr>
          <p:nvPr>
            <p:ph type="title"/>
          </p:nvPr>
        </p:nvSpPr>
        <p:spPr/>
        <p:txBody>
          <a:bodyPr/>
          <a:lstStyle/>
          <a:p>
            <a:br>
              <a:rPr lang="en-US" dirty="0"/>
            </a:br>
            <a:r>
              <a:rPr lang="en-US" dirty="0"/>
              <a:t>What is a Custom Field?</a:t>
            </a:r>
          </a:p>
        </p:txBody>
      </p:sp>
      <p:pic>
        <p:nvPicPr>
          <p:cNvPr id="109570" name="Picture 2" descr="Image result for what ima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9426" y="3937000"/>
            <a:ext cx="2832324" cy="28241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12000"/>
            <a:ext cx="5410200" cy="5029200"/>
          </a:xfrm>
        </p:spPr>
        <p:txBody>
          <a:bodyPr/>
          <a:lstStyle/>
          <a:p>
            <a:r>
              <a:rPr lang="en-US" dirty="0"/>
              <a:t>To </a:t>
            </a:r>
            <a:r>
              <a:rPr lang="en-US" dirty="0">
                <a:solidFill>
                  <a:srgbClr val="C00000"/>
                </a:solidFill>
              </a:rPr>
              <a:t>store</a:t>
            </a:r>
            <a:r>
              <a:rPr lang="en-US" dirty="0"/>
              <a:t> information about samples in the Empower database.</a:t>
            </a:r>
          </a:p>
          <a:p>
            <a:endParaRPr lang="en-US" dirty="0"/>
          </a:p>
          <a:p>
            <a:r>
              <a:rPr lang="en-US" dirty="0"/>
              <a:t>To </a:t>
            </a:r>
            <a:r>
              <a:rPr lang="en-US" dirty="0">
                <a:solidFill>
                  <a:srgbClr val="C00000"/>
                </a:solidFill>
              </a:rPr>
              <a:t>report</a:t>
            </a:r>
            <a:r>
              <a:rPr lang="en-US" dirty="0"/>
              <a:t> information about your sample in an Empower report.</a:t>
            </a:r>
          </a:p>
          <a:p>
            <a:endParaRPr lang="en-US" dirty="0"/>
          </a:p>
          <a:p>
            <a:r>
              <a:rPr lang="en-US" dirty="0"/>
              <a:t>To </a:t>
            </a:r>
            <a:r>
              <a:rPr lang="en-US" dirty="0">
                <a:solidFill>
                  <a:srgbClr val="C00000"/>
                </a:solidFill>
              </a:rPr>
              <a:t>sort</a:t>
            </a:r>
            <a:r>
              <a:rPr lang="en-US" dirty="0"/>
              <a:t> data by custom sample information.</a:t>
            </a:r>
          </a:p>
          <a:p>
            <a:endParaRPr lang="en-US" dirty="0"/>
          </a:p>
          <a:p>
            <a:r>
              <a:rPr lang="en-US" dirty="0"/>
              <a:t>To set Empower to </a:t>
            </a:r>
            <a:r>
              <a:rPr lang="en-US" dirty="0">
                <a:solidFill>
                  <a:srgbClr val="C00000"/>
                </a:solidFill>
              </a:rPr>
              <a:t>perform automated calculations</a:t>
            </a:r>
            <a:r>
              <a:rPr lang="en-US" dirty="0"/>
              <a:t>.</a:t>
            </a:r>
          </a:p>
          <a:p>
            <a:pPr>
              <a:buNone/>
            </a:pPr>
            <a:endParaRPr lang="en-US" dirty="0"/>
          </a:p>
        </p:txBody>
      </p:sp>
      <p:sp>
        <p:nvSpPr>
          <p:cNvPr id="3" name="Title 2"/>
          <p:cNvSpPr>
            <a:spLocks noGrp="1"/>
          </p:cNvSpPr>
          <p:nvPr>
            <p:ph type="title"/>
          </p:nvPr>
        </p:nvSpPr>
        <p:spPr/>
        <p:txBody>
          <a:bodyPr/>
          <a:lstStyle/>
          <a:p>
            <a:r>
              <a:rPr lang="en-US" dirty="0"/>
              <a:t>Why Use a Custom Field?</a:t>
            </a:r>
          </a:p>
        </p:txBody>
      </p:sp>
      <p:sp>
        <p:nvSpPr>
          <p:cNvPr id="4" name="TextBox 3"/>
          <p:cNvSpPr txBox="1"/>
          <p:nvPr/>
        </p:nvSpPr>
        <p:spPr>
          <a:xfrm>
            <a:off x="6223000" y="2362200"/>
            <a:ext cx="2247900" cy="646331"/>
          </a:xfrm>
          <a:prstGeom prst="rect">
            <a:avLst/>
          </a:prstGeom>
          <a:noFill/>
        </p:spPr>
        <p:txBody>
          <a:bodyPr wrap="square" rtlCol="0">
            <a:spAutoFit/>
          </a:bodyPr>
          <a:lstStyle/>
          <a:p>
            <a:r>
              <a:rPr lang="en-US" sz="1800" dirty="0">
                <a:latin typeface="Arial"/>
                <a:cs typeface="Arial"/>
              </a:rPr>
              <a:t>Sample Description Identifiers</a:t>
            </a:r>
          </a:p>
        </p:txBody>
      </p:sp>
      <p:sp>
        <p:nvSpPr>
          <p:cNvPr id="5" name="TextBox 4"/>
          <p:cNvSpPr txBox="1"/>
          <p:nvPr/>
        </p:nvSpPr>
        <p:spPr>
          <a:xfrm>
            <a:off x="6223001" y="4406900"/>
            <a:ext cx="2336800" cy="646331"/>
          </a:xfrm>
          <a:prstGeom prst="rect">
            <a:avLst/>
          </a:prstGeom>
          <a:noFill/>
        </p:spPr>
        <p:txBody>
          <a:bodyPr wrap="square" rtlCol="0">
            <a:spAutoFit/>
          </a:bodyPr>
          <a:lstStyle/>
          <a:p>
            <a:r>
              <a:rPr lang="en-US" sz="1800" dirty="0">
                <a:latin typeface="Arial"/>
                <a:cs typeface="Arial"/>
              </a:rPr>
              <a:t>Custom Database Results Calculations</a:t>
            </a:r>
          </a:p>
        </p:txBody>
      </p:sp>
      <p:sp>
        <p:nvSpPr>
          <p:cNvPr id="7" name="Right Brace 6"/>
          <p:cNvSpPr/>
          <p:nvPr/>
        </p:nvSpPr>
        <p:spPr bwMode="auto">
          <a:xfrm>
            <a:off x="5715000" y="1384300"/>
            <a:ext cx="381000" cy="2578100"/>
          </a:xfrm>
          <a:prstGeom prst="rightBrac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8" name="Right Brace 7"/>
          <p:cNvSpPr/>
          <p:nvPr/>
        </p:nvSpPr>
        <p:spPr bwMode="auto">
          <a:xfrm>
            <a:off x="5715000" y="4419600"/>
            <a:ext cx="381000" cy="609600"/>
          </a:xfrm>
          <a:prstGeom prst="rightBrac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pic>
        <p:nvPicPr>
          <p:cNvPr id="110594" name="Picture 2" descr="Image result for why images"/>
          <p:cNvPicPr>
            <a:picLocks noChangeAspect="1" noChangeArrowheads="1"/>
          </p:cNvPicPr>
          <p:nvPr/>
        </p:nvPicPr>
        <p:blipFill rotWithShape="1">
          <a:blip r:embed="rId3">
            <a:extLst>
              <a:ext uri="{28A0092B-C50C-407E-A947-70E740481C1C}">
                <a14:useLocalDpi xmlns:a14="http://schemas.microsoft.com/office/drawing/2010/main" val="0"/>
              </a:ext>
            </a:extLst>
          </a:blip>
          <a:srcRect t="19318" b="27761"/>
          <a:stretch/>
        </p:blipFill>
        <p:spPr bwMode="auto">
          <a:xfrm>
            <a:off x="5397500" y="5372100"/>
            <a:ext cx="3506932" cy="133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Custom fields are created in a </a:t>
            </a:r>
            <a:r>
              <a:rPr lang="en-US" dirty="0">
                <a:solidFill>
                  <a:srgbClr val="C00000"/>
                </a:solidFill>
              </a:rPr>
              <a:t>Project</a:t>
            </a:r>
            <a:r>
              <a:rPr lang="en-US" dirty="0"/>
              <a:t>.</a:t>
            </a:r>
          </a:p>
          <a:p>
            <a:endParaRPr lang="en-US" dirty="0"/>
          </a:p>
          <a:p>
            <a:r>
              <a:rPr lang="en-US" dirty="0"/>
              <a:t>To create a custom field, you need the </a:t>
            </a:r>
            <a:r>
              <a:rPr lang="en-US" dirty="0">
                <a:solidFill>
                  <a:srgbClr val="C00000"/>
                </a:solidFill>
              </a:rPr>
              <a:t>Alter Any Project </a:t>
            </a:r>
            <a:r>
              <a:rPr lang="en-US" dirty="0"/>
              <a:t>and the </a:t>
            </a:r>
            <a:r>
              <a:rPr lang="en-US" dirty="0">
                <a:solidFill>
                  <a:srgbClr val="C00000"/>
                </a:solidFill>
              </a:rPr>
              <a:t>Create Custom Fields </a:t>
            </a:r>
            <a:r>
              <a:rPr lang="en-US" dirty="0"/>
              <a:t>privileges</a:t>
            </a:r>
          </a:p>
          <a:p>
            <a:endParaRPr lang="en-US" dirty="0"/>
          </a:p>
          <a:p>
            <a:r>
              <a:rPr lang="en-US" dirty="0"/>
              <a:t>These privileges are specific to custom fields:</a:t>
            </a:r>
          </a:p>
          <a:p>
            <a:pPr lvl="1"/>
            <a:r>
              <a:rPr lang="en-US" dirty="0"/>
              <a:t> Create CF</a:t>
            </a:r>
          </a:p>
          <a:p>
            <a:pPr lvl="1"/>
            <a:r>
              <a:rPr lang="en-US" dirty="0"/>
              <a:t> Alter CF</a:t>
            </a:r>
          </a:p>
          <a:p>
            <a:pPr lvl="1"/>
            <a:r>
              <a:rPr lang="en-US" dirty="0"/>
              <a:t> Delete CF</a:t>
            </a:r>
          </a:p>
          <a:p>
            <a:pPr lvl="1"/>
            <a:r>
              <a:rPr lang="en-US" dirty="0"/>
              <a:t> Lock CF</a:t>
            </a:r>
          </a:p>
          <a:p>
            <a:pPr lvl="1"/>
            <a:r>
              <a:rPr lang="en-US" dirty="0"/>
              <a:t> Unlock CF</a:t>
            </a:r>
            <a:br>
              <a:rPr lang="en-US" dirty="0"/>
            </a:br>
            <a:endParaRPr lang="en-US" dirty="0"/>
          </a:p>
          <a:p>
            <a:r>
              <a:rPr lang="en-US" dirty="0"/>
              <a:t>You can include custom fields in view filters, views and reports.</a:t>
            </a:r>
          </a:p>
        </p:txBody>
      </p:sp>
      <p:sp>
        <p:nvSpPr>
          <p:cNvPr id="3" name="Title 2"/>
          <p:cNvSpPr>
            <a:spLocks noGrp="1"/>
          </p:cNvSpPr>
          <p:nvPr>
            <p:ph type="title"/>
          </p:nvPr>
        </p:nvSpPr>
        <p:spPr/>
        <p:txBody>
          <a:bodyPr/>
          <a:lstStyle/>
          <a:p>
            <a:r>
              <a:rPr lang="en-US" dirty="0"/>
              <a:t>Custom Fields</a:t>
            </a:r>
          </a:p>
        </p:txBody>
      </p:sp>
      <p:pic>
        <p:nvPicPr>
          <p:cNvPr id="111618" name="Picture 2" descr="Image result for privileges images"/>
          <p:cNvPicPr>
            <a:picLocks noChangeAspect="1" noChangeArrowheads="1"/>
          </p:cNvPicPr>
          <p:nvPr/>
        </p:nvPicPr>
        <p:blipFill rotWithShape="1">
          <a:blip r:embed="rId3">
            <a:extLst>
              <a:ext uri="{28A0092B-C50C-407E-A947-70E740481C1C}">
                <a14:useLocalDpi xmlns:a14="http://schemas.microsoft.com/office/drawing/2010/main" val="0"/>
              </a:ext>
            </a:extLst>
          </a:blip>
          <a:srcRect b="7738"/>
          <a:stretch/>
        </p:blipFill>
        <p:spPr bwMode="auto">
          <a:xfrm>
            <a:off x="6400139" y="3457575"/>
            <a:ext cx="2070760" cy="1851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C00000"/>
                </a:solidFill>
              </a:rPr>
              <a:t>Plan</a:t>
            </a:r>
            <a:r>
              <a:rPr lang="en-US" dirty="0"/>
              <a:t> your custom fields on paper</a:t>
            </a:r>
          </a:p>
          <a:p>
            <a:endParaRPr lang="en-US" dirty="0"/>
          </a:p>
          <a:p>
            <a:r>
              <a:rPr lang="en-US" dirty="0"/>
              <a:t>Work in a </a:t>
            </a:r>
            <a:r>
              <a:rPr lang="en-US" dirty="0">
                <a:solidFill>
                  <a:srgbClr val="C00000"/>
                </a:solidFill>
              </a:rPr>
              <a:t>test project</a:t>
            </a:r>
          </a:p>
          <a:p>
            <a:endParaRPr lang="en-US" dirty="0"/>
          </a:p>
          <a:p>
            <a:r>
              <a:rPr lang="en-US" dirty="0"/>
              <a:t>Ensure the custom field performs as expected</a:t>
            </a:r>
          </a:p>
          <a:p>
            <a:endParaRPr lang="en-US" dirty="0"/>
          </a:p>
          <a:p>
            <a:r>
              <a:rPr lang="en-US" dirty="0">
                <a:solidFill>
                  <a:srgbClr val="C00000"/>
                </a:solidFill>
              </a:rPr>
              <a:t>Copy</a:t>
            </a:r>
            <a:r>
              <a:rPr lang="en-US" dirty="0"/>
              <a:t> your custom field to other projects after you </a:t>
            </a:r>
            <a:br>
              <a:rPr lang="en-US" dirty="0"/>
            </a:br>
            <a:r>
              <a:rPr lang="en-US" dirty="0"/>
              <a:t>verify its usability</a:t>
            </a:r>
            <a:br>
              <a:rPr lang="en-US" dirty="0"/>
            </a:br>
            <a:endParaRPr lang="en-US" dirty="0"/>
          </a:p>
          <a:p>
            <a:r>
              <a:rPr lang="en-US" dirty="0"/>
              <a:t>Do not blindly copy all custom fields to all projects</a:t>
            </a:r>
          </a:p>
        </p:txBody>
      </p:sp>
      <p:sp>
        <p:nvSpPr>
          <p:cNvPr id="3" name="Title 2"/>
          <p:cNvSpPr>
            <a:spLocks noGrp="1"/>
          </p:cNvSpPr>
          <p:nvPr>
            <p:ph type="title"/>
          </p:nvPr>
        </p:nvSpPr>
        <p:spPr/>
        <p:txBody>
          <a:bodyPr/>
          <a:lstStyle/>
          <a:p>
            <a:r>
              <a:rPr lang="en-US" dirty="0"/>
              <a:t>Creating Custom Fields</a:t>
            </a:r>
          </a:p>
        </p:txBody>
      </p:sp>
      <p:pic>
        <p:nvPicPr>
          <p:cNvPr id="112642" name="Picture 2" descr="Image result for ideas images"/>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623" r="26736"/>
          <a:stretch/>
        </p:blipFill>
        <p:spPr bwMode="auto">
          <a:xfrm>
            <a:off x="6667630" y="3581399"/>
            <a:ext cx="2019169" cy="3114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1312000"/>
            <a:ext cx="3914384" cy="5029200"/>
          </a:xfrm>
        </p:spPr>
        <p:txBody>
          <a:bodyPr/>
          <a:lstStyle/>
          <a:p>
            <a:r>
              <a:rPr lang="en-US" dirty="0"/>
              <a:t>There are </a:t>
            </a:r>
            <a:r>
              <a:rPr lang="en-US" dirty="0">
                <a:solidFill>
                  <a:srgbClr val="C00000"/>
                </a:solidFill>
              </a:rPr>
              <a:t>7</a:t>
            </a:r>
            <a:r>
              <a:rPr lang="en-US" dirty="0"/>
              <a:t> Default Custom Fields in Empower 3</a:t>
            </a:r>
          </a:p>
          <a:p>
            <a:endParaRPr lang="en-US" dirty="0"/>
          </a:p>
          <a:p>
            <a:r>
              <a:rPr lang="en-US" dirty="0"/>
              <a:t>Found in the </a:t>
            </a:r>
            <a:r>
              <a:rPr lang="en-US" dirty="0">
                <a:solidFill>
                  <a:srgbClr val="C00000"/>
                </a:solidFill>
              </a:rPr>
              <a:t>Default</a:t>
            </a:r>
            <a:r>
              <a:rPr lang="en-US" dirty="0"/>
              <a:t> Project</a:t>
            </a:r>
          </a:p>
          <a:p>
            <a:endParaRPr lang="en-US" dirty="0"/>
          </a:p>
          <a:p>
            <a:r>
              <a:rPr lang="en-US" dirty="0"/>
              <a:t>All are </a:t>
            </a:r>
            <a:r>
              <a:rPr lang="en-US" dirty="0">
                <a:solidFill>
                  <a:srgbClr val="C00000"/>
                </a:solidFill>
              </a:rPr>
              <a:t>Sample Field Type</a:t>
            </a:r>
            <a:r>
              <a:rPr lang="en-US" dirty="0"/>
              <a:t>:</a:t>
            </a:r>
          </a:p>
          <a:p>
            <a:pPr lvl="1"/>
            <a:r>
              <a:rPr lang="en-US" dirty="0"/>
              <a:t>Column Name</a:t>
            </a:r>
          </a:p>
          <a:p>
            <a:pPr lvl="1"/>
            <a:r>
              <a:rPr lang="en-US" dirty="0"/>
              <a:t>Column Serial Number</a:t>
            </a:r>
          </a:p>
          <a:p>
            <a:pPr lvl="1"/>
            <a:r>
              <a:rPr lang="en-US" dirty="0"/>
              <a:t>Dilution</a:t>
            </a:r>
          </a:p>
          <a:p>
            <a:pPr lvl="1"/>
            <a:r>
              <a:rPr lang="en-US" dirty="0"/>
              <a:t>Level Values</a:t>
            </a:r>
          </a:p>
          <a:p>
            <a:pPr lvl="1"/>
            <a:r>
              <a:rPr lang="en-US" dirty="0"/>
              <a:t>Sample Matrix</a:t>
            </a:r>
          </a:p>
          <a:p>
            <a:pPr lvl="1"/>
            <a:r>
              <a:rPr lang="en-US" dirty="0"/>
              <a:t>Sample Name</a:t>
            </a:r>
          </a:p>
          <a:p>
            <a:pPr lvl="1"/>
            <a:r>
              <a:rPr lang="en-US" dirty="0"/>
              <a:t>Sample Weight</a:t>
            </a:r>
          </a:p>
          <a:p>
            <a:endParaRPr lang="en-US" dirty="0"/>
          </a:p>
          <a:p>
            <a:endParaRPr lang="en-US" dirty="0"/>
          </a:p>
        </p:txBody>
      </p:sp>
      <p:sp>
        <p:nvSpPr>
          <p:cNvPr id="36866" name="Rectangle 2"/>
          <p:cNvSpPr>
            <a:spLocks noGrp="1" noChangeArrowheads="1"/>
          </p:cNvSpPr>
          <p:nvPr>
            <p:ph type="title"/>
          </p:nvPr>
        </p:nvSpPr>
        <p:spPr/>
        <p:txBody>
          <a:bodyPr/>
          <a:lstStyle/>
          <a:p>
            <a:pPr eaLnBrk="1" hangingPunct="1">
              <a:defRPr/>
            </a:pPr>
            <a:r>
              <a:rPr lang="en-US"/>
              <a:t>Default Custom Fields</a:t>
            </a:r>
          </a:p>
        </p:txBody>
      </p:sp>
      <p:pic>
        <p:nvPicPr>
          <p:cNvPr id="7" name="Picture 6" descr="Project properties default CF.PNG"/>
          <p:cNvPicPr>
            <a:picLocks noChangeAspect="1"/>
          </p:cNvPicPr>
          <p:nvPr/>
        </p:nvPicPr>
        <p:blipFill>
          <a:blip r:embed="rId3" cstate="print"/>
          <a:srcRect l="791" t="827" r="791" b="827"/>
          <a:stretch>
            <a:fillRect/>
          </a:stretch>
        </p:blipFill>
        <p:spPr>
          <a:xfrm>
            <a:off x="4229915" y="1556073"/>
            <a:ext cx="4450622" cy="4251952"/>
          </a:xfrm>
          <a:prstGeom prst="rect">
            <a:avLst/>
          </a:prstGeom>
          <a:ln>
            <a:solidFill>
              <a:schemeClr val="tx1"/>
            </a:solidFill>
          </a:ln>
          <a:effectLst>
            <a:outerShdw blurRad="50800" dist="38100" dir="2700000" algn="tl" rotWithShape="0">
              <a:prstClr val="black">
                <a:alpha val="40000"/>
              </a:prstClr>
            </a:outerShdw>
          </a:effectLst>
        </p:spPr>
      </p:pic>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Creating a </a:t>
            </a:r>
            <a:r>
              <a:rPr lang="en-US" dirty="0">
                <a:solidFill>
                  <a:srgbClr val="C00000"/>
                </a:solidFill>
              </a:rPr>
              <a:t>New</a:t>
            </a:r>
            <a:r>
              <a:rPr lang="en-US" dirty="0"/>
              <a:t> Custom Field</a:t>
            </a:r>
          </a:p>
        </p:txBody>
      </p:sp>
      <p:graphicFrame>
        <p:nvGraphicFramePr>
          <p:cNvPr id="3" name="Diagram 2"/>
          <p:cNvGraphicFramePr/>
          <p:nvPr/>
        </p:nvGraphicFramePr>
        <p:xfrm>
          <a:off x="1237988" y="5973287"/>
          <a:ext cx="6648712" cy="461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b="1" dirty="0"/>
              <a:t>Creating a </a:t>
            </a:r>
            <a:r>
              <a:rPr lang="en-US" b="1" dirty="0">
                <a:solidFill>
                  <a:srgbClr val="C00000"/>
                </a:solidFill>
              </a:rPr>
              <a:t>New</a:t>
            </a:r>
            <a:r>
              <a:rPr lang="en-US" b="1" dirty="0"/>
              <a:t> Custom Field</a:t>
            </a:r>
          </a:p>
          <a:p>
            <a:r>
              <a:rPr lang="en-US" dirty="0"/>
              <a:t>What </a:t>
            </a:r>
            <a:r>
              <a:rPr lang="en-US" dirty="0">
                <a:solidFill>
                  <a:schemeClr val="accent2"/>
                </a:solidFill>
              </a:rPr>
              <a:t>Type of Field </a:t>
            </a:r>
            <a:r>
              <a:rPr lang="en-US" dirty="0"/>
              <a:t>to Create?</a:t>
            </a:r>
          </a:p>
        </p:txBody>
      </p:sp>
      <p:graphicFrame>
        <p:nvGraphicFramePr>
          <p:cNvPr id="3" name="Diagram 2"/>
          <p:cNvGraphicFramePr/>
          <p:nvPr/>
        </p:nvGraphicFramePr>
        <p:xfrm>
          <a:off x="1237988" y="5973287"/>
          <a:ext cx="6648712" cy="461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defRPr/>
            </a:pPr>
            <a:r>
              <a:rPr lang="en-US" dirty="0"/>
              <a:t>What </a:t>
            </a:r>
            <a:r>
              <a:rPr lang="en-US" dirty="0">
                <a:solidFill>
                  <a:schemeClr val="accent2"/>
                </a:solidFill>
              </a:rPr>
              <a:t>Type of Field </a:t>
            </a:r>
            <a:r>
              <a:rPr lang="en-US" dirty="0"/>
              <a:t>to Create?</a:t>
            </a:r>
          </a:p>
        </p:txBody>
      </p:sp>
      <p:pic>
        <p:nvPicPr>
          <p:cNvPr id="14341" name="Picture 6"/>
          <p:cNvPicPr>
            <a:picLocks noChangeAspect="1" noChangeArrowheads="1"/>
          </p:cNvPicPr>
          <p:nvPr/>
        </p:nvPicPr>
        <p:blipFill>
          <a:blip r:embed="rId3" cstate="print"/>
          <a:srcRect/>
          <a:stretch>
            <a:fillRect/>
          </a:stretch>
        </p:blipFill>
        <p:spPr bwMode="auto">
          <a:xfrm>
            <a:off x="1300462" y="1347008"/>
            <a:ext cx="6515778" cy="4979764"/>
          </a:xfrm>
          <a:prstGeom prst="rect">
            <a:avLst/>
          </a:prstGeom>
          <a:noFill/>
          <a:ln w="9525">
            <a:noFill/>
            <a:miter lim="800000"/>
            <a:headEnd/>
            <a:tailEnd/>
          </a:ln>
        </p:spPr>
      </p:pic>
      <p:sp>
        <p:nvSpPr>
          <p:cNvPr id="14344" name="Rectangle 9"/>
          <p:cNvSpPr>
            <a:spLocks noChangeArrowheads="1"/>
          </p:cNvSpPr>
          <p:nvPr/>
        </p:nvSpPr>
        <p:spPr bwMode="auto">
          <a:xfrm>
            <a:off x="3439662" y="2508949"/>
            <a:ext cx="3473657" cy="863081"/>
          </a:xfrm>
          <a:prstGeom prst="rect">
            <a:avLst/>
          </a:prstGeom>
          <a:noFill/>
          <a:ln w="38100" algn="ctr">
            <a:solidFill>
              <a:srgbClr val="FF0000"/>
            </a:solidFill>
            <a:miter lim="800000"/>
            <a:headEnd/>
            <a:tailEnd/>
          </a:ln>
        </p:spPr>
        <p:txBody>
          <a:bodyPr wrap="none" anchor="ctr"/>
          <a:lstStyle/>
          <a:p>
            <a:endParaRPr lang="en-US"/>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ChangeArrowheads="1"/>
          </p:cNvSpPr>
          <p:nvPr/>
        </p:nvSpPr>
        <p:spPr bwMode="auto">
          <a:xfrm>
            <a:off x="226111" y="1149178"/>
            <a:ext cx="8569325" cy="3810000"/>
          </a:xfrm>
          <a:prstGeom prst="rect">
            <a:avLst/>
          </a:prstGeom>
          <a:noFill/>
          <a:ln w="9525">
            <a:noFill/>
            <a:miter lim="800000"/>
            <a:headEnd/>
            <a:tailEnd/>
          </a:ln>
        </p:spPr>
        <p:txBody>
          <a:bodyPr lIns="92075" tIns="46038" rIns="92075" bIns="46038"/>
          <a:lstStyle/>
          <a:p>
            <a:pPr marL="342900" indent="-342900" algn="l">
              <a:lnSpc>
                <a:spcPct val="110000"/>
              </a:lnSpc>
              <a:spcBef>
                <a:spcPct val="20000"/>
              </a:spcBef>
              <a:buClr>
                <a:srgbClr val="3374D4"/>
              </a:buClr>
              <a:buFont typeface="Wingdings 2" pitchFamily="18" charset="2"/>
              <a:buChar char="¡"/>
            </a:pPr>
            <a:endParaRPr lang="en-US" sz="2000" dirty="0"/>
          </a:p>
        </p:txBody>
      </p:sp>
      <p:sp>
        <p:nvSpPr>
          <p:cNvPr id="83971" name="Rectangle 3"/>
          <p:cNvSpPr>
            <a:spLocks noChangeArrowheads="1"/>
          </p:cNvSpPr>
          <p:nvPr/>
        </p:nvSpPr>
        <p:spPr bwMode="auto">
          <a:xfrm>
            <a:off x="0" y="0"/>
            <a:ext cx="9144000" cy="1143000"/>
          </a:xfrm>
          <a:prstGeom prst="rect">
            <a:avLst/>
          </a:prstGeom>
          <a:noFill/>
          <a:ln w="9525">
            <a:noFill/>
            <a:miter lim="800000"/>
            <a:headEnd/>
            <a:tailEnd/>
          </a:ln>
          <a:effectLst/>
        </p:spPr>
        <p:txBody>
          <a:bodyPr lIns="92075" tIns="46038" rIns="92075" bIns="46038" anchor="ctr"/>
          <a:lstStyle/>
          <a:p>
            <a:pPr algn="l">
              <a:defRPr/>
            </a:pPr>
            <a:endParaRPr lang="en-US" sz="2400" b="1" dirty="0">
              <a:effectLst>
                <a:outerShdw blurRad="38100" dist="38100" dir="2700000" algn="tl">
                  <a:srgbClr val="C0C0C0"/>
                </a:outerShdw>
              </a:effectLst>
            </a:endParaRPr>
          </a:p>
        </p:txBody>
      </p:sp>
      <p:sp>
        <p:nvSpPr>
          <p:cNvPr id="4" name="Title 3"/>
          <p:cNvSpPr>
            <a:spLocks noGrp="1"/>
          </p:cNvSpPr>
          <p:nvPr>
            <p:ph type="title"/>
          </p:nvPr>
        </p:nvSpPr>
        <p:spPr/>
        <p:txBody>
          <a:bodyPr/>
          <a:lstStyle/>
          <a:p>
            <a:r>
              <a:rPr lang="en-US" dirty="0"/>
              <a:t> Types of Custom Fields</a:t>
            </a:r>
          </a:p>
        </p:txBody>
      </p:sp>
      <p:sp>
        <p:nvSpPr>
          <p:cNvPr id="5" name="Content Placeholder 4"/>
          <p:cNvSpPr>
            <a:spLocks noGrp="1"/>
          </p:cNvSpPr>
          <p:nvPr>
            <p:ph idx="1"/>
          </p:nvPr>
        </p:nvSpPr>
        <p:spPr/>
        <p:txBody>
          <a:bodyPr/>
          <a:lstStyle/>
          <a:p>
            <a:r>
              <a:rPr lang="en-US" dirty="0">
                <a:solidFill>
                  <a:srgbClr val="C00000"/>
                </a:solidFill>
              </a:rPr>
              <a:t>Sample</a:t>
            </a:r>
            <a:r>
              <a:rPr lang="en-US" dirty="0"/>
              <a:t>: Descriptive, if numerical. Can be used in calculations</a:t>
            </a:r>
            <a:br>
              <a:rPr lang="en-US" dirty="0"/>
            </a:br>
            <a:endParaRPr lang="en-US" dirty="0"/>
          </a:p>
          <a:p>
            <a:r>
              <a:rPr lang="en-US" dirty="0">
                <a:solidFill>
                  <a:srgbClr val="C00000"/>
                </a:solidFill>
              </a:rPr>
              <a:t>Sample Set</a:t>
            </a:r>
            <a:r>
              <a:rPr lang="en-US" dirty="0"/>
              <a:t>: Descriptive, relates to a </a:t>
            </a:r>
            <a:r>
              <a:rPr lang="en-US" dirty="0">
                <a:solidFill>
                  <a:schemeClr val="accent2"/>
                </a:solidFill>
              </a:rPr>
              <a:t>complete sample set</a:t>
            </a:r>
            <a:br>
              <a:rPr lang="en-US" dirty="0"/>
            </a:br>
            <a:endParaRPr lang="en-US" dirty="0"/>
          </a:p>
          <a:p>
            <a:r>
              <a:rPr lang="en-US" dirty="0">
                <a:solidFill>
                  <a:srgbClr val="C00000"/>
                </a:solidFill>
              </a:rPr>
              <a:t>Component</a:t>
            </a:r>
            <a:r>
              <a:rPr lang="en-US" dirty="0"/>
              <a:t>: Relates to each </a:t>
            </a:r>
            <a:r>
              <a:rPr lang="en-US" dirty="0">
                <a:solidFill>
                  <a:schemeClr val="accent2"/>
                </a:solidFill>
              </a:rPr>
              <a:t>component</a:t>
            </a:r>
            <a:r>
              <a:rPr lang="en-US" dirty="0"/>
              <a:t> in the component editor</a:t>
            </a:r>
            <a:br>
              <a:rPr lang="en-US" dirty="0"/>
            </a:br>
            <a:endParaRPr lang="en-US" dirty="0"/>
          </a:p>
          <a:p>
            <a:r>
              <a:rPr lang="en-US" dirty="0">
                <a:solidFill>
                  <a:srgbClr val="C00000"/>
                </a:solidFill>
              </a:rPr>
              <a:t>Peak</a:t>
            </a:r>
            <a:r>
              <a:rPr lang="en-US" dirty="0"/>
              <a:t>: Relates to each </a:t>
            </a:r>
            <a:r>
              <a:rPr lang="en-US" dirty="0">
                <a:solidFill>
                  <a:schemeClr val="accent2"/>
                </a:solidFill>
              </a:rPr>
              <a:t>peak</a:t>
            </a:r>
            <a:r>
              <a:rPr lang="en-US" dirty="0"/>
              <a:t> in the chromatogram</a:t>
            </a:r>
            <a:br>
              <a:rPr lang="en-US" dirty="0"/>
            </a:br>
            <a:endParaRPr lang="en-US" dirty="0"/>
          </a:p>
          <a:p>
            <a:r>
              <a:rPr lang="en-US" dirty="0">
                <a:solidFill>
                  <a:srgbClr val="C00000"/>
                </a:solidFill>
              </a:rPr>
              <a:t>Result</a:t>
            </a:r>
            <a:r>
              <a:rPr lang="en-US" dirty="0"/>
              <a:t>: Relates to a </a:t>
            </a:r>
            <a:r>
              <a:rPr lang="en-US" dirty="0">
                <a:solidFill>
                  <a:schemeClr val="accent2"/>
                </a:solidFill>
              </a:rPr>
              <a:t>result</a:t>
            </a:r>
            <a:r>
              <a:rPr lang="en-US" dirty="0"/>
              <a:t> for an entire sample</a:t>
            </a:r>
            <a:br>
              <a:rPr lang="en-US" dirty="0"/>
            </a:br>
            <a:endParaRPr lang="en-US" dirty="0"/>
          </a:p>
          <a:p>
            <a:r>
              <a:rPr lang="en-US" dirty="0">
                <a:solidFill>
                  <a:srgbClr val="C00000"/>
                </a:solidFill>
              </a:rPr>
              <a:t>Distribution</a:t>
            </a:r>
            <a:r>
              <a:rPr lang="en-US" dirty="0"/>
              <a:t>: For </a:t>
            </a:r>
            <a:r>
              <a:rPr lang="en-US" dirty="0">
                <a:solidFill>
                  <a:schemeClr val="accent2"/>
                </a:solidFill>
              </a:rPr>
              <a:t>GPC</a:t>
            </a:r>
            <a:r>
              <a:rPr lang="en-US" dirty="0"/>
              <a:t> option only</a:t>
            </a:r>
          </a:p>
          <a:p>
            <a:pPr>
              <a:buNone/>
            </a:pPr>
            <a:endParaRPr lang="en-US" dirty="0"/>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9" name="Rectangle 3"/>
          <p:cNvSpPr>
            <a:spLocks noGrp="1" noChangeArrowheads="1"/>
          </p:cNvSpPr>
          <p:nvPr>
            <p:ph idx="1"/>
          </p:nvPr>
        </p:nvSpPr>
        <p:spPr/>
        <p:txBody>
          <a:bodyPr/>
          <a:lstStyle/>
          <a:p>
            <a:pPr eaLnBrk="1" hangingPunct="1">
              <a:lnSpc>
                <a:spcPct val="100000"/>
              </a:lnSpc>
              <a:buNone/>
              <a:defRPr/>
            </a:pPr>
            <a:r>
              <a:rPr lang="en-US" dirty="0"/>
              <a:t>Describes </a:t>
            </a:r>
            <a:r>
              <a:rPr lang="en-US" dirty="0">
                <a:solidFill>
                  <a:srgbClr val="C00000"/>
                </a:solidFill>
              </a:rPr>
              <a:t>samples, vials, and sample parameters</a:t>
            </a:r>
            <a:r>
              <a:rPr lang="en-US" dirty="0"/>
              <a:t>.</a:t>
            </a:r>
          </a:p>
          <a:p>
            <a:pPr eaLnBrk="1" hangingPunct="1">
              <a:lnSpc>
                <a:spcPct val="100000"/>
              </a:lnSpc>
              <a:defRPr/>
            </a:pPr>
            <a:endParaRPr lang="en-US" dirty="0"/>
          </a:p>
          <a:p>
            <a:pPr eaLnBrk="1" hangingPunct="1">
              <a:lnSpc>
                <a:spcPct val="100000"/>
              </a:lnSpc>
              <a:defRPr/>
            </a:pPr>
            <a:r>
              <a:rPr lang="en-US" dirty="0"/>
              <a:t>Used when the information is different for each sample</a:t>
            </a:r>
          </a:p>
          <a:p>
            <a:pPr eaLnBrk="1" hangingPunct="1">
              <a:lnSpc>
                <a:spcPct val="100000"/>
              </a:lnSpc>
              <a:defRPr/>
            </a:pPr>
            <a:r>
              <a:rPr lang="en-US" dirty="0"/>
              <a:t>Entered in:</a:t>
            </a:r>
          </a:p>
          <a:p>
            <a:pPr marL="798513" lvl="1" indent="-341313" eaLnBrk="1" hangingPunct="1">
              <a:lnSpc>
                <a:spcPct val="100000"/>
              </a:lnSpc>
              <a:defRPr/>
            </a:pPr>
            <a:r>
              <a:rPr lang="en-US" dirty="0"/>
              <a:t>Samples table of the Run Samples window</a:t>
            </a:r>
          </a:p>
          <a:p>
            <a:pPr marL="798513" lvl="1" indent="-341313" eaLnBrk="1" hangingPunct="1">
              <a:lnSpc>
                <a:spcPct val="100000"/>
              </a:lnSpc>
              <a:defRPr/>
            </a:pPr>
            <a:r>
              <a:rPr lang="en-US" dirty="0"/>
              <a:t>Alter Sample window</a:t>
            </a:r>
          </a:p>
          <a:p>
            <a:pPr eaLnBrk="1" hangingPunct="1">
              <a:lnSpc>
                <a:spcPct val="100000"/>
              </a:lnSpc>
              <a:defRPr/>
            </a:pPr>
            <a:r>
              <a:rPr lang="en-US" dirty="0"/>
              <a:t>Supported Data Types:</a:t>
            </a:r>
          </a:p>
          <a:p>
            <a:pPr marL="798513" lvl="1" indent="-341313" eaLnBrk="1" hangingPunct="1">
              <a:lnSpc>
                <a:spcPct val="100000"/>
              </a:lnSpc>
              <a:defRPr/>
            </a:pPr>
            <a:r>
              <a:rPr lang="en-US" dirty="0"/>
              <a:t>Integer</a:t>
            </a:r>
          </a:p>
          <a:p>
            <a:pPr marL="798513" lvl="1" indent="-341313" eaLnBrk="1" hangingPunct="1">
              <a:lnSpc>
                <a:spcPct val="100000"/>
              </a:lnSpc>
              <a:defRPr/>
            </a:pPr>
            <a:r>
              <a:rPr lang="en-US" dirty="0"/>
              <a:t>Real</a:t>
            </a:r>
          </a:p>
          <a:p>
            <a:pPr marL="798513" lvl="1" indent="-341313" eaLnBrk="1" hangingPunct="1">
              <a:lnSpc>
                <a:spcPct val="100000"/>
              </a:lnSpc>
              <a:defRPr/>
            </a:pPr>
            <a:r>
              <a:rPr lang="en-US" dirty="0"/>
              <a:t>Text</a:t>
            </a:r>
          </a:p>
          <a:p>
            <a:pPr lvl="1" eaLnBrk="1" hangingPunct="1">
              <a:lnSpc>
                <a:spcPct val="90000"/>
              </a:lnSpc>
              <a:buFontTx/>
              <a:buChar char="•"/>
              <a:defRPr/>
            </a:pPr>
            <a:endParaRPr lang="en-US" dirty="0"/>
          </a:p>
          <a:p>
            <a:pPr eaLnBrk="1" hangingPunct="1">
              <a:lnSpc>
                <a:spcPct val="90000"/>
              </a:lnSpc>
              <a:buFont typeface="Monotype Sorts" charset="0"/>
              <a:buNone/>
              <a:defRPr/>
            </a:pPr>
            <a:endParaRPr lang="en-US" dirty="0"/>
          </a:p>
        </p:txBody>
      </p:sp>
      <p:sp>
        <p:nvSpPr>
          <p:cNvPr id="685058" name="Rectangle 2" descr="25%"/>
          <p:cNvSpPr>
            <a:spLocks noGrp="1" noChangeArrowheads="1"/>
          </p:cNvSpPr>
          <p:nvPr>
            <p:ph type="title"/>
          </p:nvPr>
        </p:nvSpPr>
        <p:spPr/>
        <p:txBody>
          <a:bodyPr/>
          <a:lstStyle/>
          <a:p>
            <a:pPr eaLnBrk="1" hangingPunct="1">
              <a:defRPr/>
            </a:pPr>
            <a:br>
              <a:rPr lang="en-US" dirty="0"/>
            </a:br>
            <a:r>
              <a:rPr lang="en-US" dirty="0"/>
              <a:t>Field Type: </a:t>
            </a:r>
            <a:r>
              <a:rPr lang="en-US" dirty="0">
                <a:solidFill>
                  <a:schemeClr val="accent2"/>
                </a:solidFill>
              </a:rPr>
              <a:t>Sample</a:t>
            </a:r>
          </a:p>
        </p:txBody>
      </p:sp>
      <p:sp>
        <p:nvSpPr>
          <p:cNvPr id="5" name="TextBox 4"/>
          <p:cNvSpPr txBox="1"/>
          <p:nvPr/>
        </p:nvSpPr>
        <p:spPr>
          <a:xfrm>
            <a:off x="3983472" y="3787594"/>
            <a:ext cx="2248051" cy="1280351"/>
          </a:xfrm>
          <a:prstGeom prst="rect">
            <a:avLst/>
          </a:prstGeom>
          <a:noFill/>
        </p:spPr>
        <p:txBody>
          <a:bodyPr wrap="none" rtlCol="0">
            <a:spAutoFit/>
          </a:bodyPr>
          <a:lstStyle/>
          <a:p>
            <a:pPr marL="798513" lvl="1" indent="-341313">
              <a:spcBef>
                <a:spcPct val="200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Date</a:t>
            </a:r>
          </a:p>
          <a:p>
            <a:pPr marL="798513" lvl="1" indent="-341313">
              <a:spcBef>
                <a:spcPct val="200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Boolean</a:t>
            </a:r>
          </a:p>
          <a:p>
            <a:pPr marL="798513" lvl="1" indent="-341313">
              <a:spcBef>
                <a:spcPct val="200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Enumerated</a:t>
            </a:r>
          </a:p>
          <a:p>
            <a:endParaRPr lang="en-US" dirty="0">
              <a:latin typeface="Arial" pitchFamily="34" charset="0"/>
              <a:cs typeface="Arial" pitchFamily="34" charset="0"/>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a:solidFill>
                  <a:schemeClr val="accent2"/>
                </a:solidFill>
              </a:rPr>
              <a:t>Sample</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432816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Describes samples, vials, custom samples, and sample parameters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Lot number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Analyst's name</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Patient ID</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Dissolution medium</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Storage interval</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Storage conditions</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Plant number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Manufacture date</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Samples table of the Run Samples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Alter Sample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Sample Set Method Editor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Review's Chromatogram Result table and Channels tab</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New Custom Field editor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Report Publisher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These tabs of the Project window:</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Injections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Channels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Results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Peaks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Sign Offs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Custom Fields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horzOverflow="overflow"/>
                </a:tc>
                <a:extLst>
                  <a:ext uri="{0D108BD9-81ED-4DB2-BD59-A6C34878D82A}">
                    <a16:rowId xmlns:a16="http://schemas.microsoft.com/office/drawing/2014/main" val="10001"/>
                  </a:ext>
                </a:extLst>
              </a:tr>
            </a:tbl>
          </a:graphicData>
        </a:graphic>
      </p:graphicFrame>
      <p:sp>
        <p:nvSpPr>
          <p:cNvPr id="2" name="Rectangle 1"/>
          <p:cNvSpPr/>
          <p:nvPr/>
        </p:nvSpPr>
        <p:spPr bwMode="auto">
          <a:xfrm>
            <a:off x="2603500" y="1943100"/>
            <a:ext cx="2387600" cy="3619500"/>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AU" sz="1600" b="0" i="0" u="none" strike="noStrike" cap="none" normalizeH="0" baseline="0">
              <a:ln>
                <a:noFill/>
              </a:ln>
              <a:solidFill>
                <a:schemeClr val="tx1"/>
              </a:solidFill>
              <a:effectLst/>
              <a:latin typeface="Verdana" pitchFamily="34" charset="0"/>
            </a:endParaRPr>
          </a:p>
        </p:txBody>
      </p:sp>
      <p:sp>
        <p:nvSpPr>
          <p:cNvPr id="3" name="TextBox 2"/>
          <p:cNvSpPr txBox="1"/>
          <p:nvPr/>
        </p:nvSpPr>
        <p:spPr>
          <a:xfrm>
            <a:off x="3391579" y="1981200"/>
            <a:ext cx="811441" cy="1323439"/>
          </a:xfrm>
          <a:prstGeom prst="rect">
            <a:avLst/>
          </a:prstGeom>
          <a:noFill/>
        </p:spPr>
        <p:txBody>
          <a:bodyPr wrap="none" rtlCol="0">
            <a:spAutoFit/>
          </a:bodyPr>
          <a:lstStyle/>
          <a:p>
            <a:r>
              <a:rPr lang="en-AU" sz="8000" b="1" dirty="0">
                <a:solidFill>
                  <a:srgbClr val="FF0000"/>
                </a:solidFill>
                <a:latin typeface="Arial"/>
                <a:cs typeface="Arial"/>
              </a:rPr>
              <a:t>?</a:t>
            </a: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a:solidFill>
                  <a:schemeClr val="accent2"/>
                </a:solidFill>
              </a:rPr>
              <a:t>Sample</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432816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Describes samples, vials, custom samples, and sample parameters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Lot number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Analyst's name</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Patient ID</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Dissolution medium</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Storage interval</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Storage conditions</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Plant number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Manufacture date</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Samples table of the Run Samples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Alter Sample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Sample Set Method Editor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Review's Chromatogram Result table and Channels tab</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New Custom Field editor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Report Publisher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These tabs of the Project window:</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Injections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Channels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Results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Peaks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Sign Offs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u="none" strike="noStrike" cap="none" normalizeH="0" baseline="0" dirty="0">
                          <a:ln>
                            <a:noFill/>
                          </a:ln>
                          <a:effectLst/>
                          <a:latin typeface="Arial" pitchFamily="34" charset="0"/>
                          <a:cs typeface="Arial" pitchFamily="34" charset="0"/>
                        </a:rPr>
                        <a:t>Custom Fields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horzOverflow="overflow"/>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5996401"/>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7" name="Rectangle 3"/>
          <p:cNvSpPr>
            <a:spLocks noGrp="1" noChangeArrowheads="1"/>
          </p:cNvSpPr>
          <p:nvPr>
            <p:ph idx="1"/>
          </p:nvPr>
        </p:nvSpPr>
        <p:spPr/>
        <p:txBody>
          <a:bodyPr/>
          <a:lstStyle/>
          <a:p>
            <a:pPr eaLnBrk="1" hangingPunct="1">
              <a:lnSpc>
                <a:spcPct val="100000"/>
              </a:lnSpc>
              <a:buNone/>
              <a:defRPr/>
            </a:pPr>
            <a:r>
              <a:rPr lang="en-US" dirty="0"/>
              <a:t>Identifies a Sample Set. </a:t>
            </a:r>
            <a:r>
              <a:rPr lang="en-US" dirty="0">
                <a:solidFill>
                  <a:srgbClr val="C00000"/>
                </a:solidFill>
              </a:rPr>
              <a:t>Used when the information is the same for the entire set of data</a:t>
            </a:r>
            <a:r>
              <a:rPr lang="en-US" dirty="0"/>
              <a:t>.</a:t>
            </a:r>
          </a:p>
          <a:p>
            <a:pPr eaLnBrk="1" hangingPunct="1">
              <a:lnSpc>
                <a:spcPct val="100000"/>
              </a:lnSpc>
              <a:buNone/>
              <a:defRPr/>
            </a:pPr>
            <a:endParaRPr lang="en-US" dirty="0"/>
          </a:p>
          <a:p>
            <a:pPr eaLnBrk="1" hangingPunct="1">
              <a:lnSpc>
                <a:spcPct val="100000"/>
              </a:lnSpc>
              <a:defRPr/>
            </a:pPr>
            <a:r>
              <a:rPr lang="en-US" dirty="0"/>
              <a:t>Entered in Sample Set Information:</a:t>
            </a:r>
          </a:p>
          <a:p>
            <a:pPr marL="798513" lvl="1" indent="-341313" eaLnBrk="1" hangingPunct="1">
              <a:lnSpc>
                <a:spcPct val="100000"/>
              </a:lnSpc>
              <a:defRPr/>
            </a:pPr>
            <a:r>
              <a:rPr lang="en-US" dirty="0"/>
              <a:t>Run Samples window</a:t>
            </a:r>
          </a:p>
          <a:p>
            <a:pPr marL="798513" lvl="1" indent="-341313" eaLnBrk="1" hangingPunct="1">
              <a:lnSpc>
                <a:spcPct val="100000"/>
              </a:lnSpc>
              <a:defRPr/>
            </a:pPr>
            <a:r>
              <a:rPr lang="en-US" dirty="0"/>
              <a:t>Alter Sample window</a:t>
            </a:r>
          </a:p>
          <a:p>
            <a:pPr eaLnBrk="1" hangingPunct="1">
              <a:lnSpc>
                <a:spcPct val="100000"/>
              </a:lnSpc>
              <a:defRPr/>
            </a:pPr>
            <a:r>
              <a:rPr lang="en-US" dirty="0"/>
              <a:t>Supported Data Types:</a:t>
            </a:r>
            <a:endParaRPr lang="en-US" sz="1200" dirty="0">
              <a:latin typeface="Times New Roman" pitchFamily="18" charset="0"/>
            </a:endParaRPr>
          </a:p>
          <a:p>
            <a:pPr marL="798513" lvl="1" indent="-341313" eaLnBrk="1" hangingPunct="1">
              <a:lnSpc>
                <a:spcPct val="100000"/>
              </a:lnSpc>
              <a:defRPr/>
            </a:pPr>
            <a:r>
              <a:rPr lang="en-US" dirty="0"/>
              <a:t>Integer</a:t>
            </a:r>
          </a:p>
          <a:p>
            <a:pPr marL="798513" lvl="1" indent="-341313" eaLnBrk="1" hangingPunct="1">
              <a:lnSpc>
                <a:spcPct val="100000"/>
              </a:lnSpc>
              <a:defRPr/>
            </a:pPr>
            <a:r>
              <a:rPr lang="en-US" dirty="0"/>
              <a:t>Real</a:t>
            </a:r>
          </a:p>
          <a:p>
            <a:pPr marL="798513" lvl="1" indent="-341313" eaLnBrk="1" hangingPunct="1">
              <a:lnSpc>
                <a:spcPct val="100000"/>
              </a:lnSpc>
              <a:defRPr/>
            </a:pPr>
            <a:r>
              <a:rPr lang="en-US" dirty="0"/>
              <a:t>Text</a:t>
            </a:r>
          </a:p>
          <a:p>
            <a:pPr lvl="1" eaLnBrk="1" hangingPunct="1">
              <a:buFontTx/>
              <a:buChar char="•"/>
              <a:defRPr/>
            </a:pPr>
            <a:endParaRPr lang="en-US" dirty="0"/>
          </a:p>
          <a:p>
            <a:pPr eaLnBrk="1" hangingPunct="1">
              <a:buFont typeface="Monotype Sorts" charset="0"/>
              <a:buNone/>
              <a:defRPr/>
            </a:pPr>
            <a:endParaRPr lang="en-US" dirty="0"/>
          </a:p>
        </p:txBody>
      </p:sp>
      <p:sp>
        <p:nvSpPr>
          <p:cNvPr id="687106" name="Rectangle 2" descr="25%"/>
          <p:cNvSpPr>
            <a:spLocks noGrp="1" noChangeArrowheads="1"/>
          </p:cNvSpPr>
          <p:nvPr>
            <p:ph type="title"/>
          </p:nvPr>
        </p:nvSpPr>
        <p:spPr/>
        <p:txBody>
          <a:bodyPr/>
          <a:lstStyle/>
          <a:p>
            <a:pPr eaLnBrk="1" hangingPunct="1">
              <a:defRPr/>
            </a:pPr>
            <a:br>
              <a:rPr lang="en-US" dirty="0"/>
            </a:br>
            <a:r>
              <a:rPr lang="en-US" dirty="0"/>
              <a:t>Field Type: </a:t>
            </a:r>
            <a:r>
              <a:rPr lang="en-US" dirty="0">
                <a:solidFill>
                  <a:schemeClr val="accent2"/>
                </a:solidFill>
              </a:rPr>
              <a:t>Sample Set</a:t>
            </a:r>
          </a:p>
        </p:txBody>
      </p:sp>
      <p:sp>
        <p:nvSpPr>
          <p:cNvPr id="5" name="TextBox 4"/>
          <p:cNvSpPr txBox="1"/>
          <p:nvPr/>
        </p:nvSpPr>
        <p:spPr>
          <a:xfrm>
            <a:off x="3983472" y="3728219"/>
            <a:ext cx="2248051" cy="1280351"/>
          </a:xfrm>
          <a:prstGeom prst="rect">
            <a:avLst/>
          </a:prstGeom>
          <a:noFill/>
        </p:spPr>
        <p:txBody>
          <a:bodyPr wrap="none" rtlCol="0">
            <a:spAutoFit/>
          </a:bodyPr>
          <a:lstStyle/>
          <a:p>
            <a:pPr marL="798513" lvl="1" indent="-341313">
              <a:spcBef>
                <a:spcPct val="200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Date</a:t>
            </a:r>
          </a:p>
          <a:p>
            <a:pPr marL="798513" lvl="1" indent="-341313">
              <a:spcBef>
                <a:spcPct val="200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Boolean</a:t>
            </a:r>
          </a:p>
          <a:p>
            <a:pPr marL="798513" lvl="1" indent="-341313">
              <a:spcBef>
                <a:spcPct val="200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Enumerated</a:t>
            </a:r>
          </a:p>
          <a:p>
            <a:endParaRPr lang="en-US" dirty="0">
              <a:latin typeface="Arial" pitchFamily="34" charset="0"/>
              <a:cs typeface="Arial" pitchFamily="34" charset="0"/>
            </a:endParaRP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a:solidFill>
                  <a:schemeClr val="accent2"/>
                </a:solidFill>
              </a:rPr>
              <a:t>Sample Set</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432816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4763" marR="0" lvl="0" indent="-4763"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Identifies a sample set</a:t>
                      </a:r>
                    </a:p>
                  </a:txBody>
                  <a:tcPr marL="86933" marR="86933"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To identify a protocol run's SOP</a:t>
                      </a:r>
                    </a:p>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 Batch number</a:t>
                      </a:r>
                    </a:p>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 Mobile phase</a:t>
                      </a:r>
                    </a:p>
                  </a:txBody>
                  <a:tcPr marL="86933" marR="86933"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Sample Set Information dialog in Run Samples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Sample Set Information dialog in Alter Sample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Sample Set Information dialog in Sample Set Method editor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These tabs of the Project window:</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Sample Set</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Injections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Channels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Result Sets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Results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Peaks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Sign Offs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Custom Fields</a:t>
                      </a:r>
                    </a:p>
                  </a:txBody>
                  <a:tcPr marL="86933" marR="86933" horzOverflow="overflow"/>
                </a:tc>
                <a:extLst>
                  <a:ext uri="{0D108BD9-81ED-4DB2-BD59-A6C34878D82A}">
                    <a16:rowId xmlns:a16="http://schemas.microsoft.com/office/drawing/2014/main" val="10001"/>
                  </a:ext>
                </a:extLst>
              </a:tr>
            </a:tbl>
          </a:graphicData>
        </a:graphic>
      </p:graphicFrame>
      <p:sp>
        <p:nvSpPr>
          <p:cNvPr id="4" name="Rectangle 3"/>
          <p:cNvSpPr/>
          <p:nvPr/>
        </p:nvSpPr>
        <p:spPr bwMode="auto">
          <a:xfrm>
            <a:off x="2603500" y="1943100"/>
            <a:ext cx="2387600" cy="3619500"/>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AU" sz="1600" b="0" i="0" u="none" strike="noStrike" cap="none" normalizeH="0" baseline="0">
              <a:ln>
                <a:noFill/>
              </a:ln>
              <a:solidFill>
                <a:schemeClr val="tx1"/>
              </a:solidFill>
              <a:effectLst/>
              <a:latin typeface="Verdana" pitchFamily="34" charset="0"/>
            </a:endParaRPr>
          </a:p>
        </p:txBody>
      </p:sp>
      <p:sp>
        <p:nvSpPr>
          <p:cNvPr id="6" name="TextBox 5"/>
          <p:cNvSpPr txBox="1"/>
          <p:nvPr/>
        </p:nvSpPr>
        <p:spPr>
          <a:xfrm>
            <a:off x="3391579" y="1981200"/>
            <a:ext cx="811441" cy="1323439"/>
          </a:xfrm>
          <a:prstGeom prst="rect">
            <a:avLst/>
          </a:prstGeom>
          <a:noFill/>
        </p:spPr>
        <p:txBody>
          <a:bodyPr wrap="none" rtlCol="0">
            <a:spAutoFit/>
          </a:bodyPr>
          <a:lstStyle/>
          <a:p>
            <a:r>
              <a:rPr lang="en-AU" sz="8000" b="1" dirty="0">
                <a:solidFill>
                  <a:srgbClr val="FF0000"/>
                </a:solidFill>
                <a:latin typeface="Arial"/>
                <a:cs typeface="Arial"/>
              </a:rPr>
              <a:t>?</a:t>
            </a: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a:solidFill>
                  <a:schemeClr val="accent2"/>
                </a:solidFill>
              </a:rPr>
              <a:t>Sample Set</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432816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4763" marR="0" lvl="0" indent="-4763"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Identifies a sample set</a:t>
                      </a:r>
                    </a:p>
                  </a:txBody>
                  <a:tcPr marL="86933" marR="86933"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To identify a protocol run's SOP</a:t>
                      </a:r>
                    </a:p>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 Batch number</a:t>
                      </a:r>
                    </a:p>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 Mobile phase</a:t>
                      </a:r>
                    </a:p>
                  </a:txBody>
                  <a:tcPr marL="86933" marR="86933"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Sample Set Information dialog in Run Samples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Sample Set Information dialog in Alter Sample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Sample Set Information dialog in Sample Set Method editor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These tabs of the Project window:</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Sample Set</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Injections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Channels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Result Sets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Results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Peaks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Sign Offs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Custom Fields</a:t>
                      </a:r>
                    </a:p>
                  </a:txBody>
                  <a:tcPr marL="86933" marR="86933" horzOverflow="overflow"/>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8263990"/>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5" name="Rectangle 3"/>
          <p:cNvSpPr>
            <a:spLocks noGrp="1" noChangeArrowheads="1"/>
          </p:cNvSpPr>
          <p:nvPr>
            <p:ph idx="1"/>
          </p:nvPr>
        </p:nvSpPr>
        <p:spPr>
          <a:xfrm>
            <a:off x="457200" y="1311999"/>
            <a:ext cx="8360228" cy="5207553"/>
          </a:xfrm>
        </p:spPr>
        <p:txBody>
          <a:bodyPr>
            <a:normAutofit/>
          </a:bodyPr>
          <a:lstStyle/>
          <a:p>
            <a:pPr eaLnBrk="1" hangingPunct="1">
              <a:lnSpc>
                <a:spcPct val="90000"/>
              </a:lnSpc>
              <a:buNone/>
              <a:defRPr/>
            </a:pPr>
            <a:r>
              <a:rPr lang="en-US" dirty="0"/>
              <a:t>User-defined </a:t>
            </a:r>
            <a:r>
              <a:rPr lang="en-US" dirty="0">
                <a:solidFill>
                  <a:srgbClr val="C00000"/>
                </a:solidFill>
              </a:rPr>
              <a:t>mathematical calculation pertaining to a peak</a:t>
            </a:r>
            <a:r>
              <a:rPr lang="en-US" dirty="0"/>
              <a:t>.</a:t>
            </a:r>
          </a:p>
          <a:p>
            <a:pPr eaLnBrk="1" hangingPunct="1">
              <a:lnSpc>
                <a:spcPct val="90000"/>
              </a:lnSpc>
              <a:defRPr/>
            </a:pPr>
            <a:endParaRPr lang="en-US" dirty="0"/>
          </a:p>
          <a:p>
            <a:pPr eaLnBrk="1" hangingPunct="1">
              <a:lnSpc>
                <a:spcPct val="90000"/>
              </a:lnSpc>
              <a:defRPr/>
            </a:pPr>
            <a:r>
              <a:rPr lang="en-US" dirty="0"/>
              <a:t>Fields </a:t>
            </a:r>
            <a:r>
              <a:rPr lang="en-US" i="1" dirty="0">
                <a:solidFill>
                  <a:srgbClr val="C00000"/>
                </a:solidFill>
              </a:rPr>
              <a:t>within</a:t>
            </a:r>
            <a:r>
              <a:rPr lang="en-US" dirty="0"/>
              <a:t> a peak:</a:t>
            </a:r>
          </a:p>
          <a:p>
            <a:pPr eaLnBrk="1" hangingPunct="1">
              <a:lnSpc>
                <a:spcPct val="90000"/>
              </a:lnSpc>
              <a:buFont typeface="Wingdings 2" pitchFamily="18" charset="2"/>
              <a:buNone/>
              <a:defRPr/>
            </a:pPr>
            <a:r>
              <a:rPr lang="en-US" dirty="0"/>
              <a:t>				Area/Amount</a:t>
            </a:r>
          </a:p>
          <a:p>
            <a:pPr lvl="1" eaLnBrk="1" hangingPunct="1">
              <a:lnSpc>
                <a:spcPct val="90000"/>
              </a:lnSpc>
              <a:buFont typeface="Verdana" pitchFamily="34" charset="0"/>
              <a:buNone/>
              <a:defRPr/>
            </a:pPr>
            <a:endParaRPr lang="en-US" sz="900" dirty="0"/>
          </a:p>
          <a:p>
            <a:pPr eaLnBrk="1" hangingPunct="1">
              <a:lnSpc>
                <a:spcPct val="90000"/>
              </a:lnSpc>
              <a:defRPr/>
            </a:pPr>
            <a:r>
              <a:rPr lang="en-US" dirty="0"/>
              <a:t>Fields </a:t>
            </a:r>
            <a:r>
              <a:rPr lang="en-US" i="1" dirty="0">
                <a:solidFill>
                  <a:srgbClr val="C00000"/>
                </a:solidFill>
              </a:rPr>
              <a:t>between</a:t>
            </a:r>
            <a:r>
              <a:rPr lang="en-US" dirty="0"/>
              <a:t> peaks:</a:t>
            </a:r>
            <a:endParaRPr lang="en-US" sz="1000" dirty="0">
              <a:latin typeface="Times New Roman" pitchFamily="18" charset="0"/>
            </a:endParaRPr>
          </a:p>
          <a:p>
            <a:pPr lvl="1" eaLnBrk="1" hangingPunct="1">
              <a:lnSpc>
                <a:spcPct val="90000"/>
              </a:lnSpc>
              <a:buFont typeface="Verdana" pitchFamily="34" charset="0"/>
              <a:buNone/>
              <a:defRPr/>
            </a:pPr>
            <a:r>
              <a:rPr lang="en-US" dirty="0"/>
              <a:t>			</a:t>
            </a:r>
            <a:r>
              <a:rPr lang="en-US" sz="2000" dirty="0"/>
              <a:t>Peak Name A[Area]/Peak Name B[Area]</a:t>
            </a:r>
            <a:endParaRPr lang="en-US" dirty="0"/>
          </a:p>
          <a:p>
            <a:pPr lvl="1" eaLnBrk="1" hangingPunct="1">
              <a:lnSpc>
                <a:spcPct val="90000"/>
              </a:lnSpc>
              <a:buFont typeface="Verdana" pitchFamily="34" charset="0"/>
              <a:buNone/>
              <a:defRPr/>
            </a:pPr>
            <a:endParaRPr lang="en-US" sz="1100" dirty="0"/>
          </a:p>
          <a:p>
            <a:pPr eaLnBrk="1" hangingPunct="1">
              <a:lnSpc>
                <a:spcPct val="90000"/>
              </a:lnSpc>
              <a:defRPr/>
            </a:pPr>
            <a:r>
              <a:rPr lang="en-US" dirty="0"/>
              <a:t>Found in any Peaks table. Supported Data Types:</a:t>
            </a:r>
          </a:p>
          <a:p>
            <a:pPr marL="798513" lvl="1" indent="-341313" eaLnBrk="1" hangingPunct="1">
              <a:lnSpc>
                <a:spcPct val="90000"/>
              </a:lnSpc>
              <a:defRPr/>
            </a:pPr>
            <a:r>
              <a:rPr lang="en-US" dirty="0"/>
              <a:t>Integer</a:t>
            </a:r>
          </a:p>
          <a:p>
            <a:pPr marL="798513" lvl="1" indent="-341313" eaLnBrk="1" hangingPunct="1">
              <a:lnSpc>
                <a:spcPct val="90000"/>
              </a:lnSpc>
              <a:defRPr/>
            </a:pPr>
            <a:r>
              <a:rPr lang="en-US" dirty="0"/>
              <a:t>Real</a:t>
            </a:r>
          </a:p>
          <a:p>
            <a:pPr marL="798513" lvl="1" indent="-341313" eaLnBrk="1" hangingPunct="1">
              <a:lnSpc>
                <a:spcPct val="90000"/>
              </a:lnSpc>
              <a:defRPr/>
            </a:pPr>
            <a:r>
              <a:rPr lang="en-US" dirty="0"/>
              <a:t>Text</a:t>
            </a:r>
          </a:p>
        </p:txBody>
      </p:sp>
      <p:sp>
        <p:nvSpPr>
          <p:cNvPr id="689154" name="Rectangle 2" descr="25%"/>
          <p:cNvSpPr>
            <a:spLocks noGrp="1" noChangeArrowheads="1"/>
          </p:cNvSpPr>
          <p:nvPr>
            <p:ph type="title"/>
          </p:nvPr>
        </p:nvSpPr>
        <p:spPr/>
        <p:txBody>
          <a:bodyPr/>
          <a:lstStyle/>
          <a:p>
            <a:pPr eaLnBrk="1" hangingPunct="1">
              <a:defRPr/>
            </a:pPr>
            <a:r>
              <a:rPr lang="en-US" dirty="0"/>
              <a:t>Field Type: </a:t>
            </a:r>
            <a:r>
              <a:rPr lang="en-US" dirty="0">
                <a:solidFill>
                  <a:schemeClr val="accent2"/>
                </a:solidFill>
              </a:rPr>
              <a:t>Peak</a:t>
            </a:r>
          </a:p>
        </p:txBody>
      </p:sp>
      <p:sp>
        <p:nvSpPr>
          <p:cNvPr id="5" name="TextBox 4"/>
          <p:cNvSpPr txBox="1"/>
          <p:nvPr/>
        </p:nvSpPr>
        <p:spPr>
          <a:xfrm>
            <a:off x="4121257" y="3968323"/>
            <a:ext cx="2248051" cy="1284967"/>
          </a:xfrm>
          <a:prstGeom prst="rect">
            <a:avLst/>
          </a:prstGeom>
          <a:noFill/>
        </p:spPr>
        <p:txBody>
          <a:bodyPr wrap="none" rtlCol="0">
            <a:spAutoFit/>
          </a:bodyPr>
          <a:lstStyle/>
          <a:p>
            <a:pPr marL="798513" lvl="1" indent="-341313">
              <a:spcBef>
                <a:spcPts val="2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Date</a:t>
            </a:r>
          </a:p>
          <a:p>
            <a:pPr marL="798513" lvl="1" indent="-341313">
              <a:spcBef>
                <a:spcPts val="2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Boolean</a:t>
            </a:r>
          </a:p>
          <a:p>
            <a:pPr marL="798513" lvl="1" indent="-341313">
              <a:spcBef>
                <a:spcPts val="2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Enumerated</a:t>
            </a:r>
          </a:p>
          <a:p>
            <a:pPr>
              <a:spcBef>
                <a:spcPts val="200"/>
              </a:spcBef>
            </a:pPr>
            <a:endParaRPr lang="en-US" dirty="0">
              <a:latin typeface="Arial" pitchFamily="34" charset="0"/>
              <a:cs typeface="Arial" pitchFamily="34" charset="0"/>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9"/>
          <p:cNvSpPr>
            <a:spLocks noGrp="1" noChangeArrowheads="1"/>
          </p:cNvSpPr>
          <p:nvPr>
            <p:ph idx="1"/>
          </p:nvPr>
        </p:nvSpPr>
        <p:spPr/>
        <p:txBody>
          <a:bodyPr/>
          <a:lstStyle/>
          <a:p>
            <a:pPr eaLnBrk="1" hangingPunct="1"/>
            <a:r>
              <a:rPr lang="en-US" dirty="0">
                <a:latin typeface="Arial" pitchFamily="34" charset="0"/>
                <a:cs typeface="Arial" pitchFamily="34" charset="0"/>
              </a:rPr>
              <a:t>How to reference and use a specific peak:</a:t>
            </a:r>
          </a:p>
          <a:p>
            <a:pPr lvl="1" eaLnBrk="1" hangingPunct="1"/>
            <a:r>
              <a:rPr lang="en-US" dirty="0">
                <a:latin typeface="Arial" pitchFamily="34" charset="0"/>
                <a:cs typeface="Arial" pitchFamily="34" charset="0"/>
              </a:rPr>
              <a:t>In a chromatogram</a:t>
            </a:r>
          </a:p>
          <a:p>
            <a:pPr lvl="2" eaLnBrk="1" hangingPunct="1"/>
            <a:r>
              <a:rPr lang="en-US" dirty="0" err="1">
                <a:latin typeface="Arial" pitchFamily="34" charset="0"/>
                <a:cs typeface="Arial" pitchFamily="34" charset="0"/>
              </a:rPr>
              <a:t>PeakName</a:t>
            </a:r>
            <a:r>
              <a:rPr lang="en-US" dirty="0">
                <a:latin typeface="Arial" pitchFamily="34" charset="0"/>
                <a:cs typeface="Arial" pitchFamily="34" charset="0"/>
              </a:rPr>
              <a:t>[Field]</a:t>
            </a:r>
          </a:p>
          <a:p>
            <a:pPr lvl="2" eaLnBrk="1" hangingPunct="1"/>
            <a:r>
              <a:rPr lang="en-US" dirty="0">
                <a:latin typeface="Arial" pitchFamily="34" charset="0"/>
                <a:cs typeface="Arial" pitchFamily="34" charset="0"/>
              </a:rPr>
              <a:t>Example 1: </a:t>
            </a:r>
            <a:r>
              <a:rPr lang="en-US" dirty="0">
                <a:solidFill>
                  <a:srgbClr val="C00000"/>
                </a:solidFill>
                <a:latin typeface="Arial" pitchFamily="34" charset="0"/>
                <a:cs typeface="Arial" pitchFamily="34" charset="0"/>
              </a:rPr>
              <a:t>acetone[Area]</a:t>
            </a:r>
            <a:r>
              <a:rPr lang="en-US" dirty="0">
                <a:latin typeface="Arial" pitchFamily="34" charset="0"/>
                <a:cs typeface="Arial" pitchFamily="34" charset="0"/>
              </a:rPr>
              <a:t> – Returns the area of the acetone</a:t>
            </a:r>
          </a:p>
          <a:p>
            <a:pPr lvl="1" eaLnBrk="1" hangingPunct="1">
              <a:buFont typeface="Verdana" pitchFamily="34" charset="0"/>
              <a:buNone/>
            </a:pPr>
            <a:endParaRPr lang="en-US" dirty="0">
              <a:latin typeface="Arial" pitchFamily="34" charset="0"/>
              <a:cs typeface="Arial" pitchFamily="34" charset="0"/>
            </a:endParaRPr>
          </a:p>
          <a:p>
            <a:pPr lvl="2" eaLnBrk="1" hangingPunct="1"/>
            <a:r>
              <a:rPr lang="en-US" dirty="0">
                <a:latin typeface="Arial" pitchFamily="34" charset="0"/>
                <a:cs typeface="Arial" pitchFamily="34" charset="0"/>
              </a:rPr>
              <a:t>Example 2: </a:t>
            </a:r>
            <a:r>
              <a:rPr lang="en-US" dirty="0">
                <a:solidFill>
                  <a:srgbClr val="C00000"/>
                </a:solidFill>
                <a:latin typeface="Arial" pitchFamily="34" charset="0"/>
                <a:cs typeface="Arial" pitchFamily="34" charset="0"/>
              </a:rPr>
              <a:t>Area / acetone[Area]</a:t>
            </a:r>
            <a:r>
              <a:rPr lang="en-US" dirty="0">
                <a:latin typeface="Arial" pitchFamily="34" charset="0"/>
                <a:cs typeface="Arial" pitchFamily="34" charset="0"/>
              </a:rPr>
              <a:t> – Divide each peak area by the 					         acetone area</a:t>
            </a:r>
            <a:br>
              <a:rPr lang="en-US" dirty="0">
                <a:latin typeface="Arial" pitchFamily="34" charset="0"/>
                <a:cs typeface="Arial" pitchFamily="34" charset="0"/>
              </a:rPr>
            </a:br>
            <a:endParaRPr lang="en-US" dirty="0">
              <a:latin typeface="Arial" pitchFamily="34" charset="0"/>
              <a:cs typeface="Arial" pitchFamily="34" charset="0"/>
            </a:endParaRPr>
          </a:p>
          <a:p>
            <a:r>
              <a:rPr lang="en-US" dirty="0">
                <a:latin typeface="Arial" pitchFamily="34" charset="0"/>
                <a:cs typeface="Arial" pitchFamily="34" charset="0"/>
              </a:rPr>
              <a:t>The name should </a:t>
            </a:r>
            <a:r>
              <a:rPr lang="en-US" dirty="0">
                <a:solidFill>
                  <a:srgbClr val="C00000"/>
                </a:solidFill>
                <a:latin typeface="Arial" pitchFamily="34" charset="0"/>
                <a:cs typeface="Arial" pitchFamily="34" charset="0"/>
              </a:rPr>
              <a:t>match</a:t>
            </a:r>
            <a:r>
              <a:rPr lang="en-US" dirty="0">
                <a:latin typeface="Arial" pitchFamily="34" charset="0"/>
                <a:cs typeface="Arial" pitchFamily="34" charset="0"/>
              </a:rPr>
              <a:t> with the name indicated in the component table. It is case-sensitive</a:t>
            </a:r>
          </a:p>
          <a:p>
            <a:pPr eaLnBrk="1" hangingPunct="1"/>
            <a:endParaRPr lang="en-US" dirty="0">
              <a:latin typeface="Arial" pitchFamily="34" charset="0"/>
              <a:cs typeface="Arial" pitchFamily="34" charset="0"/>
            </a:endParaRPr>
          </a:p>
        </p:txBody>
      </p:sp>
      <p:sp>
        <p:nvSpPr>
          <p:cNvPr id="146440" name="Rectangle 8"/>
          <p:cNvSpPr>
            <a:spLocks noGrp="1" noChangeArrowheads="1"/>
          </p:cNvSpPr>
          <p:nvPr>
            <p:ph type="title"/>
          </p:nvPr>
        </p:nvSpPr>
        <p:spPr/>
        <p:txBody>
          <a:bodyPr/>
          <a:lstStyle/>
          <a:p>
            <a:pPr>
              <a:defRPr/>
            </a:pPr>
            <a:r>
              <a:rPr lang="en-US" dirty="0"/>
              <a:t>Field Type: </a:t>
            </a:r>
            <a:r>
              <a:rPr lang="en-US" dirty="0">
                <a:solidFill>
                  <a:schemeClr val="accent2"/>
                </a:solidFill>
              </a:rPr>
              <a:t>Peak </a:t>
            </a:r>
            <a:r>
              <a:rPr lang="en-US" dirty="0">
                <a:solidFill>
                  <a:schemeClr val="accent1"/>
                </a:solidFill>
              </a:rPr>
              <a:t>Syntax</a:t>
            </a:r>
            <a:endParaRPr lang="fr-FR" dirty="0">
              <a:solidFill>
                <a:schemeClr val="accent1"/>
              </a:solidFill>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err="1">
                <a:solidFill>
                  <a:schemeClr val="accent2"/>
                </a:solidFill>
              </a:rPr>
              <a:t>Peak</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262128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Performs peak-level calculations based on a specified formula</a:t>
                      </a:r>
                    </a:p>
                  </a:txBody>
                  <a:tcPr marL="86902" marR="86902"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To convert a calculated component amount to different units (</a:t>
                      </a:r>
                      <a:r>
                        <a:rPr kumimoji="0" lang="en-US" sz="1600" b="0" i="0" u="none" strike="noStrike" cap="none" normalizeH="0" baseline="0" dirty="0" err="1">
                          <a:ln>
                            <a:noFill/>
                          </a:ln>
                          <a:solidFill>
                            <a:schemeClr val="tx1"/>
                          </a:solidFill>
                          <a:effectLst/>
                          <a:latin typeface="Arial" pitchFamily="34" charset="0"/>
                          <a:cs typeface="Arial" pitchFamily="34" charset="0"/>
                        </a:rPr>
                        <a:t>ng</a:t>
                      </a:r>
                      <a:r>
                        <a:rPr kumimoji="0" lang="en-US" sz="1600" b="0" i="0" u="none" strike="noStrike" cap="none" normalizeH="0" baseline="0" dirty="0">
                          <a:ln>
                            <a:noFill/>
                          </a:ln>
                          <a:solidFill>
                            <a:schemeClr val="tx1"/>
                          </a:solidFill>
                          <a:effectLst/>
                          <a:latin typeface="Arial" pitchFamily="34" charset="0"/>
                          <a:cs typeface="Arial" pitchFamily="34" charset="0"/>
                        </a:rPr>
                        <a:t> to </a:t>
                      </a:r>
                      <a:r>
                        <a:rPr kumimoji="0" lang="en-US" sz="1600" b="0" i="0" u="none" strike="noStrike" cap="none" normalizeH="0" baseline="0" dirty="0" err="1">
                          <a:ln>
                            <a:noFill/>
                          </a:ln>
                          <a:solidFill>
                            <a:schemeClr val="tx1"/>
                          </a:solidFill>
                          <a:effectLst/>
                          <a:latin typeface="Arial" pitchFamily="34" charset="0"/>
                          <a:cs typeface="Arial" pitchFamily="34" charset="0"/>
                        </a:rPr>
                        <a:t>nmol</a:t>
                      </a:r>
                      <a:r>
                        <a:rPr kumimoji="0" lang="en-US" sz="1600" b="0" i="0" u="none" strike="noStrike" cap="none" normalizeH="0" baseline="0" dirty="0">
                          <a:ln>
                            <a:noFill/>
                          </a:ln>
                          <a:solidFill>
                            <a:schemeClr val="tx1"/>
                          </a:solidFill>
                          <a:effectLst/>
                          <a:latin typeface="Arial" pitchFamily="34" charset="0"/>
                          <a:cs typeface="Arial" pitchFamily="34" charset="0"/>
                        </a:rPr>
                        <a:t>)</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To multiply the corrected area of a component by its response factor</a:t>
                      </a:r>
                    </a:p>
                  </a:txBody>
                  <a:tcPr marL="86902" marR="86902"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Review's Peaks tab</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New Custom Field editor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Report Publisher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These tabs of the Project window:</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Peaks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Custom Fields</a:t>
                      </a:r>
                    </a:p>
                  </a:txBody>
                  <a:tcPr marL="86902" marR="86902" horzOverflow="overflow"/>
                </a:tc>
                <a:extLst>
                  <a:ext uri="{0D108BD9-81ED-4DB2-BD59-A6C34878D82A}">
                    <a16:rowId xmlns:a16="http://schemas.microsoft.com/office/drawing/2014/main" val="10001"/>
                  </a:ext>
                </a:extLst>
              </a:tr>
            </a:tbl>
          </a:graphicData>
        </a:graphic>
      </p:graphicFrame>
      <p:sp>
        <p:nvSpPr>
          <p:cNvPr id="4" name="Rectangle 3"/>
          <p:cNvSpPr/>
          <p:nvPr/>
        </p:nvSpPr>
        <p:spPr bwMode="auto">
          <a:xfrm>
            <a:off x="2603500" y="1943100"/>
            <a:ext cx="2387600" cy="1943100"/>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AU" sz="1600" b="0" i="0" u="none" strike="noStrike" cap="none" normalizeH="0" baseline="0">
              <a:ln>
                <a:noFill/>
              </a:ln>
              <a:solidFill>
                <a:schemeClr val="tx1"/>
              </a:solidFill>
              <a:effectLst/>
              <a:latin typeface="Verdana" pitchFamily="34" charset="0"/>
            </a:endParaRPr>
          </a:p>
        </p:txBody>
      </p:sp>
      <p:sp>
        <p:nvSpPr>
          <p:cNvPr id="6" name="TextBox 5"/>
          <p:cNvSpPr txBox="1"/>
          <p:nvPr/>
        </p:nvSpPr>
        <p:spPr>
          <a:xfrm>
            <a:off x="3391579" y="1981200"/>
            <a:ext cx="811441" cy="1323439"/>
          </a:xfrm>
          <a:prstGeom prst="rect">
            <a:avLst/>
          </a:prstGeom>
          <a:noFill/>
        </p:spPr>
        <p:txBody>
          <a:bodyPr wrap="none" rtlCol="0">
            <a:spAutoFit/>
          </a:bodyPr>
          <a:lstStyle/>
          <a:p>
            <a:r>
              <a:rPr lang="en-AU" sz="8000" b="1" dirty="0">
                <a:solidFill>
                  <a:srgbClr val="FF0000"/>
                </a:solidFill>
                <a:latin typeface="Arial"/>
                <a:cs typeface="Arial"/>
              </a:rPr>
              <a:t>?</a:t>
            </a: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err="1">
                <a:solidFill>
                  <a:schemeClr val="accent2"/>
                </a:solidFill>
              </a:rPr>
              <a:t>Peak</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262128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Performs peak-level calculations based on a specified formula</a:t>
                      </a:r>
                    </a:p>
                  </a:txBody>
                  <a:tcPr marL="86902" marR="86902"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To convert a calculated component amount to different units (</a:t>
                      </a:r>
                      <a:r>
                        <a:rPr kumimoji="0" lang="en-US" sz="1600" b="0" i="0" u="none" strike="noStrike" cap="none" normalizeH="0" baseline="0" dirty="0" err="1">
                          <a:ln>
                            <a:noFill/>
                          </a:ln>
                          <a:solidFill>
                            <a:schemeClr val="tx1"/>
                          </a:solidFill>
                          <a:effectLst/>
                          <a:latin typeface="Arial" pitchFamily="34" charset="0"/>
                          <a:cs typeface="Arial" pitchFamily="34" charset="0"/>
                        </a:rPr>
                        <a:t>ng</a:t>
                      </a:r>
                      <a:r>
                        <a:rPr kumimoji="0" lang="en-US" sz="1600" b="0" i="0" u="none" strike="noStrike" cap="none" normalizeH="0" baseline="0" dirty="0">
                          <a:ln>
                            <a:noFill/>
                          </a:ln>
                          <a:solidFill>
                            <a:schemeClr val="tx1"/>
                          </a:solidFill>
                          <a:effectLst/>
                          <a:latin typeface="Arial" pitchFamily="34" charset="0"/>
                          <a:cs typeface="Arial" pitchFamily="34" charset="0"/>
                        </a:rPr>
                        <a:t> to </a:t>
                      </a:r>
                      <a:r>
                        <a:rPr kumimoji="0" lang="en-US" sz="1600" b="0" i="0" u="none" strike="noStrike" cap="none" normalizeH="0" baseline="0" dirty="0" err="1">
                          <a:ln>
                            <a:noFill/>
                          </a:ln>
                          <a:solidFill>
                            <a:schemeClr val="tx1"/>
                          </a:solidFill>
                          <a:effectLst/>
                          <a:latin typeface="Arial" pitchFamily="34" charset="0"/>
                          <a:cs typeface="Arial" pitchFamily="34" charset="0"/>
                        </a:rPr>
                        <a:t>nmol</a:t>
                      </a:r>
                      <a:r>
                        <a:rPr kumimoji="0" lang="en-US" sz="1600" b="0" i="0" u="none" strike="noStrike" cap="none" normalizeH="0" baseline="0" dirty="0">
                          <a:ln>
                            <a:noFill/>
                          </a:ln>
                          <a:solidFill>
                            <a:schemeClr val="tx1"/>
                          </a:solidFill>
                          <a:effectLst/>
                          <a:latin typeface="Arial" pitchFamily="34" charset="0"/>
                          <a:cs typeface="Arial" pitchFamily="34" charset="0"/>
                        </a:rPr>
                        <a:t>)</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To multiply the corrected area of a component by its response factor</a:t>
                      </a:r>
                    </a:p>
                  </a:txBody>
                  <a:tcPr marL="86902" marR="86902"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Review's Peaks tab</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New Custom Field editor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Report Publisher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These tabs of the Project window:</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Peaks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Custom Fields</a:t>
                      </a:r>
                    </a:p>
                  </a:txBody>
                  <a:tcPr marL="86902" marR="86902" horzOverflow="overflow"/>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83078857"/>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1" name="Rectangle 3"/>
          <p:cNvSpPr>
            <a:spLocks noGrp="1" noChangeArrowheads="1"/>
          </p:cNvSpPr>
          <p:nvPr>
            <p:ph idx="1"/>
          </p:nvPr>
        </p:nvSpPr>
        <p:spPr/>
        <p:txBody>
          <a:bodyPr>
            <a:normAutofit/>
          </a:bodyPr>
          <a:lstStyle/>
          <a:p>
            <a:pPr eaLnBrk="1" hangingPunct="1">
              <a:buNone/>
              <a:defRPr/>
            </a:pPr>
            <a:r>
              <a:rPr lang="en-US" dirty="0"/>
              <a:t>User-defined </a:t>
            </a:r>
            <a:r>
              <a:rPr lang="en-US" dirty="0">
                <a:solidFill>
                  <a:srgbClr val="C00000"/>
                </a:solidFill>
              </a:rPr>
              <a:t>mathematical calculation pertaining to a result-level parameter</a:t>
            </a:r>
            <a:r>
              <a:rPr lang="en-US" dirty="0"/>
              <a:t>.</a:t>
            </a:r>
          </a:p>
          <a:p>
            <a:pPr eaLnBrk="1" hangingPunct="1">
              <a:defRPr/>
            </a:pPr>
            <a:endParaRPr lang="en-US" dirty="0"/>
          </a:p>
          <a:p>
            <a:pPr eaLnBrk="1" hangingPunct="1">
              <a:defRPr/>
            </a:pPr>
            <a:r>
              <a:rPr lang="en-US" dirty="0"/>
              <a:t>One answer per chromatogram / result.</a:t>
            </a:r>
          </a:p>
          <a:p>
            <a:pPr eaLnBrk="1" hangingPunct="1">
              <a:defRPr/>
            </a:pPr>
            <a:r>
              <a:rPr lang="en-US" dirty="0"/>
              <a:t>Found in any Results Table.</a:t>
            </a:r>
          </a:p>
          <a:p>
            <a:pPr eaLnBrk="1" hangingPunct="1">
              <a:defRPr/>
            </a:pPr>
            <a:r>
              <a:rPr lang="en-US" dirty="0"/>
              <a:t>Supported Data Types:</a:t>
            </a:r>
          </a:p>
          <a:p>
            <a:pPr marL="798513" lvl="1" indent="-341313" eaLnBrk="1" hangingPunct="1">
              <a:defRPr/>
            </a:pPr>
            <a:r>
              <a:rPr lang="en-US" dirty="0"/>
              <a:t>Integer</a:t>
            </a:r>
          </a:p>
          <a:p>
            <a:pPr marL="798513" lvl="1" indent="-341313" eaLnBrk="1" hangingPunct="1">
              <a:defRPr/>
            </a:pPr>
            <a:r>
              <a:rPr lang="en-US" dirty="0"/>
              <a:t>Real</a:t>
            </a:r>
          </a:p>
          <a:p>
            <a:pPr marL="798513" lvl="1" indent="-341313" eaLnBrk="1" hangingPunct="1">
              <a:defRPr/>
            </a:pPr>
            <a:r>
              <a:rPr lang="en-US" dirty="0"/>
              <a:t>Text</a:t>
            </a:r>
          </a:p>
          <a:p>
            <a:pPr lvl="1" eaLnBrk="1" hangingPunct="1">
              <a:buFontTx/>
              <a:buChar char="•"/>
              <a:defRPr/>
            </a:pPr>
            <a:endParaRPr lang="en-US" dirty="0"/>
          </a:p>
        </p:txBody>
      </p:sp>
      <p:sp>
        <p:nvSpPr>
          <p:cNvPr id="693250" name="Rectangle 2" descr="25%"/>
          <p:cNvSpPr>
            <a:spLocks noGrp="1" noChangeArrowheads="1"/>
          </p:cNvSpPr>
          <p:nvPr>
            <p:ph type="title"/>
          </p:nvPr>
        </p:nvSpPr>
        <p:spPr/>
        <p:txBody>
          <a:bodyPr/>
          <a:lstStyle/>
          <a:p>
            <a:pPr eaLnBrk="1" hangingPunct="1">
              <a:defRPr/>
            </a:pPr>
            <a:br>
              <a:rPr lang="en-US" dirty="0"/>
            </a:br>
            <a:r>
              <a:rPr lang="en-US" dirty="0"/>
              <a:t>Field Type: </a:t>
            </a:r>
            <a:r>
              <a:rPr lang="en-US" dirty="0">
                <a:solidFill>
                  <a:schemeClr val="accent2"/>
                </a:solidFill>
              </a:rPr>
              <a:t>Result</a:t>
            </a:r>
          </a:p>
        </p:txBody>
      </p:sp>
      <p:sp>
        <p:nvSpPr>
          <p:cNvPr id="5" name="TextBox 4"/>
          <p:cNvSpPr txBox="1"/>
          <p:nvPr/>
        </p:nvSpPr>
        <p:spPr>
          <a:xfrm>
            <a:off x="3983472" y="3621344"/>
            <a:ext cx="2248051" cy="1280351"/>
          </a:xfrm>
          <a:prstGeom prst="rect">
            <a:avLst/>
          </a:prstGeom>
          <a:noFill/>
        </p:spPr>
        <p:txBody>
          <a:bodyPr wrap="none" rtlCol="0">
            <a:spAutoFit/>
          </a:bodyPr>
          <a:lstStyle/>
          <a:p>
            <a:pPr marL="798513" lvl="1" indent="-341313">
              <a:spcBef>
                <a:spcPct val="200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Date</a:t>
            </a:r>
          </a:p>
          <a:p>
            <a:pPr marL="798513" lvl="1" indent="-341313">
              <a:spcBef>
                <a:spcPct val="200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Boolean</a:t>
            </a:r>
          </a:p>
          <a:p>
            <a:pPr marL="798513" lvl="1" indent="-341313">
              <a:spcBef>
                <a:spcPct val="20000"/>
              </a:spcBef>
              <a:buClr>
                <a:srgbClr val="0077BB"/>
              </a:buClr>
              <a:buFont typeface="Verdana" pitchFamily="34" charset="0"/>
              <a:buChar char="–"/>
              <a:defRPr/>
            </a:pPr>
            <a:r>
              <a:rPr lang="en-US" sz="1800" kern="0" dirty="0">
                <a:solidFill>
                  <a:srgbClr val="000000"/>
                </a:solidFill>
                <a:latin typeface="Arial" pitchFamily="34" charset="0"/>
                <a:ea typeface="MS PGothic" pitchFamily="34" charset="-128"/>
                <a:cs typeface="Arial" pitchFamily="34" charset="0"/>
              </a:rPr>
              <a:t>Enumerated</a:t>
            </a:r>
          </a:p>
          <a:p>
            <a:endParaRPr lang="en-US" dirty="0">
              <a:latin typeface="Arial" pitchFamily="34" charset="0"/>
              <a:cs typeface="Arial" pitchFamily="34" charset="0"/>
            </a:endParaRP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err="1">
                <a:solidFill>
                  <a:schemeClr val="accent2"/>
                </a:solidFill>
              </a:rPr>
              <a:t>Result</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262128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Performs result-level calculations based on a specified formula</a:t>
                      </a:r>
                    </a:p>
                  </a:txBody>
                  <a:tcPr marL="90580" marR="90580"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pitchFamily="34" charset="0"/>
                          <a:ea typeface="+mn-ea"/>
                          <a:cs typeface="Arial" pitchFamily="34" charset="0"/>
                        </a:rPr>
                        <a:t>To calculate summaries of total impurities within specified areas </a:t>
                      </a:r>
                    </a:p>
                  </a:txBody>
                  <a:tcPr marL="90580" marR="90580"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Chromatogram result table in Review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New Custom Field editor </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Report Publisher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These tabs of the Project window:</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Results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Peaks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Sign Offs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Custom Fields</a:t>
                      </a:r>
                    </a:p>
                  </a:txBody>
                  <a:tcPr marL="90580" marR="90580" horzOverflow="overflow"/>
                </a:tc>
                <a:extLst>
                  <a:ext uri="{0D108BD9-81ED-4DB2-BD59-A6C34878D82A}">
                    <a16:rowId xmlns:a16="http://schemas.microsoft.com/office/drawing/2014/main" val="10001"/>
                  </a:ext>
                </a:extLst>
              </a:tr>
            </a:tbl>
          </a:graphicData>
        </a:graphic>
      </p:graphicFrame>
      <p:sp>
        <p:nvSpPr>
          <p:cNvPr id="4" name="Rectangle 3"/>
          <p:cNvSpPr/>
          <p:nvPr/>
        </p:nvSpPr>
        <p:spPr bwMode="auto">
          <a:xfrm>
            <a:off x="2603500" y="1943100"/>
            <a:ext cx="2387600" cy="1943100"/>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AU" sz="1600" b="0" i="0" u="none" strike="noStrike" cap="none" normalizeH="0" baseline="0">
              <a:ln>
                <a:noFill/>
              </a:ln>
              <a:solidFill>
                <a:schemeClr val="tx1"/>
              </a:solidFill>
              <a:effectLst/>
              <a:latin typeface="Verdana" pitchFamily="34" charset="0"/>
            </a:endParaRPr>
          </a:p>
        </p:txBody>
      </p:sp>
      <p:sp>
        <p:nvSpPr>
          <p:cNvPr id="6" name="TextBox 5"/>
          <p:cNvSpPr txBox="1"/>
          <p:nvPr/>
        </p:nvSpPr>
        <p:spPr>
          <a:xfrm>
            <a:off x="3391579" y="1981200"/>
            <a:ext cx="811441" cy="1323439"/>
          </a:xfrm>
          <a:prstGeom prst="rect">
            <a:avLst/>
          </a:prstGeom>
          <a:noFill/>
        </p:spPr>
        <p:txBody>
          <a:bodyPr wrap="none" rtlCol="0">
            <a:spAutoFit/>
          </a:bodyPr>
          <a:lstStyle/>
          <a:p>
            <a:r>
              <a:rPr lang="en-AU" sz="8000" b="1" dirty="0">
                <a:solidFill>
                  <a:srgbClr val="FF0000"/>
                </a:solidFill>
                <a:latin typeface="Arial"/>
                <a:cs typeface="Arial"/>
              </a:rPr>
              <a:t>?</a:t>
            </a:r>
          </a:p>
        </p:txBody>
      </p:sp>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err="1">
                <a:solidFill>
                  <a:schemeClr val="accent2"/>
                </a:solidFill>
              </a:rPr>
              <a:t>Result</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262128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Performs result-level calculations based on a specified formula</a:t>
                      </a:r>
                    </a:p>
                  </a:txBody>
                  <a:tcPr marL="90580" marR="90580"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kern="1200" cap="none" normalizeH="0" baseline="0" dirty="0">
                          <a:ln>
                            <a:noFill/>
                          </a:ln>
                          <a:solidFill>
                            <a:schemeClr val="tx1"/>
                          </a:solidFill>
                          <a:effectLst/>
                          <a:latin typeface="Arial" pitchFamily="34" charset="0"/>
                          <a:ea typeface="+mn-ea"/>
                          <a:cs typeface="Arial" pitchFamily="34" charset="0"/>
                        </a:rPr>
                        <a:t>To calculate summaries of total impurities within specified areas </a:t>
                      </a:r>
                    </a:p>
                  </a:txBody>
                  <a:tcPr marL="90580" marR="90580"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Chromatogram result table in Review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New Custom Field editor </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Report Publisher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These tabs of the Project window:</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Results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Peaks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Sign Offs</a:t>
                      </a:r>
                    </a:p>
                    <a:p>
                      <a:pPr marL="357188" marR="0" lvl="1" indent="-174625"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Custom Fields</a:t>
                      </a:r>
                    </a:p>
                  </a:txBody>
                  <a:tcPr marL="90580" marR="90580" horzOverflow="overflow"/>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6534616"/>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3" name="Rectangle 3"/>
          <p:cNvSpPr>
            <a:spLocks noGrp="1" noChangeArrowheads="1"/>
          </p:cNvSpPr>
          <p:nvPr>
            <p:ph idx="1"/>
          </p:nvPr>
        </p:nvSpPr>
        <p:spPr/>
        <p:txBody>
          <a:bodyPr/>
          <a:lstStyle/>
          <a:p>
            <a:pPr eaLnBrk="1" hangingPunct="1">
              <a:lnSpc>
                <a:spcPct val="100000"/>
              </a:lnSpc>
              <a:buNone/>
              <a:defRPr/>
            </a:pPr>
            <a:r>
              <a:rPr lang="en-US" dirty="0"/>
              <a:t>Identifies an </a:t>
            </a:r>
            <a:r>
              <a:rPr lang="en-US" dirty="0">
                <a:solidFill>
                  <a:srgbClr val="C00000"/>
                </a:solidFill>
              </a:rPr>
              <a:t>analyte</a:t>
            </a:r>
            <a:r>
              <a:rPr lang="en-US" dirty="0"/>
              <a:t>.</a:t>
            </a:r>
          </a:p>
          <a:p>
            <a:pPr eaLnBrk="1" hangingPunct="1">
              <a:lnSpc>
                <a:spcPct val="100000"/>
              </a:lnSpc>
              <a:defRPr/>
            </a:pPr>
            <a:endParaRPr lang="en-US" dirty="0"/>
          </a:p>
          <a:p>
            <a:pPr eaLnBrk="1" hangingPunct="1">
              <a:lnSpc>
                <a:spcPct val="100000"/>
              </a:lnSpc>
              <a:defRPr/>
            </a:pPr>
            <a:r>
              <a:rPr lang="en-US" dirty="0"/>
              <a:t>Entered in Component Editor:</a:t>
            </a:r>
          </a:p>
          <a:p>
            <a:pPr marL="798513" lvl="1" indent="-341313" eaLnBrk="1" hangingPunct="1">
              <a:lnSpc>
                <a:spcPct val="100000"/>
              </a:lnSpc>
              <a:defRPr/>
            </a:pPr>
            <a:r>
              <a:rPr lang="en-US" dirty="0"/>
              <a:t>Run Samples window</a:t>
            </a:r>
          </a:p>
          <a:p>
            <a:pPr marL="798513" lvl="1" indent="-341313" eaLnBrk="1" hangingPunct="1">
              <a:lnSpc>
                <a:spcPct val="100000"/>
              </a:lnSpc>
              <a:defRPr/>
            </a:pPr>
            <a:r>
              <a:rPr lang="en-US" dirty="0"/>
              <a:t>Alter Sample window</a:t>
            </a:r>
          </a:p>
          <a:p>
            <a:pPr marL="798513" lvl="1" indent="-341313" eaLnBrk="1" hangingPunct="1">
              <a:lnSpc>
                <a:spcPct val="100000"/>
              </a:lnSpc>
              <a:defRPr/>
            </a:pPr>
            <a:endParaRPr lang="en-US" dirty="0"/>
          </a:p>
          <a:p>
            <a:pPr eaLnBrk="1" hangingPunct="1">
              <a:lnSpc>
                <a:spcPct val="100000"/>
              </a:lnSpc>
              <a:defRPr/>
            </a:pPr>
            <a:r>
              <a:rPr lang="en-US" dirty="0"/>
              <a:t>Supported Data Types:</a:t>
            </a:r>
            <a:endParaRPr lang="en-US" sz="1200" dirty="0">
              <a:latin typeface="Times New Roman" pitchFamily="18" charset="0"/>
            </a:endParaRPr>
          </a:p>
          <a:p>
            <a:pPr marL="798513" lvl="1" indent="-341313" eaLnBrk="1" hangingPunct="1">
              <a:lnSpc>
                <a:spcPct val="100000"/>
              </a:lnSpc>
              <a:defRPr/>
            </a:pPr>
            <a:r>
              <a:rPr lang="en-US" dirty="0"/>
              <a:t>Real</a:t>
            </a:r>
          </a:p>
          <a:p>
            <a:pPr lvl="1" eaLnBrk="1" hangingPunct="1">
              <a:buFontTx/>
              <a:buChar char="•"/>
              <a:defRPr/>
            </a:pPr>
            <a:endParaRPr lang="en-US" dirty="0"/>
          </a:p>
          <a:p>
            <a:pPr eaLnBrk="1" hangingPunct="1">
              <a:buFontTx/>
              <a:buChar char="•"/>
              <a:defRPr/>
            </a:pPr>
            <a:endParaRPr lang="en-US" dirty="0"/>
          </a:p>
        </p:txBody>
      </p:sp>
      <p:sp>
        <p:nvSpPr>
          <p:cNvPr id="691202" name="Rectangle 2" descr="25%"/>
          <p:cNvSpPr>
            <a:spLocks noGrp="1" noChangeArrowheads="1"/>
          </p:cNvSpPr>
          <p:nvPr>
            <p:ph type="title"/>
          </p:nvPr>
        </p:nvSpPr>
        <p:spPr/>
        <p:txBody>
          <a:bodyPr/>
          <a:lstStyle/>
          <a:p>
            <a:pPr eaLnBrk="1" hangingPunct="1">
              <a:defRPr/>
            </a:pPr>
            <a:br>
              <a:rPr lang="en-US" dirty="0"/>
            </a:br>
            <a:r>
              <a:rPr lang="en-US" dirty="0"/>
              <a:t>Field Type: </a:t>
            </a:r>
            <a:r>
              <a:rPr lang="en-US" dirty="0">
                <a:solidFill>
                  <a:schemeClr val="accent2"/>
                </a:solidFill>
              </a:rPr>
              <a:t>Component</a:t>
            </a: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a:solidFill>
                  <a:schemeClr val="accent2"/>
                </a:solidFill>
              </a:rPr>
              <a:t>Component</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310896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Identifies an analyte/component</a:t>
                      </a:r>
                    </a:p>
                  </a:txBody>
                  <a:tcPr marL="92175" marR="92175"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0" i="0" u="none" strike="noStrike" kern="1200" cap="none" normalizeH="0" baseline="0" dirty="0">
                          <a:ln>
                            <a:noFill/>
                          </a:ln>
                          <a:solidFill>
                            <a:schemeClr val="tx1"/>
                          </a:solidFill>
                          <a:effectLst/>
                          <a:latin typeface="Arial" pitchFamily="34" charset="0"/>
                          <a:ea typeface="+mn-ea"/>
                          <a:cs typeface="Arial" pitchFamily="34" charset="0"/>
                        </a:rPr>
                        <a:t>To enter a samples label claim to calculate % label claim</a:t>
                      </a:r>
                    </a:p>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600" b="0" i="0" u="none" strike="noStrike" kern="1200" cap="none" normalizeH="0" baseline="0" dirty="0">
                          <a:ln>
                            <a:noFill/>
                          </a:ln>
                          <a:solidFill>
                            <a:schemeClr val="tx1"/>
                          </a:solidFill>
                          <a:effectLst/>
                          <a:latin typeface="Arial" pitchFamily="34" charset="0"/>
                          <a:ea typeface="+mn-ea"/>
                          <a:cs typeface="Arial" pitchFamily="34" charset="0"/>
                        </a:rPr>
                        <a:t>To enter a components Mw to </a:t>
                      </a:r>
                      <a:r>
                        <a:rPr kumimoji="0" lang="en-US" sz="1600" b="0" i="0" u="none" strike="noStrike" cap="none" normalizeH="0" baseline="0" dirty="0">
                          <a:ln>
                            <a:noFill/>
                          </a:ln>
                          <a:solidFill>
                            <a:schemeClr val="tx1"/>
                          </a:solidFill>
                          <a:effectLst/>
                          <a:latin typeface="Arial" pitchFamily="34" charset="0"/>
                          <a:cs typeface="Arial" pitchFamily="34" charset="0"/>
                        </a:rPr>
                        <a:t>convert a calculated components amount to different units (</a:t>
                      </a:r>
                      <a:r>
                        <a:rPr kumimoji="0" lang="en-US" sz="1600" b="0" i="0" u="none" strike="noStrike" cap="none" normalizeH="0" baseline="0" dirty="0" err="1">
                          <a:ln>
                            <a:noFill/>
                          </a:ln>
                          <a:solidFill>
                            <a:schemeClr val="tx1"/>
                          </a:solidFill>
                          <a:effectLst/>
                          <a:latin typeface="Arial" pitchFamily="34" charset="0"/>
                          <a:cs typeface="Arial" pitchFamily="34" charset="0"/>
                        </a:rPr>
                        <a:t>ng</a:t>
                      </a:r>
                      <a:r>
                        <a:rPr kumimoji="0" lang="en-US" sz="1600" b="0" i="0" u="none" strike="noStrike" cap="none" normalizeH="0" baseline="0" dirty="0">
                          <a:ln>
                            <a:noFill/>
                          </a:ln>
                          <a:solidFill>
                            <a:schemeClr val="tx1"/>
                          </a:solidFill>
                          <a:effectLst/>
                          <a:latin typeface="Arial" pitchFamily="34" charset="0"/>
                          <a:cs typeface="Arial" pitchFamily="34" charset="0"/>
                        </a:rPr>
                        <a:t> to </a:t>
                      </a:r>
                      <a:r>
                        <a:rPr kumimoji="0" lang="en-US" sz="1600" b="0" i="0" u="none" strike="noStrike" cap="none" normalizeH="0" baseline="0" dirty="0" err="1">
                          <a:ln>
                            <a:noFill/>
                          </a:ln>
                          <a:solidFill>
                            <a:schemeClr val="tx1"/>
                          </a:solidFill>
                          <a:effectLst/>
                          <a:latin typeface="Arial" pitchFamily="34" charset="0"/>
                          <a:cs typeface="Arial" pitchFamily="34" charset="0"/>
                        </a:rPr>
                        <a:t>nmol</a:t>
                      </a:r>
                      <a:r>
                        <a:rPr kumimoji="0" lang="en-US" sz="1600" b="0" i="0" u="none" strike="noStrike" cap="none" normalizeH="0" baseline="0" dirty="0">
                          <a:ln>
                            <a:noFill/>
                          </a:ln>
                          <a:solidFill>
                            <a:schemeClr val="tx1"/>
                          </a:solidFill>
                          <a:effectLst/>
                          <a:latin typeface="Arial" pitchFamily="34" charset="0"/>
                          <a:cs typeface="Arial" pitchFamily="34" charset="0"/>
                        </a:rPr>
                        <a:t>)</a:t>
                      </a:r>
                    </a:p>
                  </a:txBody>
                  <a:tcPr marL="92175" marR="92175"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Component Editor in the Run Samples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Component Editor in the Alter Sample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Component Editor in the Sample Set Method Editor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Custom Field View in project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Report Publisher</a:t>
                      </a:r>
                    </a:p>
                  </a:txBody>
                  <a:tcPr marL="92175" marR="92175" horzOverflow="overflow"/>
                </a:tc>
                <a:extLst>
                  <a:ext uri="{0D108BD9-81ED-4DB2-BD59-A6C34878D82A}">
                    <a16:rowId xmlns:a16="http://schemas.microsoft.com/office/drawing/2014/main" val="10001"/>
                  </a:ext>
                </a:extLst>
              </a:tr>
            </a:tbl>
          </a:graphicData>
        </a:graphic>
      </p:graphicFrame>
      <p:sp>
        <p:nvSpPr>
          <p:cNvPr id="4" name="Rectangle 3"/>
          <p:cNvSpPr/>
          <p:nvPr/>
        </p:nvSpPr>
        <p:spPr bwMode="auto">
          <a:xfrm>
            <a:off x="2603500" y="1968500"/>
            <a:ext cx="2387600" cy="2400300"/>
          </a:xfrm>
          <a:prstGeom prst="rect">
            <a:avLst/>
          </a:prstGeom>
          <a:solidFill>
            <a:schemeClr val="bg2">
              <a:lumMod val="20000"/>
              <a:lumOff val="8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AU" sz="1600" b="0" i="0" u="none" strike="noStrike" cap="none" normalizeH="0" baseline="0">
              <a:ln>
                <a:noFill/>
              </a:ln>
              <a:solidFill>
                <a:schemeClr val="tx1"/>
              </a:solidFill>
              <a:effectLst/>
              <a:latin typeface="Verdana" pitchFamily="34" charset="0"/>
            </a:endParaRPr>
          </a:p>
        </p:txBody>
      </p:sp>
      <p:sp>
        <p:nvSpPr>
          <p:cNvPr id="6" name="TextBox 5"/>
          <p:cNvSpPr txBox="1"/>
          <p:nvPr/>
        </p:nvSpPr>
        <p:spPr>
          <a:xfrm>
            <a:off x="3391579" y="1981200"/>
            <a:ext cx="811441" cy="1323439"/>
          </a:xfrm>
          <a:prstGeom prst="rect">
            <a:avLst/>
          </a:prstGeom>
          <a:noFill/>
        </p:spPr>
        <p:txBody>
          <a:bodyPr wrap="none" rtlCol="0">
            <a:spAutoFit/>
          </a:bodyPr>
          <a:lstStyle/>
          <a:p>
            <a:r>
              <a:rPr lang="en-AU" sz="8000" b="1" dirty="0">
                <a:solidFill>
                  <a:srgbClr val="FF0000"/>
                </a:solidFill>
                <a:latin typeface="Arial"/>
                <a:cs typeface="Arial"/>
              </a:rPr>
              <a:t>?</a:t>
            </a: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a:solidFill>
                  <a:schemeClr val="accent2"/>
                </a:solidFill>
              </a:rPr>
              <a:t>Component</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310896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Identifies an analyte/component</a:t>
                      </a:r>
                    </a:p>
                  </a:txBody>
                  <a:tcPr marL="92175" marR="92175"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0" i="0" u="none" strike="noStrike" kern="1200" cap="none" normalizeH="0" baseline="0" dirty="0">
                          <a:ln>
                            <a:noFill/>
                          </a:ln>
                          <a:solidFill>
                            <a:schemeClr val="tx1"/>
                          </a:solidFill>
                          <a:effectLst/>
                          <a:latin typeface="Arial" pitchFamily="34" charset="0"/>
                          <a:ea typeface="+mn-ea"/>
                          <a:cs typeface="Arial" pitchFamily="34" charset="0"/>
                        </a:rPr>
                        <a:t>To enter a samples label claim to calculate % label claim</a:t>
                      </a:r>
                    </a:p>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defRPr/>
                      </a:pPr>
                      <a:r>
                        <a:rPr kumimoji="0" lang="en-US" sz="1600" b="0" i="0" u="none" strike="noStrike" kern="1200" cap="none" normalizeH="0" baseline="0" dirty="0">
                          <a:ln>
                            <a:noFill/>
                          </a:ln>
                          <a:solidFill>
                            <a:schemeClr val="tx1"/>
                          </a:solidFill>
                          <a:effectLst/>
                          <a:latin typeface="Arial" pitchFamily="34" charset="0"/>
                          <a:ea typeface="+mn-ea"/>
                          <a:cs typeface="Arial" pitchFamily="34" charset="0"/>
                        </a:rPr>
                        <a:t>To enter a components Mw to </a:t>
                      </a:r>
                      <a:r>
                        <a:rPr kumimoji="0" lang="en-US" sz="1600" b="0" i="0" u="none" strike="noStrike" cap="none" normalizeH="0" baseline="0" dirty="0">
                          <a:ln>
                            <a:noFill/>
                          </a:ln>
                          <a:solidFill>
                            <a:schemeClr val="tx1"/>
                          </a:solidFill>
                          <a:effectLst/>
                          <a:latin typeface="Arial" pitchFamily="34" charset="0"/>
                          <a:cs typeface="Arial" pitchFamily="34" charset="0"/>
                        </a:rPr>
                        <a:t>convert a calculated components amount to different units (</a:t>
                      </a:r>
                      <a:r>
                        <a:rPr kumimoji="0" lang="en-US" sz="1600" b="0" i="0" u="none" strike="noStrike" cap="none" normalizeH="0" baseline="0" dirty="0" err="1">
                          <a:ln>
                            <a:noFill/>
                          </a:ln>
                          <a:solidFill>
                            <a:schemeClr val="tx1"/>
                          </a:solidFill>
                          <a:effectLst/>
                          <a:latin typeface="Arial" pitchFamily="34" charset="0"/>
                          <a:cs typeface="Arial" pitchFamily="34" charset="0"/>
                        </a:rPr>
                        <a:t>ng</a:t>
                      </a:r>
                      <a:r>
                        <a:rPr kumimoji="0" lang="en-US" sz="1600" b="0" i="0" u="none" strike="noStrike" cap="none" normalizeH="0" baseline="0" dirty="0">
                          <a:ln>
                            <a:noFill/>
                          </a:ln>
                          <a:solidFill>
                            <a:schemeClr val="tx1"/>
                          </a:solidFill>
                          <a:effectLst/>
                          <a:latin typeface="Arial" pitchFamily="34" charset="0"/>
                          <a:cs typeface="Arial" pitchFamily="34" charset="0"/>
                        </a:rPr>
                        <a:t> to </a:t>
                      </a:r>
                      <a:r>
                        <a:rPr kumimoji="0" lang="en-US" sz="1600" b="0" i="0" u="none" strike="noStrike" cap="none" normalizeH="0" baseline="0" dirty="0" err="1">
                          <a:ln>
                            <a:noFill/>
                          </a:ln>
                          <a:solidFill>
                            <a:schemeClr val="tx1"/>
                          </a:solidFill>
                          <a:effectLst/>
                          <a:latin typeface="Arial" pitchFamily="34" charset="0"/>
                          <a:cs typeface="Arial" pitchFamily="34" charset="0"/>
                        </a:rPr>
                        <a:t>nmol</a:t>
                      </a:r>
                      <a:r>
                        <a:rPr kumimoji="0" lang="en-US" sz="1600" b="0" i="0" u="none" strike="noStrike" cap="none" normalizeH="0" baseline="0" dirty="0">
                          <a:ln>
                            <a:noFill/>
                          </a:ln>
                          <a:solidFill>
                            <a:schemeClr val="tx1"/>
                          </a:solidFill>
                          <a:effectLst/>
                          <a:latin typeface="Arial" pitchFamily="34" charset="0"/>
                          <a:cs typeface="Arial" pitchFamily="34" charset="0"/>
                        </a:rPr>
                        <a:t>)</a:t>
                      </a:r>
                    </a:p>
                  </a:txBody>
                  <a:tcPr marL="92175" marR="92175"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Component Editor in the Run Samples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Component Editor in the Alter Sample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Component Editor in the Sample Set Method Editor</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Custom Field View in project window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Report Publisher</a:t>
                      </a:r>
                    </a:p>
                  </a:txBody>
                  <a:tcPr marL="92175" marR="92175" horzOverflow="overflow"/>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03908233"/>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9" name="Rectangle 3"/>
          <p:cNvSpPr>
            <a:spLocks noGrp="1" noChangeArrowheads="1"/>
          </p:cNvSpPr>
          <p:nvPr>
            <p:ph idx="1"/>
          </p:nvPr>
        </p:nvSpPr>
        <p:spPr/>
        <p:txBody>
          <a:bodyPr/>
          <a:lstStyle/>
          <a:p>
            <a:pPr eaLnBrk="1" hangingPunct="1">
              <a:lnSpc>
                <a:spcPct val="100000"/>
              </a:lnSpc>
              <a:defRPr/>
            </a:pPr>
            <a:r>
              <a:rPr lang="en-US" dirty="0"/>
              <a:t>Serves as </a:t>
            </a:r>
            <a:r>
              <a:rPr lang="en-US" dirty="0">
                <a:solidFill>
                  <a:srgbClr val="C00000"/>
                </a:solidFill>
              </a:rPr>
              <a:t>slice-level parameter for GPC/V data</a:t>
            </a:r>
          </a:p>
          <a:p>
            <a:pPr marL="798513" lvl="1" indent="-341313" eaLnBrk="1" hangingPunct="1">
              <a:lnSpc>
                <a:spcPct val="100000"/>
              </a:lnSpc>
              <a:defRPr/>
            </a:pPr>
            <a:r>
              <a:rPr lang="en-US" dirty="0"/>
              <a:t>calculated according to a specified formula.</a:t>
            </a:r>
          </a:p>
          <a:p>
            <a:pPr marL="798513" lvl="1" indent="-341313" eaLnBrk="1" hangingPunct="1">
              <a:lnSpc>
                <a:spcPct val="100000"/>
              </a:lnSpc>
              <a:defRPr/>
            </a:pPr>
            <a:endParaRPr lang="en-US" dirty="0"/>
          </a:p>
          <a:p>
            <a:pPr eaLnBrk="1" hangingPunct="1">
              <a:lnSpc>
                <a:spcPct val="100000"/>
              </a:lnSpc>
              <a:defRPr/>
            </a:pPr>
            <a:r>
              <a:rPr lang="en-US" dirty="0"/>
              <a:t>Supported Data Types:</a:t>
            </a:r>
          </a:p>
          <a:p>
            <a:pPr marL="798513" lvl="1" indent="-341313" eaLnBrk="1" hangingPunct="1">
              <a:lnSpc>
                <a:spcPct val="100000"/>
              </a:lnSpc>
              <a:defRPr/>
            </a:pPr>
            <a:r>
              <a:rPr lang="en-US" dirty="0"/>
              <a:t>Real</a:t>
            </a:r>
          </a:p>
          <a:p>
            <a:pPr marL="798513" lvl="1" indent="-341313" eaLnBrk="1" hangingPunct="1">
              <a:lnSpc>
                <a:spcPct val="100000"/>
              </a:lnSpc>
              <a:defRPr/>
            </a:pPr>
            <a:r>
              <a:rPr lang="en-US" dirty="0"/>
              <a:t>Boolean</a:t>
            </a:r>
          </a:p>
          <a:p>
            <a:pPr marL="798513" lvl="1" indent="-341313" eaLnBrk="1" hangingPunct="1">
              <a:lnSpc>
                <a:spcPct val="100000"/>
              </a:lnSpc>
              <a:defRPr/>
            </a:pPr>
            <a:r>
              <a:rPr lang="en-US" dirty="0"/>
              <a:t>Enumerated</a:t>
            </a:r>
          </a:p>
          <a:p>
            <a:pPr lvl="1" eaLnBrk="1" hangingPunct="1">
              <a:lnSpc>
                <a:spcPct val="100000"/>
              </a:lnSpc>
              <a:buFontTx/>
              <a:buChar char="•"/>
              <a:defRPr/>
            </a:pPr>
            <a:endParaRPr lang="en-US" dirty="0"/>
          </a:p>
        </p:txBody>
      </p:sp>
      <p:sp>
        <p:nvSpPr>
          <p:cNvPr id="695298" name="Rectangle 2" descr="25%"/>
          <p:cNvSpPr>
            <a:spLocks noGrp="1" noChangeArrowheads="1"/>
          </p:cNvSpPr>
          <p:nvPr>
            <p:ph type="title"/>
          </p:nvPr>
        </p:nvSpPr>
        <p:spPr/>
        <p:txBody>
          <a:bodyPr/>
          <a:lstStyle/>
          <a:p>
            <a:pPr eaLnBrk="1" hangingPunct="1">
              <a:defRPr/>
            </a:pPr>
            <a:br>
              <a:rPr lang="en-US" dirty="0"/>
            </a:br>
            <a:r>
              <a:rPr lang="en-US" dirty="0"/>
              <a:t>Field Type: </a:t>
            </a:r>
            <a:r>
              <a:rPr lang="en-US" dirty="0">
                <a:solidFill>
                  <a:schemeClr val="accent2"/>
                </a:solidFill>
              </a:rPr>
              <a:t>Distribution</a:t>
            </a:r>
          </a:p>
        </p:txBody>
      </p:sp>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defRPr/>
            </a:pPr>
            <a:r>
              <a:rPr lang="fr-FR" dirty="0">
                <a:solidFill>
                  <a:schemeClr val="accent2"/>
                </a:solidFill>
              </a:rPr>
              <a:t>Distribution</a:t>
            </a:r>
            <a:r>
              <a:rPr lang="fr-FR" dirty="0"/>
              <a:t>: Custom Field Type</a:t>
            </a:r>
          </a:p>
        </p:txBody>
      </p:sp>
      <p:graphicFrame>
        <p:nvGraphicFramePr>
          <p:cNvPr id="5" name="Content Placeholder 4"/>
          <p:cNvGraphicFramePr>
            <a:graphicFrameLocks noGrp="1"/>
          </p:cNvGraphicFramePr>
          <p:nvPr>
            <p:ph idx="1"/>
          </p:nvPr>
        </p:nvGraphicFramePr>
        <p:xfrm>
          <a:off x="457200" y="1311275"/>
          <a:ext cx="8359776" cy="2865120"/>
        </p:xfrm>
        <a:graphic>
          <a:graphicData uri="http://schemas.openxmlformats.org/drawingml/2006/table">
            <a:tbl>
              <a:tblPr firstRow="1" bandRow="1">
                <a:tableStyleId>{6E25E649-3F16-4E02-A733-19D2CDBF48F0}</a:tableStyleId>
              </a:tblPr>
              <a:tblGrid>
                <a:gridCol w="2110636">
                  <a:extLst>
                    <a:ext uri="{9D8B030D-6E8A-4147-A177-3AD203B41FA5}">
                      <a16:colId xmlns:a16="http://schemas.microsoft.com/office/drawing/2014/main" val="20000"/>
                    </a:ext>
                  </a:extLst>
                </a:gridCol>
                <a:gridCol w="2392471">
                  <a:extLst>
                    <a:ext uri="{9D8B030D-6E8A-4147-A177-3AD203B41FA5}">
                      <a16:colId xmlns:a16="http://schemas.microsoft.com/office/drawing/2014/main" val="20001"/>
                    </a:ext>
                  </a:extLst>
                </a:gridCol>
                <a:gridCol w="3856669">
                  <a:extLst>
                    <a:ext uri="{9D8B030D-6E8A-4147-A177-3AD203B41FA5}">
                      <a16:colId xmlns:a16="http://schemas.microsoft.com/office/drawing/2014/main" val="20002"/>
                    </a:ext>
                  </a:extLst>
                </a:gridCol>
              </a:tblGrid>
              <a:tr h="37084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does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What it can contain (Examples)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sz="1600" u="none" strike="noStrike" cap="none" normalizeH="0" baseline="0" dirty="0">
                          <a:ln>
                            <a:noFill/>
                          </a:ln>
                          <a:effectLst/>
                          <a:latin typeface="Arial" pitchFamily="34" charset="0"/>
                          <a:cs typeface="Arial" pitchFamily="34" charset="0"/>
                        </a:rPr>
                        <a:t>Where it appears</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87264" marR="87264" anchor="ct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itchFamily="34" charset="0"/>
                          <a:cs typeface="Arial" pitchFamily="34" charset="0"/>
                        </a:rPr>
                        <a:t>Serves as slice-level parameter for GPC/V data; calculated according to a specified formula</a:t>
                      </a:r>
                    </a:p>
                  </a:txBody>
                  <a:tcPr marL="92886" marR="92886"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 typeface="Arial" pitchFamily="34" charset="0"/>
                        <a:buChar char="•"/>
                        <a:tabLst/>
                      </a:pPr>
                      <a:r>
                        <a:rPr lang="en-US" sz="1600" dirty="0">
                          <a:latin typeface="Arial" pitchFamily="34" charset="0"/>
                          <a:cs typeface="Arial" pitchFamily="34" charset="0"/>
                        </a:rPr>
                        <a:t>You can use distribution custom field values in place of standard area and molecular weight values to calculate molecular weight averages (moments) for the distribution.</a:t>
                      </a:r>
                      <a:endParaRPr kumimoji="0" lang="en-US" sz="1600" b="0" i="0" u="none" strike="noStrike" cap="none" normalizeH="0" baseline="0" dirty="0">
                        <a:ln>
                          <a:noFill/>
                        </a:ln>
                        <a:solidFill>
                          <a:schemeClr val="tx1"/>
                        </a:solidFill>
                        <a:effectLst/>
                        <a:latin typeface="Arial" pitchFamily="34" charset="0"/>
                        <a:cs typeface="Arial" pitchFamily="34" charset="0"/>
                      </a:endParaRPr>
                    </a:p>
                  </a:txBody>
                  <a:tcPr marL="92886" marR="92886" horzOverflow="overflow"/>
                </a:tc>
                <a:tc>
                  <a:txBody>
                    <a:bodyPr/>
                    <a:lstStyle/>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Distribution tab of the Result window in Review</a:t>
                      </a: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Curves, </a:t>
                      </a:r>
                      <a:r>
                        <a:rPr lang="en-US" sz="1600" b="0" i="0" dirty="0">
                          <a:latin typeface="Arial" pitchFamily="34" charset="0"/>
                          <a:cs typeface="Arial" pitchFamily="34" charset="0"/>
                        </a:rPr>
                        <a:t>Molecular Weight Distributions view in Project window</a:t>
                      </a:r>
                      <a:endParaRPr kumimoji="0" lang="en-US" sz="1600" b="0" i="0" u="none" strike="noStrike" cap="none" normalizeH="0" baseline="0" dirty="0">
                        <a:ln>
                          <a:noFill/>
                        </a:ln>
                        <a:solidFill>
                          <a:schemeClr val="tx1"/>
                        </a:solidFill>
                        <a:effectLst/>
                        <a:latin typeface="Arial" pitchFamily="34" charset="0"/>
                        <a:cs typeface="Arial" pitchFamily="34" charset="0"/>
                      </a:endParaRPr>
                    </a:p>
                    <a:p>
                      <a:pPr marL="182563" marR="0" lvl="0" indent="-182563" algn="l" defTabSz="914400" rtl="0" eaLnBrk="1" fontAlgn="base" latinLnBrk="0" hangingPunct="1">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itchFamily="34" charset="0"/>
                          <a:cs typeface="Arial" pitchFamily="34" charset="0"/>
                        </a:rPr>
                        <a:t>Report Publisher</a:t>
                      </a:r>
                    </a:p>
                  </a:txBody>
                  <a:tcPr marL="92886" marR="92886" horzOverflow="overflow"/>
                </a:tc>
                <a:extLst>
                  <a:ext uri="{0D108BD9-81ED-4DB2-BD59-A6C34878D82A}">
                    <a16:rowId xmlns:a16="http://schemas.microsoft.com/office/drawing/2014/main" val="10001"/>
                  </a:ext>
                </a:extLst>
              </a:tr>
            </a:tbl>
          </a:graphicData>
        </a:graphic>
      </p:graphicFrame>
      <p:sp>
        <p:nvSpPr>
          <p:cNvPr id="2" name="Rectangle 1"/>
          <p:cNvSpPr/>
          <p:nvPr/>
        </p:nvSpPr>
        <p:spPr>
          <a:xfrm>
            <a:off x="508000" y="4559013"/>
            <a:ext cx="8216900" cy="646331"/>
          </a:xfrm>
          <a:prstGeom prst="rect">
            <a:avLst/>
          </a:prstGeom>
        </p:spPr>
        <p:txBody>
          <a:bodyPr wrap="square">
            <a:spAutoFit/>
          </a:bodyPr>
          <a:lstStyle/>
          <a:p>
            <a:pPr marL="798513" lvl="1" indent="-341313" algn="ctr" eaLnBrk="1" hangingPunct="1">
              <a:lnSpc>
                <a:spcPct val="100000"/>
              </a:lnSpc>
              <a:defRPr/>
            </a:pPr>
            <a:endParaRPr lang="en-US" sz="1800" b="1" dirty="0"/>
          </a:p>
          <a:p>
            <a:pPr marL="574676" indent="-341313" algn="ctr">
              <a:lnSpc>
                <a:spcPct val="100000"/>
              </a:lnSpc>
              <a:defRPr/>
            </a:pPr>
            <a:r>
              <a:rPr lang="en-US" sz="1800" b="1" dirty="0">
                <a:solidFill>
                  <a:srgbClr val="FF0000"/>
                </a:solidFill>
              </a:rPr>
              <a:t>Not discussed further in this training</a:t>
            </a: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r>
              <a:rPr lang="en-US" b="1" dirty="0"/>
              <a:t>Creating a </a:t>
            </a:r>
            <a:r>
              <a:rPr lang="en-US" b="1" dirty="0">
                <a:solidFill>
                  <a:srgbClr val="C00000"/>
                </a:solidFill>
              </a:rPr>
              <a:t>New</a:t>
            </a:r>
            <a:r>
              <a:rPr lang="en-US" b="1" dirty="0"/>
              <a:t> Custom Field</a:t>
            </a:r>
          </a:p>
          <a:p>
            <a:r>
              <a:rPr lang="en-US" dirty="0"/>
              <a:t>What </a:t>
            </a:r>
            <a:r>
              <a:rPr lang="en-US" dirty="0">
                <a:solidFill>
                  <a:schemeClr val="accent2"/>
                </a:solidFill>
              </a:rPr>
              <a:t>Data Type</a:t>
            </a:r>
            <a:r>
              <a:rPr lang="en-US" dirty="0"/>
              <a:t> is your Field?</a:t>
            </a:r>
          </a:p>
        </p:txBody>
      </p:sp>
      <p:graphicFrame>
        <p:nvGraphicFramePr>
          <p:cNvPr id="3" name="Diagram 2"/>
          <p:cNvGraphicFramePr/>
          <p:nvPr/>
        </p:nvGraphicFramePr>
        <p:xfrm>
          <a:off x="1237988" y="5973287"/>
          <a:ext cx="6648712" cy="4614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US"/>
          </a:p>
        </p:txBody>
      </p:sp>
      <p:sp>
        <p:nvSpPr>
          <p:cNvPr id="3" name="Title 2"/>
          <p:cNvSpPr>
            <a:spLocks noGrp="1"/>
          </p:cNvSpPr>
          <p:nvPr>
            <p:ph type="title"/>
          </p:nvPr>
        </p:nvSpPr>
        <p:spPr/>
        <p:txBody>
          <a:bodyPr/>
          <a:lstStyle/>
          <a:p>
            <a:br>
              <a:rPr lang="en-US" dirty="0"/>
            </a:br>
            <a:r>
              <a:rPr lang="en-US" dirty="0"/>
              <a:t>What </a:t>
            </a:r>
            <a:r>
              <a:rPr lang="en-US" dirty="0">
                <a:solidFill>
                  <a:schemeClr val="accent2"/>
                </a:solidFill>
              </a:rPr>
              <a:t>Data Type</a:t>
            </a:r>
            <a:r>
              <a:rPr lang="en-US" dirty="0"/>
              <a:t> is your Field?</a:t>
            </a:r>
          </a:p>
        </p:txBody>
      </p:sp>
      <p:pic>
        <p:nvPicPr>
          <p:cNvPr id="5" name="Picture 6"/>
          <p:cNvPicPr>
            <a:picLocks noChangeAspect="1" noChangeArrowheads="1"/>
          </p:cNvPicPr>
          <p:nvPr/>
        </p:nvPicPr>
        <p:blipFill>
          <a:blip r:embed="rId2" cstate="print"/>
          <a:srcRect/>
          <a:stretch>
            <a:fillRect/>
          </a:stretch>
        </p:blipFill>
        <p:spPr bwMode="auto">
          <a:xfrm>
            <a:off x="1300462" y="1347008"/>
            <a:ext cx="6515778" cy="4979764"/>
          </a:xfrm>
          <a:prstGeom prst="rect">
            <a:avLst/>
          </a:prstGeom>
          <a:noFill/>
          <a:ln w="9525">
            <a:noFill/>
            <a:miter lim="800000"/>
            <a:headEnd/>
            <a:tailEnd/>
          </a:ln>
        </p:spPr>
      </p:pic>
      <p:sp>
        <p:nvSpPr>
          <p:cNvPr id="6" name="Rectangle 9"/>
          <p:cNvSpPr>
            <a:spLocks noChangeArrowheads="1"/>
          </p:cNvSpPr>
          <p:nvPr/>
        </p:nvSpPr>
        <p:spPr bwMode="auto">
          <a:xfrm>
            <a:off x="3439662" y="4171167"/>
            <a:ext cx="3473657" cy="929451"/>
          </a:xfrm>
          <a:prstGeom prst="rect">
            <a:avLst/>
          </a:prstGeom>
          <a:noFill/>
          <a:ln w="38100" algn="ctr">
            <a:solidFill>
              <a:srgbClr val="FF0000"/>
            </a:solidFill>
            <a:miter lim="800000"/>
            <a:headEnd/>
            <a:tailEnd/>
          </a:ln>
        </p:spPr>
        <p:txBody>
          <a:bodyPr wrap="none" anchor="ctr"/>
          <a:lstStyle/>
          <a:p>
            <a:endParaRPr lang="en-US"/>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p:txBody>
          <a:bodyPr/>
          <a:lstStyle/>
          <a:p>
            <a:pPr eaLnBrk="1" hangingPunct="1">
              <a:lnSpc>
                <a:spcPct val="150000"/>
              </a:lnSpc>
            </a:pPr>
            <a:r>
              <a:rPr lang="en-US" dirty="0">
                <a:solidFill>
                  <a:srgbClr val="C00000"/>
                </a:solidFill>
              </a:rPr>
              <a:t>Integer (0)</a:t>
            </a:r>
            <a:r>
              <a:rPr lang="en-US" dirty="0"/>
              <a:t>:  Whole number (without fractional parts).</a:t>
            </a:r>
          </a:p>
          <a:p>
            <a:pPr eaLnBrk="1" hangingPunct="1">
              <a:lnSpc>
                <a:spcPct val="150000"/>
              </a:lnSpc>
            </a:pPr>
            <a:r>
              <a:rPr lang="en-US" dirty="0">
                <a:solidFill>
                  <a:srgbClr val="C00000"/>
                </a:solidFill>
              </a:rPr>
              <a:t>Real (0.0)</a:t>
            </a:r>
            <a:r>
              <a:rPr lang="en-US" dirty="0"/>
              <a:t>:  Floating-point number entry (can contain a fraction).</a:t>
            </a:r>
          </a:p>
          <a:p>
            <a:pPr eaLnBrk="1" hangingPunct="1">
              <a:lnSpc>
                <a:spcPct val="150000"/>
              </a:lnSpc>
            </a:pPr>
            <a:r>
              <a:rPr lang="en-US" dirty="0">
                <a:solidFill>
                  <a:srgbClr val="C00000"/>
                </a:solidFill>
              </a:rPr>
              <a:t>Text</a:t>
            </a:r>
            <a:r>
              <a:rPr lang="en-US" dirty="0"/>
              <a:t>: Alphanumeric entry.</a:t>
            </a:r>
          </a:p>
          <a:p>
            <a:pPr eaLnBrk="1" hangingPunct="1">
              <a:lnSpc>
                <a:spcPct val="150000"/>
              </a:lnSpc>
            </a:pPr>
            <a:r>
              <a:rPr lang="en-US" dirty="0">
                <a:solidFill>
                  <a:srgbClr val="C00000"/>
                </a:solidFill>
              </a:rPr>
              <a:t>Date</a:t>
            </a:r>
            <a:r>
              <a:rPr lang="en-US" dirty="0"/>
              <a:t>: Date entry by the user or from an external source (for example a LIMS system)</a:t>
            </a:r>
          </a:p>
          <a:p>
            <a:pPr eaLnBrk="1" hangingPunct="1">
              <a:lnSpc>
                <a:spcPct val="150000"/>
              </a:lnSpc>
            </a:pPr>
            <a:r>
              <a:rPr lang="en-US" dirty="0" err="1">
                <a:solidFill>
                  <a:srgbClr val="C00000"/>
                </a:solidFill>
              </a:rPr>
              <a:t>Bool</a:t>
            </a:r>
            <a:r>
              <a:rPr lang="en-US" dirty="0">
                <a:solidFill>
                  <a:srgbClr val="C00000"/>
                </a:solidFill>
              </a:rPr>
              <a:t>:</a:t>
            </a:r>
            <a:r>
              <a:rPr lang="en-US" dirty="0"/>
              <a:t> Boolean</a:t>
            </a:r>
          </a:p>
          <a:p>
            <a:pPr eaLnBrk="1" hangingPunct="1">
              <a:lnSpc>
                <a:spcPct val="150000"/>
              </a:lnSpc>
            </a:pPr>
            <a:r>
              <a:rPr lang="en-US" dirty="0" err="1">
                <a:solidFill>
                  <a:srgbClr val="C00000"/>
                </a:solidFill>
              </a:rPr>
              <a:t>Enum</a:t>
            </a:r>
            <a:r>
              <a:rPr lang="en-US" dirty="0"/>
              <a:t> Enumerated</a:t>
            </a:r>
          </a:p>
        </p:txBody>
      </p:sp>
      <p:sp>
        <p:nvSpPr>
          <p:cNvPr id="699394" name="Rectangle 2" descr="25%"/>
          <p:cNvSpPr>
            <a:spLocks noGrp="1" noChangeArrowheads="1"/>
          </p:cNvSpPr>
          <p:nvPr>
            <p:ph type="title"/>
          </p:nvPr>
        </p:nvSpPr>
        <p:spPr/>
        <p:txBody>
          <a:bodyPr/>
          <a:lstStyle/>
          <a:p>
            <a:pPr eaLnBrk="1" hangingPunct="1">
              <a:defRPr/>
            </a:pPr>
            <a:br>
              <a:rPr lang="en-US"/>
            </a:br>
            <a:r>
              <a:rPr lang="en-US"/>
              <a:t>Data Types</a:t>
            </a:r>
          </a:p>
        </p:txBody>
      </p:sp>
      <p:pic>
        <p:nvPicPr>
          <p:cNvPr id="89090" name="Picture 2"/>
          <p:cNvPicPr>
            <a:picLocks noChangeAspect="1" noChangeArrowheads="1"/>
          </p:cNvPicPr>
          <p:nvPr/>
        </p:nvPicPr>
        <p:blipFill>
          <a:blip r:embed="rId3" cstate="print"/>
          <a:srcRect/>
          <a:stretch>
            <a:fillRect/>
          </a:stretch>
        </p:blipFill>
        <p:spPr bwMode="auto">
          <a:xfrm>
            <a:off x="3306871" y="3845751"/>
            <a:ext cx="5218358" cy="1373367"/>
          </a:xfrm>
          <a:prstGeom prst="rect">
            <a:avLst/>
          </a:prstGeom>
          <a:noFill/>
        </p:spPr>
      </p:pic>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p:txBody>
          <a:bodyPr/>
          <a:lstStyle/>
          <a:p>
            <a:pPr eaLnBrk="1" hangingPunct="1">
              <a:lnSpc>
                <a:spcPct val="100000"/>
              </a:lnSpc>
            </a:pPr>
            <a:r>
              <a:rPr lang="en-US" dirty="0">
                <a:solidFill>
                  <a:schemeClr val="accent2"/>
                </a:solidFill>
              </a:rPr>
              <a:t>Boolean</a:t>
            </a:r>
            <a:r>
              <a:rPr lang="en-US" dirty="0"/>
              <a:t>: Boolean fields allow you to translate a mathematical formula into a specific value, or answer upon processing.</a:t>
            </a:r>
          </a:p>
          <a:p>
            <a:pPr lvl="1" eaLnBrk="1" hangingPunct="1">
              <a:lnSpc>
                <a:spcPct val="150000"/>
              </a:lnSpc>
              <a:buFont typeface="Verdana" pitchFamily="34" charset="0"/>
              <a:buNone/>
            </a:pPr>
            <a:r>
              <a:rPr lang="en-US" dirty="0"/>
              <a:t>				Operator(</a:t>
            </a:r>
            <a:r>
              <a:rPr lang="en-US" dirty="0" err="1"/>
              <a:t>Field,Value</a:t>
            </a:r>
            <a:r>
              <a:rPr lang="en-US" dirty="0"/>
              <a:t>)</a:t>
            </a:r>
          </a:p>
          <a:p>
            <a:pPr lvl="1" eaLnBrk="1" hangingPunct="1">
              <a:lnSpc>
                <a:spcPct val="150000"/>
              </a:lnSpc>
              <a:buFont typeface="Verdana" pitchFamily="34" charset="0"/>
              <a:buNone/>
            </a:pPr>
            <a:endParaRPr lang="en-US" dirty="0"/>
          </a:p>
          <a:p>
            <a:pPr lvl="1" eaLnBrk="1" hangingPunct="1">
              <a:lnSpc>
                <a:spcPct val="100000"/>
              </a:lnSpc>
            </a:pPr>
            <a:r>
              <a:rPr lang="en-US" dirty="0"/>
              <a:t>Two possible answers.</a:t>
            </a:r>
          </a:p>
          <a:p>
            <a:pPr marL="1257300" lvl="2" indent="-342900">
              <a:lnSpc>
                <a:spcPct val="100000"/>
              </a:lnSpc>
              <a:buFont typeface="Verdana" pitchFamily="34" charset="0"/>
              <a:buAutoNum type="arabicPeriod"/>
            </a:pPr>
            <a:r>
              <a:rPr lang="en-US" dirty="0"/>
              <a:t>1 or 0</a:t>
            </a:r>
          </a:p>
          <a:p>
            <a:pPr marL="1257300" lvl="2" indent="-342900" eaLnBrk="1" hangingPunct="1">
              <a:lnSpc>
                <a:spcPct val="100000"/>
              </a:lnSpc>
              <a:buFont typeface="Verdana" pitchFamily="34" charset="0"/>
              <a:buAutoNum type="arabicPeriod"/>
            </a:pPr>
            <a:r>
              <a:rPr lang="en-US" dirty="0"/>
              <a:t>Yes or No</a:t>
            </a:r>
          </a:p>
          <a:p>
            <a:pPr marL="1257300" lvl="2" indent="-342900" eaLnBrk="1" hangingPunct="1">
              <a:lnSpc>
                <a:spcPct val="100000"/>
              </a:lnSpc>
              <a:buFont typeface="Verdana" pitchFamily="34" charset="0"/>
              <a:buAutoNum type="arabicPeriod"/>
            </a:pPr>
            <a:r>
              <a:rPr lang="en-US" dirty="0"/>
              <a:t>Pass or Fail</a:t>
            </a:r>
          </a:p>
          <a:p>
            <a:pPr marL="1257300" lvl="2" indent="-342900" eaLnBrk="1" hangingPunct="1">
              <a:lnSpc>
                <a:spcPct val="100000"/>
              </a:lnSpc>
              <a:buFont typeface="Verdana" pitchFamily="34" charset="0"/>
              <a:buAutoNum type="arabicPeriod"/>
            </a:pPr>
            <a:r>
              <a:rPr lang="en-US" dirty="0"/>
              <a:t>User defined choice.</a:t>
            </a:r>
          </a:p>
          <a:p>
            <a:pPr marL="1714500" lvl="3" indent="-342900">
              <a:lnSpc>
                <a:spcPct val="100000"/>
              </a:lnSpc>
              <a:buFont typeface="+mj-lt"/>
              <a:buAutoNum type="alphaLcPeriod"/>
            </a:pPr>
            <a:r>
              <a:rPr lang="en-US" dirty="0"/>
              <a:t>example 0 – out of range, 1 – within range</a:t>
            </a:r>
          </a:p>
          <a:p>
            <a:pPr lvl="1" eaLnBrk="1" hangingPunct="1">
              <a:lnSpc>
                <a:spcPct val="150000"/>
              </a:lnSpc>
            </a:pPr>
            <a:r>
              <a:rPr lang="en-US" dirty="0"/>
              <a:t>May translate into a field.</a:t>
            </a:r>
          </a:p>
          <a:p>
            <a:pPr eaLnBrk="1" hangingPunct="1">
              <a:lnSpc>
                <a:spcPct val="90000"/>
              </a:lnSpc>
              <a:buFontTx/>
              <a:buNone/>
            </a:pPr>
            <a:r>
              <a:rPr lang="en-US" sz="2300" dirty="0"/>
              <a:t>		</a:t>
            </a:r>
          </a:p>
        </p:txBody>
      </p:sp>
      <p:sp>
        <p:nvSpPr>
          <p:cNvPr id="701442" name="Rectangle 2" descr="25%"/>
          <p:cNvSpPr>
            <a:spLocks noGrp="1" noChangeArrowheads="1"/>
          </p:cNvSpPr>
          <p:nvPr>
            <p:ph type="title"/>
          </p:nvPr>
        </p:nvSpPr>
        <p:spPr/>
        <p:txBody>
          <a:bodyPr/>
          <a:lstStyle/>
          <a:p>
            <a:pPr eaLnBrk="1" hangingPunct="1">
              <a:defRPr/>
            </a:pPr>
            <a:br>
              <a:rPr lang="en-US" dirty="0"/>
            </a:br>
            <a:r>
              <a:rPr lang="en-US" dirty="0"/>
              <a:t>Data Types</a:t>
            </a:r>
          </a:p>
        </p:txBody>
      </p:sp>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12000"/>
            <a:ext cx="5192038" cy="5029200"/>
          </a:xfrm>
        </p:spPr>
        <p:txBody>
          <a:bodyPr>
            <a:normAutofit/>
          </a:bodyPr>
          <a:lstStyle/>
          <a:p>
            <a:r>
              <a:rPr lang="en-US" dirty="0"/>
              <a:t>Syntax: </a:t>
            </a:r>
          </a:p>
          <a:p>
            <a:pPr lvl="1"/>
            <a:r>
              <a:rPr lang="en-US" dirty="0"/>
              <a:t>Function(Field,#)</a:t>
            </a:r>
          </a:p>
          <a:p>
            <a:pPr lvl="1">
              <a:buNone/>
            </a:pPr>
            <a:endParaRPr lang="en-US" dirty="0"/>
          </a:p>
          <a:p>
            <a:r>
              <a:rPr lang="en-US" dirty="0" err="1"/>
              <a:t>Pct_Area_Criteria</a:t>
            </a:r>
            <a:r>
              <a:rPr lang="en-US" dirty="0"/>
              <a:t> = GTE(Area%,98)</a:t>
            </a:r>
          </a:p>
          <a:p>
            <a:endParaRPr lang="en-US" dirty="0"/>
          </a:p>
          <a:p>
            <a:endParaRPr lang="en-US" dirty="0"/>
          </a:p>
          <a:p>
            <a:endParaRPr lang="en-US" dirty="0"/>
          </a:p>
          <a:p>
            <a:r>
              <a:rPr lang="en-US" dirty="0"/>
              <a:t>Translation: </a:t>
            </a:r>
          </a:p>
          <a:p>
            <a:pPr lvl="1"/>
            <a:r>
              <a:rPr lang="en-US" dirty="0"/>
              <a:t>Any value greater than 98% returns </a:t>
            </a:r>
            <a:r>
              <a:rPr lang="en-US" dirty="0">
                <a:solidFill>
                  <a:srgbClr val="C00000"/>
                </a:solidFill>
              </a:rPr>
              <a:t>True</a:t>
            </a:r>
          </a:p>
          <a:p>
            <a:pPr lvl="1"/>
            <a:r>
              <a:rPr lang="en-US" dirty="0"/>
              <a:t>You can change the “True” expression in the translation definition table to “Good”.</a:t>
            </a:r>
          </a:p>
          <a:p>
            <a:endParaRPr lang="en-US" dirty="0"/>
          </a:p>
        </p:txBody>
      </p:sp>
      <p:sp>
        <p:nvSpPr>
          <p:cNvPr id="2" name="Title 1"/>
          <p:cNvSpPr>
            <a:spLocks noGrp="1"/>
          </p:cNvSpPr>
          <p:nvPr>
            <p:ph type="title"/>
          </p:nvPr>
        </p:nvSpPr>
        <p:spPr/>
        <p:txBody>
          <a:bodyPr/>
          <a:lstStyle/>
          <a:p>
            <a:r>
              <a:rPr lang="en-US" dirty="0">
                <a:solidFill>
                  <a:schemeClr val="accent2"/>
                </a:solidFill>
              </a:rPr>
              <a:t>Boolean </a:t>
            </a:r>
            <a:r>
              <a:rPr lang="en-US" dirty="0"/>
              <a:t>Custom Fields Example</a:t>
            </a:r>
          </a:p>
        </p:txBody>
      </p:sp>
      <p:pic>
        <p:nvPicPr>
          <p:cNvPr id="81922" name="Picture 2"/>
          <p:cNvPicPr>
            <a:picLocks noChangeAspect="1" noChangeArrowheads="1"/>
          </p:cNvPicPr>
          <p:nvPr/>
        </p:nvPicPr>
        <p:blipFill>
          <a:blip r:embed="rId2" cstate="print"/>
          <a:srcRect/>
          <a:stretch>
            <a:fillRect/>
          </a:stretch>
        </p:blipFill>
        <p:spPr bwMode="auto">
          <a:xfrm>
            <a:off x="1709006" y="3045436"/>
            <a:ext cx="5267950" cy="694226"/>
          </a:xfrm>
          <a:prstGeom prst="rect">
            <a:avLst/>
          </a:prstGeom>
          <a:noFill/>
          <a:ln w="9525">
            <a:noFill/>
            <a:miter lim="800000"/>
            <a:headEnd/>
            <a:tailEnd/>
          </a:ln>
        </p:spPr>
      </p:pic>
      <p:pic>
        <p:nvPicPr>
          <p:cNvPr id="6" name="Picture 4" descr="\\Woodserver\tsv\Custom Fields Presentation\transdef.tif"/>
          <p:cNvPicPr>
            <a:picLocks noChangeAspect="1" noChangeArrowheads="1"/>
          </p:cNvPicPr>
          <p:nvPr/>
        </p:nvPicPr>
        <p:blipFill>
          <a:blip r:embed="rId3" cstate="print"/>
          <a:srcRect l="28336" t="16919" r="44976" b="54716"/>
          <a:stretch>
            <a:fillRect/>
          </a:stretch>
        </p:blipFill>
        <p:spPr bwMode="auto">
          <a:xfrm>
            <a:off x="5908431" y="4048956"/>
            <a:ext cx="2297722" cy="1540825"/>
          </a:xfrm>
          <a:prstGeom prst="rect">
            <a:avLst/>
          </a:prstGeom>
          <a:noFill/>
          <a:ln w="9525">
            <a:noFill/>
            <a:miter lim="800000"/>
            <a:headEnd/>
            <a:tailEnd/>
          </a:ln>
        </p:spPr>
      </p:pic>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0"/>
          <p:cNvGraphicFramePr>
            <a:graphicFrameLocks noChangeAspect="1"/>
          </p:cNvGraphicFramePr>
          <p:nvPr/>
        </p:nvGraphicFramePr>
        <p:xfrm>
          <a:off x="545123" y="1406770"/>
          <a:ext cx="8047732" cy="4498309"/>
        </p:xfrm>
        <a:graphic>
          <a:graphicData uri="http://schemas.openxmlformats.org/presentationml/2006/ole">
            <mc:AlternateContent xmlns:mc="http://schemas.openxmlformats.org/markup-compatibility/2006">
              <mc:Choice xmlns:v="urn:schemas-microsoft-com:vml" Requires="v">
                <p:oleObj name="Bitmap Image" r:id="rId3" imgW="6800000" imgH="3715269" progId="PBrush">
                  <p:embed/>
                </p:oleObj>
              </mc:Choice>
              <mc:Fallback>
                <p:oleObj name="Bitmap Image" r:id="rId3" imgW="6800000" imgH="3715269" progId="PBrush">
                  <p:embed/>
                  <p:pic>
                    <p:nvPicPr>
                      <p:cNvPr id="9218"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123" y="1406770"/>
                        <a:ext cx="8047732" cy="4498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242" name="Rectangle 2"/>
          <p:cNvSpPr>
            <a:spLocks noGrp="1" noChangeArrowheads="1"/>
          </p:cNvSpPr>
          <p:nvPr>
            <p:ph type="title"/>
          </p:nvPr>
        </p:nvSpPr>
        <p:spPr/>
        <p:txBody>
          <a:bodyPr/>
          <a:lstStyle/>
          <a:p>
            <a:pPr>
              <a:defRPr/>
            </a:pPr>
            <a:r>
              <a:rPr lang="en-US" dirty="0">
                <a:solidFill>
                  <a:schemeClr val="accent2"/>
                </a:solidFill>
              </a:rPr>
              <a:t>Boolean</a:t>
            </a:r>
            <a:r>
              <a:rPr lang="en-US" dirty="0"/>
              <a:t> Custom Fields Example</a:t>
            </a:r>
          </a:p>
        </p:txBody>
      </p:sp>
      <p:sp>
        <p:nvSpPr>
          <p:cNvPr id="9220" name="Rectangle 4"/>
          <p:cNvSpPr>
            <a:spLocks noChangeArrowheads="1"/>
          </p:cNvSpPr>
          <p:nvPr/>
        </p:nvSpPr>
        <p:spPr bwMode="auto">
          <a:xfrm>
            <a:off x="4249857" y="3990905"/>
            <a:ext cx="1143000" cy="1066800"/>
          </a:xfrm>
          <a:prstGeom prst="rect">
            <a:avLst/>
          </a:prstGeom>
          <a:noFill/>
          <a:ln w="38100">
            <a:solidFill>
              <a:srgbClr val="C00000"/>
            </a:solidFill>
            <a:miter lim="800000"/>
            <a:headEnd/>
            <a:tailEnd/>
          </a:ln>
        </p:spPr>
        <p:txBody>
          <a:bodyPr wrap="none" anchor="ctr"/>
          <a:lstStyle/>
          <a:p>
            <a:endParaRPr lang="en-US"/>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idx="1"/>
          </p:nvPr>
        </p:nvSpPr>
        <p:spPr>
          <a:xfrm>
            <a:off x="457199" y="1312000"/>
            <a:ext cx="8686801" cy="5029200"/>
          </a:xfrm>
        </p:spPr>
        <p:txBody>
          <a:bodyPr/>
          <a:lstStyle/>
          <a:p>
            <a:pPr eaLnBrk="1" hangingPunct="1"/>
            <a:r>
              <a:rPr lang="en-US" dirty="0">
                <a:solidFill>
                  <a:schemeClr val="accent2"/>
                </a:solidFill>
              </a:rPr>
              <a:t>Enumerated</a:t>
            </a:r>
            <a:r>
              <a:rPr lang="en-US" dirty="0"/>
              <a:t>: Enumerated fields have two possible uses:</a:t>
            </a:r>
          </a:p>
          <a:p>
            <a:pPr lvl="1" eaLnBrk="1" hangingPunct="1"/>
            <a:r>
              <a:rPr lang="en-US" dirty="0"/>
              <a:t>Provide a user with a list of possible answers.</a:t>
            </a:r>
          </a:p>
          <a:p>
            <a:pPr lvl="1" eaLnBrk="1" hangingPunct="1"/>
            <a:r>
              <a:rPr lang="en-US" dirty="0"/>
              <a:t>Translate multiple Boolean expressions into a value or answer</a:t>
            </a:r>
          </a:p>
          <a:p>
            <a:pPr lvl="1" eaLnBrk="1" hangingPunct="1"/>
            <a:endParaRPr lang="en-US" dirty="0"/>
          </a:p>
          <a:p>
            <a:r>
              <a:rPr lang="en-US" dirty="0"/>
              <a:t>Two types of Enumerator Custom Fields:</a:t>
            </a:r>
          </a:p>
          <a:p>
            <a:pPr lvl="1"/>
            <a:r>
              <a:rPr lang="en-US" dirty="0"/>
              <a:t>Sample </a:t>
            </a:r>
          </a:p>
          <a:p>
            <a:pPr lvl="1"/>
            <a:r>
              <a:rPr lang="en-US" dirty="0"/>
              <a:t>Calculated (Peak or Result)</a:t>
            </a:r>
          </a:p>
          <a:p>
            <a:pPr lvl="1" eaLnBrk="1" hangingPunct="1">
              <a:buNone/>
            </a:pPr>
            <a:endParaRPr lang="en-US" dirty="0"/>
          </a:p>
          <a:p>
            <a:pPr eaLnBrk="1" hangingPunct="1">
              <a:buFont typeface="Monotype Sorts"/>
              <a:buNone/>
            </a:pPr>
            <a:r>
              <a:rPr lang="en-US" dirty="0"/>
              <a:t>ENUM(Operator(Field,Value),Operator(Field,Value),Operator(Field,Value))</a:t>
            </a:r>
          </a:p>
          <a:p>
            <a:pPr eaLnBrk="1" hangingPunct="1">
              <a:buFont typeface="Monotype Sorts"/>
              <a:buNone/>
            </a:pPr>
            <a:endParaRPr lang="en-US" sz="1800" dirty="0"/>
          </a:p>
          <a:p>
            <a:pPr eaLnBrk="1" hangingPunct="1">
              <a:buFont typeface="Monotype Sorts"/>
              <a:buNone/>
            </a:pPr>
            <a:r>
              <a:rPr lang="en-US" sz="2400" dirty="0"/>
              <a:t>			</a:t>
            </a:r>
          </a:p>
        </p:txBody>
      </p:sp>
      <p:sp>
        <p:nvSpPr>
          <p:cNvPr id="703490" name="Rectangle 2" descr="25%"/>
          <p:cNvSpPr>
            <a:spLocks noGrp="1" noChangeArrowheads="1"/>
          </p:cNvSpPr>
          <p:nvPr>
            <p:ph type="title"/>
          </p:nvPr>
        </p:nvSpPr>
        <p:spPr/>
        <p:txBody>
          <a:bodyPr/>
          <a:lstStyle/>
          <a:p>
            <a:pPr eaLnBrk="1" hangingPunct="1">
              <a:defRPr/>
            </a:pPr>
            <a:br>
              <a:rPr lang="en-US" dirty="0"/>
            </a:br>
            <a:r>
              <a:rPr lang="en-US" dirty="0"/>
              <a:t>Data Types</a:t>
            </a:r>
          </a:p>
        </p:txBody>
      </p:sp>
      <p:graphicFrame>
        <p:nvGraphicFramePr>
          <p:cNvPr id="5" name="Diagram 4"/>
          <p:cNvGraphicFramePr/>
          <p:nvPr/>
        </p:nvGraphicFramePr>
        <p:xfrm>
          <a:off x="1535875" y="5973287"/>
          <a:ext cx="6096000" cy="4614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noChangeArrowheads="1"/>
          </p:cNvSpPr>
          <p:nvPr>
            <p:ph idx="1"/>
          </p:nvPr>
        </p:nvSpPr>
        <p:spPr/>
        <p:txBody>
          <a:bodyPr/>
          <a:lstStyle/>
          <a:p>
            <a:pPr eaLnBrk="1" hangingPunct="1"/>
            <a:r>
              <a:rPr lang="en-US" dirty="0"/>
              <a:t> Field type = Sample</a:t>
            </a:r>
          </a:p>
          <a:p>
            <a:pPr eaLnBrk="1" hangingPunct="1"/>
            <a:r>
              <a:rPr lang="en-US" dirty="0"/>
              <a:t> Field name = </a:t>
            </a:r>
            <a:r>
              <a:rPr lang="en-US" dirty="0" err="1"/>
              <a:t>Column_Type</a:t>
            </a:r>
            <a:endParaRPr lang="en-US" dirty="0"/>
          </a:p>
          <a:p>
            <a:pPr eaLnBrk="1" hangingPunct="1"/>
            <a:r>
              <a:rPr lang="en-US" dirty="0"/>
              <a:t> Will show up in Run Sample as a convenient drop-down list</a:t>
            </a:r>
          </a:p>
        </p:txBody>
      </p:sp>
      <p:sp>
        <p:nvSpPr>
          <p:cNvPr id="121858" name="Rectangle 2"/>
          <p:cNvSpPr>
            <a:spLocks noGrp="1" noChangeArrowheads="1"/>
          </p:cNvSpPr>
          <p:nvPr>
            <p:ph type="title"/>
          </p:nvPr>
        </p:nvSpPr>
        <p:spPr/>
        <p:txBody>
          <a:bodyPr/>
          <a:lstStyle/>
          <a:p>
            <a:pPr>
              <a:defRPr/>
            </a:pPr>
            <a:r>
              <a:rPr lang="en-US" dirty="0">
                <a:solidFill>
                  <a:schemeClr val="accent2"/>
                </a:solidFill>
              </a:rPr>
              <a:t>Enumerated - Sample</a:t>
            </a:r>
            <a:r>
              <a:rPr lang="en-US" dirty="0"/>
              <a:t> Custom Fields EX</a:t>
            </a:r>
          </a:p>
        </p:txBody>
      </p:sp>
      <p:pic>
        <p:nvPicPr>
          <p:cNvPr id="6" name="Picture 4"/>
          <p:cNvPicPr>
            <a:picLocks noChangeAspect="1" noChangeArrowheads="1"/>
          </p:cNvPicPr>
          <p:nvPr/>
        </p:nvPicPr>
        <p:blipFill>
          <a:blip r:embed="rId3" cstate="print"/>
          <a:srcRect/>
          <a:stretch>
            <a:fillRect/>
          </a:stretch>
        </p:blipFill>
        <p:spPr bwMode="auto">
          <a:xfrm>
            <a:off x="1840524" y="2737339"/>
            <a:ext cx="5263662" cy="3509108"/>
          </a:xfrm>
          <a:prstGeom prst="rect">
            <a:avLst/>
          </a:prstGeom>
          <a:noFill/>
          <a:ln w="9525">
            <a:noFill/>
            <a:miter lim="800000"/>
            <a:headEnd/>
            <a:tailEnd/>
          </a:ln>
        </p:spPr>
      </p:pic>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pPr>
              <a:defRPr/>
            </a:pPr>
            <a:r>
              <a:rPr lang="en-US" dirty="0">
                <a:solidFill>
                  <a:schemeClr val="accent2"/>
                </a:solidFill>
              </a:rPr>
              <a:t>Enumerated - Sample</a:t>
            </a:r>
            <a:r>
              <a:rPr lang="en-US" dirty="0"/>
              <a:t> Custom Fields EX</a:t>
            </a:r>
          </a:p>
        </p:txBody>
      </p:sp>
      <p:graphicFrame>
        <p:nvGraphicFramePr>
          <p:cNvPr id="8194" name="Object 3"/>
          <p:cNvGraphicFramePr>
            <a:graphicFrameLocks noChangeAspect="1"/>
          </p:cNvGraphicFramePr>
          <p:nvPr/>
        </p:nvGraphicFramePr>
        <p:xfrm>
          <a:off x="688975" y="1828800"/>
          <a:ext cx="7898254" cy="3892061"/>
        </p:xfrm>
        <a:graphic>
          <a:graphicData uri="http://schemas.openxmlformats.org/presentationml/2006/ole">
            <mc:AlternateContent xmlns:mc="http://schemas.openxmlformats.org/markup-compatibility/2006">
              <mc:Choice xmlns:v="urn:schemas-microsoft-com:vml" Requires="v">
                <p:oleObj name="Photo Editor Photo" r:id="rId3" imgW="7380952" imgH="3638095" progId="">
                  <p:embed/>
                </p:oleObj>
              </mc:Choice>
              <mc:Fallback>
                <p:oleObj name="Photo Editor Photo" r:id="rId3" imgW="7380952" imgH="3638095" progId="">
                  <p:embed/>
                  <p:pic>
                    <p:nvPicPr>
                      <p:cNvPr id="819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975" y="1828800"/>
                        <a:ext cx="7898254" cy="3892061"/>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6" name="Rectangle 4"/>
          <p:cNvSpPr>
            <a:spLocks noChangeArrowheads="1"/>
          </p:cNvSpPr>
          <p:nvPr/>
        </p:nvSpPr>
        <p:spPr bwMode="auto">
          <a:xfrm>
            <a:off x="6894147" y="2864949"/>
            <a:ext cx="809476" cy="1402251"/>
          </a:xfrm>
          <a:prstGeom prst="rect">
            <a:avLst/>
          </a:prstGeom>
          <a:noFill/>
          <a:ln w="38100">
            <a:solidFill>
              <a:srgbClr val="C00000"/>
            </a:solidFill>
            <a:miter lim="800000"/>
            <a:headEnd/>
            <a:tailEnd/>
          </a:ln>
        </p:spPr>
        <p:txBody>
          <a:bodyPr wrap="none" anchor="ctr"/>
          <a:lstStyle/>
          <a:p>
            <a:endParaRPr lang="en-US"/>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3"/>
          <p:cNvSpPr>
            <a:spLocks noGrp="1" noChangeArrowheads="1"/>
          </p:cNvSpPr>
          <p:nvPr>
            <p:ph idx="1"/>
          </p:nvPr>
        </p:nvSpPr>
        <p:spPr/>
        <p:txBody>
          <a:bodyPr/>
          <a:lstStyle/>
          <a:p>
            <a:pPr eaLnBrk="1" hangingPunct="1"/>
            <a:r>
              <a:rPr lang="en-GB" dirty="0"/>
              <a:t> Useful examples:</a:t>
            </a:r>
          </a:p>
          <a:p>
            <a:pPr lvl="1" eaLnBrk="1" hangingPunct="1"/>
            <a:r>
              <a:rPr lang="en-GB" dirty="0"/>
              <a:t>Column details </a:t>
            </a:r>
          </a:p>
          <a:p>
            <a:pPr lvl="1" eaLnBrk="1" hangingPunct="1"/>
            <a:r>
              <a:rPr lang="en-GB" dirty="0"/>
              <a:t>Method conditions / mobile phase / pH</a:t>
            </a:r>
          </a:p>
          <a:p>
            <a:pPr lvl="1" eaLnBrk="1" hangingPunct="1"/>
            <a:r>
              <a:rPr lang="en-GB" dirty="0"/>
              <a:t>Allowed product codes</a:t>
            </a:r>
          </a:p>
          <a:p>
            <a:pPr lvl="1" eaLnBrk="1" hangingPunct="1"/>
            <a:r>
              <a:rPr lang="en-GB" dirty="0"/>
              <a:t>Sample descriptions, sample matrix</a:t>
            </a:r>
          </a:p>
          <a:p>
            <a:pPr lvl="1" eaLnBrk="1" hangingPunct="1"/>
            <a:r>
              <a:rPr lang="en-GB" dirty="0"/>
              <a:t>Storage Conditions</a:t>
            </a:r>
          </a:p>
          <a:p>
            <a:pPr lvl="1" eaLnBrk="1" hangingPunct="1"/>
            <a:r>
              <a:rPr lang="en-GB" dirty="0"/>
              <a:t>Packing Material</a:t>
            </a:r>
          </a:p>
          <a:p>
            <a:pPr lvl="1" eaLnBrk="1" hangingPunct="1"/>
            <a:endParaRPr lang="en-GB" dirty="0"/>
          </a:p>
          <a:p>
            <a:pPr lvl="1" eaLnBrk="1" hangingPunct="1"/>
            <a:endParaRPr lang="en-GB" dirty="0"/>
          </a:p>
        </p:txBody>
      </p:sp>
      <p:sp>
        <p:nvSpPr>
          <p:cNvPr id="128002" name="Rectangle 2"/>
          <p:cNvSpPr>
            <a:spLocks noGrp="1" noChangeArrowheads="1"/>
          </p:cNvSpPr>
          <p:nvPr>
            <p:ph type="title"/>
          </p:nvPr>
        </p:nvSpPr>
        <p:spPr/>
        <p:txBody>
          <a:bodyPr/>
          <a:lstStyle/>
          <a:p>
            <a:pPr>
              <a:defRPr/>
            </a:pPr>
            <a:r>
              <a:rPr lang="en-US" dirty="0">
                <a:solidFill>
                  <a:schemeClr val="accent2"/>
                </a:solidFill>
              </a:rPr>
              <a:t>Enumerated - Sample</a:t>
            </a:r>
            <a:r>
              <a:rPr lang="en-US" dirty="0"/>
              <a:t> Custom Fields EX</a:t>
            </a:r>
            <a:endParaRPr lang="en-GB" dirty="0"/>
          </a:p>
        </p:txBody>
      </p:sp>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ENUM(LTE(% Deviation,1),RANGE(% Deviation,1,3),GT(% Deviation,3))</a:t>
            </a:r>
          </a:p>
          <a:p>
            <a:endParaRPr lang="en-US" dirty="0"/>
          </a:p>
          <a:p>
            <a:endParaRPr lang="en-US" dirty="0"/>
          </a:p>
          <a:p>
            <a:endParaRPr lang="en-US" dirty="0"/>
          </a:p>
          <a:p>
            <a:endParaRPr lang="en-US" sz="1200" dirty="0"/>
          </a:p>
          <a:p>
            <a:r>
              <a:rPr lang="en-US" dirty="0"/>
              <a:t>Translation:</a:t>
            </a:r>
          </a:p>
          <a:p>
            <a:pPr lvl="1"/>
            <a:r>
              <a:rPr lang="en-US" dirty="0"/>
              <a:t>If the % Deviation is less than or equal to 1, then </a:t>
            </a:r>
            <a:r>
              <a:rPr lang="en-US" dirty="0">
                <a:solidFill>
                  <a:srgbClr val="C00000"/>
                </a:solidFill>
              </a:rPr>
              <a:t>“0” = “Excellent”</a:t>
            </a:r>
          </a:p>
          <a:p>
            <a:pPr lvl="1"/>
            <a:r>
              <a:rPr lang="en-US" dirty="0"/>
              <a:t>If the % Deviation is between 1 and 3 (or equal to 3), then </a:t>
            </a:r>
            <a:r>
              <a:rPr lang="en-US" dirty="0">
                <a:solidFill>
                  <a:srgbClr val="C00000"/>
                </a:solidFill>
              </a:rPr>
              <a:t>“1” =   “Acceptable”</a:t>
            </a:r>
          </a:p>
          <a:p>
            <a:pPr lvl="1"/>
            <a:r>
              <a:rPr lang="en-US" dirty="0"/>
              <a:t>If the % Deviation is greater than 3, then </a:t>
            </a:r>
            <a:r>
              <a:rPr lang="en-US" dirty="0">
                <a:solidFill>
                  <a:srgbClr val="C00000"/>
                </a:solidFill>
              </a:rPr>
              <a:t>“2” = “Not Acceptable”</a:t>
            </a:r>
          </a:p>
          <a:p>
            <a:endParaRPr lang="en-US" dirty="0"/>
          </a:p>
        </p:txBody>
      </p:sp>
      <p:sp>
        <p:nvSpPr>
          <p:cNvPr id="3" name="Title 2"/>
          <p:cNvSpPr>
            <a:spLocks noGrp="1"/>
          </p:cNvSpPr>
          <p:nvPr>
            <p:ph type="title"/>
          </p:nvPr>
        </p:nvSpPr>
        <p:spPr/>
        <p:txBody>
          <a:bodyPr/>
          <a:lstStyle/>
          <a:p>
            <a:r>
              <a:rPr lang="en-US" dirty="0">
                <a:solidFill>
                  <a:schemeClr val="accent2"/>
                </a:solidFill>
              </a:rPr>
              <a:t>Enumerated - Calculated</a:t>
            </a:r>
            <a:r>
              <a:rPr lang="en-US" dirty="0"/>
              <a:t> Custom Fields EX</a:t>
            </a:r>
          </a:p>
        </p:txBody>
      </p:sp>
      <p:graphicFrame>
        <p:nvGraphicFramePr>
          <p:cNvPr id="78850" name="Object 5"/>
          <p:cNvGraphicFramePr>
            <a:graphicFrameLocks noChangeAspect="1"/>
          </p:cNvGraphicFramePr>
          <p:nvPr/>
        </p:nvGraphicFramePr>
        <p:xfrm>
          <a:off x="1230923" y="2343907"/>
          <a:ext cx="5418280" cy="792259"/>
        </p:xfrm>
        <a:graphic>
          <a:graphicData uri="http://schemas.openxmlformats.org/presentationml/2006/ole">
            <mc:AlternateContent xmlns:mc="http://schemas.openxmlformats.org/markup-compatibility/2006">
              <mc:Choice xmlns:v="urn:schemas-microsoft-com:vml" Requires="v">
                <p:oleObj name="Photo Editor Photo" r:id="rId2" imgW="3076190" imgH="504762" progId="">
                  <p:embed/>
                </p:oleObj>
              </mc:Choice>
              <mc:Fallback>
                <p:oleObj name="Photo Editor Photo" r:id="rId2" imgW="3076190" imgH="504762" progId="">
                  <p:embed/>
                  <p:pic>
                    <p:nvPicPr>
                      <p:cNvPr id="78850" name="Object 5"/>
                      <p:cNvPicPr>
                        <a:picLocks noChangeAspect="1" noChangeArrowheads="1"/>
                      </p:cNvPicPr>
                      <p:nvPr/>
                    </p:nvPicPr>
                    <p:blipFill>
                      <a:blip r:embed="rId3">
                        <a:extLst>
                          <a:ext uri="{28A0092B-C50C-407E-A947-70E740481C1C}">
                            <a14:useLocalDpi xmlns:a14="http://schemas.microsoft.com/office/drawing/2010/main" val="0"/>
                          </a:ext>
                        </a:extLst>
                      </a:blip>
                      <a:srcRect t="3624" b="7246"/>
                      <a:stretch>
                        <a:fillRect/>
                      </a:stretch>
                    </p:blipFill>
                    <p:spPr bwMode="auto">
                      <a:xfrm>
                        <a:off x="1230923" y="2343907"/>
                        <a:ext cx="5418280" cy="79225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851" name="Object 6"/>
          <p:cNvGraphicFramePr>
            <a:graphicFrameLocks noChangeAspect="1"/>
          </p:cNvGraphicFramePr>
          <p:nvPr>
            <p:extLst>
              <p:ext uri="{D42A27DB-BD31-4B8C-83A1-F6EECF244321}">
                <p14:modId xmlns:p14="http://schemas.microsoft.com/office/powerpoint/2010/main" val="3506347177"/>
              </p:ext>
            </p:extLst>
          </p:nvPr>
        </p:nvGraphicFramePr>
        <p:xfrm>
          <a:off x="3108936" y="2348116"/>
          <a:ext cx="4772879" cy="786463"/>
        </p:xfrm>
        <a:graphic>
          <a:graphicData uri="http://schemas.openxmlformats.org/presentationml/2006/ole">
            <mc:AlternateContent xmlns:mc="http://schemas.openxmlformats.org/markup-compatibility/2006">
              <mc:Choice xmlns:v="urn:schemas-microsoft-com:vml" Requires="v">
                <p:oleObj name="Photo Editor Photo" r:id="rId4" imgW="2828571" imgH="447856" progId="">
                  <p:embed/>
                </p:oleObj>
              </mc:Choice>
              <mc:Fallback>
                <p:oleObj name="Photo Editor Photo" r:id="rId4" imgW="2828571" imgH="447856" progId="">
                  <p:embed/>
                  <p:pic>
                    <p:nvPicPr>
                      <p:cNvPr id="78851" name="Object 6"/>
                      <p:cNvPicPr>
                        <a:picLocks noChangeAspect="1" noChangeArrowheads="1"/>
                      </p:cNvPicPr>
                      <p:nvPr/>
                    </p:nvPicPr>
                    <p:blipFill>
                      <a:blip r:embed="rId5">
                        <a:extLst>
                          <a:ext uri="{28A0092B-C50C-407E-A947-70E740481C1C}">
                            <a14:useLocalDpi xmlns:a14="http://schemas.microsoft.com/office/drawing/2010/main" val="0"/>
                          </a:ext>
                        </a:extLst>
                      </a:blip>
                      <a:srcRect l="3879"/>
                      <a:stretch>
                        <a:fillRect/>
                      </a:stretch>
                    </p:blipFill>
                    <p:spPr bwMode="auto">
                      <a:xfrm>
                        <a:off x="3108936" y="2348116"/>
                        <a:ext cx="4772879" cy="7864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199" y="1312000"/>
            <a:ext cx="4853355" cy="5029200"/>
          </a:xfrm>
        </p:spPr>
        <p:txBody>
          <a:bodyPr/>
          <a:lstStyle/>
          <a:p>
            <a:endParaRPr lang="en-US" dirty="0"/>
          </a:p>
          <a:p>
            <a:endParaRPr lang="en-US" dirty="0"/>
          </a:p>
          <a:p>
            <a:endParaRPr lang="en-US" dirty="0"/>
          </a:p>
          <a:p>
            <a:r>
              <a:rPr lang="en-US" dirty="0"/>
              <a:t>Translation:</a:t>
            </a:r>
          </a:p>
          <a:p>
            <a:pPr lvl="1"/>
            <a:r>
              <a:rPr lang="en-US" dirty="0"/>
              <a:t>If the % Deviation is less than or equal to 1, then “0” = “Excellent”</a:t>
            </a:r>
          </a:p>
          <a:p>
            <a:pPr lvl="1"/>
            <a:r>
              <a:rPr lang="en-US" dirty="0"/>
              <a:t>If the % Deviation is between 1 and 3 (or equal to 3), then “1” = “Acceptable”</a:t>
            </a:r>
          </a:p>
          <a:p>
            <a:pPr lvl="1"/>
            <a:r>
              <a:rPr lang="en-US" dirty="0"/>
              <a:t>If the % Deviation is greater than 3, then “2” = “Not Acceptable”</a:t>
            </a:r>
          </a:p>
          <a:p>
            <a:endParaRPr lang="en-US" dirty="0"/>
          </a:p>
        </p:txBody>
      </p:sp>
      <p:sp>
        <p:nvSpPr>
          <p:cNvPr id="148482" name="Rectangle 2"/>
          <p:cNvSpPr>
            <a:spLocks noGrp="1" noChangeArrowheads="1"/>
          </p:cNvSpPr>
          <p:nvPr>
            <p:ph type="title"/>
          </p:nvPr>
        </p:nvSpPr>
        <p:spPr/>
        <p:txBody>
          <a:bodyPr/>
          <a:lstStyle/>
          <a:p>
            <a:pPr>
              <a:defRPr/>
            </a:pPr>
            <a:r>
              <a:rPr lang="en-US" dirty="0">
                <a:solidFill>
                  <a:schemeClr val="accent2"/>
                </a:solidFill>
              </a:rPr>
              <a:t>Enumerated - Calculated</a:t>
            </a:r>
            <a:r>
              <a:rPr lang="en-US" dirty="0"/>
              <a:t> Custom Fields EX</a:t>
            </a:r>
          </a:p>
        </p:txBody>
      </p:sp>
      <p:pic>
        <p:nvPicPr>
          <p:cNvPr id="36867" name="Picture 3"/>
          <p:cNvPicPr>
            <a:picLocks noChangeAspect="1" noChangeArrowheads="1"/>
          </p:cNvPicPr>
          <p:nvPr/>
        </p:nvPicPr>
        <p:blipFill>
          <a:blip r:embed="rId3" cstate="print"/>
          <a:srcRect l="28181" t="17174" r="41855" b="19738"/>
          <a:stretch>
            <a:fillRect/>
          </a:stretch>
        </p:blipFill>
        <p:spPr bwMode="auto">
          <a:xfrm>
            <a:off x="5814647" y="2637691"/>
            <a:ext cx="1910861" cy="2682111"/>
          </a:xfrm>
          <a:prstGeom prst="rect">
            <a:avLst/>
          </a:prstGeom>
          <a:noFill/>
          <a:ln w="9525">
            <a:noFill/>
            <a:miter lim="800000"/>
            <a:headEnd/>
            <a:tailEnd/>
          </a:ln>
        </p:spPr>
      </p:pic>
      <p:graphicFrame>
        <p:nvGraphicFramePr>
          <p:cNvPr id="79874" name="Object 5"/>
          <p:cNvGraphicFramePr>
            <a:graphicFrameLocks noChangeAspect="1"/>
          </p:cNvGraphicFramePr>
          <p:nvPr/>
        </p:nvGraphicFramePr>
        <p:xfrm>
          <a:off x="1230313" y="1347428"/>
          <a:ext cx="5418137" cy="792163"/>
        </p:xfrm>
        <a:graphic>
          <a:graphicData uri="http://schemas.openxmlformats.org/presentationml/2006/ole">
            <mc:AlternateContent xmlns:mc="http://schemas.openxmlformats.org/markup-compatibility/2006">
              <mc:Choice xmlns:v="urn:schemas-microsoft-com:vml" Requires="v">
                <p:oleObj name="Photo Editor Photo" r:id="rId4" imgW="3076190" imgH="504762" progId="">
                  <p:embed/>
                </p:oleObj>
              </mc:Choice>
              <mc:Fallback>
                <p:oleObj name="Photo Editor Photo" r:id="rId4" imgW="3076190" imgH="504762" progId="">
                  <p:embed/>
                  <p:pic>
                    <p:nvPicPr>
                      <p:cNvPr id="79874" name="Object 5"/>
                      <p:cNvPicPr>
                        <a:picLocks noChangeAspect="1" noChangeArrowheads="1"/>
                      </p:cNvPicPr>
                      <p:nvPr/>
                    </p:nvPicPr>
                    <p:blipFill>
                      <a:blip r:embed="rId5">
                        <a:extLst>
                          <a:ext uri="{28A0092B-C50C-407E-A947-70E740481C1C}">
                            <a14:useLocalDpi xmlns:a14="http://schemas.microsoft.com/office/drawing/2010/main" val="0"/>
                          </a:ext>
                        </a:extLst>
                      </a:blip>
                      <a:srcRect t="3624" b="7246"/>
                      <a:stretch>
                        <a:fillRect/>
                      </a:stretch>
                    </p:blipFill>
                    <p:spPr bwMode="auto">
                      <a:xfrm>
                        <a:off x="1230313" y="1347428"/>
                        <a:ext cx="5418137" cy="79216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875" name="Object 6"/>
          <p:cNvGraphicFramePr>
            <a:graphicFrameLocks noChangeAspect="1"/>
          </p:cNvGraphicFramePr>
          <p:nvPr>
            <p:extLst>
              <p:ext uri="{D42A27DB-BD31-4B8C-83A1-F6EECF244321}">
                <p14:modId xmlns:p14="http://schemas.microsoft.com/office/powerpoint/2010/main" val="3071954229"/>
              </p:ext>
            </p:extLst>
          </p:nvPr>
        </p:nvGraphicFramePr>
        <p:xfrm>
          <a:off x="3095625" y="1352191"/>
          <a:ext cx="4773613" cy="785812"/>
        </p:xfrm>
        <a:graphic>
          <a:graphicData uri="http://schemas.openxmlformats.org/presentationml/2006/ole">
            <mc:AlternateContent xmlns:mc="http://schemas.openxmlformats.org/markup-compatibility/2006">
              <mc:Choice xmlns:v="urn:schemas-microsoft-com:vml" Requires="v">
                <p:oleObj name="Photo Editor Photo" r:id="rId6" imgW="2828571" imgH="447856" progId="">
                  <p:embed/>
                </p:oleObj>
              </mc:Choice>
              <mc:Fallback>
                <p:oleObj name="Photo Editor Photo" r:id="rId6" imgW="2828571" imgH="447856" progId="">
                  <p:embed/>
                  <p:pic>
                    <p:nvPicPr>
                      <p:cNvPr id="79875" name="Object 6"/>
                      <p:cNvPicPr>
                        <a:picLocks noChangeAspect="1" noChangeArrowheads="1"/>
                      </p:cNvPicPr>
                      <p:nvPr/>
                    </p:nvPicPr>
                    <p:blipFill>
                      <a:blip r:embed="rId7">
                        <a:extLst>
                          <a:ext uri="{28A0092B-C50C-407E-A947-70E740481C1C}">
                            <a14:useLocalDpi xmlns:a14="http://schemas.microsoft.com/office/drawing/2010/main" val="0"/>
                          </a:ext>
                        </a:extLst>
                      </a:blip>
                      <a:srcRect l="3879"/>
                      <a:stretch>
                        <a:fillRect/>
                      </a:stretch>
                    </p:blipFill>
                    <p:spPr bwMode="auto">
                      <a:xfrm>
                        <a:off x="3095625" y="1352191"/>
                        <a:ext cx="4773613" cy="785812"/>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endParaRPr lang="en-US"/>
          </a:p>
        </p:txBody>
      </p:sp>
      <p:sp>
        <p:nvSpPr>
          <p:cNvPr id="150530" name="Rectangle 2"/>
          <p:cNvSpPr>
            <a:spLocks noGrp="1" noChangeArrowheads="1"/>
          </p:cNvSpPr>
          <p:nvPr>
            <p:ph type="title"/>
          </p:nvPr>
        </p:nvSpPr>
        <p:spPr/>
        <p:txBody>
          <a:bodyPr/>
          <a:lstStyle/>
          <a:p>
            <a:pPr>
              <a:defRPr/>
            </a:pPr>
            <a:r>
              <a:rPr lang="en-US" dirty="0">
                <a:solidFill>
                  <a:schemeClr val="accent2"/>
                </a:solidFill>
              </a:rPr>
              <a:t>Enumerated - Calculated</a:t>
            </a:r>
            <a:r>
              <a:rPr lang="en-US" dirty="0"/>
              <a:t> Custom Fields EX</a:t>
            </a:r>
          </a:p>
        </p:txBody>
      </p:sp>
      <p:graphicFrame>
        <p:nvGraphicFramePr>
          <p:cNvPr id="11266" name="Object 3"/>
          <p:cNvGraphicFramePr>
            <a:graphicFrameLocks noChangeAspect="1"/>
          </p:cNvGraphicFramePr>
          <p:nvPr/>
        </p:nvGraphicFramePr>
        <p:xfrm>
          <a:off x="392723" y="1705708"/>
          <a:ext cx="8458200" cy="4337660"/>
        </p:xfrm>
        <a:graphic>
          <a:graphicData uri="http://schemas.openxmlformats.org/presentationml/2006/ole">
            <mc:AlternateContent xmlns:mc="http://schemas.openxmlformats.org/markup-compatibility/2006">
              <mc:Choice xmlns:v="urn:schemas-microsoft-com:vml" Requires="v">
                <p:oleObj name="Photo Editor Photo" r:id="rId3" imgW="6961905" imgH="3572374" progId="">
                  <p:embed/>
                </p:oleObj>
              </mc:Choice>
              <mc:Fallback>
                <p:oleObj name="Photo Editor Photo" r:id="rId3" imgW="6961905" imgH="3572374" progId="">
                  <p:embed/>
                  <p:pic>
                    <p:nvPicPr>
                      <p:cNvPr id="1126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723" y="1705708"/>
                        <a:ext cx="8458200" cy="43376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68" name="Rectangle 4"/>
          <p:cNvSpPr>
            <a:spLocks noChangeArrowheads="1"/>
          </p:cNvSpPr>
          <p:nvPr/>
        </p:nvSpPr>
        <p:spPr bwMode="auto">
          <a:xfrm>
            <a:off x="6125307" y="4448908"/>
            <a:ext cx="1400907" cy="1510393"/>
          </a:xfrm>
          <a:prstGeom prst="rect">
            <a:avLst/>
          </a:prstGeom>
          <a:noFill/>
          <a:ln w="38100">
            <a:solidFill>
              <a:srgbClr val="C00000"/>
            </a:solidFill>
            <a:miter lim="800000"/>
            <a:headEnd/>
            <a:tailEnd/>
          </a:ln>
        </p:spPr>
        <p:txBody>
          <a:bodyPr wrap="none" anchor="ctr"/>
          <a:lstStyle/>
          <a:p>
            <a:endParaRPr lang="en-US"/>
          </a:p>
        </p:txBody>
      </p:sp>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b="1" dirty="0"/>
              <a:t>Creating a </a:t>
            </a:r>
            <a:r>
              <a:rPr lang="en-US" b="1" dirty="0">
                <a:solidFill>
                  <a:srgbClr val="C00000"/>
                </a:solidFill>
              </a:rPr>
              <a:t>New</a:t>
            </a:r>
            <a:r>
              <a:rPr lang="en-US" b="1" dirty="0"/>
              <a:t> Custom Field</a:t>
            </a:r>
          </a:p>
          <a:p>
            <a:r>
              <a:rPr lang="en-US" dirty="0"/>
              <a:t>Other Fields to Fill</a:t>
            </a:r>
          </a:p>
        </p:txBody>
      </p:sp>
      <p:graphicFrame>
        <p:nvGraphicFramePr>
          <p:cNvPr id="3" name="Diagram 2"/>
          <p:cNvGraphicFramePr/>
          <p:nvPr/>
        </p:nvGraphicFramePr>
        <p:xfrm>
          <a:off x="1237988" y="5973287"/>
          <a:ext cx="6648712" cy="461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48" name="Rectangle 24"/>
          <p:cNvSpPr>
            <a:spLocks noGrp="1" noChangeArrowheads="1"/>
          </p:cNvSpPr>
          <p:nvPr>
            <p:ph type="title"/>
          </p:nvPr>
        </p:nvSpPr>
        <p:spPr/>
        <p:txBody>
          <a:bodyPr/>
          <a:lstStyle/>
          <a:p>
            <a:pPr>
              <a:defRPr/>
            </a:pPr>
            <a:r>
              <a:rPr lang="en-US" dirty="0"/>
              <a:t>New Custom Field: </a:t>
            </a:r>
            <a:r>
              <a:rPr lang="en-US" dirty="0">
                <a:solidFill>
                  <a:schemeClr val="accent2"/>
                </a:solidFill>
              </a:rPr>
              <a:t>Data Source Selection</a:t>
            </a:r>
            <a:endParaRPr lang="en-US" dirty="0"/>
          </a:p>
        </p:txBody>
      </p:sp>
      <p:pic>
        <p:nvPicPr>
          <p:cNvPr id="32772" name="Picture 4"/>
          <p:cNvPicPr>
            <a:picLocks noChangeAspect="1" noChangeArrowheads="1"/>
          </p:cNvPicPr>
          <p:nvPr/>
        </p:nvPicPr>
        <p:blipFill>
          <a:blip r:embed="rId3" cstate="print"/>
          <a:srcRect/>
          <a:stretch>
            <a:fillRect/>
          </a:stretch>
        </p:blipFill>
        <p:spPr bwMode="auto">
          <a:xfrm>
            <a:off x="1273218" y="1315102"/>
            <a:ext cx="6568075" cy="5108945"/>
          </a:xfrm>
          <a:prstGeom prst="rect">
            <a:avLst/>
          </a:prstGeom>
          <a:noFill/>
          <a:ln w="9525">
            <a:noFill/>
            <a:miter lim="800000"/>
            <a:headEnd/>
            <a:tailEnd/>
          </a:ln>
        </p:spPr>
      </p:pic>
      <p:sp>
        <p:nvSpPr>
          <p:cNvPr id="32774" name="Rectangle 26"/>
          <p:cNvSpPr>
            <a:spLocks noChangeArrowheads="1"/>
          </p:cNvSpPr>
          <p:nvPr/>
        </p:nvSpPr>
        <p:spPr bwMode="auto">
          <a:xfrm>
            <a:off x="3038759" y="1931386"/>
            <a:ext cx="4494678" cy="1033716"/>
          </a:xfrm>
          <a:prstGeom prst="rect">
            <a:avLst/>
          </a:prstGeom>
          <a:noFill/>
          <a:ln w="38100" algn="ctr">
            <a:solidFill>
              <a:srgbClr val="FF0000"/>
            </a:solidFill>
            <a:miter lim="800000"/>
            <a:headEnd/>
            <a:tailEnd/>
          </a:ln>
        </p:spPr>
        <p:txBody>
          <a:bodyPr wrap="none" anchor="ctr"/>
          <a:lstStyle/>
          <a:p>
            <a:endParaRPr lang="en-US"/>
          </a:p>
        </p:txBody>
      </p:sp>
    </p:spTree>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5"/>
          <p:cNvSpPr>
            <a:spLocks noGrp="1" noChangeArrowheads="1"/>
          </p:cNvSpPr>
          <p:nvPr>
            <p:ph idx="1"/>
          </p:nvPr>
        </p:nvSpPr>
        <p:spPr/>
        <p:txBody>
          <a:bodyPr/>
          <a:lstStyle/>
          <a:p>
            <a:r>
              <a:rPr lang="en-US" dirty="0"/>
              <a:t>The Data source defines where the field value should come from.</a:t>
            </a:r>
          </a:p>
          <a:p>
            <a:r>
              <a:rPr lang="en-US" dirty="0"/>
              <a:t>There are several choices:</a:t>
            </a:r>
          </a:p>
          <a:p>
            <a:pPr lvl="1"/>
            <a:r>
              <a:rPr lang="en-US" dirty="0">
                <a:solidFill>
                  <a:srgbClr val="C00000"/>
                </a:solidFill>
              </a:rPr>
              <a:t>Keyboard</a:t>
            </a:r>
          </a:p>
          <a:p>
            <a:pPr lvl="2"/>
            <a:r>
              <a:rPr lang="en-US" dirty="0"/>
              <a:t>Specifies that the field value will be entered through the keyboard.</a:t>
            </a:r>
          </a:p>
          <a:p>
            <a:pPr lvl="1"/>
            <a:r>
              <a:rPr lang="en-US" dirty="0">
                <a:solidFill>
                  <a:srgbClr val="C00000"/>
                </a:solidFill>
              </a:rPr>
              <a:t>External</a:t>
            </a:r>
          </a:p>
          <a:p>
            <a:pPr lvl="2"/>
            <a:r>
              <a:rPr lang="en-US" dirty="0"/>
              <a:t>Specifies that the field value will be provided from outside the Empower database (for example, the Empower Toolkit).</a:t>
            </a:r>
          </a:p>
          <a:p>
            <a:pPr lvl="1"/>
            <a:r>
              <a:rPr lang="en-US" dirty="0">
                <a:solidFill>
                  <a:srgbClr val="C00000"/>
                </a:solidFill>
              </a:rPr>
              <a:t>Calculated</a:t>
            </a:r>
          </a:p>
          <a:p>
            <a:pPr lvl="2"/>
            <a:r>
              <a:rPr lang="en-US" dirty="0"/>
              <a:t>Specifies that the field value will be calculated by Empower software using a formula that you define. </a:t>
            </a:r>
          </a:p>
          <a:p>
            <a:pPr eaLnBrk="1" hangingPunct="1"/>
            <a:endParaRPr lang="en-US" dirty="0"/>
          </a:p>
        </p:txBody>
      </p:sp>
      <p:sp>
        <p:nvSpPr>
          <p:cNvPr id="122884" name="Rectangle 4"/>
          <p:cNvSpPr>
            <a:spLocks noGrp="1" noChangeArrowheads="1"/>
          </p:cNvSpPr>
          <p:nvPr>
            <p:ph type="title"/>
          </p:nvPr>
        </p:nvSpPr>
        <p:spPr/>
        <p:txBody>
          <a:bodyPr/>
          <a:lstStyle/>
          <a:p>
            <a:pPr>
              <a:defRPr/>
            </a:pPr>
            <a:r>
              <a:rPr lang="en-US" dirty="0"/>
              <a:t>New Custom Field: </a:t>
            </a:r>
            <a:r>
              <a:rPr lang="en-US" dirty="0">
                <a:solidFill>
                  <a:schemeClr val="accent2"/>
                </a:solidFill>
              </a:rPr>
              <a:t>Data Source Selection</a:t>
            </a:r>
            <a:endParaRPr lang="fr-FR" dirty="0">
              <a:solidFill>
                <a:schemeClr val="accent2"/>
              </a:solidFill>
            </a:endParaRPr>
          </a:p>
        </p:txBody>
      </p:sp>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lstStyle/>
          <a:p>
            <a:endParaRPr lang="en-US" dirty="0"/>
          </a:p>
        </p:txBody>
      </p:sp>
      <p:sp>
        <p:nvSpPr>
          <p:cNvPr id="132100" name="Rectangle 4"/>
          <p:cNvSpPr>
            <a:spLocks noGrp="1" noChangeArrowheads="1"/>
          </p:cNvSpPr>
          <p:nvPr>
            <p:ph type="title"/>
          </p:nvPr>
        </p:nvSpPr>
        <p:spPr>
          <a:xfrm>
            <a:off x="457200" y="31468"/>
            <a:ext cx="6807896" cy="1005840"/>
          </a:xfrm>
        </p:spPr>
        <p:txBody>
          <a:bodyPr/>
          <a:lstStyle/>
          <a:p>
            <a:pPr>
              <a:defRPr/>
            </a:pPr>
            <a:r>
              <a:rPr lang="en-US" dirty="0"/>
              <a:t>New Custom Field: </a:t>
            </a:r>
            <a:r>
              <a:rPr lang="en-US" dirty="0">
                <a:solidFill>
                  <a:schemeClr val="accent2"/>
                </a:solidFill>
              </a:rPr>
              <a:t>Data Entry / Default Value</a:t>
            </a:r>
            <a:endParaRPr lang="en-US" dirty="0"/>
          </a:p>
        </p:txBody>
      </p:sp>
      <p:pic>
        <p:nvPicPr>
          <p:cNvPr id="34820" name="Picture 6"/>
          <p:cNvPicPr>
            <a:picLocks noChangeAspect="1" noChangeArrowheads="1"/>
          </p:cNvPicPr>
          <p:nvPr/>
        </p:nvPicPr>
        <p:blipFill>
          <a:blip r:embed="rId3" cstate="print"/>
          <a:srcRect/>
          <a:stretch>
            <a:fillRect/>
          </a:stretch>
        </p:blipFill>
        <p:spPr bwMode="auto">
          <a:xfrm>
            <a:off x="1493338" y="1320504"/>
            <a:ext cx="6147539" cy="5054135"/>
          </a:xfrm>
          <a:prstGeom prst="rect">
            <a:avLst/>
          </a:prstGeom>
          <a:noFill/>
          <a:ln w="12700">
            <a:noFill/>
            <a:miter lim="800000"/>
            <a:headEnd/>
            <a:tailEnd/>
          </a:ln>
        </p:spPr>
      </p:pic>
      <p:sp>
        <p:nvSpPr>
          <p:cNvPr id="34822" name="Rectangle 11"/>
          <p:cNvSpPr>
            <a:spLocks noChangeArrowheads="1"/>
          </p:cNvSpPr>
          <p:nvPr/>
        </p:nvSpPr>
        <p:spPr bwMode="auto">
          <a:xfrm>
            <a:off x="3159930" y="2871152"/>
            <a:ext cx="4205373" cy="1444586"/>
          </a:xfrm>
          <a:prstGeom prst="rect">
            <a:avLst/>
          </a:prstGeom>
          <a:noFill/>
          <a:ln w="38100" algn="ctr">
            <a:solidFill>
              <a:srgbClr val="FF0000"/>
            </a:solidFill>
            <a:miter lim="800000"/>
            <a:headEnd/>
            <a:tailEnd/>
          </a:ln>
        </p:spPr>
        <p:txBody>
          <a:bodyPr wrap="none" anchor="ctr"/>
          <a:lstStyle/>
          <a:p>
            <a:endParaRPr lang="en-US"/>
          </a:p>
        </p:txBody>
      </p:sp>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5"/>
          <p:cNvSpPr>
            <a:spLocks noGrp="1" noChangeArrowheads="1"/>
          </p:cNvSpPr>
          <p:nvPr>
            <p:ph idx="1"/>
          </p:nvPr>
        </p:nvSpPr>
        <p:spPr/>
        <p:txBody>
          <a:bodyPr/>
          <a:lstStyle/>
          <a:p>
            <a:pPr eaLnBrk="1" hangingPunct="1"/>
            <a:r>
              <a:rPr lang="en-US" dirty="0"/>
              <a:t>Data entry is required</a:t>
            </a:r>
          </a:p>
          <a:p>
            <a:pPr lvl="1" eaLnBrk="1" hangingPunct="1"/>
            <a:r>
              <a:rPr lang="en-US" dirty="0"/>
              <a:t>Specifies that an entry is required in the custom field during sample loading (in Run Samples, the Sample Set Method Editor, or the Alter Sample window) or when you import data. </a:t>
            </a:r>
          </a:p>
          <a:p>
            <a:pPr lvl="1" eaLnBrk="1" hangingPunct="1"/>
            <a:r>
              <a:rPr lang="en-US" dirty="0"/>
              <a:t>If an entry is required, you cannot proceed with sample loading until you enter a value for the field.</a:t>
            </a:r>
          </a:p>
          <a:p>
            <a:pPr lvl="1" eaLnBrk="1" hangingPunct="1"/>
            <a:endParaRPr lang="en-US" dirty="0"/>
          </a:p>
          <a:p>
            <a:pPr eaLnBrk="1" hangingPunct="1"/>
            <a:r>
              <a:rPr lang="en-US" dirty="0"/>
              <a:t>Default value</a:t>
            </a:r>
          </a:p>
          <a:p>
            <a:pPr lvl="1" eaLnBrk="1" hangingPunct="1"/>
            <a:r>
              <a:rPr lang="en-US" dirty="0"/>
              <a:t>Specifies a </a:t>
            </a:r>
            <a:r>
              <a:rPr lang="en-US" dirty="0">
                <a:solidFill>
                  <a:srgbClr val="C00000"/>
                </a:solidFill>
              </a:rPr>
              <a:t>default value </a:t>
            </a:r>
            <a:r>
              <a:rPr lang="en-US" dirty="0"/>
              <a:t>for a custom field. </a:t>
            </a:r>
          </a:p>
          <a:p>
            <a:pPr lvl="1" eaLnBrk="1" hangingPunct="1"/>
            <a:r>
              <a:rPr lang="en-US" dirty="0"/>
              <a:t>This default value appears in the custom field if a user entry is not required. </a:t>
            </a:r>
          </a:p>
          <a:p>
            <a:pPr lvl="1" eaLnBrk="1" hangingPunct="1"/>
            <a:r>
              <a:rPr lang="en-US" dirty="0"/>
              <a:t>If the data type is </a:t>
            </a:r>
            <a:r>
              <a:rPr lang="en-US" dirty="0" err="1"/>
              <a:t>Bool</a:t>
            </a:r>
            <a:r>
              <a:rPr lang="en-US" dirty="0"/>
              <a:t> or </a:t>
            </a:r>
            <a:r>
              <a:rPr lang="en-US" dirty="0" err="1"/>
              <a:t>Enum</a:t>
            </a:r>
            <a:r>
              <a:rPr lang="en-US" dirty="0"/>
              <a:t>, the default value appears at the top of the Translation column in the Translation Definition table.</a:t>
            </a:r>
          </a:p>
        </p:txBody>
      </p:sp>
      <p:sp>
        <p:nvSpPr>
          <p:cNvPr id="124932" name="Rectangle 4"/>
          <p:cNvSpPr>
            <a:spLocks noGrp="1" noChangeArrowheads="1"/>
          </p:cNvSpPr>
          <p:nvPr>
            <p:ph type="title"/>
          </p:nvPr>
        </p:nvSpPr>
        <p:spPr>
          <a:xfrm>
            <a:off x="457200" y="31468"/>
            <a:ext cx="6820422" cy="1005840"/>
          </a:xfrm>
        </p:spPr>
        <p:txBody>
          <a:bodyPr/>
          <a:lstStyle/>
          <a:p>
            <a:pPr>
              <a:defRPr/>
            </a:pPr>
            <a:r>
              <a:rPr lang="en-US" dirty="0"/>
              <a:t>New Custom Field: </a:t>
            </a:r>
            <a:r>
              <a:rPr lang="en-US" dirty="0">
                <a:solidFill>
                  <a:schemeClr val="accent2"/>
                </a:solidFill>
              </a:rPr>
              <a:t>Data Entry / Default Value</a:t>
            </a:r>
          </a:p>
        </p:txBody>
      </p:sp>
    </p:spTree>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4"/>
          <p:cNvSpPr>
            <a:spLocks noGrp="1" noChangeArrowheads="1"/>
          </p:cNvSpPr>
          <p:nvPr>
            <p:ph type="title"/>
          </p:nvPr>
        </p:nvSpPr>
        <p:spPr>
          <a:xfrm>
            <a:off x="457199" y="31468"/>
            <a:ext cx="6594953" cy="1005840"/>
          </a:xfrm>
        </p:spPr>
        <p:txBody>
          <a:bodyPr/>
          <a:lstStyle/>
          <a:p>
            <a:pPr>
              <a:defRPr/>
            </a:pPr>
            <a:r>
              <a:rPr lang="en-US" dirty="0"/>
              <a:t>New Custom Field: </a:t>
            </a:r>
            <a:r>
              <a:rPr lang="en-US" dirty="0">
                <a:solidFill>
                  <a:schemeClr val="accent2"/>
                </a:solidFill>
              </a:rPr>
              <a:t>Sample Type / Peak Type</a:t>
            </a:r>
            <a:endParaRPr lang="en-US" dirty="0"/>
          </a:p>
        </p:txBody>
      </p:sp>
      <p:pic>
        <p:nvPicPr>
          <p:cNvPr id="36868" name="Picture 5"/>
          <p:cNvPicPr>
            <a:picLocks noChangeAspect="1" noChangeArrowheads="1"/>
          </p:cNvPicPr>
          <p:nvPr/>
        </p:nvPicPr>
        <p:blipFill>
          <a:blip r:embed="rId3" cstate="print"/>
          <a:srcRect/>
          <a:stretch>
            <a:fillRect/>
          </a:stretch>
        </p:blipFill>
        <p:spPr bwMode="auto">
          <a:xfrm>
            <a:off x="1323323" y="1333203"/>
            <a:ext cx="6480392" cy="5040741"/>
          </a:xfrm>
          <a:prstGeom prst="rect">
            <a:avLst/>
          </a:prstGeom>
          <a:noFill/>
          <a:ln w="9525">
            <a:noFill/>
            <a:miter lim="800000"/>
            <a:headEnd/>
            <a:tailEnd/>
          </a:ln>
        </p:spPr>
      </p:pic>
      <p:sp>
        <p:nvSpPr>
          <p:cNvPr id="36869" name="Rectangle 6"/>
          <p:cNvSpPr>
            <a:spLocks noChangeArrowheads="1"/>
          </p:cNvSpPr>
          <p:nvPr/>
        </p:nvSpPr>
        <p:spPr bwMode="auto">
          <a:xfrm>
            <a:off x="3107913" y="4817247"/>
            <a:ext cx="4420229" cy="781887"/>
          </a:xfrm>
          <a:prstGeom prst="rect">
            <a:avLst/>
          </a:prstGeom>
          <a:noFill/>
          <a:ln w="38100" algn="ctr">
            <a:solidFill>
              <a:srgbClr val="FF0000"/>
            </a:solidFill>
            <a:miter lim="800000"/>
            <a:headEnd/>
            <a:tailEnd/>
          </a:ln>
        </p:spPr>
        <p:txBody>
          <a:bodyPr wrap="none" anchor="ctr"/>
          <a:lstStyle/>
          <a:p>
            <a:endParaRPr lang="en-US"/>
          </a:p>
        </p:txBody>
      </p:sp>
    </p:spTree>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9"/>
          <p:cNvSpPr>
            <a:spLocks noGrp="1" noChangeArrowheads="1"/>
          </p:cNvSpPr>
          <p:nvPr>
            <p:ph idx="1"/>
          </p:nvPr>
        </p:nvSpPr>
        <p:spPr/>
        <p:txBody>
          <a:bodyPr>
            <a:normAutofit/>
          </a:bodyPr>
          <a:lstStyle/>
          <a:p>
            <a:pPr eaLnBrk="1" hangingPunct="1"/>
            <a:r>
              <a:rPr lang="en-US" dirty="0"/>
              <a:t>Choose the </a:t>
            </a:r>
            <a:r>
              <a:rPr lang="en-US" dirty="0">
                <a:solidFill>
                  <a:srgbClr val="C00000"/>
                </a:solidFill>
              </a:rPr>
              <a:t>Sample Type </a:t>
            </a:r>
            <a:r>
              <a:rPr lang="en-US" dirty="0"/>
              <a:t>that you want to calculate the CF for. If a formula references a field from another result, the sample from which the result is generated must match this type for the field value to be used.</a:t>
            </a:r>
          </a:p>
          <a:p>
            <a:pPr lvl="1"/>
            <a:r>
              <a:rPr lang="en-US" dirty="0"/>
              <a:t>All</a:t>
            </a:r>
          </a:p>
          <a:p>
            <a:pPr lvl="1"/>
            <a:r>
              <a:rPr lang="en-US" dirty="0"/>
              <a:t>Standards Only</a:t>
            </a:r>
          </a:p>
          <a:p>
            <a:pPr lvl="1"/>
            <a:r>
              <a:rPr lang="en-US" dirty="0"/>
              <a:t>Unknowns Only</a:t>
            </a:r>
          </a:p>
          <a:p>
            <a:pPr lvl="1"/>
            <a:r>
              <a:rPr lang="en-US" dirty="0"/>
              <a:t>Controls Only</a:t>
            </a:r>
          </a:p>
          <a:p>
            <a:pPr lvl="1"/>
            <a:r>
              <a:rPr lang="en-US" dirty="0"/>
              <a:t>Standards &amp; Unknowns</a:t>
            </a:r>
          </a:p>
          <a:p>
            <a:pPr lvl="1"/>
            <a:r>
              <a:rPr lang="en-US" dirty="0"/>
              <a:t>Standards &amp; Controls</a:t>
            </a:r>
          </a:p>
          <a:p>
            <a:pPr lvl="1"/>
            <a:r>
              <a:rPr lang="en-US" dirty="0"/>
              <a:t>Controls &amp; Unknowns</a:t>
            </a:r>
          </a:p>
          <a:p>
            <a:pPr eaLnBrk="1" hangingPunct="1"/>
            <a:r>
              <a:rPr lang="en-US" dirty="0"/>
              <a:t>Sample Type is available only if the </a:t>
            </a:r>
            <a:r>
              <a:rPr lang="en-US" dirty="0">
                <a:solidFill>
                  <a:srgbClr val="C00000"/>
                </a:solidFill>
              </a:rPr>
              <a:t>Data Source is set to Calculated</a:t>
            </a:r>
            <a:r>
              <a:rPr lang="en-US" dirty="0"/>
              <a:t>. </a:t>
            </a:r>
          </a:p>
          <a:p>
            <a:pPr lvl="2" eaLnBrk="1" hangingPunct="1"/>
            <a:endParaRPr lang="en-US" dirty="0"/>
          </a:p>
          <a:p>
            <a:pPr eaLnBrk="1" hangingPunct="1">
              <a:buFont typeface="Wingdings 2" pitchFamily="18" charset="2"/>
              <a:buNone/>
            </a:pPr>
            <a:endParaRPr lang="en-US" dirty="0"/>
          </a:p>
        </p:txBody>
      </p:sp>
      <p:sp>
        <p:nvSpPr>
          <p:cNvPr id="126984" name="Rectangle 8"/>
          <p:cNvSpPr>
            <a:spLocks noGrp="1" noChangeArrowheads="1"/>
          </p:cNvSpPr>
          <p:nvPr>
            <p:ph type="title"/>
          </p:nvPr>
        </p:nvSpPr>
        <p:spPr/>
        <p:txBody>
          <a:bodyPr/>
          <a:lstStyle/>
          <a:p>
            <a:pPr>
              <a:defRPr/>
            </a:pPr>
            <a:r>
              <a:rPr lang="en-US" dirty="0"/>
              <a:t>New Custom Field: </a:t>
            </a:r>
            <a:r>
              <a:rPr lang="en-US" dirty="0">
                <a:solidFill>
                  <a:schemeClr val="accent2"/>
                </a:solidFill>
              </a:rPr>
              <a:t>Sample Type </a:t>
            </a:r>
            <a:endParaRPr lang="en-US" dirty="0"/>
          </a:p>
        </p:txBody>
      </p:sp>
      <p:sp>
        <p:nvSpPr>
          <p:cNvPr id="37893" name="Rectangle 3"/>
          <p:cNvSpPr>
            <a:spLocks noChangeArrowheads="1"/>
          </p:cNvSpPr>
          <p:nvPr/>
        </p:nvSpPr>
        <p:spPr bwMode="auto">
          <a:xfrm>
            <a:off x="469900" y="2751138"/>
            <a:ext cx="8229600" cy="4525962"/>
          </a:xfrm>
          <a:prstGeom prst="rect">
            <a:avLst/>
          </a:prstGeom>
          <a:noFill/>
          <a:ln w="9525">
            <a:noFill/>
            <a:miter lim="800000"/>
            <a:headEnd/>
            <a:tailEnd/>
          </a:ln>
        </p:spPr>
        <p:txBody>
          <a:bodyPr/>
          <a:lstStyle/>
          <a:p>
            <a:pPr marL="742950" lvl="1" indent="-285750" algn="l">
              <a:lnSpc>
                <a:spcPct val="75000"/>
              </a:lnSpc>
              <a:spcBef>
                <a:spcPct val="20000"/>
              </a:spcBef>
              <a:buClr>
                <a:srgbClr val="3374D4"/>
              </a:buClr>
              <a:buFont typeface="Verdana" pitchFamily="34" charset="0"/>
              <a:buChar char="—"/>
            </a:pPr>
            <a:endParaRPr lang="fr-FR">
              <a:solidFill>
                <a:schemeClr val="accent1"/>
              </a:solidFill>
            </a:endParaRPr>
          </a:p>
        </p:txBody>
      </p:sp>
    </p:spTree>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idx="1"/>
          </p:nvPr>
        </p:nvSpPr>
        <p:spPr/>
        <p:txBody>
          <a:bodyPr>
            <a:normAutofit/>
          </a:bodyPr>
          <a:lstStyle/>
          <a:p>
            <a:pPr eaLnBrk="1" hangingPunct="1"/>
            <a:r>
              <a:rPr lang="en-US" dirty="0"/>
              <a:t>Choose the </a:t>
            </a:r>
            <a:r>
              <a:rPr lang="en-US" dirty="0">
                <a:solidFill>
                  <a:srgbClr val="C00000"/>
                </a:solidFill>
              </a:rPr>
              <a:t>Peak Type </a:t>
            </a:r>
            <a:r>
              <a:rPr lang="en-US" dirty="0"/>
              <a:t>that you want to calculate the CF for. If a formula references a field from another peak, its type must match this type for the field value to be used. </a:t>
            </a:r>
          </a:p>
          <a:p>
            <a:pPr lvl="1"/>
            <a:r>
              <a:rPr lang="en-US" dirty="0"/>
              <a:t>All</a:t>
            </a:r>
          </a:p>
          <a:p>
            <a:pPr lvl="1"/>
            <a:r>
              <a:rPr lang="en-US" dirty="0"/>
              <a:t>Founds Only</a:t>
            </a:r>
          </a:p>
          <a:p>
            <a:pPr lvl="1"/>
            <a:r>
              <a:rPr lang="en-US" dirty="0"/>
              <a:t>Unknowns Only</a:t>
            </a:r>
          </a:p>
          <a:p>
            <a:pPr lvl="1"/>
            <a:r>
              <a:rPr lang="en-US" dirty="0"/>
              <a:t>Groups Only</a:t>
            </a:r>
          </a:p>
          <a:p>
            <a:pPr lvl="1"/>
            <a:r>
              <a:rPr lang="en-US" dirty="0"/>
              <a:t>Founds and Groups</a:t>
            </a:r>
          </a:p>
          <a:p>
            <a:pPr lvl="1"/>
            <a:r>
              <a:rPr lang="en-US" dirty="0"/>
              <a:t>Founds and Unknowns</a:t>
            </a:r>
          </a:p>
          <a:p>
            <a:pPr lvl="1"/>
            <a:r>
              <a:rPr lang="en-US" dirty="0"/>
              <a:t>Unknowns and Groups</a:t>
            </a:r>
          </a:p>
          <a:p>
            <a:pPr eaLnBrk="1" hangingPunct="1"/>
            <a:r>
              <a:rPr lang="en-US" dirty="0"/>
              <a:t>Peak Type is available only if the </a:t>
            </a:r>
            <a:r>
              <a:rPr lang="en-US" dirty="0">
                <a:solidFill>
                  <a:srgbClr val="C00000"/>
                </a:solidFill>
              </a:rPr>
              <a:t>Data Source is set to Calculated</a:t>
            </a:r>
            <a:r>
              <a:rPr lang="en-US" dirty="0"/>
              <a:t>. </a:t>
            </a:r>
          </a:p>
          <a:p>
            <a:pPr lvl="2" eaLnBrk="1" hangingPunct="1"/>
            <a:endParaRPr lang="en-US" dirty="0"/>
          </a:p>
          <a:p>
            <a:pPr eaLnBrk="1" hangingPunct="1"/>
            <a:endParaRPr lang="en-US" dirty="0"/>
          </a:p>
        </p:txBody>
      </p:sp>
      <p:sp>
        <p:nvSpPr>
          <p:cNvPr id="139266" name="Rectangle 2"/>
          <p:cNvSpPr>
            <a:spLocks noGrp="1" noChangeArrowheads="1"/>
          </p:cNvSpPr>
          <p:nvPr>
            <p:ph type="title"/>
          </p:nvPr>
        </p:nvSpPr>
        <p:spPr/>
        <p:txBody>
          <a:bodyPr/>
          <a:lstStyle/>
          <a:p>
            <a:pPr eaLnBrk="1" hangingPunct="1">
              <a:defRPr/>
            </a:pPr>
            <a:r>
              <a:rPr lang="en-US" dirty="0"/>
              <a:t>New Custom Field: </a:t>
            </a:r>
            <a:r>
              <a:rPr lang="en-US" dirty="0">
                <a:solidFill>
                  <a:schemeClr val="accent2"/>
                </a:solidFill>
              </a:rPr>
              <a:t>Peak Type</a:t>
            </a:r>
          </a:p>
        </p:txBody>
      </p:sp>
      <p:sp>
        <p:nvSpPr>
          <p:cNvPr id="38914" name="Slide Number Placeholder 3"/>
          <p:cNvSpPr>
            <a:spLocks noGrp="1"/>
          </p:cNvSpPr>
          <p:nvPr>
            <p:ph type="sldNum" sz="quarter" idx="4294967295"/>
          </p:nvPr>
        </p:nvSpPr>
        <p:spPr>
          <a:xfrm>
            <a:off x="7010400" y="6381750"/>
            <a:ext cx="2133600" cy="476250"/>
          </a:xfrm>
          <a:prstGeom prst="rect">
            <a:avLst/>
          </a:prstGeom>
          <a:noFill/>
        </p:spPr>
        <p:txBody>
          <a:bodyPr/>
          <a:lstStyle/>
          <a:p>
            <a:fld id="{19F87EDE-AD12-4F35-B464-077ED9EE1C68}" type="slidenum">
              <a:rPr lang="en-US"/>
              <a:pPr/>
              <a:t>51</a:t>
            </a:fld>
            <a:endParaRPr lang="en-US"/>
          </a:p>
        </p:txBody>
      </p:sp>
      <p:sp>
        <p:nvSpPr>
          <p:cNvPr id="38917" name="Rectangle 4"/>
          <p:cNvSpPr>
            <a:spLocks noChangeArrowheads="1"/>
          </p:cNvSpPr>
          <p:nvPr/>
        </p:nvSpPr>
        <p:spPr bwMode="auto">
          <a:xfrm>
            <a:off x="469900" y="2751138"/>
            <a:ext cx="8229600" cy="4525962"/>
          </a:xfrm>
          <a:prstGeom prst="rect">
            <a:avLst/>
          </a:prstGeom>
          <a:noFill/>
          <a:ln w="9525">
            <a:noFill/>
            <a:miter lim="800000"/>
            <a:headEnd/>
            <a:tailEnd/>
          </a:ln>
        </p:spPr>
        <p:txBody>
          <a:bodyPr/>
          <a:lstStyle/>
          <a:p>
            <a:pPr marL="742950" lvl="1" indent="-285750" algn="l">
              <a:lnSpc>
                <a:spcPct val="75000"/>
              </a:lnSpc>
              <a:spcBef>
                <a:spcPct val="20000"/>
              </a:spcBef>
              <a:buClr>
                <a:srgbClr val="3374D4"/>
              </a:buClr>
              <a:buFont typeface="Verdana" pitchFamily="34" charset="0"/>
              <a:buChar char="—"/>
            </a:pPr>
            <a:endParaRPr lang="fr-FR">
              <a:solidFill>
                <a:schemeClr val="accent1"/>
              </a:solidFill>
            </a:endParaRPr>
          </a:p>
        </p:txBody>
      </p:sp>
    </p:spTree>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18"/>
          <p:cNvSpPr>
            <a:spLocks noGrp="1"/>
          </p:cNvSpPr>
          <p:nvPr>
            <p:ph idx="1"/>
          </p:nvPr>
        </p:nvSpPr>
        <p:spPr/>
        <p:txBody>
          <a:bodyPr/>
          <a:lstStyle/>
          <a:p>
            <a:endParaRPr lang="en-US" dirty="0"/>
          </a:p>
        </p:txBody>
      </p:sp>
      <p:sp>
        <p:nvSpPr>
          <p:cNvPr id="152580" name="Rectangle 4"/>
          <p:cNvSpPr>
            <a:spLocks noGrp="1" noChangeArrowheads="1"/>
          </p:cNvSpPr>
          <p:nvPr>
            <p:ph type="title"/>
          </p:nvPr>
        </p:nvSpPr>
        <p:spPr/>
        <p:txBody>
          <a:bodyPr/>
          <a:lstStyle/>
          <a:p>
            <a:pPr eaLnBrk="1" hangingPunct="1">
              <a:defRPr/>
            </a:pPr>
            <a:r>
              <a:rPr lang="en-US" dirty="0"/>
              <a:t>Calculations, Formula Entry</a:t>
            </a:r>
          </a:p>
        </p:txBody>
      </p:sp>
      <p:pic>
        <p:nvPicPr>
          <p:cNvPr id="39940" name="Picture 5"/>
          <p:cNvPicPr>
            <a:picLocks noChangeAspect="1" noChangeArrowheads="1"/>
          </p:cNvPicPr>
          <p:nvPr/>
        </p:nvPicPr>
        <p:blipFill>
          <a:blip r:embed="rId3" cstate="print"/>
          <a:srcRect/>
          <a:stretch>
            <a:fillRect/>
          </a:stretch>
        </p:blipFill>
        <p:spPr bwMode="auto">
          <a:xfrm>
            <a:off x="1332076" y="1340817"/>
            <a:ext cx="6471640" cy="5035358"/>
          </a:xfrm>
          <a:prstGeom prst="rect">
            <a:avLst/>
          </a:prstGeom>
          <a:noFill/>
          <a:ln w="28575" algn="ctr">
            <a:noFill/>
            <a:miter lim="800000"/>
            <a:headEnd/>
            <a:tailEnd/>
          </a:ln>
        </p:spPr>
      </p:pic>
      <p:sp>
        <p:nvSpPr>
          <p:cNvPr id="39948" name="Text Box 24"/>
          <p:cNvSpPr txBox="1">
            <a:spLocks noChangeArrowheads="1"/>
          </p:cNvSpPr>
          <p:nvPr/>
        </p:nvSpPr>
        <p:spPr bwMode="auto">
          <a:xfrm>
            <a:off x="5835270" y="5283438"/>
            <a:ext cx="1612429" cy="338554"/>
          </a:xfrm>
          <a:prstGeom prst="rect">
            <a:avLst/>
          </a:prstGeom>
          <a:solidFill>
            <a:schemeClr val="bg1"/>
          </a:solidFill>
          <a:ln w="28575" algn="ctr">
            <a:solidFill>
              <a:schemeClr val="tx1"/>
            </a:solidFill>
            <a:miter lim="800000"/>
            <a:headEnd/>
            <a:tailEnd/>
          </a:ln>
        </p:spPr>
        <p:txBody>
          <a:bodyPr wrap="none">
            <a:spAutoFit/>
          </a:bodyPr>
          <a:lstStyle/>
          <a:p>
            <a:pPr algn="ctr"/>
            <a:r>
              <a:rPr lang="en-US" dirty="0">
                <a:latin typeface="Arial" pitchFamily="34" charset="0"/>
                <a:cs typeface="Arial" pitchFamily="34" charset="0"/>
              </a:rPr>
              <a:t>Available Fields</a:t>
            </a:r>
          </a:p>
        </p:txBody>
      </p:sp>
      <p:sp>
        <p:nvSpPr>
          <p:cNvPr id="17" name="Text Box 24"/>
          <p:cNvSpPr txBox="1">
            <a:spLocks noChangeArrowheads="1"/>
          </p:cNvSpPr>
          <p:nvPr/>
        </p:nvSpPr>
        <p:spPr bwMode="auto">
          <a:xfrm>
            <a:off x="5344301" y="2111681"/>
            <a:ext cx="1952650" cy="338554"/>
          </a:xfrm>
          <a:prstGeom prst="rect">
            <a:avLst/>
          </a:prstGeom>
          <a:noFill/>
          <a:ln w="28575" algn="ctr">
            <a:solidFill>
              <a:schemeClr val="tx1"/>
            </a:solidFill>
            <a:miter lim="800000"/>
            <a:headEnd/>
            <a:tailEnd/>
          </a:ln>
        </p:spPr>
        <p:txBody>
          <a:bodyPr wrap="none">
            <a:spAutoFit/>
          </a:bodyPr>
          <a:lstStyle/>
          <a:p>
            <a:r>
              <a:rPr lang="en-US" dirty="0">
                <a:latin typeface="Arial" pitchFamily="34" charset="0"/>
                <a:cs typeface="Arial" pitchFamily="34" charset="0"/>
              </a:rPr>
              <a:t>Formula Entry Area</a:t>
            </a:r>
          </a:p>
        </p:txBody>
      </p:sp>
      <p:sp>
        <p:nvSpPr>
          <p:cNvPr id="20" name="Rectangle 19"/>
          <p:cNvSpPr/>
          <p:nvPr/>
        </p:nvSpPr>
        <p:spPr bwMode="auto">
          <a:xfrm>
            <a:off x="3018773" y="1841326"/>
            <a:ext cx="4421687" cy="839244"/>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21" name="Rectangle 20"/>
          <p:cNvSpPr/>
          <p:nvPr/>
        </p:nvSpPr>
        <p:spPr bwMode="auto">
          <a:xfrm>
            <a:off x="3033387" y="2757813"/>
            <a:ext cx="4407073" cy="2265123"/>
          </a:xfrm>
          <a:prstGeom prst="rect">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pPr eaLnBrk="1" hangingPunct="1">
              <a:defRPr/>
            </a:pPr>
            <a:r>
              <a:rPr lang="en-US"/>
              <a:t>Custom Fields Operators</a:t>
            </a:r>
          </a:p>
        </p:txBody>
      </p:sp>
      <p:sp>
        <p:nvSpPr>
          <p:cNvPr id="24579" name="Rectangle 3"/>
          <p:cNvSpPr>
            <a:spLocks noChangeArrowheads="1"/>
          </p:cNvSpPr>
          <p:nvPr/>
        </p:nvSpPr>
        <p:spPr bwMode="auto">
          <a:xfrm>
            <a:off x="533400" y="1201616"/>
            <a:ext cx="3505200" cy="366713"/>
          </a:xfrm>
          <a:prstGeom prst="rect">
            <a:avLst/>
          </a:prstGeom>
          <a:noFill/>
          <a:ln w="9525">
            <a:noFill/>
            <a:miter lim="800000"/>
            <a:headEnd/>
            <a:tailEnd/>
          </a:ln>
        </p:spPr>
        <p:txBody>
          <a:bodyPr>
            <a:spAutoFit/>
          </a:bodyPr>
          <a:lstStyle/>
          <a:p>
            <a:r>
              <a:rPr lang="en-US" sz="1800" b="1" dirty="0">
                <a:latin typeface="Tahoma" pitchFamily="34" charset="0"/>
                <a:cs typeface="Times New Roman" pitchFamily="18" charset="0"/>
              </a:rPr>
              <a:t>Mathematical Operators</a:t>
            </a:r>
            <a:endParaRPr lang="en-US" sz="1800" b="1" dirty="0">
              <a:latin typeface="Tahoma" pitchFamily="34" charset="0"/>
            </a:endParaRPr>
          </a:p>
        </p:txBody>
      </p:sp>
      <p:grpSp>
        <p:nvGrpSpPr>
          <p:cNvPr id="2" name="Group 48"/>
          <p:cNvGrpSpPr>
            <a:grpSpLocks/>
          </p:cNvGrpSpPr>
          <p:nvPr/>
        </p:nvGrpSpPr>
        <p:grpSpPr bwMode="auto">
          <a:xfrm>
            <a:off x="533400" y="1647094"/>
            <a:ext cx="4114800" cy="2438400"/>
            <a:chOff x="-3" y="400"/>
            <a:chExt cx="1661" cy="2827"/>
          </a:xfrm>
        </p:grpSpPr>
        <p:grpSp>
          <p:nvGrpSpPr>
            <p:cNvPr id="3" name="Group 46"/>
            <p:cNvGrpSpPr>
              <a:grpSpLocks/>
            </p:cNvGrpSpPr>
            <p:nvPr/>
          </p:nvGrpSpPr>
          <p:grpSpPr bwMode="auto">
            <a:xfrm>
              <a:off x="0" y="403"/>
              <a:ext cx="1655" cy="2821"/>
              <a:chOff x="0" y="403"/>
              <a:chExt cx="1655" cy="2821"/>
            </a:xfrm>
          </p:grpSpPr>
          <p:grpSp>
            <p:nvGrpSpPr>
              <p:cNvPr id="4" name="Group 19"/>
              <p:cNvGrpSpPr>
                <a:grpSpLocks/>
              </p:cNvGrpSpPr>
              <p:nvPr/>
            </p:nvGrpSpPr>
            <p:grpSpPr bwMode="auto">
              <a:xfrm>
                <a:off x="0" y="403"/>
                <a:ext cx="633" cy="403"/>
                <a:chOff x="0" y="403"/>
                <a:chExt cx="633" cy="403"/>
              </a:xfrm>
            </p:grpSpPr>
            <p:sp>
              <p:nvSpPr>
                <p:cNvPr id="24691" name="Rectangle 4"/>
                <p:cNvSpPr>
                  <a:spLocks noChangeArrowheads="1"/>
                </p:cNvSpPr>
                <p:nvPr/>
              </p:nvSpPr>
              <p:spPr bwMode="auto">
                <a:xfrm>
                  <a:off x="43" y="403"/>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92" name="Rectangle 18"/>
                <p:cNvSpPr>
                  <a:spLocks noChangeArrowheads="1"/>
                </p:cNvSpPr>
                <p:nvPr/>
              </p:nvSpPr>
              <p:spPr bwMode="auto">
                <a:xfrm>
                  <a:off x="0" y="403"/>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5" name="Group 21"/>
              <p:cNvGrpSpPr>
                <a:grpSpLocks/>
              </p:cNvGrpSpPr>
              <p:nvPr/>
            </p:nvGrpSpPr>
            <p:grpSpPr bwMode="auto">
              <a:xfrm>
                <a:off x="633" y="403"/>
                <a:ext cx="1022" cy="403"/>
                <a:chOff x="633" y="403"/>
                <a:chExt cx="1022" cy="403"/>
              </a:xfrm>
            </p:grpSpPr>
            <p:sp>
              <p:nvSpPr>
                <p:cNvPr id="24689" name="Rectangle 5"/>
                <p:cNvSpPr>
                  <a:spLocks noChangeArrowheads="1"/>
                </p:cNvSpPr>
                <p:nvPr/>
              </p:nvSpPr>
              <p:spPr bwMode="auto">
                <a:xfrm>
                  <a:off x="676" y="403"/>
                  <a:ext cx="936" cy="403"/>
                </a:xfrm>
                <a:prstGeom prst="rect">
                  <a:avLst/>
                </a:prstGeom>
                <a:noFill/>
                <a:ln w="9525">
                  <a:noFill/>
                  <a:miter lim="800000"/>
                  <a:headEnd/>
                  <a:tailEnd/>
                </a:ln>
              </p:spPr>
              <p:txBody>
                <a:bodyPr/>
                <a:lstStyle/>
                <a:p>
                  <a:r>
                    <a:rPr lang="en-US" sz="1800">
                      <a:latin typeface="Arial" pitchFamily="34" charset="0"/>
                      <a:cs typeface="Arial" pitchFamily="34" charset="0"/>
                    </a:rPr>
                    <a:t>Subtraction</a:t>
                  </a:r>
                </a:p>
                <a:p>
                  <a:endParaRPr lang="en-US" sz="1800">
                    <a:latin typeface="Arial" pitchFamily="34" charset="0"/>
                    <a:cs typeface="Arial" pitchFamily="34" charset="0"/>
                  </a:endParaRPr>
                </a:p>
              </p:txBody>
            </p:sp>
            <p:sp>
              <p:nvSpPr>
                <p:cNvPr id="24690" name="Rectangle 20"/>
                <p:cNvSpPr>
                  <a:spLocks noChangeArrowheads="1"/>
                </p:cNvSpPr>
                <p:nvPr/>
              </p:nvSpPr>
              <p:spPr bwMode="auto">
                <a:xfrm>
                  <a:off x="633" y="403"/>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6" name="Group 23"/>
              <p:cNvGrpSpPr>
                <a:grpSpLocks/>
              </p:cNvGrpSpPr>
              <p:nvPr/>
            </p:nvGrpSpPr>
            <p:grpSpPr bwMode="auto">
              <a:xfrm>
                <a:off x="0" y="806"/>
                <a:ext cx="633" cy="403"/>
                <a:chOff x="0" y="806"/>
                <a:chExt cx="633" cy="403"/>
              </a:xfrm>
            </p:grpSpPr>
            <p:sp>
              <p:nvSpPr>
                <p:cNvPr id="24687" name="Rectangle 6"/>
                <p:cNvSpPr>
                  <a:spLocks noChangeArrowheads="1"/>
                </p:cNvSpPr>
                <p:nvPr/>
              </p:nvSpPr>
              <p:spPr bwMode="auto">
                <a:xfrm>
                  <a:off x="43" y="806"/>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88" name="Rectangle 22"/>
                <p:cNvSpPr>
                  <a:spLocks noChangeArrowheads="1"/>
                </p:cNvSpPr>
                <p:nvPr/>
              </p:nvSpPr>
              <p:spPr bwMode="auto">
                <a:xfrm>
                  <a:off x="0" y="806"/>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7" name="Group 25"/>
              <p:cNvGrpSpPr>
                <a:grpSpLocks/>
              </p:cNvGrpSpPr>
              <p:nvPr/>
            </p:nvGrpSpPr>
            <p:grpSpPr bwMode="auto">
              <a:xfrm>
                <a:off x="633" y="806"/>
                <a:ext cx="1022" cy="403"/>
                <a:chOff x="633" y="806"/>
                <a:chExt cx="1022" cy="403"/>
              </a:xfrm>
            </p:grpSpPr>
            <p:sp>
              <p:nvSpPr>
                <p:cNvPr id="24685" name="Rectangle 7"/>
                <p:cNvSpPr>
                  <a:spLocks noChangeArrowheads="1"/>
                </p:cNvSpPr>
                <p:nvPr/>
              </p:nvSpPr>
              <p:spPr bwMode="auto">
                <a:xfrm>
                  <a:off x="676" y="806"/>
                  <a:ext cx="936" cy="403"/>
                </a:xfrm>
                <a:prstGeom prst="rect">
                  <a:avLst/>
                </a:prstGeom>
                <a:noFill/>
                <a:ln w="9525">
                  <a:noFill/>
                  <a:miter lim="800000"/>
                  <a:headEnd/>
                  <a:tailEnd/>
                </a:ln>
              </p:spPr>
              <p:txBody>
                <a:bodyPr/>
                <a:lstStyle/>
                <a:p>
                  <a:r>
                    <a:rPr lang="en-US" sz="1800">
                      <a:latin typeface="Arial" pitchFamily="34" charset="0"/>
                      <a:cs typeface="Arial" pitchFamily="34" charset="0"/>
                    </a:rPr>
                    <a:t>Left parenthesis</a:t>
                  </a:r>
                </a:p>
                <a:p>
                  <a:endParaRPr lang="en-US" sz="1800">
                    <a:latin typeface="Arial" pitchFamily="34" charset="0"/>
                    <a:cs typeface="Arial" pitchFamily="34" charset="0"/>
                  </a:endParaRPr>
                </a:p>
              </p:txBody>
            </p:sp>
            <p:sp>
              <p:nvSpPr>
                <p:cNvPr id="24686" name="Rectangle 24"/>
                <p:cNvSpPr>
                  <a:spLocks noChangeArrowheads="1"/>
                </p:cNvSpPr>
                <p:nvPr/>
              </p:nvSpPr>
              <p:spPr bwMode="auto">
                <a:xfrm>
                  <a:off x="633" y="806"/>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8" name="Group 27"/>
              <p:cNvGrpSpPr>
                <a:grpSpLocks/>
              </p:cNvGrpSpPr>
              <p:nvPr/>
            </p:nvGrpSpPr>
            <p:grpSpPr bwMode="auto">
              <a:xfrm>
                <a:off x="0" y="1209"/>
                <a:ext cx="633" cy="403"/>
                <a:chOff x="0" y="1209"/>
                <a:chExt cx="633" cy="403"/>
              </a:xfrm>
            </p:grpSpPr>
            <p:sp>
              <p:nvSpPr>
                <p:cNvPr id="24683" name="Rectangle 8"/>
                <p:cNvSpPr>
                  <a:spLocks noChangeArrowheads="1"/>
                </p:cNvSpPr>
                <p:nvPr/>
              </p:nvSpPr>
              <p:spPr bwMode="auto">
                <a:xfrm>
                  <a:off x="43" y="1209"/>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84" name="Rectangle 26"/>
                <p:cNvSpPr>
                  <a:spLocks noChangeArrowheads="1"/>
                </p:cNvSpPr>
                <p:nvPr/>
              </p:nvSpPr>
              <p:spPr bwMode="auto">
                <a:xfrm>
                  <a:off x="0" y="1209"/>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9" name="Group 29"/>
              <p:cNvGrpSpPr>
                <a:grpSpLocks/>
              </p:cNvGrpSpPr>
              <p:nvPr/>
            </p:nvGrpSpPr>
            <p:grpSpPr bwMode="auto">
              <a:xfrm>
                <a:off x="633" y="1209"/>
                <a:ext cx="1022" cy="403"/>
                <a:chOff x="633" y="1209"/>
                <a:chExt cx="1022" cy="403"/>
              </a:xfrm>
            </p:grpSpPr>
            <p:sp>
              <p:nvSpPr>
                <p:cNvPr id="24681" name="Rectangle 9"/>
                <p:cNvSpPr>
                  <a:spLocks noChangeArrowheads="1"/>
                </p:cNvSpPr>
                <p:nvPr/>
              </p:nvSpPr>
              <p:spPr bwMode="auto">
                <a:xfrm>
                  <a:off x="676" y="1209"/>
                  <a:ext cx="936" cy="403"/>
                </a:xfrm>
                <a:prstGeom prst="rect">
                  <a:avLst/>
                </a:prstGeom>
                <a:noFill/>
                <a:ln w="9525">
                  <a:noFill/>
                  <a:miter lim="800000"/>
                  <a:headEnd/>
                  <a:tailEnd/>
                </a:ln>
              </p:spPr>
              <p:txBody>
                <a:bodyPr/>
                <a:lstStyle/>
                <a:p>
                  <a:r>
                    <a:rPr lang="en-US" sz="1800">
                      <a:latin typeface="Arial" pitchFamily="34" charset="0"/>
                      <a:cs typeface="Arial" pitchFamily="34" charset="0"/>
                    </a:rPr>
                    <a:t>Right parenthesis</a:t>
                  </a:r>
                </a:p>
                <a:p>
                  <a:endParaRPr lang="en-US" sz="1800">
                    <a:latin typeface="Arial" pitchFamily="34" charset="0"/>
                    <a:cs typeface="Arial" pitchFamily="34" charset="0"/>
                  </a:endParaRPr>
                </a:p>
              </p:txBody>
            </p:sp>
            <p:sp>
              <p:nvSpPr>
                <p:cNvPr id="24682" name="Rectangle 28"/>
                <p:cNvSpPr>
                  <a:spLocks noChangeArrowheads="1"/>
                </p:cNvSpPr>
                <p:nvPr/>
              </p:nvSpPr>
              <p:spPr bwMode="auto">
                <a:xfrm>
                  <a:off x="633" y="1209"/>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0" name="Group 31"/>
              <p:cNvGrpSpPr>
                <a:grpSpLocks/>
              </p:cNvGrpSpPr>
              <p:nvPr/>
            </p:nvGrpSpPr>
            <p:grpSpPr bwMode="auto">
              <a:xfrm>
                <a:off x="0" y="1612"/>
                <a:ext cx="633" cy="403"/>
                <a:chOff x="0" y="1612"/>
                <a:chExt cx="633" cy="403"/>
              </a:xfrm>
            </p:grpSpPr>
            <p:sp>
              <p:nvSpPr>
                <p:cNvPr id="24679" name="Rectangle 10"/>
                <p:cNvSpPr>
                  <a:spLocks noChangeArrowheads="1"/>
                </p:cNvSpPr>
                <p:nvPr/>
              </p:nvSpPr>
              <p:spPr bwMode="auto">
                <a:xfrm>
                  <a:off x="43" y="1612"/>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80" name="Rectangle 30"/>
                <p:cNvSpPr>
                  <a:spLocks noChangeArrowheads="1"/>
                </p:cNvSpPr>
                <p:nvPr/>
              </p:nvSpPr>
              <p:spPr bwMode="auto">
                <a:xfrm>
                  <a:off x="0" y="1612"/>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1" name="Group 33"/>
              <p:cNvGrpSpPr>
                <a:grpSpLocks/>
              </p:cNvGrpSpPr>
              <p:nvPr/>
            </p:nvGrpSpPr>
            <p:grpSpPr bwMode="auto">
              <a:xfrm>
                <a:off x="633" y="1612"/>
                <a:ext cx="1022" cy="403"/>
                <a:chOff x="633" y="1612"/>
                <a:chExt cx="1022" cy="403"/>
              </a:xfrm>
            </p:grpSpPr>
            <p:sp>
              <p:nvSpPr>
                <p:cNvPr id="24677" name="Rectangle 11"/>
                <p:cNvSpPr>
                  <a:spLocks noChangeArrowheads="1"/>
                </p:cNvSpPr>
                <p:nvPr/>
              </p:nvSpPr>
              <p:spPr bwMode="auto">
                <a:xfrm>
                  <a:off x="676" y="1612"/>
                  <a:ext cx="936" cy="403"/>
                </a:xfrm>
                <a:prstGeom prst="rect">
                  <a:avLst/>
                </a:prstGeom>
                <a:noFill/>
                <a:ln w="9525">
                  <a:noFill/>
                  <a:miter lim="800000"/>
                  <a:headEnd/>
                  <a:tailEnd/>
                </a:ln>
              </p:spPr>
              <p:txBody>
                <a:bodyPr/>
                <a:lstStyle/>
                <a:p>
                  <a:r>
                    <a:rPr lang="en-US" sz="1800">
                      <a:latin typeface="Arial" pitchFamily="34" charset="0"/>
                      <a:cs typeface="Arial" pitchFamily="34" charset="0"/>
                    </a:rPr>
                    <a:t>Multiplication</a:t>
                  </a:r>
                </a:p>
                <a:p>
                  <a:endParaRPr lang="en-US" sz="1800">
                    <a:latin typeface="Arial" pitchFamily="34" charset="0"/>
                    <a:cs typeface="Arial" pitchFamily="34" charset="0"/>
                  </a:endParaRPr>
                </a:p>
              </p:txBody>
            </p:sp>
            <p:sp>
              <p:nvSpPr>
                <p:cNvPr id="24678" name="Rectangle 32"/>
                <p:cNvSpPr>
                  <a:spLocks noChangeArrowheads="1"/>
                </p:cNvSpPr>
                <p:nvPr/>
              </p:nvSpPr>
              <p:spPr bwMode="auto">
                <a:xfrm>
                  <a:off x="633" y="1612"/>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2" name="Group 35"/>
              <p:cNvGrpSpPr>
                <a:grpSpLocks/>
              </p:cNvGrpSpPr>
              <p:nvPr/>
            </p:nvGrpSpPr>
            <p:grpSpPr bwMode="auto">
              <a:xfrm>
                <a:off x="0" y="2015"/>
                <a:ext cx="633" cy="403"/>
                <a:chOff x="0" y="2015"/>
                <a:chExt cx="633" cy="403"/>
              </a:xfrm>
            </p:grpSpPr>
            <p:sp>
              <p:nvSpPr>
                <p:cNvPr id="24675" name="Rectangle 12"/>
                <p:cNvSpPr>
                  <a:spLocks noChangeArrowheads="1"/>
                </p:cNvSpPr>
                <p:nvPr/>
              </p:nvSpPr>
              <p:spPr bwMode="auto">
                <a:xfrm>
                  <a:off x="43" y="2015"/>
                  <a:ext cx="547" cy="403"/>
                </a:xfrm>
                <a:prstGeom prst="rect">
                  <a:avLst/>
                </a:prstGeom>
                <a:noFill/>
                <a:ln w="9525">
                  <a:noFill/>
                  <a:miter lim="800000"/>
                  <a:headEnd/>
                  <a:tailEnd/>
                </a:ln>
              </p:spPr>
              <p:txBody>
                <a:bodyPr/>
                <a:lstStyle/>
                <a:p>
                  <a:r>
                    <a:rPr lang="en-US" sz="1800" dirty="0">
                      <a:latin typeface="Arial" pitchFamily="34" charset="0"/>
                      <a:cs typeface="Arial" pitchFamily="34" charset="0"/>
                    </a:rPr>
                    <a:t>**</a:t>
                  </a:r>
                </a:p>
                <a:p>
                  <a:endParaRPr lang="en-US" sz="1800" dirty="0">
                    <a:latin typeface="Arial" pitchFamily="34" charset="0"/>
                    <a:cs typeface="Arial" pitchFamily="34" charset="0"/>
                  </a:endParaRPr>
                </a:p>
              </p:txBody>
            </p:sp>
            <p:sp>
              <p:nvSpPr>
                <p:cNvPr id="24676" name="Rectangle 34"/>
                <p:cNvSpPr>
                  <a:spLocks noChangeArrowheads="1"/>
                </p:cNvSpPr>
                <p:nvPr/>
              </p:nvSpPr>
              <p:spPr bwMode="auto">
                <a:xfrm>
                  <a:off x="0" y="2015"/>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3" name="Group 37"/>
              <p:cNvGrpSpPr>
                <a:grpSpLocks/>
              </p:cNvGrpSpPr>
              <p:nvPr/>
            </p:nvGrpSpPr>
            <p:grpSpPr bwMode="auto">
              <a:xfrm>
                <a:off x="633" y="2015"/>
                <a:ext cx="1022" cy="403"/>
                <a:chOff x="633" y="2015"/>
                <a:chExt cx="1022" cy="403"/>
              </a:xfrm>
            </p:grpSpPr>
            <p:sp>
              <p:nvSpPr>
                <p:cNvPr id="24673" name="Rectangle 13"/>
                <p:cNvSpPr>
                  <a:spLocks noChangeArrowheads="1"/>
                </p:cNvSpPr>
                <p:nvPr/>
              </p:nvSpPr>
              <p:spPr bwMode="auto">
                <a:xfrm>
                  <a:off x="676" y="2015"/>
                  <a:ext cx="936" cy="403"/>
                </a:xfrm>
                <a:prstGeom prst="rect">
                  <a:avLst/>
                </a:prstGeom>
                <a:noFill/>
                <a:ln w="9525">
                  <a:noFill/>
                  <a:miter lim="800000"/>
                  <a:headEnd/>
                  <a:tailEnd/>
                </a:ln>
              </p:spPr>
              <p:txBody>
                <a:bodyPr/>
                <a:lstStyle/>
                <a:p>
                  <a:r>
                    <a:rPr lang="en-US" sz="1800" dirty="0">
                      <a:latin typeface="Arial" pitchFamily="34" charset="0"/>
                      <a:cs typeface="Arial" pitchFamily="34" charset="0"/>
                    </a:rPr>
                    <a:t>Exponent</a:t>
                  </a:r>
                </a:p>
                <a:p>
                  <a:endParaRPr lang="en-US" sz="1800" dirty="0">
                    <a:latin typeface="Arial" pitchFamily="34" charset="0"/>
                    <a:cs typeface="Arial" pitchFamily="34" charset="0"/>
                  </a:endParaRPr>
                </a:p>
              </p:txBody>
            </p:sp>
            <p:sp>
              <p:nvSpPr>
                <p:cNvPr id="24674" name="Rectangle 36"/>
                <p:cNvSpPr>
                  <a:spLocks noChangeArrowheads="1"/>
                </p:cNvSpPr>
                <p:nvPr/>
              </p:nvSpPr>
              <p:spPr bwMode="auto">
                <a:xfrm>
                  <a:off x="633" y="2015"/>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4" name="Group 39"/>
              <p:cNvGrpSpPr>
                <a:grpSpLocks/>
              </p:cNvGrpSpPr>
              <p:nvPr/>
            </p:nvGrpSpPr>
            <p:grpSpPr bwMode="auto">
              <a:xfrm>
                <a:off x="0" y="2418"/>
                <a:ext cx="633" cy="403"/>
                <a:chOff x="0" y="2418"/>
                <a:chExt cx="633" cy="403"/>
              </a:xfrm>
            </p:grpSpPr>
            <p:sp>
              <p:nvSpPr>
                <p:cNvPr id="24671" name="Rectangle 14"/>
                <p:cNvSpPr>
                  <a:spLocks noChangeArrowheads="1"/>
                </p:cNvSpPr>
                <p:nvPr/>
              </p:nvSpPr>
              <p:spPr bwMode="auto">
                <a:xfrm>
                  <a:off x="43" y="2418"/>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72" name="Rectangle 38"/>
                <p:cNvSpPr>
                  <a:spLocks noChangeArrowheads="1"/>
                </p:cNvSpPr>
                <p:nvPr/>
              </p:nvSpPr>
              <p:spPr bwMode="auto">
                <a:xfrm>
                  <a:off x="0" y="2418"/>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5" name="Group 41"/>
              <p:cNvGrpSpPr>
                <a:grpSpLocks/>
              </p:cNvGrpSpPr>
              <p:nvPr/>
            </p:nvGrpSpPr>
            <p:grpSpPr bwMode="auto">
              <a:xfrm>
                <a:off x="633" y="2418"/>
                <a:ext cx="1022" cy="403"/>
                <a:chOff x="633" y="2418"/>
                <a:chExt cx="1022" cy="403"/>
              </a:xfrm>
            </p:grpSpPr>
            <p:sp>
              <p:nvSpPr>
                <p:cNvPr id="24669" name="Rectangle 15"/>
                <p:cNvSpPr>
                  <a:spLocks noChangeArrowheads="1"/>
                </p:cNvSpPr>
                <p:nvPr/>
              </p:nvSpPr>
              <p:spPr bwMode="auto">
                <a:xfrm>
                  <a:off x="676" y="2418"/>
                  <a:ext cx="936" cy="403"/>
                </a:xfrm>
                <a:prstGeom prst="rect">
                  <a:avLst/>
                </a:prstGeom>
                <a:noFill/>
                <a:ln w="9525">
                  <a:noFill/>
                  <a:miter lim="800000"/>
                  <a:headEnd/>
                  <a:tailEnd/>
                </a:ln>
              </p:spPr>
              <p:txBody>
                <a:bodyPr/>
                <a:lstStyle/>
                <a:p>
                  <a:r>
                    <a:rPr lang="en-US" sz="1800">
                      <a:latin typeface="Arial" pitchFamily="34" charset="0"/>
                      <a:cs typeface="Arial" pitchFamily="34" charset="0"/>
                    </a:rPr>
                    <a:t>Division</a:t>
                  </a:r>
                </a:p>
                <a:p>
                  <a:endParaRPr lang="en-US" sz="1800">
                    <a:latin typeface="Arial" pitchFamily="34" charset="0"/>
                    <a:cs typeface="Arial" pitchFamily="34" charset="0"/>
                  </a:endParaRPr>
                </a:p>
              </p:txBody>
            </p:sp>
            <p:sp>
              <p:nvSpPr>
                <p:cNvPr id="24670" name="Rectangle 40"/>
                <p:cNvSpPr>
                  <a:spLocks noChangeArrowheads="1"/>
                </p:cNvSpPr>
                <p:nvPr/>
              </p:nvSpPr>
              <p:spPr bwMode="auto">
                <a:xfrm>
                  <a:off x="633" y="2418"/>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6" name="Group 43"/>
              <p:cNvGrpSpPr>
                <a:grpSpLocks/>
              </p:cNvGrpSpPr>
              <p:nvPr/>
            </p:nvGrpSpPr>
            <p:grpSpPr bwMode="auto">
              <a:xfrm>
                <a:off x="0" y="2821"/>
                <a:ext cx="633" cy="403"/>
                <a:chOff x="0" y="2821"/>
                <a:chExt cx="633" cy="403"/>
              </a:xfrm>
            </p:grpSpPr>
            <p:sp>
              <p:nvSpPr>
                <p:cNvPr id="24667" name="Rectangle 16"/>
                <p:cNvSpPr>
                  <a:spLocks noChangeArrowheads="1"/>
                </p:cNvSpPr>
                <p:nvPr/>
              </p:nvSpPr>
              <p:spPr bwMode="auto">
                <a:xfrm>
                  <a:off x="43" y="2821"/>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68" name="Rectangle 42"/>
                <p:cNvSpPr>
                  <a:spLocks noChangeArrowheads="1"/>
                </p:cNvSpPr>
                <p:nvPr/>
              </p:nvSpPr>
              <p:spPr bwMode="auto">
                <a:xfrm>
                  <a:off x="0" y="2821"/>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7" name="Group 45"/>
              <p:cNvGrpSpPr>
                <a:grpSpLocks/>
              </p:cNvGrpSpPr>
              <p:nvPr/>
            </p:nvGrpSpPr>
            <p:grpSpPr bwMode="auto">
              <a:xfrm>
                <a:off x="633" y="2821"/>
                <a:ext cx="1022" cy="403"/>
                <a:chOff x="633" y="2821"/>
                <a:chExt cx="1022" cy="403"/>
              </a:xfrm>
            </p:grpSpPr>
            <p:sp>
              <p:nvSpPr>
                <p:cNvPr id="24665" name="Rectangle 17"/>
                <p:cNvSpPr>
                  <a:spLocks noChangeArrowheads="1"/>
                </p:cNvSpPr>
                <p:nvPr/>
              </p:nvSpPr>
              <p:spPr bwMode="auto">
                <a:xfrm>
                  <a:off x="676" y="2821"/>
                  <a:ext cx="936" cy="403"/>
                </a:xfrm>
                <a:prstGeom prst="rect">
                  <a:avLst/>
                </a:prstGeom>
                <a:noFill/>
                <a:ln w="9525">
                  <a:noFill/>
                  <a:miter lim="800000"/>
                  <a:headEnd/>
                  <a:tailEnd/>
                </a:ln>
              </p:spPr>
              <p:txBody>
                <a:bodyPr/>
                <a:lstStyle/>
                <a:p>
                  <a:r>
                    <a:rPr lang="en-US" sz="1800">
                      <a:latin typeface="Arial" pitchFamily="34" charset="0"/>
                      <a:cs typeface="Arial" pitchFamily="34" charset="0"/>
                    </a:rPr>
                    <a:t>Addition</a:t>
                  </a:r>
                </a:p>
                <a:p>
                  <a:endParaRPr lang="en-US" sz="1800">
                    <a:latin typeface="Arial" pitchFamily="34" charset="0"/>
                    <a:cs typeface="Arial" pitchFamily="34" charset="0"/>
                  </a:endParaRPr>
                </a:p>
              </p:txBody>
            </p:sp>
            <p:sp>
              <p:nvSpPr>
                <p:cNvPr id="24666" name="Rectangle 44"/>
                <p:cNvSpPr>
                  <a:spLocks noChangeArrowheads="1"/>
                </p:cNvSpPr>
                <p:nvPr/>
              </p:nvSpPr>
              <p:spPr bwMode="auto">
                <a:xfrm>
                  <a:off x="633" y="2821"/>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sp>
          <p:nvSpPr>
            <p:cNvPr id="24650" name="Rectangle 47"/>
            <p:cNvSpPr>
              <a:spLocks noChangeArrowheads="1"/>
            </p:cNvSpPr>
            <p:nvPr/>
          </p:nvSpPr>
          <p:spPr bwMode="auto">
            <a:xfrm>
              <a:off x="-3" y="400"/>
              <a:ext cx="1661" cy="2827"/>
            </a:xfrm>
            <a:prstGeom prst="rect">
              <a:avLst/>
            </a:prstGeom>
            <a:noFill/>
            <a:ln w="9525">
              <a:solidFill>
                <a:srgbClr val="A0A0A0"/>
              </a:solidFill>
              <a:miter lim="800000"/>
              <a:headEnd/>
              <a:tailEnd/>
            </a:ln>
          </p:spPr>
          <p:txBody>
            <a:bodyPr/>
            <a:lstStyle/>
            <a:p>
              <a:endParaRPr lang="en-US" sz="1800">
                <a:latin typeface="Arial" pitchFamily="34" charset="0"/>
                <a:cs typeface="Arial" pitchFamily="34" charset="0"/>
              </a:endParaRPr>
            </a:p>
          </p:txBody>
        </p:sp>
      </p:grpSp>
      <p:sp>
        <p:nvSpPr>
          <p:cNvPr id="24581" name="Rectangle 49"/>
          <p:cNvSpPr>
            <a:spLocks noChangeArrowheads="1"/>
          </p:cNvSpPr>
          <p:nvPr/>
        </p:nvSpPr>
        <p:spPr bwMode="auto">
          <a:xfrm>
            <a:off x="4876802" y="1201615"/>
            <a:ext cx="3581400" cy="366713"/>
          </a:xfrm>
          <a:prstGeom prst="rect">
            <a:avLst/>
          </a:prstGeom>
          <a:noFill/>
          <a:ln w="9525">
            <a:noFill/>
            <a:miter lim="800000"/>
            <a:headEnd/>
            <a:tailEnd/>
          </a:ln>
        </p:spPr>
        <p:txBody>
          <a:bodyPr>
            <a:spAutoFit/>
          </a:bodyPr>
          <a:lstStyle/>
          <a:p>
            <a:r>
              <a:rPr lang="en-US" sz="1800" b="1" dirty="0">
                <a:latin typeface="Tahoma" pitchFamily="34" charset="0"/>
                <a:cs typeface="Times New Roman" pitchFamily="18" charset="0"/>
              </a:rPr>
              <a:t>Mathematical Functions</a:t>
            </a:r>
            <a:endParaRPr lang="en-US" sz="1800" b="1" dirty="0">
              <a:latin typeface="Tahoma" pitchFamily="34" charset="0"/>
            </a:endParaRPr>
          </a:p>
        </p:txBody>
      </p:sp>
      <p:grpSp>
        <p:nvGrpSpPr>
          <p:cNvPr id="18" name="Group 88"/>
          <p:cNvGrpSpPr>
            <a:grpSpLocks/>
          </p:cNvGrpSpPr>
          <p:nvPr/>
        </p:nvGrpSpPr>
        <p:grpSpPr bwMode="auto">
          <a:xfrm>
            <a:off x="4847493" y="1652955"/>
            <a:ext cx="3810000" cy="1981200"/>
            <a:chOff x="-3" y="400"/>
            <a:chExt cx="1661" cy="2424"/>
          </a:xfrm>
        </p:grpSpPr>
        <p:grpSp>
          <p:nvGrpSpPr>
            <p:cNvPr id="19" name="Group 86"/>
            <p:cNvGrpSpPr>
              <a:grpSpLocks/>
            </p:cNvGrpSpPr>
            <p:nvPr/>
          </p:nvGrpSpPr>
          <p:grpSpPr bwMode="auto">
            <a:xfrm>
              <a:off x="0" y="403"/>
              <a:ext cx="1655" cy="2418"/>
              <a:chOff x="0" y="403"/>
              <a:chExt cx="1655" cy="2418"/>
            </a:xfrm>
          </p:grpSpPr>
          <p:grpSp>
            <p:nvGrpSpPr>
              <p:cNvPr id="20" name="Group 63"/>
              <p:cNvGrpSpPr>
                <a:grpSpLocks/>
              </p:cNvGrpSpPr>
              <p:nvPr/>
            </p:nvGrpSpPr>
            <p:grpSpPr bwMode="auto">
              <a:xfrm>
                <a:off x="0" y="403"/>
                <a:ext cx="633" cy="403"/>
                <a:chOff x="0" y="403"/>
                <a:chExt cx="633" cy="403"/>
              </a:xfrm>
            </p:grpSpPr>
            <p:sp>
              <p:nvSpPr>
                <p:cNvPr id="24647" name="Rectangle 50"/>
                <p:cNvSpPr>
                  <a:spLocks noChangeArrowheads="1"/>
                </p:cNvSpPr>
                <p:nvPr/>
              </p:nvSpPr>
              <p:spPr bwMode="auto">
                <a:xfrm>
                  <a:off x="43" y="403"/>
                  <a:ext cx="547" cy="403"/>
                </a:xfrm>
                <a:prstGeom prst="rect">
                  <a:avLst/>
                </a:prstGeom>
                <a:noFill/>
                <a:ln w="9525">
                  <a:noFill/>
                  <a:miter lim="800000"/>
                  <a:headEnd/>
                  <a:tailEnd/>
                </a:ln>
              </p:spPr>
              <p:txBody>
                <a:bodyPr/>
                <a:lstStyle/>
                <a:p>
                  <a:r>
                    <a:rPr lang="en-US" sz="1800">
                      <a:latin typeface="Arial" pitchFamily="34" charset="0"/>
                      <a:cs typeface="Arial" pitchFamily="34" charset="0"/>
                    </a:rPr>
                    <a:t>ABS</a:t>
                  </a:r>
                </a:p>
                <a:p>
                  <a:endParaRPr lang="en-US" sz="1800">
                    <a:latin typeface="Arial" pitchFamily="34" charset="0"/>
                    <a:cs typeface="Arial" pitchFamily="34" charset="0"/>
                  </a:endParaRPr>
                </a:p>
              </p:txBody>
            </p:sp>
            <p:sp>
              <p:nvSpPr>
                <p:cNvPr id="24648" name="Rectangle 62"/>
                <p:cNvSpPr>
                  <a:spLocks noChangeArrowheads="1"/>
                </p:cNvSpPr>
                <p:nvPr/>
              </p:nvSpPr>
              <p:spPr bwMode="auto">
                <a:xfrm>
                  <a:off x="0" y="403"/>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1" name="Group 65"/>
              <p:cNvGrpSpPr>
                <a:grpSpLocks/>
              </p:cNvGrpSpPr>
              <p:nvPr/>
            </p:nvGrpSpPr>
            <p:grpSpPr bwMode="auto">
              <a:xfrm>
                <a:off x="633" y="403"/>
                <a:ext cx="1022" cy="403"/>
                <a:chOff x="633" y="403"/>
                <a:chExt cx="1022" cy="403"/>
              </a:xfrm>
            </p:grpSpPr>
            <p:sp>
              <p:nvSpPr>
                <p:cNvPr id="24645" name="Rectangle 51"/>
                <p:cNvSpPr>
                  <a:spLocks noChangeArrowheads="1"/>
                </p:cNvSpPr>
                <p:nvPr/>
              </p:nvSpPr>
              <p:spPr bwMode="auto">
                <a:xfrm>
                  <a:off x="676" y="403"/>
                  <a:ext cx="936" cy="403"/>
                </a:xfrm>
                <a:prstGeom prst="rect">
                  <a:avLst/>
                </a:prstGeom>
                <a:noFill/>
                <a:ln w="9525">
                  <a:noFill/>
                  <a:miter lim="800000"/>
                  <a:headEnd/>
                  <a:tailEnd/>
                </a:ln>
              </p:spPr>
              <p:txBody>
                <a:bodyPr/>
                <a:lstStyle/>
                <a:p>
                  <a:r>
                    <a:rPr lang="en-US" sz="1800">
                      <a:latin typeface="Arial" pitchFamily="34" charset="0"/>
                      <a:cs typeface="Arial" pitchFamily="34" charset="0"/>
                    </a:rPr>
                    <a:t>Absolute value</a:t>
                  </a:r>
                </a:p>
                <a:p>
                  <a:endParaRPr lang="en-US" sz="1800">
                    <a:latin typeface="Arial" pitchFamily="34" charset="0"/>
                    <a:cs typeface="Arial" pitchFamily="34" charset="0"/>
                  </a:endParaRPr>
                </a:p>
              </p:txBody>
            </p:sp>
            <p:sp>
              <p:nvSpPr>
                <p:cNvPr id="24646" name="Rectangle 64"/>
                <p:cNvSpPr>
                  <a:spLocks noChangeArrowheads="1"/>
                </p:cNvSpPr>
                <p:nvPr/>
              </p:nvSpPr>
              <p:spPr bwMode="auto">
                <a:xfrm>
                  <a:off x="633" y="403"/>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2" name="Group 67"/>
              <p:cNvGrpSpPr>
                <a:grpSpLocks/>
              </p:cNvGrpSpPr>
              <p:nvPr/>
            </p:nvGrpSpPr>
            <p:grpSpPr bwMode="auto">
              <a:xfrm>
                <a:off x="0" y="806"/>
                <a:ext cx="633" cy="403"/>
                <a:chOff x="0" y="806"/>
                <a:chExt cx="633" cy="403"/>
              </a:xfrm>
            </p:grpSpPr>
            <p:sp>
              <p:nvSpPr>
                <p:cNvPr id="24643" name="Rectangle 52"/>
                <p:cNvSpPr>
                  <a:spLocks noChangeArrowheads="1"/>
                </p:cNvSpPr>
                <p:nvPr/>
              </p:nvSpPr>
              <p:spPr bwMode="auto">
                <a:xfrm>
                  <a:off x="43" y="806"/>
                  <a:ext cx="547" cy="403"/>
                </a:xfrm>
                <a:prstGeom prst="rect">
                  <a:avLst/>
                </a:prstGeom>
                <a:noFill/>
                <a:ln w="9525">
                  <a:noFill/>
                  <a:miter lim="800000"/>
                  <a:headEnd/>
                  <a:tailEnd/>
                </a:ln>
              </p:spPr>
              <p:txBody>
                <a:bodyPr/>
                <a:lstStyle/>
                <a:p>
                  <a:r>
                    <a:rPr lang="en-US" sz="1800">
                      <a:latin typeface="Arial" pitchFamily="34" charset="0"/>
                      <a:cs typeface="Arial" pitchFamily="34" charset="0"/>
                    </a:rPr>
                    <a:t>COS</a:t>
                  </a:r>
                </a:p>
                <a:p>
                  <a:endParaRPr lang="en-US" sz="1800">
                    <a:latin typeface="Arial" pitchFamily="34" charset="0"/>
                    <a:cs typeface="Arial" pitchFamily="34" charset="0"/>
                  </a:endParaRPr>
                </a:p>
              </p:txBody>
            </p:sp>
            <p:sp>
              <p:nvSpPr>
                <p:cNvPr id="24644" name="Rectangle 66"/>
                <p:cNvSpPr>
                  <a:spLocks noChangeArrowheads="1"/>
                </p:cNvSpPr>
                <p:nvPr/>
              </p:nvSpPr>
              <p:spPr bwMode="auto">
                <a:xfrm>
                  <a:off x="0" y="806"/>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3" name="Group 69"/>
              <p:cNvGrpSpPr>
                <a:grpSpLocks/>
              </p:cNvGrpSpPr>
              <p:nvPr/>
            </p:nvGrpSpPr>
            <p:grpSpPr bwMode="auto">
              <a:xfrm>
                <a:off x="633" y="806"/>
                <a:ext cx="1022" cy="403"/>
                <a:chOff x="633" y="806"/>
                <a:chExt cx="1022" cy="403"/>
              </a:xfrm>
            </p:grpSpPr>
            <p:sp>
              <p:nvSpPr>
                <p:cNvPr id="24641" name="Rectangle 53"/>
                <p:cNvSpPr>
                  <a:spLocks noChangeArrowheads="1"/>
                </p:cNvSpPr>
                <p:nvPr/>
              </p:nvSpPr>
              <p:spPr bwMode="auto">
                <a:xfrm>
                  <a:off x="676" y="806"/>
                  <a:ext cx="936" cy="403"/>
                </a:xfrm>
                <a:prstGeom prst="rect">
                  <a:avLst/>
                </a:prstGeom>
                <a:noFill/>
                <a:ln w="9525">
                  <a:noFill/>
                  <a:miter lim="800000"/>
                  <a:headEnd/>
                  <a:tailEnd/>
                </a:ln>
              </p:spPr>
              <p:txBody>
                <a:bodyPr/>
                <a:lstStyle/>
                <a:p>
                  <a:r>
                    <a:rPr lang="en-US" sz="1800">
                      <a:latin typeface="Arial" pitchFamily="34" charset="0"/>
                      <a:cs typeface="Arial" pitchFamily="34" charset="0"/>
                    </a:rPr>
                    <a:t>Cosine</a:t>
                  </a:r>
                </a:p>
                <a:p>
                  <a:endParaRPr lang="en-US" sz="1800">
                    <a:latin typeface="Arial" pitchFamily="34" charset="0"/>
                    <a:cs typeface="Arial" pitchFamily="34" charset="0"/>
                  </a:endParaRPr>
                </a:p>
              </p:txBody>
            </p:sp>
            <p:sp>
              <p:nvSpPr>
                <p:cNvPr id="24642" name="Rectangle 68"/>
                <p:cNvSpPr>
                  <a:spLocks noChangeArrowheads="1"/>
                </p:cNvSpPr>
                <p:nvPr/>
              </p:nvSpPr>
              <p:spPr bwMode="auto">
                <a:xfrm>
                  <a:off x="633" y="806"/>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 name="Group 71"/>
              <p:cNvGrpSpPr>
                <a:grpSpLocks/>
              </p:cNvGrpSpPr>
              <p:nvPr/>
            </p:nvGrpSpPr>
            <p:grpSpPr bwMode="auto">
              <a:xfrm>
                <a:off x="0" y="1209"/>
                <a:ext cx="633" cy="403"/>
                <a:chOff x="0" y="1209"/>
                <a:chExt cx="633" cy="403"/>
              </a:xfrm>
            </p:grpSpPr>
            <p:sp>
              <p:nvSpPr>
                <p:cNvPr id="24639" name="Rectangle 54"/>
                <p:cNvSpPr>
                  <a:spLocks noChangeArrowheads="1"/>
                </p:cNvSpPr>
                <p:nvPr/>
              </p:nvSpPr>
              <p:spPr bwMode="auto">
                <a:xfrm>
                  <a:off x="43" y="1209"/>
                  <a:ext cx="547" cy="403"/>
                </a:xfrm>
                <a:prstGeom prst="rect">
                  <a:avLst/>
                </a:prstGeom>
                <a:noFill/>
                <a:ln w="9525">
                  <a:noFill/>
                  <a:miter lim="800000"/>
                  <a:headEnd/>
                  <a:tailEnd/>
                </a:ln>
              </p:spPr>
              <p:txBody>
                <a:bodyPr/>
                <a:lstStyle/>
                <a:p>
                  <a:r>
                    <a:rPr lang="en-US" sz="1800">
                      <a:latin typeface="Arial" pitchFamily="34" charset="0"/>
                      <a:cs typeface="Arial" pitchFamily="34" charset="0"/>
                    </a:rPr>
                    <a:t>LN</a:t>
                  </a:r>
                </a:p>
                <a:p>
                  <a:endParaRPr lang="en-US" sz="1800">
                    <a:latin typeface="Arial" pitchFamily="34" charset="0"/>
                    <a:cs typeface="Arial" pitchFamily="34" charset="0"/>
                  </a:endParaRPr>
                </a:p>
              </p:txBody>
            </p:sp>
            <p:sp>
              <p:nvSpPr>
                <p:cNvPr id="24640" name="Rectangle 70"/>
                <p:cNvSpPr>
                  <a:spLocks noChangeArrowheads="1"/>
                </p:cNvSpPr>
                <p:nvPr/>
              </p:nvSpPr>
              <p:spPr bwMode="auto">
                <a:xfrm>
                  <a:off x="0" y="1209"/>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5" name="Group 73"/>
              <p:cNvGrpSpPr>
                <a:grpSpLocks/>
              </p:cNvGrpSpPr>
              <p:nvPr/>
            </p:nvGrpSpPr>
            <p:grpSpPr bwMode="auto">
              <a:xfrm>
                <a:off x="633" y="1209"/>
                <a:ext cx="1022" cy="403"/>
                <a:chOff x="633" y="1209"/>
                <a:chExt cx="1022" cy="403"/>
              </a:xfrm>
            </p:grpSpPr>
            <p:sp>
              <p:nvSpPr>
                <p:cNvPr id="24637" name="Rectangle 55"/>
                <p:cNvSpPr>
                  <a:spLocks noChangeArrowheads="1"/>
                </p:cNvSpPr>
                <p:nvPr/>
              </p:nvSpPr>
              <p:spPr bwMode="auto">
                <a:xfrm>
                  <a:off x="676" y="1209"/>
                  <a:ext cx="936" cy="403"/>
                </a:xfrm>
                <a:prstGeom prst="rect">
                  <a:avLst/>
                </a:prstGeom>
                <a:noFill/>
                <a:ln w="9525">
                  <a:noFill/>
                  <a:miter lim="800000"/>
                  <a:headEnd/>
                  <a:tailEnd/>
                </a:ln>
              </p:spPr>
              <p:txBody>
                <a:bodyPr/>
                <a:lstStyle/>
                <a:p>
                  <a:r>
                    <a:rPr lang="en-US" sz="1800">
                      <a:latin typeface="Arial" pitchFamily="34" charset="0"/>
                      <a:cs typeface="Arial" pitchFamily="34" charset="0"/>
                    </a:rPr>
                    <a:t>Natural log</a:t>
                  </a:r>
                </a:p>
                <a:p>
                  <a:endParaRPr lang="en-US" sz="1800">
                    <a:latin typeface="Arial" pitchFamily="34" charset="0"/>
                    <a:cs typeface="Arial" pitchFamily="34" charset="0"/>
                  </a:endParaRPr>
                </a:p>
              </p:txBody>
            </p:sp>
            <p:sp>
              <p:nvSpPr>
                <p:cNvPr id="24638" name="Rectangle 72"/>
                <p:cNvSpPr>
                  <a:spLocks noChangeArrowheads="1"/>
                </p:cNvSpPr>
                <p:nvPr/>
              </p:nvSpPr>
              <p:spPr bwMode="auto">
                <a:xfrm>
                  <a:off x="633" y="1209"/>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6" name="Group 75"/>
              <p:cNvGrpSpPr>
                <a:grpSpLocks/>
              </p:cNvGrpSpPr>
              <p:nvPr/>
            </p:nvGrpSpPr>
            <p:grpSpPr bwMode="auto">
              <a:xfrm>
                <a:off x="0" y="1612"/>
                <a:ext cx="633" cy="403"/>
                <a:chOff x="0" y="1612"/>
                <a:chExt cx="633" cy="403"/>
              </a:xfrm>
            </p:grpSpPr>
            <p:sp>
              <p:nvSpPr>
                <p:cNvPr id="24635" name="Rectangle 56"/>
                <p:cNvSpPr>
                  <a:spLocks noChangeArrowheads="1"/>
                </p:cNvSpPr>
                <p:nvPr/>
              </p:nvSpPr>
              <p:spPr bwMode="auto">
                <a:xfrm>
                  <a:off x="43" y="1612"/>
                  <a:ext cx="547" cy="403"/>
                </a:xfrm>
                <a:prstGeom prst="rect">
                  <a:avLst/>
                </a:prstGeom>
                <a:noFill/>
                <a:ln w="9525">
                  <a:noFill/>
                  <a:miter lim="800000"/>
                  <a:headEnd/>
                  <a:tailEnd/>
                </a:ln>
              </p:spPr>
              <p:txBody>
                <a:bodyPr/>
                <a:lstStyle/>
                <a:p>
                  <a:r>
                    <a:rPr lang="en-US" sz="1800">
                      <a:latin typeface="Arial" pitchFamily="34" charset="0"/>
                      <a:cs typeface="Arial" pitchFamily="34" charset="0"/>
                    </a:rPr>
                    <a:t>LOG</a:t>
                  </a:r>
                </a:p>
                <a:p>
                  <a:endParaRPr lang="en-US" sz="1800">
                    <a:latin typeface="Arial" pitchFamily="34" charset="0"/>
                    <a:cs typeface="Arial" pitchFamily="34" charset="0"/>
                  </a:endParaRPr>
                </a:p>
              </p:txBody>
            </p:sp>
            <p:sp>
              <p:nvSpPr>
                <p:cNvPr id="24636" name="Rectangle 74"/>
                <p:cNvSpPr>
                  <a:spLocks noChangeArrowheads="1"/>
                </p:cNvSpPr>
                <p:nvPr/>
              </p:nvSpPr>
              <p:spPr bwMode="auto">
                <a:xfrm>
                  <a:off x="0" y="1612"/>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7" name="Group 77"/>
              <p:cNvGrpSpPr>
                <a:grpSpLocks/>
              </p:cNvGrpSpPr>
              <p:nvPr/>
            </p:nvGrpSpPr>
            <p:grpSpPr bwMode="auto">
              <a:xfrm>
                <a:off x="633" y="1612"/>
                <a:ext cx="1022" cy="403"/>
                <a:chOff x="633" y="1612"/>
                <a:chExt cx="1022" cy="403"/>
              </a:xfrm>
            </p:grpSpPr>
            <p:sp>
              <p:nvSpPr>
                <p:cNvPr id="24633" name="Rectangle 57"/>
                <p:cNvSpPr>
                  <a:spLocks noChangeArrowheads="1"/>
                </p:cNvSpPr>
                <p:nvPr/>
              </p:nvSpPr>
              <p:spPr bwMode="auto">
                <a:xfrm>
                  <a:off x="676" y="1612"/>
                  <a:ext cx="936" cy="403"/>
                </a:xfrm>
                <a:prstGeom prst="rect">
                  <a:avLst/>
                </a:prstGeom>
                <a:noFill/>
                <a:ln w="9525">
                  <a:noFill/>
                  <a:miter lim="800000"/>
                  <a:headEnd/>
                  <a:tailEnd/>
                </a:ln>
              </p:spPr>
              <p:txBody>
                <a:bodyPr/>
                <a:lstStyle/>
                <a:p>
                  <a:r>
                    <a:rPr lang="en-US" sz="1800">
                      <a:latin typeface="Arial" pitchFamily="34" charset="0"/>
                      <a:cs typeface="Arial" pitchFamily="34" charset="0"/>
                    </a:rPr>
                    <a:t>Regular  log</a:t>
                  </a:r>
                </a:p>
                <a:p>
                  <a:endParaRPr lang="en-US" sz="1800">
                    <a:latin typeface="Arial" pitchFamily="34" charset="0"/>
                    <a:cs typeface="Arial" pitchFamily="34" charset="0"/>
                  </a:endParaRPr>
                </a:p>
              </p:txBody>
            </p:sp>
            <p:sp>
              <p:nvSpPr>
                <p:cNvPr id="24634" name="Rectangle 76"/>
                <p:cNvSpPr>
                  <a:spLocks noChangeArrowheads="1"/>
                </p:cNvSpPr>
                <p:nvPr/>
              </p:nvSpPr>
              <p:spPr bwMode="auto">
                <a:xfrm>
                  <a:off x="633" y="1612"/>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8" name="Group 79"/>
              <p:cNvGrpSpPr>
                <a:grpSpLocks/>
              </p:cNvGrpSpPr>
              <p:nvPr/>
            </p:nvGrpSpPr>
            <p:grpSpPr bwMode="auto">
              <a:xfrm>
                <a:off x="0" y="2015"/>
                <a:ext cx="633" cy="403"/>
                <a:chOff x="0" y="2015"/>
                <a:chExt cx="633" cy="403"/>
              </a:xfrm>
            </p:grpSpPr>
            <p:sp>
              <p:nvSpPr>
                <p:cNvPr id="24631" name="Rectangle 58"/>
                <p:cNvSpPr>
                  <a:spLocks noChangeArrowheads="1"/>
                </p:cNvSpPr>
                <p:nvPr/>
              </p:nvSpPr>
              <p:spPr bwMode="auto">
                <a:xfrm>
                  <a:off x="43" y="2015"/>
                  <a:ext cx="547" cy="403"/>
                </a:xfrm>
                <a:prstGeom prst="rect">
                  <a:avLst/>
                </a:prstGeom>
                <a:noFill/>
                <a:ln w="9525">
                  <a:noFill/>
                  <a:miter lim="800000"/>
                  <a:headEnd/>
                  <a:tailEnd/>
                </a:ln>
              </p:spPr>
              <p:txBody>
                <a:bodyPr/>
                <a:lstStyle/>
                <a:p>
                  <a:r>
                    <a:rPr lang="en-US" sz="1800">
                      <a:latin typeface="Arial" pitchFamily="34" charset="0"/>
                      <a:cs typeface="Arial" pitchFamily="34" charset="0"/>
                    </a:rPr>
                    <a:t>SIN</a:t>
                  </a:r>
                </a:p>
                <a:p>
                  <a:endParaRPr lang="en-US" sz="1800">
                    <a:latin typeface="Arial" pitchFamily="34" charset="0"/>
                    <a:cs typeface="Arial" pitchFamily="34" charset="0"/>
                  </a:endParaRPr>
                </a:p>
              </p:txBody>
            </p:sp>
            <p:sp>
              <p:nvSpPr>
                <p:cNvPr id="24632" name="Rectangle 78"/>
                <p:cNvSpPr>
                  <a:spLocks noChangeArrowheads="1"/>
                </p:cNvSpPr>
                <p:nvPr/>
              </p:nvSpPr>
              <p:spPr bwMode="auto">
                <a:xfrm>
                  <a:off x="0" y="2015"/>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9" name="Group 81"/>
              <p:cNvGrpSpPr>
                <a:grpSpLocks/>
              </p:cNvGrpSpPr>
              <p:nvPr/>
            </p:nvGrpSpPr>
            <p:grpSpPr bwMode="auto">
              <a:xfrm>
                <a:off x="633" y="2015"/>
                <a:ext cx="1022" cy="403"/>
                <a:chOff x="633" y="2015"/>
                <a:chExt cx="1022" cy="403"/>
              </a:xfrm>
            </p:grpSpPr>
            <p:sp>
              <p:nvSpPr>
                <p:cNvPr id="24629" name="Rectangle 59"/>
                <p:cNvSpPr>
                  <a:spLocks noChangeArrowheads="1"/>
                </p:cNvSpPr>
                <p:nvPr/>
              </p:nvSpPr>
              <p:spPr bwMode="auto">
                <a:xfrm>
                  <a:off x="676" y="2015"/>
                  <a:ext cx="936" cy="403"/>
                </a:xfrm>
                <a:prstGeom prst="rect">
                  <a:avLst/>
                </a:prstGeom>
                <a:noFill/>
                <a:ln w="9525">
                  <a:noFill/>
                  <a:miter lim="800000"/>
                  <a:headEnd/>
                  <a:tailEnd/>
                </a:ln>
              </p:spPr>
              <p:txBody>
                <a:bodyPr/>
                <a:lstStyle/>
                <a:p>
                  <a:r>
                    <a:rPr lang="en-US" sz="1800">
                      <a:latin typeface="Arial" pitchFamily="34" charset="0"/>
                      <a:cs typeface="Arial" pitchFamily="34" charset="0"/>
                    </a:rPr>
                    <a:t>Sine</a:t>
                  </a:r>
                </a:p>
                <a:p>
                  <a:endParaRPr lang="en-US" sz="1800">
                    <a:latin typeface="Arial" pitchFamily="34" charset="0"/>
                    <a:cs typeface="Arial" pitchFamily="34" charset="0"/>
                  </a:endParaRPr>
                </a:p>
              </p:txBody>
            </p:sp>
            <p:sp>
              <p:nvSpPr>
                <p:cNvPr id="24630" name="Rectangle 80"/>
                <p:cNvSpPr>
                  <a:spLocks noChangeArrowheads="1"/>
                </p:cNvSpPr>
                <p:nvPr/>
              </p:nvSpPr>
              <p:spPr bwMode="auto">
                <a:xfrm>
                  <a:off x="633" y="2015"/>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30" name="Group 83"/>
              <p:cNvGrpSpPr>
                <a:grpSpLocks/>
              </p:cNvGrpSpPr>
              <p:nvPr/>
            </p:nvGrpSpPr>
            <p:grpSpPr bwMode="auto">
              <a:xfrm>
                <a:off x="0" y="2418"/>
                <a:ext cx="633" cy="403"/>
                <a:chOff x="0" y="2418"/>
                <a:chExt cx="633" cy="403"/>
              </a:xfrm>
            </p:grpSpPr>
            <p:sp>
              <p:nvSpPr>
                <p:cNvPr id="24627" name="Rectangle 60"/>
                <p:cNvSpPr>
                  <a:spLocks noChangeArrowheads="1"/>
                </p:cNvSpPr>
                <p:nvPr/>
              </p:nvSpPr>
              <p:spPr bwMode="auto">
                <a:xfrm>
                  <a:off x="43" y="2418"/>
                  <a:ext cx="547" cy="403"/>
                </a:xfrm>
                <a:prstGeom prst="rect">
                  <a:avLst/>
                </a:prstGeom>
                <a:noFill/>
                <a:ln w="9525">
                  <a:noFill/>
                  <a:miter lim="800000"/>
                  <a:headEnd/>
                  <a:tailEnd/>
                </a:ln>
              </p:spPr>
              <p:txBody>
                <a:bodyPr/>
                <a:lstStyle/>
                <a:p>
                  <a:r>
                    <a:rPr lang="en-US" sz="1800">
                      <a:latin typeface="Arial" pitchFamily="34" charset="0"/>
                      <a:cs typeface="Arial" pitchFamily="34" charset="0"/>
                    </a:rPr>
                    <a:t>SQRT</a:t>
                  </a:r>
                </a:p>
                <a:p>
                  <a:endParaRPr lang="en-US" sz="1800">
                    <a:latin typeface="Arial" pitchFamily="34" charset="0"/>
                    <a:cs typeface="Arial" pitchFamily="34" charset="0"/>
                  </a:endParaRPr>
                </a:p>
              </p:txBody>
            </p:sp>
            <p:sp>
              <p:nvSpPr>
                <p:cNvPr id="24628" name="Rectangle 82"/>
                <p:cNvSpPr>
                  <a:spLocks noChangeArrowheads="1"/>
                </p:cNvSpPr>
                <p:nvPr/>
              </p:nvSpPr>
              <p:spPr bwMode="auto">
                <a:xfrm>
                  <a:off x="0" y="2418"/>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31" name="Group 85"/>
              <p:cNvGrpSpPr>
                <a:grpSpLocks/>
              </p:cNvGrpSpPr>
              <p:nvPr/>
            </p:nvGrpSpPr>
            <p:grpSpPr bwMode="auto">
              <a:xfrm>
                <a:off x="633" y="2418"/>
                <a:ext cx="1022" cy="403"/>
                <a:chOff x="633" y="2418"/>
                <a:chExt cx="1022" cy="403"/>
              </a:xfrm>
            </p:grpSpPr>
            <p:sp>
              <p:nvSpPr>
                <p:cNvPr id="24625" name="Rectangle 61"/>
                <p:cNvSpPr>
                  <a:spLocks noChangeArrowheads="1"/>
                </p:cNvSpPr>
                <p:nvPr/>
              </p:nvSpPr>
              <p:spPr bwMode="auto">
                <a:xfrm>
                  <a:off x="676" y="2418"/>
                  <a:ext cx="936" cy="403"/>
                </a:xfrm>
                <a:prstGeom prst="rect">
                  <a:avLst/>
                </a:prstGeom>
                <a:noFill/>
                <a:ln w="9525">
                  <a:noFill/>
                  <a:miter lim="800000"/>
                  <a:headEnd/>
                  <a:tailEnd/>
                </a:ln>
              </p:spPr>
              <p:txBody>
                <a:bodyPr/>
                <a:lstStyle/>
                <a:p>
                  <a:r>
                    <a:rPr lang="en-US" sz="1800" dirty="0">
                      <a:latin typeface="Arial" pitchFamily="34" charset="0"/>
                      <a:cs typeface="Arial" pitchFamily="34" charset="0"/>
                    </a:rPr>
                    <a:t>Square root</a:t>
                  </a:r>
                </a:p>
                <a:p>
                  <a:endParaRPr lang="en-US" sz="1800" dirty="0">
                    <a:latin typeface="Arial" pitchFamily="34" charset="0"/>
                    <a:cs typeface="Arial" pitchFamily="34" charset="0"/>
                  </a:endParaRPr>
                </a:p>
              </p:txBody>
            </p:sp>
            <p:sp>
              <p:nvSpPr>
                <p:cNvPr id="24626" name="Rectangle 84"/>
                <p:cNvSpPr>
                  <a:spLocks noChangeArrowheads="1"/>
                </p:cNvSpPr>
                <p:nvPr/>
              </p:nvSpPr>
              <p:spPr bwMode="auto">
                <a:xfrm>
                  <a:off x="633" y="2418"/>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sp>
          <p:nvSpPr>
            <p:cNvPr id="24612" name="Rectangle 87"/>
            <p:cNvSpPr>
              <a:spLocks noChangeArrowheads="1"/>
            </p:cNvSpPr>
            <p:nvPr/>
          </p:nvSpPr>
          <p:spPr bwMode="auto">
            <a:xfrm>
              <a:off x="-3" y="400"/>
              <a:ext cx="1661" cy="2424"/>
            </a:xfrm>
            <a:prstGeom prst="rect">
              <a:avLst/>
            </a:prstGeom>
            <a:noFill/>
            <a:ln w="9525">
              <a:solidFill>
                <a:srgbClr val="A0A0A0"/>
              </a:solidFill>
              <a:miter lim="800000"/>
              <a:headEnd/>
              <a:tailEnd/>
            </a:ln>
          </p:spPr>
          <p:txBody>
            <a:bodyPr/>
            <a:lstStyle/>
            <a:p>
              <a:endParaRPr lang="en-US" sz="1800">
                <a:latin typeface="Arial" pitchFamily="34" charset="0"/>
                <a:cs typeface="Arial" pitchFamily="34" charset="0"/>
              </a:endParaRPr>
            </a:p>
          </p:txBody>
        </p:sp>
      </p:grpSp>
      <p:sp>
        <p:nvSpPr>
          <p:cNvPr id="24583" name="Rectangle 91"/>
          <p:cNvSpPr>
            <a:spLocks noChangeArrowheads="1"/>
          </p:cNvSpPr>
          <p:nvPr/>
        </p:nvSpPr>
        <p:spPr bwMode="auto">
          <a:xfrm>
            <a:off x="4958863" y="3874479"/>
            <a:ext cx="2895600" cy="366713"/>
          </a:xfrm>
          <a:prstGeom prst="rect">
            <a:avLst/>
          </a:prstGeom>
          <a:noFill/>
          <a:ln w="9525">
            <a:noFill/>
            <a:miter lim="800000"/>
            <a:headEnd/>
            <a:tailEnd/>
          </a:ln>
        </p:spPr>
        <p:txBody>
          <a:bodyPr>
            <a:spAutoFit/>
          </a:bodyPr>
          <a:lstStyle/>
          <a:p>
            <a:r>
              <a:rPr lang="en-US" sz="1800" b="1" dirty="0">
                <a:latin typeface="Tahoma" pitchFamily="34" charset="0"/>
                <a:cs typeface="Times New Roman" pitchFamily="18" charset="0"/>
              </a:rPr>
              <a:t>Summary Functions</a:t>
            </a:r>
            <a:endParaRPr lang="en-US" sz="1800" b="1" dirty="0">
              <a:latin typeface="Tahoma" pitchFamily="34" charset="0"/>
            </a:endParaRPr>
          </a:p>
        </p:txBody>
      </p:sp>
      <p:grpSp>
        <p:nvGrpSpPr>
          <p:cNvPr id="24649" name="Group 118"/>
          <p:cNvGrpSpPr>
            <a:grpSpLocks/>
          </p:cNvGrpSpPr>
          <p:nvPr/>
        </p:nvGrpSpPr>
        <p:grpSpPr bwMode="auto">
          <a:xfrm>
            <a:off x="4847493" y="4255478"/>
            <a:ext cx="3810000" cy="1359879"/>
            <a:chOff x="-3" y="400"/>
            <a:chExt cx="1661" cy="1618"/>
          </a:xfrm>
        </p:grpSpPr>
        <p:grpSp>
          <p:nvGrpSpPr>
            <p:cNvPr id="24651" name="Group 116"/>
            <p:cNvGrpSpPr>
              <a:grpSpLocks/>
            </p:cNvGrpSpPr>
            <p:nvPr/>
          </p:nvGrpSpPr>
          <p:grpSpPr bwMode="auto">
            <a:xfrm>
              <a:off x="0" y="403"/>
              <a:ext cx="1655" cy="1612"/>
              <a:chOff x="0" y="403"/>
              <a:chExt cx="1655" cy="1612"/>
            </a:xfrm>
          </p:grpSpPr>
          <p:grpSp>
            <p:nvGrpSpPr>
              <p:cNvPr id="24652" name="Group 101"/>
              <p:cNvGrpSpPr>
                <a:grpSpLocks/>
              </p:cNvGrpSpPr>
              <p:nvPr/>
            </p:nvGrpSpPr>
            <p:grpSpPr bwMode="auto">
              <a:xfrm>
                <a:off x="0" y="403"/>
                <a:ext cx="633" cy="403"/>
                <a:chOff x="0" y="403"/>
                <a:chExt cx="633" cy="403"/>
              </a:xfrm>
            </p:grpSpPr>
            <p:sp>
              <p:nvSpPr>
                <p:cNvPr id="24609" name="Rectangle 92"/>
                <p:cNvSpPr>
                  <a:spLocks noChangeArrowheads="1"/>
                </p:cNvSpPr>
                <p:nvPr/>
              </p:nvSpPr>
              <p:spPr bwMode="auto">
                <a:xfrm>
                  <a:off x="43" y="403"/>
                  <a:ext cx="547" cy="403"/>
                </a:xfrm>
                <a:prstGeom prst="rect">
                  <a:avLst/>
                </a:prstGeom>
                <a:noFill/>
                <a:ln w="9525">
                  <a:noFill/>
                  <a:miter lim="800000"/>
                  <a:headEnd/>
                  <a:tailEnd/>
                </a:ln>
              </p:spPr>
              <p:txBody>
                <a:bodyPr/>
                <a:lstStyle/>
                <a:p>
                  <a:r>
                    <a:rPr lang="en-US" sz="1800">
                      <a:latin typeface="Arial" pitchFamily="34" charset="0"/>
                      <a:cs typeface="Arial" pitchFamily="34" charset="0"/>
                    </a:rPr>
                    <a:t>AVE</a:t>
                  </a:r>
                </a:p>
                <a:p>
                  <a:endParaRPr lang="en-US" sz="1800">
                    <a:latin typeface="Arial" pitchFamily="34" charset="0"/>
                    <a:cs typeface="Arial" pitchFamily="34" charset="0"/>
                  </a:endParaRPr>
                </a:p>
              </p:txBody>
            </p:sp>
            <p:sp>
              <p:nvSpPr>
                <p:cNvPr id="24610" name="Rectangle 100"/>
                <p:cNvSpPr>
                  <a:spLocks noChangeArrowheads="1"/>
                </p:cNvSpPr>
                <p:nvPr/>
              </p:nvSpPr>
              <p:spPr bwMode="auto">
                <a:xfrm>
                  <a:off x="0" y="403"/>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3" name="Group 103"/>
              <p:cNvGrpSpPr>
                <a:grpSpLocks/>
              </p:cNvGrpSpPr>
              <p:nvPr/>
            </p:nvGrpSpPr>
            <p:grpSpPr bwMode="auto">
              <a:xfrm>
                <a:off x="633" y="403"/>
                <a:ext cx="1022" cy="403"/>
                <a:chOff x="633" y="403"/>
                <a:chExt cx="1022" cy="403"/>
              </a:xfrm>
            </p:grpSpPr>
            <p:sp>
              <p:nvSpPr>
                <p:cNvPr id="24607" name="Rectangle 93"/>
                <p:cNvSpPr>
                  <a:spLocks noChangeArrowheads="1"/>
                </p:cNvSpPr>
                <p:nvPr/>
              </p:nvSpPr>
              <p:spPr bwMode="auto">
                <a:xfrm>
                  <a:off x="676" y="403"/>
                  <a:ext cx="936" cy="403"/>
                </a:xfrm>
                <a:prstGeom prst="rect">
                  <a:avLst/>
                </a:prstGeom>
                <a:noFill/>
                <a:ln w="9525">
                  <a:noFill/>
                  <a:miter lim="800000"/>
                  <a:headEnd/>
                  <a:tailEnd/>
                </a:ln>
              </p:spPr>
              <p:txBody>
                <a:bodyPr/>
                <a:lstStyle/>
                <a:p>
                  <a:r>
                    <a:rPr lang="en-US" sz="1800">
                      <a:latin typeface="Arial" pitchFamily="34" charset="0"/>
                      <a:cs typeface="Arial" pitchFamily="34" charset="0"/>
                    </a:rPr>
                    <a:t>Average</a:t>
                  </a:r>
                </a:p>
                <a:p>
                  <a:endParaRPr lang="en-US" sz="1800">
                    <a:latin typeface="Arial" pitchFamily="34" charset="0"/>
                    <a:cs typeface="Arial" pitchFamily="34" charset="0"/>
                  </a:endParaRPr>
                </a:p>
              </p:txBody>
            </p:sp>
            <p:sp>
              <p:nvSpPr>
                <p:cNvPr id="24608" name="Rectangle 102"/>
                <p:cNvSpPr>
                  <a:spLocks noChangeArrowheads="1"/>
                </p:cNvSpPr>
                <p:nvPr/>
              </p:nvSpPr>
              <p:spPr bwMode="auto">
                <a:xfrm>
                  <a:off x="633" y="403"/>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4" name="Group 105"/>
              <p:cNvGrpSpPr>
                <a:grpSpLocks/>
              </p:cNvGrpSpPr>
              <p:nvPr/>
            </p:nvGrpSpPr>
            <p:grpSpPr bwMode="auto">
              <a:xfrm>
                <a:off x="0" y="806"/>
                <a:ext cx="633" cy="403"/>
                <a:chOff x="0" y="806"/>
                <a:chExt cx="633" cy="403"/>
              </a:xfrm>
            </p:grpSpPr>
            <p:sp>
              <p:nvSpPr>
                <p:cNvPr id="24605" name="Rectangle 94"/>
                <p:cNvSpPr>
                  <a:spLocks noChangeArrowheads="1"/>
                </p:cNvSpPr>
                <p:nvPr/>
              </p:nvSpPr>
              <p:spPr bwMode="auto">
                <a:xfrm>
                  <a:off x="43" y="806"/>
                  <a:ext cx="547" cy="403"/>
                </a:xfrm>
                <a:prstGeom prst="rect">
                  <a:avLst/>
                </a:prstGeom>
                <a:noFill/>
                <a:ln w="9525">
                  <a:noFill/>
                  <a:miter lim="800000"/>
                  <a:headEnd/>
                  <a:tailEnd/>
                </a:ln>
              </p:spPr>
              <p:txBody>
                <a:bodyPr/>
                <a:lstStyle/>
                <a:p>
                  <a:r>
                    <a:rPr lang="en-US" sz="1800">
                      <a:latin typeface="Arial" pitchFamily="34" charset="0"/>
                      <a:cs typeface="Arial" pitchFamily="34" charset="0"/>
                    </a:rPr>
                    <a:t>MAX</a:t>
                  </a:r>
                </a:p>
                <a:p>
                  <a:endParaRPr lang="en-US" sz="1800">
                    <a:latin typeface="Arial" pitchFamily="34" charset="0"/>
                    <a:cs typeface="Arial" pitchFamily="34" charset="0"/>
                  </a:endParaRPr>
                </a:p>
              </p:txBody>
            </p:sp>
            <p:sp>
              <p:nvSpPr>
                <p:cNvPr id="24606" name="Rectangle 104"/>
                <p:cNvSpPr>
                  <a:spLocks noChangeArrowheads="1"/>
                </p:cNvSpPr>
                <p:nvPr/>
              </p:nvSpPr>
              <p:spPr bwMode="auto">
                <a:xfrm>
                  <a:off x="0" y="806"/>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5" name="Group 107"/>
              <p:cNvGrpSpPr>
                <a:grpSpLocks/>
              </p:cNvGrpSpPr>
              <p:nvPr/>
            </p:nvGrpSpPr>
            <p:grpSpPr bwMode="auto">
              <a:xfrm>
                <a:off x="633" y="806"/>
                <a:ext cx="1022" cy="403"/>
                <a:chOff x="633" y="806"/>
                <a:chExt cx="1022" cy="403"/>
              </a:xfrm>
            </p:grpSpPr>
            <p:sp>
              <p:nvSpPr>
                <p:cNvPr id="24603" name="Rectangle 95"/>
                <p:cNvSpPr>
                  <a:spLocks noChangeArrowheads="1"/>
                </p:cNvSpPr>
                <p:nvPr/>
              </p:nvSpPr>
              <p:spPr bwMode="auto">
                <a:xfrm>
                  <a:off x="676" y="806"/>
                  <a:ext cx="936" cy="403"/>
                </a:xfrm>
                <a:prstGeom prst="rect">
                  <a:avLst/>
                </a:prstGeom>
                <a:noFill/>
                <a:ln w="9525">
                  <a:noFill/>
                  <a:miter lim="800000"/>
                  <a:headEnd/>
                  <a:tailEnd/>
                </a:ln>
              </p:spPr>
              <p:txBody>
                <a:bodyPr/>
                <a:lstStyle/>
                <a:p>
                  <a:r>
                    <a:rPr lang="en-US" sz="1800">
                      <a:latin typeface="Arial" pitchFamily="34" charset="0"/>
                      <a:cs typeface="Arial" pitchFamily="34" charset="0"/>
                    </a:rPr>
                    <a:t>Maximum value</a:t>
                  </a:r>
                </a:p>
                <a:p>
                  <a:endParaRPr lang="en-US" sz="1800">
                    <a:latin typeface="Arial" pitchFamily="34" charset="0"/>
                    <a:cs typeface="Arial" pitchFamily="34" charset="0"/>
                  </a:endParaRPr>
                </a:p>
              </p:txBody>
            </p:sp>
            <p:sp>
              <p:nvSpPr>
                <p:cNvPr id="24604" name="Rectangle 106"/>
                <p:cNvSpPr>
                  <a:spLocks noChangeArrowheads="1"/>
                </p:cNvSpPr>
                <p:nvPr/>
              </p:nvSpPr>
              <p:spPr bwMode="auto">
                <a:xfrm>
                  <a:off x="633" y="806"/>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6" name="Group 109"/>
              <p:cNvGrpSpPr>
                <a:grpSpLocks/>
              </p:cNvGrpSpPr>
              <p:nvPr/>
            </p:nvGrpSpPr>
            <p:grpSpPr bwMode="auto">
              <a:xfrm>
                <a:off x="0" y="1209"/>
                <a:ext cx="633" cy="403"/>
                <a:chOff x="0" y="1209"/>
                <a:chExt cx="633" cy="403"/>
              </a:xfrm>
            </p:grpSpPr>
            <p:sp>
              <p:nvSpPr>
                <p:cNvPr id="24601" name="Rectangle 96"/>
                <p:cNvSpPr>
                  <a:spLocks noChangeArrowheads="1"/>
                </p:cNvSpPr>
                <p:nvPr/>
              </p:nvSpPr>
              <p:spPr bwMode="auto">
                <a:xfrm>
                  <a:off x="43" y="1209"/>
                  <a:ext cx="547" cy="403"/>
                </a:xfrm>
                <a:prstGeom prst="rect">
                  <a:avLst/>
                </a:prstGeom>
                <a:noFill/>
                <a:ln w="9525">
                  <a:noFill/>
                  <a:miter lim="800000"/>
                  <a:headEnd/>
                  <a:tailEnd/>
                </a:ln>
              </p:spPr>
              <p:txBody>
                <a:bodyPr/>
                <a:lstStyle/>
                <a:p>
                  <a:r>
                    <a:rPr lang="en-US" sz="1800">
                      <a:latin typeface="Arial" pitchFamily="34" charset="0"/>
                      <a:cs typeface="Arial" pitchFamily="34" charset="0"/>
                    </a:rPr>
                    <a:t>MIN</a:t>
                  </a:r>
                </a:p>
                <a:p>
                  <a:endParaRPr lang="en-US" sz="1800">
                    <a:latin typeface="Arial" pitchFamily="34" charset="0"/>
                    <a:cs typeface="Arial" pitchFamily="34" charset="0"/>
                  </a:endParaRPr>
                </a:p>
              </p:txBody>
            </p:sp>
            <p:sp>
              <p:nvSpPr>
                <p:cNvPr id="24602" name="Rectangle 108"/>
                <p:cNvSpPr>
                  <a:spLocks noChangeArrowheads="1"/>
                </p:cNvSpPr>
                <p:nvPr/>
              </p:nvSpPr>
              <p:spPr bwMode="auto">
                <a:xfrm>
                  <a:off x="0" y="1209"/>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7" name="Group 111"/>
              <p:cNvGrpSpPr>
                <a:grpSpLocks/>
              </p:cNvGrpSpPr>
              <p:nvPr/>
            </p:nvGrpSpPr>
            <p:grpSpPr bwMode="auto">
              <a:xfrm>
                <a:off x="633" y="1209"/>
                <a:ext cx="1022" cy="403"/>
                <a:chOff x="633" y="1209"/>
                <a:chExt cx="1022" cy="403"/>
              </a:xfrm>
            </p:grpSpPr>
            <p:sp>
              <p:nvSpPr>
                <p:cNvPr id="24599" name="Rectangle 97"/>
                <p:cNvSpPr>
                  <a:spLocks noChangeArrowheads="1"/>
                </p:cNvSpPr>
                <p:nvPr/>
              </p:nvSpPr>
              <p:spPr bwMode="auto">
                <a:xfrm>
                  <a:off x="676" y="1209"/>
                  <a:ext cx="936" cy="403"/>
                </a:xfrm>
                <a:prstGeom prst="rect">
                  <a:avLst/>
                </a:prstGeom>
                <a:noFill/>
                <a:ln w="9525">
                  <a:noFill/>
                  <a:miter lim="800000"/>
                  <a:headEnd/>
                  <a:tailEnd/>
                </a:ln>
              </p:spPr>
              <p:txBody>
                <a:bodyPr/>
                <a:lstStyle/>
                <a:p>
                  <a:r>
                    <a:rPr lang="en-US" sz="1800" dirty="0">
                      <a:latin typeface="Arial" pitchFamily="34" charset="0"/>
                      <a:cs typeface="Arial" pitchFamily="34" charset="0"/>
                    </a:rPr>
                    <a:t>Minimum value</a:t>
                  </a:r>
                </a:p>
                <a:p>
                  <a:endParaRPr lang="en-US" sz="1800" dirty="0">
                    <a:latin typeface="Arial" pitchFamily="34" charset="0"/>
                    <a:cs typeface="Arial" pitchFamily="34" charset="0"/>
                  </a:endParaRPr>
                </a:p>
              </p:txBody>
            </p:sp>
            <p:sp>
              <p:nvSpPr>
                <p:cNvPr id="24600" name="Rectangle 110"/>
                <p:cNvSpPr>
                  <a:spLocks noChangeArrowheads="1"/>
                </p:cNvSpPr>
                <p:nvPr/>
              </p:nvSpPr>
              <p:spPr bwMode="auto">
                <a:xfrm>
                  <a:off x="633" y="1209"/>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8" name="Group 113"/>
              <p:cNvGrpSpPr>
                <a:grpSpLocks/>
              </p:cNvGrpSpPr>
              <p:nvPr/>
            </p:nvGrpSpPr>
            <p:grpSpPr bwMode="auto">
              <a:xfrm>
                <a:off x="0" y="1612"/>
                <a:ext cx="633" cy="403"/>
                <a:chOff x="0" y="1612"/>
                <a:chExt cx="633" cy="403"/>
              </a:xfrm>
            </p:grpSpPr>
            <p:sp>
              <p:nvSpPr>
                <p:cNvPr id="24597" name="Rectangle 98"/>
                <p:cNvSpPr>
                  <a:spLocks noChangeArrowheads="1"/>
                </p:cNvSpPr>
                <p:nvPr/>
              </p:nvSpPr>
              <p:spPr bwMode="auto">
                <a:xfrm>
                  <a:off x="43" y="1612"/>
                  <a:ext cx="547" cy="403"/>
                </a:xfrm>
                <a:prstGeom prst="rect">
                  <a:avLst/>
                </a:prstGeom>
                <a:noFill/>
                <a:ln w="9525">
                  <a:noFill/>
                  <a:miter lim="800000"/>
                  <a:headEnd/>
                  <a:tailEnd/>
                </a:ln>
              </p:spPr>
              <p:txBody>
                <a:bodyPr/>
                <a:lstStyle/>
                <a:p>
                  <a:r>
                    <a:rPr lang="en-US" sz="1800">
                      <a:latin typeface="Arial" pitchFamily="34" charset="0"/>
                      <a:cs typeface="Arial" pitchFamily="34" charset="0"/>
                    </a:rPr>
                    <a:t>SUM</a:t>
                  </a:r>
                </a:p>
                <a:p>
                  <a:endParaRPr lang="en-US" sz="1800">
                    <a:latin typeface="Arial" pitchFamily="34" charset="0"/>
                    <a:cs typeface="Arial" pitchFamily="34" charset="0"/>
                  </a:endParaRPr>
                </a:p>
              </p:txBody>
            </p:sp>
            <p:sp>
              <p:nvSpPr>
                <p:cNvPr id="24598" name="Rectangle 112"/>
                <p:cNvSpPr>
                  <a:spLocks noChangeArrowheads="1"/>
                </p:cNvSpPr>
                <p:nvPr/>
              </p:nvSpPr>
              <p:spPr bwMode="auto">
                <a:xfrm>
                  <a:off x="0" y="1612"/>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9" name="Group 115"/>
              <p:cNvGrpSpPr>
                <a:grpSpLocks/>
              </p:cNvGrpSpPr>
              <p:nvPr/>
            </p:nvGrpSpPr>
            <p:grpSpPr bwMode="auto">
              <a:xfrm>
                <a:off x="633" y="1612"/>
                <a:ext cx="1022" cy="403"/>
                <a:chOff x="633" y="1612"/>
                <a:chExt cx="1022" cy="403"/>
              </a:xfrm>
            </p:grpSpPr>
            <p:sp>
              <p:nvSpPr>
                <p:cNvPr id="24595" name="Rectangle 99"/>
                <p:cNvSpPr>
                  <a:spLocks noChangeArrowheads="1"/>
                </p:cNvSpPr>
                <p:nvPr/>
              </p:nvSpPr>
              <p:spPr bwMode="auto">
                <a:xfrm>
                  <a:off x="676" y="1612"/>
                  <a:ext cx="936" cy="403"/>
                </a:xfrm>
                <a:prstGeom prst="rect">
                  <a:avLst/>
                </a:prstGeom>
                <a:noFill/>
                <a:ln w="9525">
                  <a:noFill/>
                  <a:miter lim="800000"/>
                  <a:headEnd/>
                  <a:tailEnd/>
                </a:ln>
              </p:spPr>
              <p:txBody>
                <a:bodyPr/>
                <a:lstStyle/>
                <a:p>
                  <a:r>
                    <a:rPr lang="en-US" sz="1800">
                      <a:latin typeface="Arial" pitchFamily="34" charset="0"/>
                      <a:cs typeface="Arial" pitchFamily="34" charset="0"/>
                    </a:rPr>
                    <a:t>Summation</a:t>
                  </a:r>
                </a:p>
                <a:p>
                  <a:endParaRPr lang="en-US" sz="1800">
                    <a:latin typeface="Arial" pitchFamily="34" charset="0"/>
                    <a:cs typeface="Arial" pitchFamily="34" charset="0"/>
                  </a:endParaRPr>
                </a:p>
              </p:txBody>
            </p:sp>
            <p:sp>
              <p:nvSpPr>
                <p:cNvPr id="24596" name="Rectangle 114"/>
                <p:cNvSpPr>
                  <a:spLocks noChangeArrowheads="1"/>
                </p:cNvSpPr>
                <p:nvPr/>
              </p:nvSpPr>
              <p:spPr bwMode="auto">
                <a:xfrm>
                  <a:off x="633" y="1612"/>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sp>
          <p:nvSpPr>
            <p:cNvPr id="24586" name="Rectangle 117"/>
            <p:cNvSpPr>
              <a:spLocks noChangeArrowheads="1"/>
            </p:cNvSpPr>
            <p:nvPr/>
          </p:nvSpPr>
          <p:spPr bwMode="auto">
            <a:xfrm>
              <a:off x="-3" y="400"/>
              <a:ext cx="1661" cy="1618"/>
            </a:xfrm>
            <a:prstGeom prst="rect">
              <a:avLst/>
            </a:prstGeom>
            <a:noFill/>
            <a:ln w="9525">
              <a:solidFill>
                <a:srgbClr val="A0A0A0"/>
              </a:solidFill>
              <a:miter lim="800000"/>
              <a:headEnd/>
              <a:tailEnd/>
            </a:ln>
          </p:spPr>
          <p:txBody>
            <a:bodyPr/>
            <a:lstStyle/>
            <a:p>
              <a:endParaRPr lang="en-US" sz="1800">
                <a:latin typeface="Arial" pitchFamily="34" charset="0"/>
                <a:cs typeface="Arial" pitchFamily="34" charset="0"/>
              </a:endParaRPr>
            </a:p>
          </p:txBody>
        </p:sp>
      </p:gr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solidFill>
                  <a:schemeClr val="accent2"/>
                </a:solidFill>
              </a:rPr>
              <a:t>Custom Fields </a:t>
            </a:r>
            <a:r>
              <a:rPr lang="en-US" dirty="0">
                <a:solidFill>
                  <a:schemeClr val="accent1"/>
                </a:solidFill>
              </a:rPr>
              <a:t>Examples</a:t>
            </a:r>
          </a:p>
        </p:txBody>
      </p:sp>
      <p:graphicFrame>
        <p:nvGraphicFramePr>
          <p:cNvPr id="5" name="Diagram 4"/>
          <p:cNvGraphicFramePr/>
          <p:nvPr/>
        </p:nvGraphicFramePr>
        <p:xfrm>
          <a:off x="1237988" y="5973287"/>
          <a:ext cx="6648712" cy="4614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dirty="0"/>
              <a:t>Creating Custom Fields</a:t>
            </a:r>
          </a:p>
        </p:txBody>
      </p:sp>
      <p:grpSp>
        <p:nvGrpSpPr>
          <p:cNvPr id="5" name="Group 6"/>
          <p:cNvGrpSpPr/>
          <p:nvPr/>
        </p:nvGrpSpPr>
        <p:grpSpPr>
          <a:xfrm>
            <a:off x="1967882" y="1325231"/>
            <a:ext cx="5182218" cy="5132058"/>
            <a:chOff x="2076574" y="973777"/>
            <a:chExt cx="4905375" cy="4857895"/>
          </a:xfrm>
        </p:grpSpPr>
        <p:pic>
          <p:nvPicPr>
            <p:cNvPr id="6" name="Picture 2"/>
            <p:cNvPicPr>
              <a:picLocks noChangeAspect="1" noChangeArrowheads="1"/>
            </p:cNvPicPr>
            <p:nvPr/>
          </p:nvPicPr>
          <p:blipFill>
            <a:blip r:embed="rId2" cstate="print"/>
            <a:srcRect t="4670"/>
            <a:stretch>
              <a:fillRect/>
            </a:stretch>
          </p:blipFill>
          <p:spPr bwMode="auto">
            <a:xfrm>
              <a:off x="2076574" y="973777"/>
              <a:ext cx="4905375" cy="4857895"/>
            </a:xfrm>
            <a:prstGeom prst="rect">
              <a:avLst/>
            </a:prstGeom>
            <a:noFill/>
            <a:ln w="9525">
              <a:noFill/>
              <a:miter lim="800000"/>
              <a:headEnd/>
              <a:tailEnd/>
            </a:ln>
          </p:spPr>
        </p:pic>
        <p:sp>
          <p:nvSpPr>
            <p:cNvPr id="7" name="Rounded Rectangle 4"/>
            <p:cNvSpPr>
              <a:spLocks noChangeArrowheads="1"/>
            </p:cNvSpPr>
            <p:nvPr/>
          </p:nvSpPr>
          <p:spPr bwMode="auto">
            <a:xfrm>
              <a:off x="2739632" y="2415309"/>
              <a:ext cx="3701347" cy="636649"/>
            </a:xfrm>
            <a:prstGeom prst="roundRect">
              <a:avLst>
                <a:gd name="adj" fmla="val 16667"/>
              </a:avLst>
            </a:prstGeom>
            <a:noFill/>
            <a:ln w="50800" algn="ctr">
              <a:solidFill>
                <a:srgbClr val="FF0000"/>
              </a:solidFill>
              <a:round/>
              <a:headEnd/>
              <a:tailEnd/>
            </a:ln>
          </p:spPr>
          <p:txBody>
            <a:bodyPr/>
            <a:lstStyle/>
            <a:p>
              <a:endParaRPr lang="en-SG"/>
            </a:p>
          </p:txBody>
        </p:sp>
      </p:grpSp>
    </p:spTree>
  </p:cSld>
  <p:clrMapOvr>
    <a:masterClrMapping/>
  </p:clrMapOvr>
  <p:transition>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43" name="Rectangle 7" descr="25%"/>
          <p:cNvSpPr>
            <a:spLocks noGrp="1" noChangeArrowheads="1"/>
          </p:cNvSpPr>
          <p:nvPr>
            <p:ph type="title"/>
          </p:nvPr>
        </p:nvSpPr>
        <p:spPr/>
        <p:txBody>
          <a:bodyPr/>
          <a:lstStyle/>
          <a:p>
            <a:br>
              <a:rPr lang="en-US" dirty="0"/>
            </a:br>
            <a:r>
              <a:rPr lang="en-US" dirty="0"/>
              <a:t>Creating Custom Fields</a:t>
            </a:r>
          </a:p>
        </p:txBody>
      </p:sp>
      <p:pic>
        <p:nvPicPr>
          <p:cNvPr id="6" name="Content Placeholder 5" descr="book 3 pg 27.png"/>
          <p:cNvPicPr>
            <a:picLocks noGrp="1" noChangeAspect="1"/>
          </p:cNvPicPr>
          <p:nvPr>
            <p:ph idx="4294967295"/>
          </p:nvPr>
        </p:nvPicPr>
        <p:blipFill>
          <a:blip r:embed="rId3" cstate="print"/>
          <a:srcRect b="6753"/>
          <a:stretch>
            <a:fillRect/>
          </a:stretch>
        </p:blipFill>
        <p:spPr>
          <a:xfrm>
            <a:off x="1612900" y="1152525"/>
            <a:ext cx="5639670" cy="4993688"/>
          </a:xfrm>
        </p:spPr>
      </p:pic>
      <p:sp>
        <p:nvSpPr>
          <p:cNvPr id="7" name="Rectangle 6"/>
          <p:cNvSpPr/>
          <p:nvPr/>
        </p:nvSpPr>
        <p:spPr bwMode="auto">
          <a:xfrm>
            <a:off x="4737931" y="4513943"/>
            <a:ext cx="1669797" cy="177100"/>
          </a:xfrm>
          <a:prstGeom prst="rect">
            <a:avLst/>
          </a:prstGeom>
          <a:noFill/>
          <a:ln>
            <a:solidFill>
              <a:srgbClr val="C00000"/>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7" name="Rectangle 7" descr="25%"/>
          <p:cNvSpPr>
            <a:spLocks noGrp="1" noChangeArrowheads="1"/>
          </p:cNvSpPr>
          <p:nvPr>
            <p:ph type="title"/>
          </p:nvPr>
        </p:nvSpPr>
        <p:spPr/>
        <p:txBody>
          <a:bodyPr/>
          <a:lstStyle/>
          <a:p>
            <a:br>
              <a:rPr lang="en-US" dirty="0"/>
            </a:br>
            <a:r>
              <a:rPr lang="en-US" dirty="0"/>
              <a:t>Creating Custom Fields</a:t>
            </a:r>
          </a:p>
        </p:txBody>
      </p:sp>
      <p:pic>
        <p:nvPicPr>
          <p:cNvPr id="8" name="Content Placeholder 7" descr="book 3 pg 28.png"/>
          <p:cNvPicPr>
            <a:picLocks noGrp="1" noChangeAspect="1"/>
          </p:cNvPicPr>
          <p:nvPr>
            <p:ph idx="4294967295"/>
          </p:nvPr>
        </p:nvPicPr>
        <p:blipFill>
          <a:blip r:embed="rId3" cstate="print"/>
          <a:stretch>
            <a:fillRect/>
          </a:stretch>
        </p:blipFill>
        <p:spPr>
          <a:xfrm>
            <a:off x="1900822" y="1304924"/>
            <a:ext cx="5350877" cy="4904535"/>
          </a:xfrm>
        </p:spPr>
      </p:pic>
      <p:sp>
        <p:nvSpPr>
          <p:cNvPr id="6" name="Rectangle 5"/>
          <p:cNvSpPr/>
          <p:nvPr/>
        </p:nvSpPr>
        <p:spPr bwMode="auto">
          <a:xfrm>
            <a:off x="2578099" y="1619765"/>
            <a:ext cx="963000" cy="34021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1024"/>
          <p:cNvGraphicFramePr>
            <a:graphicFrameLocks noChangeAspect="1"/>
          </p:cNvGraphicFramePr>
          <p:nvPr/>
        </p:nvGraphicFramePr>
        <p:xfrm>
          <a:off x="599775" y="3853514"/>
          <a:ext cx="1846023" cy="413018"/>
        </p:xfrm>
        <a:graphic>
          <a:graphicData uri="http://schemas.openxmlformats.org/presentationml/2006/ole">
            <mc:AlternateContent xmlns:mc="http://schemas.openxmlformats.org/markup-compatibility/2006">
              <mc:Choice xmlns:v="urn:schemas-microsoft-com:vml" Requires="v">
                <p:oleObj name="Bitmap Image" r:id="rId3" imgW="857143" imgH="228571" progId="PBrush">
                  <p:embed/>
                </p:oleObj>
              </mc:Choice>
              <mc:Fallback>
                <p:oleObj name="Bitmap Image" r:id="rId3" imgW="857143" imgH="228571" progId="PBrush">
                  <p:embed/>
                  <p:pic>
                    <p:nvPicPr>
                      <p:cNvPr id="5122"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775" y="3853514"/>
                        <a:ext cx="1846023" cy="413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 name="Object 1025"/>
          <p:cNvGraphicFramePr>
            <a:graphicFrameLocks noChangeAspect="1"/>
          </p:cNvGraphicFramePr>
          <p:nvPr/>
        </p:nvGraphicFramePr>
        <p:xfrm>
          <a:off x="599775" y="892963"/>
          <a:ext cx="1363663" cy="442912"/>
        </p:xfrm>
        <a:graphic>
          <a:graphicData uri="http://schemas.openxmlformats.org/presentationml/2006/ole">
            <mc:AlternateContent xmlns:mc="http://schemas.openxmlformats.org/markup-compatibility/2006">
              <mc:Choice xmlns:v="urn:schemas-microsoft-com:vml" Requires="v">
                <p:oleObj name="Bitmap Image" r:id="rId5" imgW="590476" imgH="228571" progId="PBrush">
                  <p:embed/>
                </p:oleObj>
              </mc:Choice>
              <mc:Fallback>
                <p:oleObj name="Bitmap Image" r:id="rId5" imgW="590476" imgH="228571" progId="PBrush">
                  <p:embed/>
                  <p:pic>
                    <p:nvPicPr>
                      <p:cNvPr id="5123"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775" y="892963"/>
                        <a:ext cx="1363663"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4" name="Object 1026"/>
          <p:cNvGraphicFramePr>
            <a:graphicFrameLocks noChangeAspect="1"/>
          </p:cNvGraphicFramePr>
          <p:nvPr/>
        </p:nvGraphicFramePr>
        <p:xfrm>
          <a:off x="599775" y="2290913"/>
          <a:ext cx="1501775" cy="455612"/>
        </p:xfrm>
        <a:graphic>
          <a:graphicData uri="http://schemas.openxmlformats.org/presentationml/2006/ole">
            <mc:AlternateContent xmlns:mc="http://schemas.openxmlformats.org/markup-compatibility/2006">
              <mc:Choice xmlns:v="urn:schemas-microsoft-com:vml" Requires="v">
                <p:oleObj name="Bitmap Image" r:id="rId7" imgW="590476" imgH="228571" progId="PBrush">
                  <p:embed/>
                </p:oleObj>
              </mc:Choice>
              <mc:Fallback>
                <p:oleObj name="Bitmap Image" r:id="rId7" imgW="590476" imgH="228571" progId="PBrush">
                  <p:embed/>
                  <p:pic>
                    <p:nvPicPr>
                      <p:cNvPr id="5124"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9775" y="2290913"/>
                        <a:ext cx="1501775"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 name="Object 1027"/>
          <p:cNvGraphicFramePr>
            <a:graphicFrameLocks noChangeAspect="1"/>
          </p:cNvGraphicFramePr>
          <p:nvPr/>
        </p:nvGraphicFramePr>
        <p:xfrm>
          <a:off x="599775" y="1596225"/>
          <a:ext cx="1501775" cy="457200"/>
        </p:xfrm>
        <a:graphic>
          <a:graphicData uri="http://schemas.openxmlformats.org/presentationml/2006/ole">
            <mc:AlternateContent xmlns:mc="http://schemas.openxmlformats.org/markup-compatibility/2006">
              <mc:Choice xmlns:v="urn:schemas-microsoft-com:vml" Requires="v">
                <p:oleObj name="Bitmap Image" r:id="rId9" imgW="590476" imgH="228571" progId="PBrush">
                  <p:embed/>
                </p:oleObj>
              </mc:Choice>
              <mc:Fallback>
                <p:oleObj name="Bitmap Image" r:id="rId9" imgW="590476" imgH="228571" progId="PBrush">
                  <p:embed/>
                  <p:pic>
                    <p:nvPicPr>
                      <p:cNvPr id="5125"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9775" y="1596225"/>
                        <a:ext cx="1501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6" name="Object 1028"/>
          <p:cNvGraphicFramePr>
            <a:graphicFrameLocks noChangeAspect="1"/>
          </p:cNvGraphicFramePr>
          <p:nvPr/>
        </p:nvGraphicFramePr>
        <p:xfrm>
          <a:off x="599775" y="2983950"/>
          <a:ext cx="1725613" cy="481013"/>
        </p:xfrm>
        <a:graphic>
          <a:graphicData uri="http://schemas.openxmlformats.org/presentationml/2006/ole">
            <mc:AlternateContent xmlns:mc="http://schemas.openxmlformats.org/markup-compatibility/2006">
              <mc:Choice xmlns:v="urn:schemas-microsoft-com:vml" Requires="v">
                <p:oleObj name="Bitmap Image" r:id="rId11" imgW="685714" imgH="228571" progId="PBrush">
                  <p:embed/>
                </p:oleObj>
              </mc:Choice>
              <mc:Fallback>
                <p:oleObj name="Bitmap Image" r:id="rId11" imgW="685714" imgH="228571" progId="PBrush">
                  <p:embed/>
                  <p:pic>
                    <p:nvPicPr>
                      <p:cNvPr id="5126" name="Object 10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9775" y="2983950"/>
                        <a:ext cx="1725613"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9098" name="Text Box 10"/>
          <p:cNvSpPr txBox="1">
            <a:spLocks noChangeArrowheads="1"/>
          </p:cNvSpPr>
          <p:nvPr/>
        </p:nvSpPr>
        <p:spPr bwMode="auto">
          <a:xfrm>
            <a:off x="2748926" y="921475"/>
            <a:ext cx="5848810" cy="369320"/>
          </a:xfrm>
          <a:prstGeom prst="rect">
            <a:avLst/>
          </a:prstGeom>
          <a:noFill/>
          <a:ln w="12700">
            <a:noFill/>
            <a:miter lim="800000"/>
            <a:headEnd/>
            <a:tailEnd/>
          </a:ln>
          <a:effectLst/>
        </p:spPr>
        <p:txBody>
          <a:bodyPr wrap="square" lIns="91429" tIns="45714" rIns="91429" bIns="45714">
            <a:spAutoFit/>
          </a:bodyPr>
          <a:lstStyle/>
          <a:p>
            <a:pPr defTabSz="914608">
              <a:spcBef>
                <a:spcPct val="50000"/>
              </a:spcBef>
              <a:defRPr/>
            </a:pPr>
            <a:r>
              <a:rPr lang="en-US" sz="1800" dirty="0">
                <a:latin typeface="Arial" pitchFamily="34" charset="0"/>
                <a:cs typeface="Arial" pitchFamily="34" charset="0"/>
              </a:rPr>
              <a:t>Select </a:t>
            </a:r>
            <a:r>
              <a:rPr lang="en-US" sz="1800" dirty="0">
                <a:solidFill>
                  <a:srgbClr val="C00000"/>
                </a:solidFill>
                <a:latin typeface="Arial" pitchFamily="34" charset="0"/>
                <a:cs typeface="Arial" pitchFamily="34" charset="0"/>
              </a:rPr>
              <a:t>NEW</a:t>
            </a:r>
            <a:r>
              <a:rPr lang="en-US" sz="1800" dirty="0">
                <a:latin typeface="Arial" pitchFamily="34" charset="0"/>
                <a:cs typeface="Arial" pitchFamily="34" charset="0"/>
              </a:rPr>
              <a:t> to create a new custom field</a:t>
            </a:r>
          </a:p>
        </p:txBody>
      </p:sp>
      <p:sp>
        <p:nvSpPr>
          <p:cNvPr id="729099" name="Text Box 11"/>
          <p:cNvSpPr txBox="1">
            <a:spLocks noChangeArrowheads="1"/>
          </p:cNvSpPr>
          <p:nvPr/>
        </p:nvSpPr>
        <p:spPr bwMode="auto">
          <a:xfrm>
            <a:off x="2748925" y="1625500"/>
            <a:ext cx="5635054" cy="369320"/>
          </a:xfrm>
          <a:prstGeom prst="rect">
            <a:avLst/>
          </a:prstGeom>
          <a:noFill/>
          <a:ln w="12700">
            <a:noFill/>
            <a:miter lim="800000"/>
            <a:headEnd/>
            <a:tailEnd/>
          </a:ln>
          <a:effectLst/>
        </p:spPr>
        <p:txBody>
          <a:bodyPr wrap="square" lIns="91429" tIns="45714" rIns="91429" bIns="45714">
            <a:spAutoFit/>
          </a:bodyPr>
          <a:lstStyle/>
          <a:p>
            <a:pPr defTabSz="914608">
              <a:spcBef>
                <a:spcPct val="50000"/>
              </a:spcBef>
              <a:defRPr/>
            </a:pPr>
            <a:r>
              <a:rPr lang="en-US" sz="1800" dirty="0">
                <a:latin typeface="Arial" pitchFamily="34" charset="0"/>
                <a:cs typeface="Arial" pitchFamily="34" charset="0"/>
              </a:rPr>
              <a:t>Select </a:t>
            </a:r>
            <a:r>
              <a:rPr lang="en-US" sz="1800" dirty="0">
                <a:solidFill>
                  <a:srgbClr val="C00000"/>
                </a:solidFill>
                <a:latin typeface="Arial" pitchFamily="34" charset="0"/>
                <a:cs typeface="Arial" pitchFamily="34" charset="0"/>
              </a:rPr>
              <a:t>EDIT</a:t>
            </a:r>
            <a:r>
              <a:rPr lang="en-US" sz="1800" dirty="0">
                <a:latin typeface="Arial" pitchFamily="34" charset="0"/>
                <a:cs typeface="Arial" pitchFamily="34" charset="0"/>
              </a:rPr>
              <a:t> to modify a custom field</a:t>
            </a:r>
          </a:p>
        </p:txBody>
      </p:sp>
      <p:sp>
        <p:nvSpPr>
          <p:cNvPr id="729100" name="Text Box 12"/>
          <p:cNvSpPr txBox="1">
            <a:spLocks noChangeArrowheads="1"/>
          </p:cNvSpPr>
          <p:nvPr/>
        </p:nvSpPr>
        <p:spPr bwMode="auto">
          <a:xfrm>
            <a:off x="2725174" y="2323238"/>
            <a:ext cx="6149975" cy="369320"/>
          </a:xfrm>
          <a:prstGeom prst="rect">
            <a:avLst/>
          </a:prstGeom>
          <a:noFill/>
          <a:ln w="12700">
            <a:noFill/>
            <a:miter lim="800000"/>
            <a:headEnd/>
            <a:tailEnd/>
          </a:ln>
          <a:effectLst/>
        </p:spPr>
        <p:txBody>
          <a:bodyPr lIns="91429" tIns="45714" rIns="91429" bIns="45714">
            <a:spAutoFit/>
          </a:bodyPr>
          <a:lstStyle/>
          <a:p>
            <a:pPr defTabSz="914608">
              <a:spcBef>
                <a:spcPct val="50000"/>
              </a:spcBef>
              <a:defRPr/>
            </a:pPr>
            <a:r>
              <a:rPr lang="en-US" sz="1800" dirty="0">
                <a:latin typeface="Arial" pitchFamily="34" charset="0"/>
                <a:cs typeface="Arial" pitchFamily="34" charset="0"/>
              </a:rPr>
              <a:t>Select </a:t>
            </a:r>
            <a:r>
              <a:rPr lang="en-US" sz="1800" dirty="0">
                <a:solidFill>
                  <a:srgbClr val="C00000"/>
                </a:solidFill>
                <a:latin typeface="Arial" pitchFamily="34" charset="0"/>
                <a:cs typeface="Arial" pitchFamily="34" charset="0"/>
              </a:rPr>
              <a:t>DELETE</a:t>
            </a:r>
            <a:r>
              <a:rPr lang="en-US" sz="1800" dirty="0">
                <a:latin typeface="Arial" pitchFamily="34" charset="0"/>
                <a:cs typeface="Arial" pitchFamily="34" charset="0"/>
              </a:rPr>
              <a:t> to delete a custom field</a:t>
            </a:r>
          </a:p>
        </p:txBody>
      </p:sp>
      <p:sp>
        <p:nvSpPr>
          <p:cNvPr id="729101" name="Text Box 13"/>
          <p:cNvSpPr txBox="1">
            <a:spLocks noChangeArrowheads="1"/>
          </p:cNvSpPr>
          <p:nvPr/>
        </p:nvSpPr>
        <p:spPr bwMode="auto">
          <a:xfrm>
            <a:off x="2748925" y="2906163"/>
            <a:ext cx="6003183" cy="646319"/>
          </a:xfrm>
          <a:prstGeom prst="rect">
            <a:avLst/>
          </a:prstGeom>
          <a:noFill/>
          <a:ln w="12700">
            <a:noFill/>
            <a:miter lim="800000"/>
            <a:headEnd/>
            <a:tailEnd/>
          </a:ln>
          <a:effectLst/>
        </p:spPr>
        <p:txBody>
          <a:bodyPr wrap="square" lIns="91429" tIns="45714" rIns="91429" bIns="45714">
            <a:spAutoFit/>
          </a:bodyPr>
          <a:lstStyle/>
          <a:p>
            <a:pPr defTabSz="914608">
              <a:spcBef>
                <a:spcPct val="50000"/>
              </a:spcBef>
              <a:defRPr/>
            </a:pPr>
            <a:r>
              <a:rPr lang="en-US" sz="1800" dirty="0">
                <a:latin typeface="Arial" pitchFamily="34" charset="0"/>
                <a:cs typeface="Arial" pitchFamily="34" charset="0"/>
              </a:rPr>
              <a:t>Select </a:t>
            </a:r>
            <a:r>
              <a:rPr lang="en-US" sz="1800" dirty="0">
                <a:solidFill>
                  <a:srgbClr val="C00000"/>
                </a:solidFill>
                <a:latin typeface="Arial" pitchFamily="34" charset="0"/>
                <a:cs typeface="Arial" pitchFamily="34" charset="0"/>
              </a:rPr>
              <a:t>LOCK/UNLOCK</a:t>
            </a:r>
            <a:r>
              <a:rPr lang="en-US" sz="1800" dirty="0">
                <a:latin typeface="Arial" pitchFamily="34" charset="0"/>
                <a:cs typeface="Arial" pitchFamily="34" charset="0"/>
              </a:rPr>
              <a:t> to prevent a custom field from being modified or allow for modification</a:t>
            </a:r>
          </a:p>
        </p:txBody>
      </p:sp>
      <p:sp>
        <p:nvSpPr>
          <p:cNvPr id="729102" name="Text Box 14"/>
          <p:cNvSpPr txBox="1">
            <a:spLocks noChangeArrowheads="1"/>
          </p:cNvSpPr>
          <p:nvPr/>
        </p:nvSpPr>
        <p:spPr bwMode="auto">
          <a:xfrm>
            <a:off x="2748925" y="3768675"/>
            <a:ext cx="5872554" cy="646319"/>
          </a:xfrm>
          <a:prstGeom prst="rect">
            <a:avLst/>
          </a:prstGeom>
          <a:noFill/>
          <a:ln w="12700">
            <a:noFill/>
            <a:miter lim="800000"/>
            <a:headEnd/>
            <a:tailEnd/>
          </a:ln>
          <a:effectLst/>
        </p:spPr>
        <p:txBody>
          <a:bodyPr wrap="square" lIns="91429" tIns="45714" rIns="91429" bIns="45714">
            <a:spAutoFit/>
          </a:bodyPr>
          <a:lstStyle/>
          <a:p>
            <a:pPr defTabSz="914608">
              <a:spcBef>
                <a:spcPct val="50000"/>
              </a:spcBef>
              <a:defRPr/>
            </a:pPr>
            <a:r>
              <a:rPr lang="en-US" sz="1800" dirty="0">
                <a:latin typeface="Arial" pitchFamily="34" charset="0"/>
                <a:cs typeface="Arial" pitchFamily="34" charset="0"/>
              </a:rPr>
              <a:t>Select </a:t>
            </a:r>
            <a:r>
              <a:rPr lang="en-US" sz="1800" dirty="0">
                <a:solidFill>
                  <a:srgbClr val="C00000"/>
                </a:solidFill>
                <a:latin typeface="Arial" pitchFamily="34" charset="0"/>
                <a:cs typeface="Arial" pitchFamily="34" charset="0"/>
              </a:rPr>
              <a:t>SAVE TO PROJECT </a:t>
            </a:r>
            <a:r>
              <a:rPr lang="en-US" sz="1800" dirty="0">
                <a:latin typeface="Arial" pitchFamily="34" charset="0"/>
                <a:cs typeface="Arial" pitchFamily="34" charset="0"/>
              </a:rPr>
              <a:t>to save a custom field to other Projects</a:t>
            </a:r>
          </a:p>
        </p:txBody>
      </p:sp>
      <p:graphicFrame>
        <p:nvGraphicFramePr>
          <p:cNvPr id="5127" name="Object 1029"/>
          <p:cNvGraphicFramePr>
            <a:graphicFrameLocks noChangeAspect="1"/>
          </p:cNvGraphicFramePr>
          <p:nvPr/>
        </p:nvGraphicFramePr>
        <p:xfrm>
          <a:off x="587900" y="6013125"/>
          <a:ext cx="1680281" cy="381229"/>
        </p:xfrm>
        <a:graphic>
          <a:graphicData uri="http://schemas.openxmlformats.org/presentationml/2006/ole">
            <mc:AlternateContent xmlns:mc="http://schemas.openxmlformats.org/markup-compatibility/2006">
              <mc:Choice xmlns:v="urn:schemas-microsoft-com:vml" Requires="v">
                <p:oleObj name="Bitmap Image" r:id="rId13" imgW="714286" imgH="219222" progId="PBrush">
                  <p:embed/>
                </p:oleObj>
              </mc:Choice>
              <mc:Fallback>
                <p:oleObj name="Bitmap Image" r:id="rId13" imgW="714286" imgH="219222" progId="PBrush">
                  <p:embed/>
                  <p:pic>
                    <p:nvPicPr>
                      <p:cNvPr id="5127" name="Object 10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7900" y="6013125"/>
                        <a:ext cx="1680281" cy="381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8" name="Object 1030"/>
          <p:cNvGraphicFramePr>
            <a:graphicFrameLocks noChangeAspect="1"/>
          </p:cNvGraphicFramePr>
          <p:nvPr/>
        </p:nvGraphicFramePr>
        <p:xfrm>
          <a:off x="599775" y="4574925"/>
          <a:ext cx="1676400" cy="395288"/>
        </p:xfrm>
        <a:graphic>
          <a:graphicData uri="http://schemas.openxmlformats.org/presentationml/2006/ole">
            <mc:AlternateContent xmlns:mc="http://schemas.openxmlformats.org/markup-compatibility/2006">
              <mc:Choice xmlns:v="urn:schemas-microsoft-com:vml" Requires="v">
                <p:oleObj name="Bitmap Image" r:id="rId15" imgW="714286" imgH="219222" progId="PBrush">
                  <p:embed/>
                </p:oleObj>
              </mc:Choice>
              <mc:Fallback>
                <p:oleObj name="Bitmap Image" r:id="rId15" imgW="714286" imgH="219222" progId="PBrush">
                  <p:embed/>
                  <p:pic>
                    <p:nvPicPr>
                      <p:cNvPr id="5128" name="Object 103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9775" y="4574925"/>
                        <a:ext cx="167640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9" name="Object 1031"/>
          <p:cNvGraphicFramePr>
            <a:graphicFrameLocks noChangeAspect="1"/>
          </p:cNvGraphicFramePr>
          <p:nvPr/>
        </p:nvGraphicFramePr>
        <p:xfrm>
          <a:off x="599775" y="5231638"/>
          <a:ext cx="1641475" cy="422275"/>
        </p:xfrm>
        <a:graphic>
          <a:graphicData uri="http://schemas.openxmlformats.org/presentationml/2006/ole">
            <mc:AlternateContent xmlns:mc="http://schemas.openxmlformats.org/markup-compatibility/2006">
              <mc:Choice xmlns:v="urn:schemas-microsoft-com:vml" Requires="v">
                <p:oleObj name="Bitmap Image" r:id="rId17" imgW="714286" imgH="219222" progId="PBrush">
                  <p:embed/>
                </p:oleObj>
              </mc:Choice>
              <mc:Fallback>
                <p:oleObj name="Bitmap Image" r:id="rId17" imgW="714286" imgH="219222" progId="PBrush">
                  <p:embed/>
                  <p:pic>
                    <p:nvPicPr>
                      <p:cNvPr id="5129" name="Object 103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99775" y="5231638"/>
                        <a:ext cx="1641475"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9107" name="Text Box 19"/>
          <p:cNvSpPr txBox="1">
            <a:spLocks noChangeArrowheads="1"/>
          </p:cNvSpPr>
          <p:nvPr/>
        </p:nvSpPr>
        <p:spPr bwMode="auto">
          <a:xfrm>
            <a:off x="2748925" y="4593725"/>
            <a:ext cx="5920062" cy="369320"/>
          </a:xfrm>
          <a:prstGeom prst="rect">
            <a:avLst/>
          </a:prstGeom>
          <a:noFill/>
          <a:ln w="12700">
            <a:noFill/>
            <a:miter lim="800000"/>
            <a:headEnd/>
            <a:tailEnd/>
          </a:ln>
          <a:effectLst/>
        </p:spPr>
        <p:txBody>
          <a:bodyPr wrap="square" lIns="91429" tIns="45714" rIns="91429" bIns="45714">
            <a:spAutoFit/>
          </a:bodyPr>
          <a:lstStyle/>
          <a:p>
            <a:pPr defTabSz="914608">
              <a:spcBef>
                <a:spcPct val="50000"/>
              </a:spcBef>
              <a:defRPr/>
            </a:pPr>
            <a:r>
              <a:rPr lang="en-US" sz="1800" dirty="0">
                <a:latin typeface="Arial" pitchFamily="34" charset="0"/>
                <a:cs typeface="Arial" pitchFamily="34" charset="0"/>
              </a:rPr>
              <a:t>Select </a:t>
            </a:r>
            <a:r>
              <a:rPr lang="en-US" sz="1800" dirty="0">
                <a:solidFill>
                  <a:srgbClr val="C00000"/>
                </a:solidFill>
                <a:latin typeface="Arial" pitchFamily="34" charset="0"/>
                <a:cs typeface="Arial" pitchFamily="34" charset="0"/>
              </a:rPr>
              <a:t>OK</a:t>
            </a:r>
            <a:r>
              <a:rPr lang="en-US" sz="1800" dirty="0">
                <a:latin typeface="Arial" pitchFamily="34" charset="0"/>
                <a:cs typeface="Arial" pitchFamily="34" charset="0"/>
              </a:rPr>
              <a:t> to accept changes and exit Project properties</a:t>
            </a:r>
          </a:p>
        </p:txBody>
      </p:sp>
      <p:sp>
        <p:nvSpPr>
          <p:cNvPr id="729108" name="Text Box 20"/>
          <p:cNvSpPr txBox="1">
            <a:spLocks noChangeArrowheads="1"/>
          </p:cNvSpPr>
          <p:nvPr/>
        </p:nvSpPr>
        <p:spPr bwMode="auto">
          <a:xfrm>
            <a:off x="2748925" y="5172900"/>
            <a:ext cx="6098185" cy="646319"/>
          </a:xfrm>
          <a:prstGeom prst="rect">
            <a:avLst/>
          </a:prstGeom>
          <a:noFill/>
          <a:ln w="12700">
            <a:noFill/>
            <a:miter lim="800000"/>
            <a:headEnd/>
            <a:tailEnd/>
          </a:ln>
          <a:effectLst/>
        </p:spPr>
        <p:txBody>
          <a:bodyPr wrap="square" lIns="91429" tIns="45714" rIns="91429" bIns="45714">
            <a:spAutoFit/>
          </a:bodyPr>
          <a:lstStyle/>
          <a:p>
            <a:pPr defTabSz="914608">
              <a:spcBef>
                <a:spcPct val="50000"/>
              </a:spcBef>
              <a:defRPr/>
            </a:pPr>
            <a:r>
              <a:rPr lang="en-US" sz="1800" dirty="0">
                <a:latin typeface="Arial" pitchFamily="34" charset="0"/>
                <a:cs typeface="Arial" pitchFamily="34" charset="0"/>
              </a:rPr>
              <a:t>Select </a:t>
            </a:r>
            <a:r>
              <a:rPr lang="en-US" sz="1800" dirty="0">
                <a:solidFill>
                  <a:srgbClr val="C00000"/>
                </a:solidFill>
                <a:latin typeface="Arial" pitchFamily="34" charset="0"/>
                <a:cs typeface="Arial" pitchFamily="34" charset="0"/>
              </a:rPr>
              <a:t>CANCEL</a:t>
            </a:r>
            <a:r>
              <a:rPr lang="en-US" sz="1800" dirty="0">
                <a:latin typeface="Arial" pitchFamily="34" charset="0"/>
                <a:cs typeface="Arial" pitchFamily="34" charset="0"/>
              </a:rPr>
              <a:t> exit the Project properties without accepting changes</a:t>
            </a:r>
          </a:p>
        </p:txBody>
      </p:sp>
      <p:sp>
        <p:nvSpPr>
          <p:cNvPr id="729109" name="Text Box 21"/>
          <p:cNvSpPr txBox="1">
            <a:spLocks noChangeArrowheads="1"/>
          </p:cNvSpPr>
          <p:nvPr/>
        </p:nvSpPr>
        <p:spPr bwMode="auto">
          <a:xfrm>
            <a:off x="2748925" y="5987725"/>
            <a:ext cx="6432550" cy="369320"/>
          </a:xfrm>
          <a:prstGeom prst="rect">
            <a:avLst/>
          </a:prstGeom>
          <a:noFill/>
          <a:ln w="12700">
            <a:noFill/>
            <a:miter lim="800000"/>
            <a:headEnd/>
            <a:tailEnd/>
          </a:ln>
          <a:effectLst/>
        </p:spPr>
        <p:txBody>
          <a:bodyPr lIns="91429" tIns="45714" rIns="91429" bIns="45714">
            <a:spAutoFit/>
          </a:bodyPr>
          <a:lstStyle/>
          <a:p>
            <a:pPr defTabSz="914608">
              <a:spcBef>
                <a:spcPct val="50000"/>
              </a:spcBef>
              <a:defRPr/>
            </a:pPr>
            <a:r>
              <a:rPr lang="en-US" sz="1800" dirty="0">
                <a:latin typeface="Arial" pitchFamily="34" charset="0"/>
                <a:cs typeface="Arial" pitchFamily="34" charset="0"/>
              </a:rPr>
              <a:t>Select </a:t>
            </a:r>
            <a:r>
              <a:rPr lang="en-US" sz="1800" dirty="0">
                <a:solidFill>
                  <a:srgbClr val="C00000"/>
                </a:solidFill>
                <a:latin typeface="Arial" pitchFamily="34" charset="0"/>
                <a:cs typeface="Arial" pitchFamily="34" charset="0"/>
              </a:rPr>
              <a:t>HELP</a:t>
            </a:r>
            <a:r>
              <a:rPr lang="en-US" sz="1800" dirty="0">
                <a:latin typeface="Arial" pitchFamily="34" charset="0"/>
                <a:cs typeface="Arial" pitchFamily="34" charset="0"/>
              </a:rPr>
              <a:t> for help with Project properties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idx="1"/>
          </p:nvPr>
        </p:nvSpPr>
        <p:spPr/>
        <p:txBody>
          <a:bodyPr/>
          <a:lstStyle/>
          <a:p>
            <a:pPr eaLnBrk="1" hangingPunct="1"/>
            <a:r>
              <a:rPr lang="en-US" dirty="0"/>
              <a:t>Goal: Enable the analyst to enter a </a:t>
            </a:r>
            <a:r>
              <a:rPr lang="en-US" dirty="0">
                <a:solidFill>
                  <a:srgbClr val="C00000"/>
                </a:solidFill>
              </a:rPr>
              <a:t>Lot Number</a:t>
            </a:r>
            <a:r>
              <a:rPr lang="en-US" dirty="0"/>
              <a:t> for each sample</a:t>
            </a:r>
          </a:p>
          <a:p>
            <a:pPr lvl="1" eaLnBrk="1" hangingPunct="1"/>
            <a:endParaRPr lang="en-US" dirty="0"/>
          </a:p>
          <a:p>
            <a:pPr eaLnBrk="1" hangingPunct="1">
              <a:buFont typeface="Monotype Sorts"/>
              <a:buNone/>
            </a:pPr>
            <a:endParaRPr lang="en-US" dirty="0"/>
          </a:p>
        </p:txBody>
      </p:sp>
      <p:sp>
        <p:nvSpPr>
          <p:cNvPr id="749571" name="Rectangle 3" descr="25%"/>
          <p:cNvSpPr>
            <a:spLocks noGrp="1" noChangeArrowheads="1"/>
          </p:cNvSpPr>
          <p:nvPr>
            <p:ph type="title"/>
          </p:nvPr>
        </p:nvSpPr>
        <p:spPr/>
        <p:txBody>
          <a:bodyPr/>
          <a:lstStyle/>
          <a:p>
            <a:pPr eaLnBrk="1" hangingPunct="1">
              <a:defRPr/>
            </a:pPr>
            <a:r>
              <a:rPr lang="en-US" dirty="0"/>
              <a:t>Create New </a:t>
            </a:r>
            <a:r>
              <a:rPr lang="en-US" dirty="0">
                <a:solidFill>
                  <a:schemeClr val="accent2"/>
                </a:solidFill>
              </a:rPr>
              <a:t>Sample </a:t>
            </a:r>
            <a:r>
              <a:rPr lang="en-US" dirty="0">
                <a:solidFill>
                  <a:schemeClr val="accent1"/>
                </a:solidFill>
              </a:rPr>
              <a:t>Type</a:t>
            </a:r>
            <a:r>
              <a:rPr lang="en-US" dirty="0">
                <a:solidFill>
                  <a:schemeClr val="accent2"/>
                </a:solidFill>
              </a:rPr>
              <a:t> </a:t>
            </a:r>
            <a:r>
              <a:rPr lang="en-US" dirty="0"/>
              <a:t>Field</a:t>
            </a:r>
          </a:p>
        </p:txBody>
      </p:sp>
    </p:spTree>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93" name="Rectangle 9" descr="25%"/>
          <p:cNvSpPr>
            <a:spLocks noGrp="1" noChangeArrowheads="1"/>
          </p:cNvSpPr>
          <p:nvPr>
            <p:ph type="title"/>
          </p:nvPr>
        </p:nvSpPr>
        <p:spPr/>
        <p:txBody>
          <a:bodyPr/>
          <a:lstStyle/>
          <a:p>
            <a:br>
              <a:rPr lang="en-US" dirty="0"/>
            </a:br>
            <a:r>
              <a:rPr lang="en-US" dirty="0"/>
              <a:t>Create New </a:t>
            </a:r>
            <a:r>
              <a:rPr lang="en-US" dirty="0">
                <a:solidFill>
                  <a:schemeClr val="accent2"/>
                </a:solidFill>
              </a:rPr>
              <a:t>Sample </a:t>
            </a:r>
            <a:r>
              <a:rPr lang="en-US" dirty="0"/>
              <a:t>Type</a:t>
            </a:r>
            <a:r>
              <a:rPr lang="en-US" dirty="0">
                <a:solidFill>
                  <a:schemeClr val="accent2"/>
                </a:solidFill>
              </a:rPr>
              <a:t> </a:t>
            </a:r>
            <a:r>
              <a:rPr lang="en-US" dirty="0"/>
              <a:t>Field</a:t>
            </a:r>
          </a:p>
        </p:txBody>
      </p:sp>
      <p:pic>
        <p:nvPicPr>
          <p:cNvPr id="10" name="Content Placeholder 9" descr="book 3 pg 31.png"/>
          <p:cNvPicPr>
            <a:picLocks noGrp="1" noChangeAspect="1"/>
          </p:cNvPicPr>
          <p:nvPr>
            <p:ph idx="1"/>
          </p:nvPr>
        </p:nvPicPr>
        <p:blipFill>
          <a:blip r:embed="rId3" cstate="print"/>
          <a:stretch>
            <a:fillRect/>
          </a:stretch>
        </p:blipFill>
        <p:spPr>
          <a:xfrm>
            <a:off x="1318351" y="1277282"/>
            <a:ext cx="6486708" cy="4996518"/>
          </a:xfrm>
        </p:spPr>
      </p:pic>
      <p:sp>
        <p:nvSpPr>
          <p:cNvPr id="11" name="Oval 10"/>
          <p:cNvSpPr/>
          <p:nvPr/>
        </p:nvSpPr>
        <p:spPr bwMode="auto">
          <a:xfrm>
            <a:off x="3770716" y="2643578"/>
            <a:ext cx="895776" cy="353622"/>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2" name="Oval 11"/>
          <p:cNvSpPr/>
          <p:nvPr/>
        </p:nvSpPr>
        <p:spPr bwMode="auto">
          <a:xfrm>
            <a:off x="4929170" y="4335975"/>
            <a:ext cx="746479" cy="299525"/>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3" name="Rectangle 12"/>
          <p:cNvSpPr/>
          <p:nvPr/>
        </p:nvSpPr>
        <p:spPr bwMode="auto">
          <a:xfrm>
            <a:off x="4572466" y="5798621"/>
            <a:ext cx="895776" cy="29859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6" name="Rectangle 4" descr="25%"/>
          <p:cNvSpPr>
            <a:spLocks noGrp="1" noChangeArrowheads="1"/>
          </p:cNvSpPr>
          <p:nvPr>
            <p:ph type="title"/>
          </p:nvPr>
        </p:nvSpPr>
        <p:spPr/>
        <p:txBody>
          <a:bodyPr/>
          <a:lstStyle/>
          <a:p>
            <a:br>
              <a:rPr lang="en-US" dirty="0"/>
            </a:br>
            <a:r>
              <a:rPr lang="en-US" dirty="0"/>
              <a:t>Create New </a:t>
            </a:r>
            <a:r>
              <a:rPr lang="en-US" dirty="0">
                <a:solidFill>
                  <a:schemeClr val="accent2"/>
                </a:solidFill>
              </a:rPr>
              <a:t>Sample </a:t>
            </a:r>
            <a:r>
              <a:rPr lang="en-US" dirty="0"/>
              <a:t>Type Field</a:t>
            </a:r>
          </a:p>
        </p:txBody>
      </p:sp>
      <p:pic>
        <p:nvPicPr>
          <p:cNvPr id="10" name="Content Placeholder 9" descr="book 3 pg 32.png"/>
          <p:cNvPicPr>
            <a:picLocks noGrp="1" noChangeAspect="1"/>
          </p:cNvPicPr>
          <p:nvPr>
            <p:ph idx="1"/>
          </p:nvPr>
        </p:nvPicPr>
        <p:blipFill>
          <a:blip r:embed="rId3" cstate="print"/>
          <a:stretch>
            <a:fillRect/>
          </a:stretch>
        </p:blipFill>
        <p:spPr>
          <a:xfrm>
            <a:off x="1354120" y="1304274"/>
            <a:ext cx="6430980" cy="4953592"/>
          </a:xfrm>
        </p:spPr>
      </p:pic>
      <p:sp>
        <p:nvSpPr>
          <p:cNvPr id="11" name="Oval 10"/>
          <p:cNvSpPr/>
          <p:nvPr/>
        </p:nvSpPr>
        <p:spPr bwMode="auto">
          <a:xfrm>
            <a:off x="3415114" y="2387599"/>
            <a:ext cx="1017185" cy="306849"/>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3" name="Rectangle 12"/>
          <p:cNvSpPr/>
          <p:nvPr/>
        </p:nvSpPr>
        <p:spPr bwMode="auto">
          <a:xfrm>
            <a:off x="4549536" y="5818246"/>
            <a:ext cx="928148" cy="27453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3"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Sample </a:t>
            </a:r>
            <a:r>
              <a:rPr lang="en-US" dirty="0"/>
              <a:t>Type</a:t>
            </a:r>
            <a:r>
              <a:rPr lang="en-US" dirty="0">
                <a:solidFill>
                  <a:schemeClr val="accent2"/>
                </a:solidFill>
              </a:rPr>
              <a:t> </a:t>
            </a:r>
            <a:r>
              <a:rPr lang="en-US" dirty="0"/>
              <a:t>Field</a:t>
            </a:r>
          </a:p>
        </p:txBody>
      </p:sp>
      <p:pic>
        <p:nvPicPr>
          <p:cNvPr id="8" name="Content Placeholder 7" descr="book 3 pg 33.png"/>
          <p:cNvPicPr>
            <a:picLocks noGrp="1" noChangeAspect="1"/>
          </p:cNvPicPr>
          <p:nvPr>
            <p:ph idx="1"/>
          </p:nvPr>
        </p:nvPicPr>
        <p:blipFill>
          <a:blip r:embed="rId3" cstate="print"/>
          <a:stretch>
            <a:fillRect/>
          </a:stretch>
        </p:blipFill>
        <p:spPr>
          <a:xfrm>
            <a:off x="1346201" y="1274782"/>
            <a:ext cx="6434282" cy="4956135"/>
          </a:xfrm>
        </p:spPr>
      </p:pic>
      <p:sp>
        <p:nvSpPr>
          <p:cNvPr id="9" name="Rectangle 8"/>
          <p:cNvSpPr/>
          <p:nvPr/>
        </p:nvSpPr>
        <p:spPr bwMode="auto">
          <a:xfrm>
            <a:off x="4478601" y="5721599"/>
            <a:ext cx="1049199" cy="32702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idx="1"/>
          </p:nvPr>
        </p:nvSpPr>
        <p:spPr/>
        <p:txBody>
          <a:bodyPr/>
          <a:lstStyle/>
          <a:p>
            <a:pPr eaLnBrk="1" hangingPunct="1"/>
            <a:endParaRPr lang="en-US" dirty="0"/>
          </a:p>
          <a:p>
            <a:pPr lvl="1" eaLnBrk="1" hangingPunct="1"/>
            <a:endParaRPr lang="en-US" dirty="0"/>
          </a:p>
          <a:p>
            <a:pPr eaLnBrk="1" hangingPunct="1">
              <a:buFont typeface="Monotype Sorts"/>
              <a:buNone/>
            </a:pPr>
            <a:endParaRPr lang="en-US" dirty="0"/>
          </a:p>
        </p:txBody>
      </p:sp>
      <p:sp>
        <p:nvSpPr>
          <p:cNvPr id="739331" name="Rectangle 3" descr="25%"/>
          <p:cNvSpPr>
            <a:spLocks noGrp="1" noChangeArrowheads="1"/>
          </p:cNvSpPr>
          <p:nvPr>
            <p:ph type="title"/>
          </p:nvPr>
        </p:nvSpPr>
        <p:spPr/>
        <p:txBody>
          <a:bodyPr/>
          <a:lstStyle/>
          <a:p>
            <a:pPr eaLnBrk="1" hangingPunct="1">
              <a:defRPr/>
            </a:pPr>
            <a:br>
              <a:rPr lang="en-US" dirty="0"/>
            </a:br>
            <a:r>
              <a:rPr lang="en-US" dirty="0"/>
              <a:t>Create New </a:t>
            </a:r>
            <a:r>
              <a:rPr lang="en-US" dirty="0">
                <a:solidFill>
                  <a:schemeClr val="accent2"/>
                </a:solidFill>
              </a:rPr>
              <a:t>Sample </a:t>
            </a:r>
            <a:r>
              <a:rPr lang="en-US" dirty="0">
                <a:solidFill>
                  <a:schemeClr val="accent1"/>
                </a:solidFill>
              </a:rPr>
              <a:t>Type</a:t>
            </a:r>
            <a:r>
              <a:rPr lang="en-US" dirty="0">
                <a:solidFill>
                  <a:schemeClr val="accent2"/>
                </a:solidFill>
              </a:rPr>
              <a:t> </a:t>
            </a:r>
            <a:r>
              <a:rPr lang="en-US" dirty="0"/>
              <a:t>Field</a:t>
            </a:r>
          </a:p>
        </p:txBody>
      </p:sp>
      <p:pic>
        <p:nvPicPr>
          <p:cNvPr id="71684" name="Picture 5"/>
          <p:cNvPicPr>
            <a:picLocks noChangeAspect="1" noChangeArrowheads="1"/>
          </p:cNvPicPr>
          <p:nvPr/>
        </p:nvPicPr>
        <p:blipFill>
          <a:blip r:embed="rId3" cstate="print"/>
          <a:srcRect/>
          <a:stretch>
            <a:fillRect/>
          </a:stretch>
        </p:blipFill>
        <p:spPr bwMode="auto">
          <a:xfrm>
            <a:off x="1430064" y="1309688"/>
            <a:ext cx="6268106" cy="4926011"/>
          </a:xfrm>
          <a:prstGeom prst="rect">
            <a:avLst/>
          </a:prstGeom>
          <a:noFill/>
          <a:ln w="12700">
            <a:noFill/>
            <a:miter lim="800000"/>
            <a:headEnd/>
            <a:tailEnd/>
          </a:ln>
        </p:spPr>
      </p:pic>
      <p:sp>
        <p:nvSpPr>
          <p:cNvPr id="71685" name="Oval 6"/>
          <p:cNvSpPr>
            <a:spLocks noChangeArrowheads="1"/>
          </p:cNvSpPr>
          <p:nvPr/>
        </p:nvSpPr>
        <p:spPr bwMode="auto">
          <a:xfrm>
            <a:off x="3373827" y="2505513"/>
            <a:ext cx="3495446" cy="461934"/>
          </a:xfrm>
          <a:prstGeom prst="ellipse">
            <a:avLst/>
          </a:prstGeom>
          <a:noFill/>
          <a:ln w="38100">
            <a:solidFill>
              <a:srgbClr val="FF0000"/>
            </a:solidFill>
            <a:round/>
            <a:headEnd/>
            <a:tailEnd/>
          </a:ln>
        </p:spPr>
        <p:txBody>
          <a:bodyPr wrap="none" lIns="82058" tIns="41029" rIns="82058" bIns="41029" anchor="ctr"/>
          <a:lstStyle/>
          <a:p>
            <a:endParaRPr lang="en-US" dirty="0"/>
          </a:p>
        </p:txBody>
      </p:sp>
      <p:sp>
        <p:nvSpPr>
          <p:cNvPr id="71686" name="Oval 7"/>
          <p:cNvSpPr>
            <a:spLocks noChangeArrowheads="1"/>
          </p:cNvSpPr>
          <p:nvPr/>
        </p:nvSpPr>
        <p:spPr bwMode="auto">
          <a:xfrm>
            <a:off x="3307620" y="3144817"/>
            <a:ext cx="2468253" cy="906491"/>
          </a:xfrm>
          <a:prstGeom prst="ellipse">
            <a:avLst/>
          </a:prstGeom>
          <a:noFill/>
          <a:ln w="38100">
            <a:solidFill>
              <a:srgbClr val="FF0000"/>
            </a:solidFill>
            <a:round/>
            <a:headEnd/>
            <a:tailEnd/>
          </a:ln>
        </p:spPr>
        <p:txBody>
          <a:bodyPr wrap="none" lIns="82058" tIns="41029" rIns="82058" bIns="41029" anchor="ctr"/>
          <a:lstStyle/>
          <a:p>
            <a:endParaRPr lang="en-US" dirty="0"/>
          </a:p>
        </p:txBody>
      </p:sp>
    </p:spTree>
  </p:cSld>
  <p:clrMapOvr>
    <a:masterClrMapping/>
  </p:clrMapOvr>
  <p:transition>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endParaRPr lang="en-US" dirty="0"/>
          </a:p>
        </p:txBody>
      </p:sp>
      <p:sp>
        <p:nvSpPr>
          <p:cNvPr id="4" name="Title 3"/>
          <p:cNvSpPr>
            <a:spLocks noGrp="1"/>
          </p:cNvSpPr>
          <p:nvPr>
            <p:ph type="title"/>
          </p:nvPr>
        </p:nvSpPr>
        <p:spPr/>
        <p:txBody>
          <a:bodyPr/>
          <a:lstStyle/>
          <a:p>
            <a:br>
              <a:rPr lang="en-US" dirty="0"/>
            </a:br>
            <a:r>
              <a:rPr lang="en-US" dirty="0"/>
              <a:t>Entering: </a:t>
            </a:r>
            <a:r>
              <a:rPr lang="en-US" dirty="0">
                <a:solidFill>
                  <a:schemeClr val="accent2"/>
                </a:solidFill>
              </a:rPr>
              <a:t>Sample</a:t>
            </a:r>
            <a:r>
              <a:rPr lang="en-US" dirty="0"/>
              <a:t> Type Custom Field Info</a:t>
            </a:r>
          </a:p>
        </p:txBody>
      </p:sp>
      <p:pic>
        <p:nvPicPr>
          <p:cNvPr id="100354" name="Picture 2" descr="H:\Empower CF screen captures\ScreenHunter_02 Mar. 07 10.13.jpg"/>
          <p:cNvPicPr>
            <a:picLocks noChangeAspect="1" noChangeArrowheads="1"/>
          </p:cNvPicPr>
          <p:nvPr/>
        </p:nvPicPr>
        <p:blipFill>
          <a:blip r:embed="rId3" cstate="print">
            <a:lum bright="-20000" contrast="40000"/>
          </a:blip>
          <a:srcRect/>
          <a:stretch>
            <a:fillRect/>
          </a:stretch>
        </p:blipFill>
        <p:spPr bwMode="auto">
          <a:xfrm>
            <a:off x="417361" y="2372571"/>
            <a:ext cx="8432800" cy="1738815"/>
          </a:xfrm>
          <a:prstGeom prst="rect">
            <a:avLst/>
          </a:prstGeom>
          <a:noFill/>
        </p:spPr>
      </p:pic>
      <p:sp>
        <p:nvSpPr>
          <p:cNvPr id="7" name="Rectangle 6"/>
          <p:cNvSpPr/>
          <p:nvPr/>
        </p:nvSpPr>
        <p:spPr bwMode="auto">
          <a:xfrm>
            <a:off x="8110974" y="3319397"/>
            <a:ext cx="698500" cy="77525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idx="1"/>
          </p:nvPr>
        </p:nvSpPr>
        <p:spPr/>
        <p:txBody>
          <a:bodyPr/>
          <a:lstStyle/>
          <a:p>
            <a:pPr eaLnBrk="1" hangingPunct="1"/>
            <a:r>
              <a:rPr lang="en-US" dirty="0"/>
              <a:t>Goal: Create a list of USP columns for an analyst to select from when running a sequence of samples</a:t>
            </a:r>
          </a:p>
          <a:p>
            <a:pPr eaLnBrk="1" hangingPunct="1"/>
            <a:endParaRPr lang="en-US" dirty="0"/>
          </a:p>
          <a:p>
            <a:pPr lvl="1"/>
            <a:r>
              <a:rPr lang="en-US" dirty="0"/>
              <a:t>You want to allow the analyst to select from types L1, L3, L4, L7 or L11 </a:t>
            </a:r>
          </a:p>
        </p:txBody>
      </p:sp>
      <p:sp>
        <p:nvSpPr>
          <p:cNvPr id="741379" name="Rectangle 3" descr="25%"/>
          <p:cNvSpPr>
            <a:spLocks noGrp="1" noChangeArrowheads="1"/>
          </p:cNvSpPr>
          <p:nvPr>
            <p:ph type="title"/>
          </p:nvPr>
        </p:nvSpPr>
        <p:spPr/>
        <p:txBody>
          <a:bodyPr/>
          <a:lstStyle/>
          <a:p>
            <a:pPr eaLnBrk="1" hangingPunct="1">
              <a:defRPr/>
            </a:pPr>
            <a:r>
              <a:rPr lang="en-US" dirty="0"/>
              <a:t>Create New </a:t>
            </a:r>
            <a:r>
              <a:rPr lang="en-US" dirty="0">
                <a:solidFill>
                  <a:schemeClr val="accent2"/>
                </a:solidFill>
              </a:rPr>
              <a:t>Sample Set </a:t>
            </a:r>
            <a:r>
              <a:rPr lang="en-US" dirty="0">
                <a:solidFill>
                  <a:schemeClr val="accent1"/>
                </a:solidFill>
              </a:rPr>
              <a:t>Type</a:t>
            </a:r>
            <a:r>
              <a:rPr lang="en-US" dirty="0"/>
              <a:t> Field</a:t>
            </a:r>
          </a:p>
        </p:txBody>
      </p:sp>
    </p:spTree>
  </p:cSld>
  <p:clrMapOvr>
    <a:masterClrMapping/>
  </p:clrMapOvr>
  <p:transition>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36.png"/>
          <p:cNvPicPr>
            <a:picLocks noGrp="1" noChangeAspect="1"/>
          </p:cNvPicPr>
          <p:nvPr>
            <p:ph idx="1"/>
          </p:nvPr>
        </p:nvPicPr>
        <p:blipFill>
          <a:blip r:embed="rId3" cstate="print"/>
          <a:stretch>
            <a:fillRect/>
          </a:stretch>
        </p:blipFill>
        <p:spPr>
          <a:xfrm>
            <a:off x="1376801" y="1349885"/>
            <a:ext cx="6359476" cy="4898515"/>
          </a:xfrm>
        </p:spPr>
      </p:pic>
      <p:sp>
        <p:nvSpPr>
          <p:cNvPr id="747523"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Sample Set </a:t>
            </a:r>
            <a:r>
              <a:rPr lang="en-US" dirty="0"/>
              <a:t>Type Field</a:t>
            </a:r>
          </a:p>
        </p:txBody>
      </p:sp>
      <p:sp>
        <p:nvSpPr>
          <p:cNvPr id="9" name="Oval 8"/>
          <p:cNvSpPr/>
          <p:nvPr/>
        </p:nvSpPr>
        <p:spPr bwMode="auto">
          <a:xfrm>
            <a:off x="3763186" y="2959099"/>
            <a:ext cx="1139014" cy="301309"/>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Oval 9"/>
          <p:cNvSpPr/>
          <p:nvPr/>
        </p:nvSpPr>
        <p:spPr bwMode="auto">
          <a:xfrm>
            <a:off x="5795113" y="4618842"/>
            <a:ext cx="948918" cy="311972"/>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1" name="Rectangle 10"/>
          <p:cNvSpPr/>
          <p:nvPr/>
        </p:nvSpPr>
        <p:spPr bwMode="auto">
          <a:xfrm>
            <a:off x="4528526" y="5790044"/>
            <a:ext cx="962822" cy="31197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37.png"/>
          <p:cNvPicPr>
            <a:picLocks noGrp="1" noChangeAspect="1"/>
          </p:cNvPicPr>
          <p:nvPr>
            <p:ph idx="1"/>
          </p:nvPr>
        </p:nvPicPr>
        <p:blipFill>
          <a:blip r:embed="rId3" cstate="print"/>
          <a:stretch>
            <a:fillRect/>
          </a:stretch>
        </p:blipFill>
        <p:spPr>
          <a:xfrm>
            <a:off x="1397000" y="1332416"/>
            <a:ext cx="6363856" cy="4901889"/>
          </a:xfrm>
        </p:spPr>
      </p:pic>
      <p:sp>
        <p:nvSpPr>
          <p:cNvPr id="743427"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Sample Set </a:t>
            </a:r>
            <a:r>
              <a:rPr lang="en-US" dirty="0"/>
              <a:t>Type Field</a:t>
            </a:r>
          </a:p>
        </p:txBody>
      </p:sp>
      <p:sp>
        <p:nvSpPr>
          <p:cNvPr id="9" name="Oval 8"/>
          <p:cNvSpPr/>
          <p:nvPr/>
        </p:nvSpPr>
        <p:spPr bwMode="auto">
          <a:xfrm>
            <a:off x="3412345" y="2371105"/>
            <a:ext cx="1058055" cy="378751"/>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Rectangle 9"/>
          <p:cNvSpPr/>
          <p:nvPr/>
        </p:nvSpPr>
        <p:spPr bwMode="auto">
          <a:xfrm>
            <a:off x="3190853" y="2839680"/>
            <a:ext cx="1622778" cy="31074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1" name="Rectangle 10"/>
          <p:cNvSpPr/>
          <p:nvPr/>
        </p:nvSpPr>
        <p:spPr bwMode="auto">
          <a:xfrm>
            <a:off x="4542659" y="5770270"/>
            <a:ext cx="971616" cy="30388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book 3 pg 38.png"/>
          <p:cNvPicPr>
            <a:picLocks noGrp="1" noChangeAspect="1"/>
          </p:cNvPicPr>
          <p:nvPr>
            <p:ph idx="1"/>
          </p:nvPr>
        </p:nvPicPr>
        <p:blipFill>
          <a:blip r:embed="rId3" cstate="print"/>
          <a:stretch>
            <a:fillRect/>
          </a:stretch>
        </p:blipFill>
        <p:spPr>
          <a:xfrm>
            <a:off x="1384300" y="1367787"/>
            <a:ext cx="6376559" cy="4911673"/>
          </a:xfrm>
        </p:spPr>
      </p:pic>
      <p:sp>
        <p:nvSpPr>
          <p:cNvPr id="745475"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Sample Set </a:t>
            </a:r>
            <a:r>
              <a:rPr lang="en-US" dirty="0"/>
              <a:t>Type Field</a:t>
            </a:r>
          </a:p>
        </p:txBody>
      </p:sp>
      <p:sp>
        <p:nvSpPr>
          <p:cNvPr id="9" name="Rectangle 8"/>
          <p:cNvSpPr/>
          <p:nvPr/>
        </p:nvSpPr>
        <p:spPr bwMode="auto">
          <a:xfrm>
            <a:off x="4539562" y="5800856"/>
            <a:ext cx="975537" cy="29866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3" name="Rectangle 3" descr="25%"/>
          <p:cNvSpPr>
            <a:spLocks noGrp="1" noChangeArrowheads="1"/>
          </p:cNvSpPr>
          <p:nvPr>
            <p:ph type="title"/>
          </p:nvPr>
        </p:nvSpPr>
        <p:spPr>
          <a:xfrm>
            <a:off x="475988" y="0"/>
            <a:ext cx="6534411" cy="1066800"/>
          </a:xfrm>
        </p:spPr>
        <p:txBody>
          <a:bodyPr/>
          <a:lstStyle/>
          <a:p>
            <a:br>
              <a:rPr lang="en-US" dirty="0"/>
            </a:br>
            <a:r>
              <a:rPr lang="en-US" dirty="0"/>
              <a:t>Create New </a:t>
            </a:r>
            <a:r>
              <a:rPr lang="en-US" dirty="0">
                <a:solidFill>
                  <a:schemeClr val="accent2"/>
                </a:solidFill>
              </a:rPr>
              <a:t>Sample Set</a:t>
            </a:r>
            <a:r>
              <a:rPr lang="en-US" dirty="0"/>
              <a:t> Type Field</a:t>
            </a:r>
          </a:p>
        </p:txBody>
      </p:sp>
      <p:pic>
        <p:nvPicPr>
          <p:cNvPr id="6" name="Content Placeholder 5" descr="book 3 pg 39.png"/>
          <p:cNvPicPr>
            <a:picLocks noGrp="1" noChangeAspect="1"/>
          </p:cNvPicPr>
          <p:nvPr>
            <p:ph idx="1"/>
          </p:nvPr>
        </p:nvPicPr>
        <p:blipFill>
          <a:blip r:embed="rId3" cstate="print"/>
          <a:stretch>
            <a:fillRect/>
          </a:stretch>
        </p:blipFill>
        <p:spPr>
          <a:xfrm>
            <a:off x="1384301" y="1318755"/>
            <a:ext cx="6359742" cy="4898720"/>
          </a:xfrm>
        </p:spPr>
      </p:pic>
      <p:sp>
        <p:nvSpPr>
          <p:cNvPr id="9" name="Rectangle 8"/>
          <p:cNvSpPr/>
          <p:nvPr/>
        </p:nvSpPr>
        <p:spPr bwMode="auto">
          <a:xfrm>
            <a:off x="4521305" y="5715670"/>
            <a:ext cx="1032720" cy="31253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br>
              <a:rPr lang="en-US" dirty="0"/>
            </a:br>
            <a:r>
              <a:rPr lang="en-US" dirty="0"/>
              <a:t>Entering: </a:t>
            </a:r>
            <a:r>
              <a:rPr lang="en-US" dirty="0">
                <a:solidFill>
                  <a:schemeClr val="accent2"/>
                </a:solidFill>
              </a:rPr>
              <a:t>Sample Set </a:t>
            </a:r>
            <a:r>
              <a:rPr lang="en-US" dirty="0"/>
              <a:t>Type Custom Field Info</a:t>
            </a:r>
          </a:p>
        </p:txBody>
      </p:sp>
      <p:pic>
        <p:nvPicPr>
          <p:cNvPr id="101378" name="Picture 2" descr="H:\Empower CF screen captures\ScreenHunter_03 Mar. 07 10.17.jpg"/>
          <p:cNvPicPr>
            <a:picLocks noChangeAspect="1" noChangeArrowheads="1"/>
          </p:cNvPicPr>
          <p:nvPr/>
        </p:nvPicPr>
        <p:blipFill>
          <a:blip r:embed="rId3" cstate="print"/>
          <a:srcRect r="787"/>
          <a:stretch>
            <a:fillRect/>
          </a:stretch>
        </p:blipFill>
        <p:spPr bwMode="auto">
          <a:xfrm>
            <a:off x="459852" y="1440580"/>
            <a:ext cx="8320893" cy="1682750"/>
          </a:xfrm>
          <a:prstGeom prst="rect">
            <a:avLst/>
          </a:prstGeom>
          <a:noFill/>
        </p:spPr>
      </p:pic>
      <p:pic>
        <p:nvPicPr>
          <p:cNvPr id="101379" name="Picture 3" descr="H:\Empower CF screen captures\ScreenHunter_04 Mar. 07 10.17.jpg"/>
          <p:cNvPicPr>
            <a:picLocks noChangeAspect="1" noChangeArrowheads="1"/>
          </p:cNvPicPr>
          <p:nvPr/>
        </p:nvPicPr>
        <p:blipFill>
          <a:blip r:embed="rId4" cstate="print"/>
          <a:srcRect/>
          <a:stretch>
            <a:fillRect/>
          </a:stretch>
        </p:blipFill>
        <p:spPr bwMode="auto">
          <a:xfrm>
            <a:off x="544012" y="2927112"/>
            <a:ext cx="3657600" cy="3019425"/>
          </a:xfrm>
          <a:prstGeom prst="rect">
            <a:avLst/>
          </a:prstGeom>
          <a:noFill/>
        </p:spPr>
      </p:pic>
      <p:pic>
        <p:nvPicPr>
          <p:cNvPr id="101380" name="Picture 4" descr="H:\Empower CF screen captures\ScreenHunter_05 Mar. 07 10.17.jpg"/>
          <p:cNvPicPr>
            <a:picLocks noChangeAspect="1" noChangeArrowheads="1"/>
          </p:cNvPicPr>
          <p:nvPr/>
        </p:nvPicPr>
        <p:blipFill>
          <a:blip r:embed="rId5" cstate="print"/>
          <a:srcRect r="49826" b="1420"/>
          <a:stretch>
            <a:fillRect/>
          </a:stretch>
        </p:blipFill>
        <p:spPr bwMode="auto">
          <a:xfrm>
            <a:off x="4575653" y="3761567"/>
            <a:ext cx="3077750" cy="2239617"/>
          </a:xfrm>
          <a:prstGeom prst="rect">
            <a:avLst/>
          </a:prstGeom>
          <a:noFill/>
        </p:spPr>
      </p:pic>
      <p:sp>
        <p:nvSpPr>
          <p:cNvPr id="7" name="Rectangle 6"/>
          <p:cNvSpPr/>
          <p:nvPr/>
        </p:nvSpPr>
        <p:spPr bwMode="auto">
          <a:xfrm>
            <a:off x="2340694" y="1792440"/>
            <a:ext cx="1424057" cy="64508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9" name="Straight Arrow Connector 8"/>
          <p:cNvCxnSpPr>
            <a:stCxn id="7" idx="2"/>
          </p:cNvCxnSpPr>
          <p:nvPr/>
        </p:nvCxnSpPr>
        <p:spPr bwMode="auto">
          <a:xfrm>
            <a:off x="3052723" y="2437529"/>
            <a:ext cx="2145578" cy="1922746"/>
          </a:xfrm>
          <a:prstGeom prst="straightConnector1">
            <a:avLst/>
          </a:prstGeom>
          <a:solidFill>
            <a:srgbClr val="3374D4"/>
          </a:solidFill>
          <a:ln w="28575" cap="flat" cmpd="sng" algn="ctr">
            <a:solidFill>
              <a:srgbClr val="FF0000"/>
            </a:solidFill>
            <a:prstDash val="solid"/>
            <a:round/>
            <a:headEnd type="none" w="med" len="med"/>
            <a:tailEnd type="arrow"/>
          </a:ln>
          <a:effectLst/>
        </p:spPr>
      </p:cxnSp>
      <p:sp>
        <p:nvSpPr>
          <p:cNvPr id="10" name="Rectangle 9"/>
          <p:cNvSpPr/>
          <p:nvPr/>
        </p:nvSpPr>
        <p:spPr bwMode="auto">
          <a:xfrm>
            <a:off x="863167" y="4822242"/>
            <a:ext cx="1354483" cy="24847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12" name="Straight Arrow Connector 11"/>
          <p:cNvCxnSpPr>
            <a:stCxn id="10" idx="3"/>
          </p:cNvCxnSpPr>
          <p:nvPr/>
        </p:nvCxnSpPr>
        <p:spPr bwMode="auto">
          <a:xfrm>
            <a:off x="2217650" y="4946481"/>
            <a:ext cx="2379402" cy="0"/>
          </a:xfrm>
          <a:prstGeom prst="straightConnector1">
            <a:avLst/>
          </a:prstGeom>
          <a:solidFill>
            <a:srgbClr val="3374D4"/>
          </a:solidFill>
          <a:ln w="28575" cap="flat" cmpd="sng" algn="ctr">
            <a:solidFill>
              <a:srgbClr val="FF0000"/>
            </a:solidFill>
            <a:prstDash val="solid"/>
            <a:round/>
            <a:headEnd type="none" w="med" len="med"/>
            <a:tailEnd type="arrow"/>
          </a:ln>
          <a:effectLst/>
        </p:spPr>
      </p:cxnSp>
      <p:sp>
        <p:nvSpPr>
          <p:cNvPr id="13" name="Rectangle 12"/>
          <p:cNvSpPr/>
          <p:nvPr/>
        </p:nvSpPr>
        <p:spPr bwMode="auto">
          <a:xfrm>
            <a:off x="4673939" y="4400168"/>
            <a:ext cx="1115943" cy="121257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idx="1"/>
          </p:nvPr>
        </p:nvSpPr>
        <p:spPr/>
        <p:txBody>
          <a:bodyPr/>
          <a:lstStyle/>
          <a:p>
            <a:pPr eaLnBrk="1" hangingPunct="1"/>
            <a:r>
              <a:rPr lang="en-US" dirty="0"/>
              <a:t>Goal: Have the analyst enter </a:t>
            </a:r>
            <a:r>
              <a:rPr lang="en-US" dirty="0">
                <a:solidFill>
                  <a:srgbClr val="C00000"/>
                </a:solidFill>
              </a:rPr>
              <a:t>Label Claim </a:t>
            </a:r>
            <a:r>
              <a:rPr lang="en-US" dirty="0"/>
              <a:t>in preparation to having </a:t>
            </a:r>
            <a:r>
              <a:rPr lang="en-US" dirty="0">
                <a:solidFill>
                  <a:srgbClr val="C00000"/>
                </a:solidFill>
              </a:rPr>
              <a:t>Percent Label Claim </a:t>
            </a:r>
            <a:r>
              <a:rPr lang="en-US" dirty="0"/>
              <a:t>calculated</a:t>
            </a:r>
          </a:p>
        </p:txBody>
      </p:sp>
      <p:sp>
        <p:nvSpPr>
          <p:cNvPr id="754691" name="Rectangle 3" descr="25%"/>
          <p:cNvSpPr>
            <a:spLocks noGrp="1" noChangeArrowheads="1"/>
          </p:cNvSpPr>
          <p:nvPr>
            <p:ph type="title"/>
          </p:nvPr>
        </p:nvSpPr>
        <p:spPr/>
        <p:txBody>
          <a:bodyPr/>
          <a:lstStyle/>
          <a:p>
            <a:pPr eaLnBrk="1" hangingPunct="1">
              <a:defRPr/>
            </a:pPr>
            <a:br>
              <a:rPr lang="en-US" dirty="0"/>
            </a:br>
            <a:r>
              <a:rPr lang="en-US" dirty="0"/>
              <a:t>Create New </a:t>
            </a:r>
            <a:r>
              <a:rPr lang="en-US" dirty="0">
                <a:solidFill>
                  <a:schemeClr val="accent2"/>
                </a:solidFill>
              </a:rPr>
              <a:t>Component</a:t>
            </a:r>
            <a:r>
              <a:rPr lang="en-US" dirty="0"/>
              <a:t> Type Field</a:t>
            </a:r>
          </a:p>
        </p:txBody>
      </p:sp>
    </p:spTree>
  </p:cSld>
  <p:clrMapOvr>
    <a:masterClrMapping/>
  </p:clrMapOvr>
  <p:transition>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41.png"/>
          <p:cNvPicPr>
            <a:picLocks noGrp="1" noChangeAspect="1"/>
          </p:cNvPicPr>
          <p:nvPr>
            <p:ph idx="1"/>
          </p:nvPr>
        </p:nvPicPr>
        <p:blipFill>
          <a:blip r:embed="rId3" cstate="print"/>
          <a:stretch>
            <a:fillRect/>
          </a:stretch>
        </p:blipFill>
        <p:spPr>
          <a:xfrm>
            <a:off x="1348511" y="1266737"/>
            <a:ext cx="6434448" cy="4956263"/>
          </a:xfrm>
        </p:spPr>
      </p:pic>
      <p:sp>
        <p:nvSpPr>
          <p:cNvPr id="756739"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Component</a:t>
            </a:r>
            <a:r>
              <a:rPr lang="en-US" dirty="0"/>
              <a:t> Type Field</a:t>
            </a:r>
          </a:p>
        </p:txBody>
      </p:sp>
      <p:sp>
        <p:nvSpPr>
          <p:cNvPr id="9" name="Oval 8"/>
          <p:cNvSpPr/>
          <p:nvPr/>
        </p:nvSpPr>
        <p:spPr bwMode="auto">
          <a:xfrm>
            <a:off x="4775200" y="2884993"/>
            <a:ext cx="1147898" cy="37890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Oval 9"/>
          <p:cNvSpPr/>
          <p:nvPr/>
        </p:nvSpPr>
        <p:spPr bwMode="auto">
          <a:xfrm>
            <a:off x="3708399" y="4502385"/>
            <a:ext cx="1179355" cy="429619"/>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1" name="Rectangle 10"/>
          <p:cNvSpPr/>
          <p:nvPr/>
        </p:nvSpPr>
        <p:spPr bwMode="auto">
          <a:xfrm>
            <a:off x="4549318" y="5765814"/>
            <a:ext cx="959723" cy="29486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42.png"/>
          <p:cNvPicPr>
            <a:picLocks noGrp="1" noChangeAspect="1"/>
          </p:cNvPicPr>
          <p:nvPr>
            <p:ph idx="1"/>
          </p:nvPr>
        </p:nvPicPr>
        <p:blipFill>
          <a:blip r:embed="rId3" cstate="print"/>
          <a:stretch>
            <a:fillRect/>
          </a:stretch>
        </p:blipFill>
        <p:spPr>
          <a:xfrm>
            <a:off x="1386280" y="1345116"/>
            <a:ext cx="6349180" cy="4890584"/>
          </a:xfrm>
        </p:spPr>
      </p:pic>
      <p:sp>
        <p:nvSpPr>
          <p:cNvPr id="758787"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Component</a:t>
            </a:r>
            <a:r>
              <a:rPr lang="en-US" dirty="0"/>
              <a:t> Type Field</a:t>
            </a:r>
          </a:p>
        </p:txBody>
      </p:sp>
      <p:sp>
        <p:nvSpPr>
          <p:cNvPr id="9" name="Oval 8"/>
          <p:cNvSpPr/>
          <p:nvPr/>
        </p:nvSpPr>
        <p:spPr bwMode="auto">
          <a:xfrm>
            <a:off x="3389545" y="2379104"/>
            <a:ext cx="1044987" cy="348329"/>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Rectangle 9"/>
          <p:cNvSpPr/>
          <p:nvPr/>
        </p:nvSpPr>
        <p:spPr bwMode="auto">
          <a:xfrm>
            <a:off x="3180731" y="3377705"/>
            <a:ext cx="970343" cy="33588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1" name="Rectangle 10"/>
          <p:cNvSpPr/>
          <p:nvPr/>
        </p:nvSpPr>
        <p:spPr bwMode="auto">
          <a:xfrm>
            <a:off x="4534340" y="5728195"/>
            <a:ext cx="968890" cy="37482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43.png"/>
          <p:cNvPicPr>
            <a:picLocks noGrp="1" noChangeAspect="1"/>
          </p:cNvPicPr>
          <p:nvPr>
            <p:ph idx="1"/>
          </p:nvPr>
        </p:nvPicPr>
        <p:blipFill>
          <a:blip r:embed="rId3" cstate="print"/>
          <a:stretch>
            <a:fillRect/>
          </a:stretch>
        </p:blipFill>
        <p:spPr>
          <a:xfrm>
            <a:off x="1382854" y="1316850"/>
            <a:ext cx="6376846" cy="4911894"/>
          </a:xfrm>
        </p:spPr>
      </p:pic>
      <p:sp>
        <p:nvSpPr>
          <p:cNvPr id="760835"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Component</a:t>
            </a:r>
            <a:r>
              <a:rPr lang="en-US" dirty="0"/>
              <a:t> Type Field</a:t>
            </a:r>
          </a:p>
        </p:txBody>
      </p:sp>
      <p:sp>
        <p:nvSpPr>
          <p:cNvPr id="9" name="Rectangle 8"/>
          <p:cNvSpPr/>
          <p:nvPr/>
        </p:nvSpPr>
        <p:spPr bwMode="auto">
          <a:xfrm>
            <a:off x="4522850" y="2575125"/>
            <a:ext cx="372560" cy="29804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Rectangle 9"/>
          <p:cNvSpPr/>
          <p:nvPr/>
        </p:nvSpPr>
        <p:spPr bwMode="auto">
          <a:xfrm>
            <a:off x="4535550" y="3421130"/>
            <a:ext cx="372560" cy="29804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1" name="Rectangle 10"/>
          <p:cNvSpPr/>
          <p:nvPr/>
        </p:nvSpPr>
        <p:spPr bwMode="auto">
          <a:xfrm>
            <a:off x="5177594" y="4271834"/>
            <a:ext cx="608515" cy="28562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2" name="Rectangle 11"/>
          <p:cNvSpPr/>
          <p:nvPr/>
        </p:nvSpPr>
        <p:spPr bwMode="auto">
          <a:xfrm>
            <a:off x="5192832" y="4593903"/>
            <a:ext cx="940969" cy="269555"/>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3" name="Rectangle 12"/>
          <p:cNvSpPr/>
          <p:nvPr/>
        </p:nvSpPr>
        <p:spPr bwMode="auto">
          <a:xfrm>
            <a:off x="4548249" y="5749719"/>
            <a:ext cx="928981" cy="32498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44.png"/>
          <p:cNvPicPr>
            <a:picLocks noGrp="1" noChangeAspect="1"/>
          </p:cNvPicPr>
          <p:nvPr>
            <p:ph idx="1"/>
          </p:nvPr>
        </p:nvPicPr>
        <p:blipFill>
          <a:blip r:embed="rId3" cstate="print"/>
          <a:stretch>
            <a:fillRect/>
          </a:stretch>
        </p:blipFill>
        <p:spPr>
          <a:xfrm>
            <a:off x="1372455" y="1326960"/>
            <a:ext cx="6389238" cy="4921439"/>
          </a:xfrm>
        </p:spPr>
      </p:pic>
      <p:sp>
        <p:nvSpPr>
          <p:cNvPr id="762883"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Component</a:t>
            </a:r>
            <a:r>
              <a:rPr lang="en-US" dirty="0"/>
              <a:t> Type Field</a:t>
            </a:r>
          </a:p>
        </p:txBody>
      </p:sp>
      <p:sp>
        <p:nvSpPr>
          <p:cNvPr id="9" name="Rectangle 8"/>
          <p:cNvSpPr/>
          <p:nvPr/>
        </p:nvSpPr>
        <p:spPr bwMode="auto">
          <a:xfrm>
            <a:off x="4247719" y="2590800"/>
            <a:ext cx="1245870" cy="34289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Rectangle 9"/>
          <p:cNvSpPr/>
          <p:nvPr/>
        </p:nvSpPr>
        <p:spPr bwMode="auto">
          <a:xfrm>
            <a:off x="3587515" y="3277621"/>
            <a:ext cx="3593771" cy="78637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1" name="Rectangle 10"/>
          <p:cNvSpPr/>
          <p:nvPr/>
        </p:nvSpPr>
        <p:spPr bwMode="auto">
          <a:xfrm>
            <a:off x="4599888" y="5789979"/>
            <a:ext cx="866899" cy="27402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endParaRPr lang="en-US"/>
          </a:p>
        </p:txBody>
      </p:sp>
      <p:sp>
        <p:nvSpPr>
          <p:cNvPr id="2" name="Title 1"/>
          <p:cNvSpPr>
            <a:spLocks noGrp="1"/>
          </p:cNvSpPr>
          <p:nvPr>
            <p:ph type="title"/>
          </p:nvPr>
        </p:nvSpPr>
        <p:spPr>
          <a:xfrm>
            <a:off x="457200" y="31468"/>
            <a:ext cx="6745266" cy="1005840"/>
          </a:xfrm>
        </p:spPr>
        <p:txBody>
          <a:bodyPr/>
          <a:lstStyle/>
          <a:p>
            <a:br>
              <a:rPr lang="en-US" dirty="0"/>
            </a:br>
            <a:r>
              <a:rPr lang="en-US" dirty="0"/>
              <a:t>Entering: </a:t>
            </a:r>
            <a:r>
              <a:rPr lang="en-US" dirty="0">
                <a:solidFill>
                  <a:schemeClr val="accent2"/>
                </a:solidFill>
              </a:rPr>
              <a:t>Component</a:t>
            </a:r>
            <a:r>
              <a:rPr lang="en-US" dirty="0"/>
              <a:t> Type Custom Fields Info</a:t>
            </a:r>
          </a:p>
        </p:txBody>
      </p:sp>
      <p:pic>
        <p:nvPicPr>
          <p:cNvPr id="108548" name="Picture 4" descr="H:\Empower CF screen captures\ScreenHunter_19 Mar. 07 10.30.jpg"/>
          <p:cNvPicPr>
            <a:picLocks noChangeAspect="1" noChangeArrowheads="1"/>
          </p:cNvPicPr>
          <p:nvPr/>
        </p:nvPicPr>
        <p:blipFill>
          <a:blip r:embed="rId3" cstate="print"/>
          <a:srcRect/>
          <a:stretch>
            <a:fillRect/>
          </a:stretch>
        </p:blipFill>
        <p:spPr bwMode="auto">
          <a:xfrm>
            <a:off x="652678" y="1302098"/>
            <a:ext cx="7954963" cy="5147924"/>
          </a:xfrm>
          <a:prstGeom prst="rect">
            <a:avLst/>
          </a:prstGeom>
          <a:noFill/>
        </p:spPr>
      </p:pic>
      <p:sp>
        <p:nvSpPr>
          <p:cNvPr id="7" name="Rectangle 6"/>
          <p:cNvSpPr/>
          <p:nvPr/>
        </p:nvSpPr>
        <p:spPr bwMode="auto">
          <a:xfrm>
            <a:off x="1825842" y="3627468"/>
            <a:ext cx="948690" cy="29718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8" name="Rectangle 7"/>
          <p:cNvSpPr/>
          <p:nvPr/>
        </p:nvSpPr>
        <p:spPr bwMode="auto">
          <a:xfrm>
            <a:off x="4302342" y="1874868"/>
            <a:ext cx="2997200" cy="37338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idx="1"/>
          </p:nvPr>
        </p:nvSpPr>
        <p:spPr/>
        <p:txBody>
          <a:bodyPr/>
          <a:lstStyle/>
          <a:p>
            <a:pPr eaLnBrk="1" hangingPunct="1"/>
            <a:r>
              <a:rPr lang="en-US" dirty="0"/>
              <a:t>Goal: Have Empower calculate </a:t>
            </a:r>
            <a:r>
              <a:rPr lang="en-US" dirty="0">
                <a:solidFill>
                  <a:srgbClr val="C00000"/>
                </a:solidFill>
              </a:rPr>
              <a:t>Percent Label Claim</a:t>
            </a:r>
          </a:p>
          <a:p>
            <a:pPr lvl="1" eaLnBrk="1" hangingPunct="1"/>
            <a:endParaRPr lang="en-US" dirty="0"/>
          </a:p>
          <a:p>
            <a:pPr eaLnBrk="1" hangingPunct="1">
              <a:buFont typeface="Monotype Sorts"/>
              <a:buNone/>
            </a:pPr>
            <a:endParaRPr lang="en-US" dirty="0"/>
          </a:p>
        </p:txBody>
      </p:sp>
      <p:sp>
        <p:nvSpPr>
          <p:cNvPr id="764931" name="Rectangle 3" descr="25%"/>
          <p:cNvSpPr>
            <a:spLocks noGrp="1" noChangeArrowheads="1"/>
          </p:cNvSpPr>
          <p:nvPr>
            <p:ph type="title"/>
          </p:nvPr>
        </p:nvSpPr>
        <p:spPr/>
        <p:txBody>
          <a:bodyPr/>
          <a:lstStyle/>
          <a:p>
            <a:pPr eaLnBrk="1" hangingPunct="1">
              <a:defRPr/>
            </a:pPr>
            <a:r>
              <a:rPr lang="en-US" dirty="0"/>
              <a:t>Create New </a:t>
            </a:r>
            <a:r>
              <a:rPr lang="en-US" dirty="0">
                <a:solidFill>
                  <a:schemeClr val="accent2"/>
                </a:solidFill>
              </a:rPr>
              <a:t>Peak</a:t>
            </a:r>
            <a:r>
              <a:rPr lang="en-US" dirty="0"/>
              <a:t> Type Field</a:t>
            </a:r>
          </a:p>
        </p:txBody>
      </p:sp>
    </p:spTree>
  </p:cSld>
  <p:clrMapOvr>
    <a:masterClrMapping/>
  </p:clrMapOvr>
  <p:transition>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46.png"/>
          <p:cNvPicPr>
            <a:picLocks noGrp="1" noChangeAspect="1"/>
          </p:cNvPicPr>
          <p:nvPr>
            <p:ph idx="1"/>
          </p:nvPr>
        </p:nvPicPr>
        <p:blipFill>
          <a:blip r:embed="rId3" cstate="print"/>
          <a:stretch>
            <a:fillRect/>
          </a:stretch>
        </p:blipFill>
        <p:spPr>
          <a:xfrm>
            <a:off x="1384136" y="1332416"/>
            <a:ext cx="6365667" cy="4903284"/>
          </a:xfrm>
        </p:spPr>
      </p:pic>
      <p:sp>
        <p:nvSpPr>
          <p:cNvPr id="766979"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a:t>
            </a:r>
          </a:p>
        </p:txBody>
      </p:sp>
      <p:sp>
        <p:nvSpPr>
          <p:cNvPr id="9" name="Oval 8"/>
          <p:cNvSpPr/>
          <p:nvPr/>
        </p:nvSpPr>
        <p:spPr bwMode="auto">
          <a:xfrm>
            <a:off x="5645725" y="2672442"/>
            <a:ext cx="814122" cy="35376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Oval 9"/>
          <p:cNvSpPr/>
          <p:nvPr/>
        </p:nvSpPr>
        <p:spPr bwMode="auto">
          <a:xfrm>
            <a:off x="3769613" y="4583875"/>
            <a:ext cx="1077991" cy="348261"/>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1" name="Rectangle 10"/>
          <p:cNvSpPr/>
          <p:nvPr/>
        </p:nvSpPr>
        <p:spPr bwMode="auto">
          <a:xfrm>
            <a:off x="4560470" y="5751120"/>
            <a:ext cx="932528" cy="29804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book 3 pg 47.png"/>
          <p:cNvPicPr>
            <a:picLocks noGrp="1" noChangeAspect="1"/>
          </p:cNvPicPr>
          <p:nvPr>
            <p:ph idx="1"/>
          </p:nvPr>
        </p:nvPicPr>
        <p:blipFill>
          <a:blip r:embed="rId3" cstate="print"/>
          <a:stretch>
            <a:fillRect/>
          </a:stretch>
        </p:blipFill>
        <p:spPr>
          <a:xfrm>
            <a:off x="555376" y="1488632"/>
            <a:ext cx="4933334" cy="3800000"/>
          </a:xfrm>
        </p:spPr>
      </p:pic>
      <p:sp>
        <p:nvSpPr>
          <p:cNvPr id="769027"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a:t>
            </a:r>
          </a:p>
        </p:txBody>
      </p:sp>
      <p:pic>
        <p:nvPicPr>
          <p:cNvPr id="10" name="Content Placeholder 9" descr="book 3 pg 47a.png"/>
          <p:cNvPicPr>
            <a:picLocks noGrp="1" noChangeAspect="1"/>
          </p:cNvPicPr>
          <p:nvPr>
            <p:ph sz="half" idx="4294967295"/>
          </p:nvPr>
        </p:nvPicPr>
        <p:blipFill>
          <a:blip r:embed="rId4" cstate="print"/>
          <a:stretch>
            <a:fillRect/>
          </a:stretch>
        </p:blipFill>
        <p:spPr>
          <a:xfrm>
            <a:off x="4256725" y="4152093"/>
            <a:ext cx="4465246" cy="1583203"/>
          </a:xfrm>
        </p:spPr>
      </p:pic>
      <p:sp>
        <p:nvSpPr>
          <p:cNvPr id="14" name="Bent Arrow 13"/>
          <p:cNvSpPr/>
          <p:nvPr/>
        </p:nvSpPr>
        <p:spPr bwMode="auto">
          <a:xfrm rot="5400000">
            <a:off x="6018076" y="2248136"/>
            <a:ext cx="1433663" cy="2028091"/>
          </a:xfrm>
          <a:prstGeom prst="bentArrow">
            <a:avLst/>
          </a:prstGeom>
          <a:solidFill>
            <a:srgbClr val="FF0000"/>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5" name="Rectangle 14"/>
          <p:cNvSpPr/>
          <p:nvPr/>
        </p:nvSpPr>
        <p:spPr bwMode="auto">
          <a:xfrm>
            <a:off x="7766246" y="5313387"/>
            <a:ext cx="838492" cy="27168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48.png"/>
          <p:cNvPicPr>
            <a:picLocks noGrp="1" noChangeAspect="1"/>
          </p:cNvPicPr>
          <p:nvPr>
            <p:ph idx="1"/>
          </p:nvPr>
        </p:nvPicPr>
        <p:blipFill>
          <a:blip r:embed="rId3" cstate="print"/>
          <a:stretch>
            <a:fillRect/>
          </a:stretch>
        </p:blipFill>
        <p:spPr>
          <a:xfrm>
            <a:off x="1358900" y="1328168"/>
            <a:ext cx="6399826" cy="4929596"/>
          </a:xfrm>
        </p:spPr>
      </p:pic>
      <p:sp>
        <p:nvSpPr>
          <p:cNvPr id="771075"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a:t>
            </a:r>
          </a:p>
        </p:txBody>
      </p:sp>
      <p:sp>
        <p:nvSpPr>
          <p:cNvPr id="9" name="Rectangle 8"/>
          <p:cNvSpPr/>
          <p:nvPr/>
        </p:nvSpPr>
        <p:spPr bwMode="auto">
          <a:xfrm>
            <a:off x="4527380" y="5782701"/>
            <a:ext cx="953162" cy="32169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Rectangle 9"/>
          <p:cNvSpPr/>
          <p:nvPr/>
        </p:nvSpPr>
        <p:spPr bwMode="auto">
          <a:xfrm>
            <a:off x="3430271" y="1838081"/>
            <a:ext cx="1934017" cy="31396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49.png"/>
          <p:cNvPicPr>
            <a:picLocks noGrp="1" noChangeAspect="1"/>
          </p:cNvPicPr>
          <p:nvPr>
            <p:ph idx="1"/>
          </p:nvPr>
        </p:nvPicPr>
        <p:blipFill>
          <a:blip r:embed="rId3" cstate="print"/>
          <a:stretch>
            <a:fillRect/>
          </a:stretch>
        </p:blipFill>
        <p:spPr>
          <a:xfrm>
            <a:off x="1358900" y="1255452"/>
            <a:ext cx="6408614" cy="4936364"/>
          </a:xfrm>
        </p:spPr>
      </p:pic>
      <p:sp>
        <p:nvSpPr>
          <p:cNvPr id="777219"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a:t>
            </a:r>
          </a:p>
        </p:txBody>
      </p:sp>
      <p:sp>
        <p:nvSpPr>
          <p:cNvPr id="9" name="Rectangle 8"/>
          <p:cNvSpPr/>
          <p:nvPr/>
        </p:nvSpPr>
        <p:spPr bwMode="auto">
          <a:xfrm>
            <a:off x="4543058" y="5745479"/>
            <a:ext cx="960927" cy="30534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Rectangle 9"/>
          <p:cNvSpPr/>
          <p:nvPr/>
        </p:nvSpPr>
        <p:spPr bwMode="auto">
          <a:xfrm>
            <a:off x="4536356" y="2535116"/>
            <a:ext cx="382158" cy="32052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1" name="Rectangle 10"/>
          <p:cNvSpPr/>
          <p:nvPr/>
        </p:nvSpPr>
        <p:spPr bwMode="auto">
          <a:xfrm>
            <a:off x="4559802" y="3355437"/>
            <a:ext cx="382158" cy="32052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book 3 pg 50.png"/>
          <p:cNvPicPr>
            <a:picLocks noGrp="1" noChangeAspect="1"/>
          </p:cNvPicPr>
          <p:nvPr>
            <p:ph idx="1"/>
          </p:nvPr>
        </p:nvPicPr>
        <p:blipFill>
          <a:blip r:embed="rId3" cstate="print"/>
          <a:stretch>
            <a:fillRect/>
          </a:stretch>
        </p:blipFill>
        <p:spPr>
          <a:xfrm>
            <a:off x="1346201" y="1288167"/>
            <a:ext cx="6421314" cy="4946146"/>
          </a:xfrm>
        </p:spPr>
      </p:pic>
      <p:sp>
        <p:nvSpPr>
          <p:cNvPr id="773123"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a:t>
            </a:r>
          </a:p>
        </p:txBody>
      </p:sp>
      <p:sp>
        <p:nvSpPr>
          <p:cNvPr id="9" name="Rectangle 8"/>
          <p:cNvSpPr/>
          <p:nvPr/>
        </p:nvSpPr>
        <p:spPr bwMode="auto">
          <a:xfrm>
            <a:off x="4262579" y="2565985"/>
            <a:ext cx="1587334" cy="32242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Rectangle 9"/>
          <p:cNvSpPr/>
          <p:nvPr/>
        </p:nvSpPr>
        <p:spPr bwMode="auto">
          <a:xfrm>
            <a:off x="3550068" y="3245825"/>
            <a:ext cx="3900924" cy="75519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1" name="Rectangle 10"/>
          <p:cNvSpPr/>
          <p:nvPr/>
        </p:nvSpPr>
        <p:spPr bwMode="auto">
          <a:xfrm>
            <a:off x="4549100" y="5725550"/>
            <a:ext cx="941208" cy="344685"/>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lstStyle/>
          <a:p>
            <a:endParaRPr lang="en-US"/>
          </a:p>
        </p:txBody>
      </p:sp>
      <p:sp>
        <p:nvSpPr>
          <p:cNvPr id="2" name="Title 1"/>
          <p:cNvSpPr>
            <a:spLocks noGrp="1"/>
          </p:cNvSpPr>
          <p:nvPr>
            <p:ph type="title"/>
          </p:nvPr>
        </p:nvSpPr>
        <p:spPr/>
        <p:txBody>
          <a:bodyPr/>
          <a:lstStyle/>
          <a:p>
            <a:br>
              <a:rPr lang="en-US" dirty="0"/>
            </a:br>
            <a:r>
              <a:rPr lang="en-US" dirty="0"/>
              <a:t>Viewing: </a:t>
            </a:r>
            <a:r>
              <a:rPr lang="en-US" dirty="0">
                <a:solidFill>
                  <a:schemeClr val="accent2"/>
                </a:solidFill>
              </a:rPr>
              <a:t>Result</a:t>
            </a:r>
            <a:r>
              <a:rPr lang="en-US" dirty="0"/>
              <a:t> of </a:t>
            </a:r>
            <a:r>
              <a:rPr lang="en-US" dirty="0">
                <a:solidFill>
                  <a:schemeClr val="accent2"/>
                </a:solidFill>
              </a:rPr>
              <a:t>Peak</a:t>
            </a:r>
            <a:r>
              <a:rPr lang="en-US" dirty="0"/>
              <a:t> Type CF Calculation</a:t>
            </a:r>
          </a:p>
        </p:txBody>
      </p:sp>
      <p:pic>
        <p:nvPicPr>
          <p:cNvPr id="110594" name="Picture 2" descr="H:\Empower CF screen captures\ScreenHunter_22 Mar. 07 10.35.jpg"/>
          <p:cNvPicPr>
            <a:picLocks noChangeAspect="1" noChangeArrowheads="1"/>
          </p:cNvPicPr>
          <p:nvPr/>
        </p:nvPicPr>
        <p:blipFill>
          <a:blip r:embed="rId3" cstate="print"/>
          <a:srcRect t="676"/>
          <a:stretch>
            <a:fillRect/>
          </a:stretch>
        </p:blipFill>
        <p:spPr bwMode="auto">
          <a:xfrm>
            <a:off x="880828" y="1327759"/>
            <a:ext cx="7369365" cy="4854858"/>
          </a:xfrm>
          <a:prstGeom prst="rect">
            <a:avLst/>
          </a:prstGeom>
          <a:noFill/>
        </p:spPr>
      </p:pic>
      <p:pic>
        <p:nvPicPr>
          <p:cNvPr id="4" name="Picture 2" descr="H:\Empower CF screen captures\ScreenHunter_22 Mar. 07 10.35.jpg"/>
          <p:cNvPicPr>
            <a:picLocks noChangeAspect="1" noChangeArrowheads="1"/>
          </p:cNvPicPr>
          <p:nvPr/>
        </p:nvPicPr>
        <p:blipFill>
          <a:blip r:embed="rId3" cstate="print"/>
          <a:srcRect l="49298" t="71690" r="40208" b="3690"/>
          <a:stretch>
            <a:fillRect/>
          </a:stretch>
        </p:blipFill>
        <p:spPr bwMode="auto">
          <a:xfrm>
            <a:off x="5466567" y="4189445"/>
            <a:ext cx="1442574" cy="2244840"/>
          </a:xfrm>
          <a:prstGeom prst="rect">
            <a:avLst/>
          </a:prstGeom>
          <a:noFill/>
          <a:ln w="25400">
            <a:solidFill>
              <a:srgbClr val="FF0000"/>
            </a:solidFill>
          </a:ln>
        </p:spPr>
      </p:pic>
      <p:cxnSp>
        <p:nvCxnSpPr>
          <p:cNvPr id="6" name="Straight Connector 5"/>
          <p:cNvCxnSpPr/>
          <p:nvPr/>
        </p:nvCxnSpPr>
        <p:spPr bwMode="auto">
          <a:xfrm flipV="1">
            <a:off x="4535374" y="4164904"/>
            <a:ext cx="894522" cy="646043"/>
          </a:xfrm>
          <a:prstGeom prst="line">
            <a:avLst/>
          </a:prstGeom>
          <a:solidFill>
            <a:srgbClr val="3374D4"/>
          </a:solidFill>
          <a:ln w="28575" cap="flat" cmpd="sng" algn="ctr">
            <a:solidFill>
              <a:srgbClr val="FF0000"/>
            </a:solidFill>
            <a:prstDash val="solid"/>
            <a:round/>
            <a:headEnd type="none" w="med" len="med"/>
            <a:tailEnd type="none" w="med" len="med"/>
          </a:ln>
          <a:effectLst/>
        </p:spPr>
      </p:cxnSp>
      <p:cxnSp>
        <p:nvCxnSpPr>
          <p:cNvPr id="7" name="Straight Connector 6"/>
          <p:cNvCxnSpPr/>
          <p:nvPr/>
        </p:nvCxnSpPr>
        <p:spPr bwMode="auto">
          <a:xfrm>
            <a:off x="4528748" y="6136166"/>
            <a:ext cx="940905" cy="304799"/>
          </a:xfrm>
          <a:prstGeom prst="line">
            <a:avLst/>
          </a:prstGeom>
          <a:solidFill>
            <a:srgbClr val="3374D4"/>
          </a:solidFill>
          <a:ln w="28575" cap="flat" cmpd="sng" algn="ctr">
            <a:solidFill>
              <a:srgbClr val="FF0000"/>
            </a:solidFill>
            <a:prstDash val="solid"/>
            <a:round/>
            <a:headEnd type="none" w="med" len="med"/>
            <a:tailEnd type="none" w="med" len="med"/>
          </a:ln>
          <a:effectLst/>
        </p:spPr>
      </p:cxnSp>
    </p:spTree>
  </p:cSld>
  <p:clrMapOvr>
    <a:masterClrMapping/>
  </p:clrMapOvr>
  <p:transition>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br>
              <a:rPr lang="en-US" dirty="0"/>
            </a:br>
            <a:br>
              <a:rPr lang="en-US" dirty="0"/>
            </a:br>
            <a:r>
              <a:rPr lang="en-US" dirty="0"/>
              <a:t>Viewing: </a:t>
            </a:r>
            <a:r>
              <a:rPr lang="en-US" dirty="0">
                <a:solidFill>
                  <a:schemeClr val="accent2"/>
                </a:solidFill>
              </a:rPr>
              <a:t>Result</a:t>
            </a:r>
            <a:r>
              <a:rPr lang="en-US" dirty="0"/>
              <a:t> of </a:t>
            </a:r>
            <a:r>
              <a:rPr lang="en-US" dirty="0">
                <a:solidFill>
                  <a:schemeClr val="accent2"/>
                </a:solidFill>
              </a:rPr>
              <a:t>Peak</a:t>
            </a:r>
            <a:r>
              <a:rPr lang="en-US" dirty="0"/>
              <a:t> Type CF Calculation</a:t>
            </a:r>
          </a:p>
        </p:txBody>
      </p:sp>
      <p:pic>
        <p:nvPicPr>
          <p:cNvPr id="109571" name="Picture 3" descr="H:\Empower CF screen captures\ScreenHunter_21 Mar. 07 10.35.jpg"/>
          <p:cNvPicPr>
            <a:picLocks noChangeAspect="1" noChangeArrowheads="1"/>
          </p:cNvPicPr>
          <p:nvPr/>
        </p:nvPicPr>
        <p:blipFill>
          <a:blip r:embed="rId3" cstate="print"/>
          <a:srcRect t="2383"/>
          <a:stretch>
            <a:fillRect/>
          </a:stretch>
        </p:blipFill>
        <p:spPr bwMode="auto">
          <a:xfrm>
            <a:off x="570887" y="1340285"/>
            <a:ext cx="6976028" cy="4649181"/>
          </a:xfrm>
          <a:prstGeom prst="rect">
            <a:avLst/>
          </a:prstGeom>
          <a:noFill/>
        </p:spPr>
      </p:pic>
      <p:sp>
        <p:nvSpPr>
          <p:cNvPr id="6" name="Title 1"/>
          <p:cNvSpPr txBox="1">
            <a:spLocks/>
          </p:cNvSpPr>
          <p:nvPr/>
        </p:nvSpPr>
        <p:spPr bwMode="gray">
          <a:xfrm>
            <a:off x="152400" y="0"/>
            <a:ext cx="8801100" cy="10414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dirty="0">
              <a:ln>
                <a:noFill/>
              </a:ln>
              <a:solidFill>
                <a:schemeClr val="tx1"/>
              </a:solidFill>
              <a:effectLst/>
              <a:uLnTx/>
              <a:uFillTx/>
              <a:latin typeface="+mj-lt"/>
              <a:ea typeface="ＭＳ Ｐゴシック" pitchFamily="31" charset="-128"/>
              <a:cs typeface="ＭＳ Ｐゴシック" pitchFamily="31" charset="-128"/>
            </a:endParaRPr>
          </a:p>
        </p:txBody>
      </p:sp>
      <p:sp>
        <p:nvSpPr>
          <p:cNvPr id="7" name="TextBox 6"/>
          <p:cNvSpPr txBox="1"/>
          <p:nvPr/>
        </p:nvSpPr>
        <p:spPr>
          <a:xfrm>
            <a:off x="4822521" y="3511916"/>
            <a:ext cx="2730674" cy="338554"/>
          </a:xfrm>
          <a:prstGeom prst="rect">
            <a:avLst/>
          </a:prstGeom>
          <a:solidFill>
            <a:schemeClr val="bg1"/>
          </a:solidFill>
        </p:spPr>
        <p:txBody>
          <a:bodyPr wrap="square" rtlCol="0">
            <a:spAutoFit/>
          </a:bodyPr>
          <a:lstStyle/>
          <a:p>
            <a:r>
              <a:rPr lang="en-US" dirty="0">
                <a:latin typeface="Arial" pitchFamily="34" charset="0"/>
                <a:cs typeface="Arial" pitchFamily="34" charset="0"/>
              </a:rPr>
              <a:t>Not calculated for Standard</a:t>
            </a:r>
          </a:p>
        </p:txBody>
      </p:sp>
      <p:cxnSp>
        <p:nvCxnSpPr>
          <p:cNvPr id="9" name="Straight Arrow Connector 8"/>
          <p:cNvCxnSpPr/>
          <p:nvPr/>
        </p:nvCxnSpPr>
        <p:spPr bwMode="auto">
          <a:xfrm flipH="1">
            <a:off x="4546948" y="3870542"/>
            <a:ext cx="713984" cy="1578280"/>
          </a:xfrm>
          <a:prstGeom prst="straightConnector1">
            <a:avLst/>
          </a:prstGeom>
          <a:solidFill>
            <a:srgbClr val="3374D4"/>
          </a:solidFill>
          <a:ln w="28575" cap="flat" cmpd="sng" algn="ctr">
            <a:solidFill>
              <a:srgbClr val="FF0000"/>
            </a:solidFill>
            <a:prstDash val="solid"/>
            <a:round/>
            <a:headEnd type="none" w="med" len="med"/>
            <a:tailEnd type="arrow"/>
          </a:ln>
          <a:effectLst/>
        </p:spPr>
      </p:cxnSp>
      <p:pic>
        <p:nvPicPr>
          <p:cNvPr id="12" name="Picture 2" descr="H:\Empower CF screen captures\ScreenHunter_10 Mar. 07 10.22.jpg"/>
          <p:cNvPicPr>
            <a:picLocks noChangeAspect="1" noChangeArrowheads="1"/>
          </p:cNvPicPr>
          <p:nvPr/>
        </p:nvPicPr>
        <p:blipFill>
          <a:blip r:embed="rId4" cstate="print"/>
          <a:srcRect l="26997" t="69498" r="21160"/>
          <a:stretch>
            <a:fillRect/>
          </a:stretch>
        </p:blipFill>
        <p:spPr bwMode="auto">
          <a:xfrm>
            <a:off x="6147326" y="4911137"/>
            <a:ext cx="2557845" cy="1153269"/>
          </a:xfrm>
          <a:prstGeom prst="rect">
            <a:avLst/>
          </a:prstGeom>
          <a:noFill/>
        </p:spPr>
      </p:pic>
      <p:cxnSp>
        <p:nvCxnSpPr>
          <p:cNvPr id="14" name="Straight Arrow Connector 13"/>
          <p:cNvCxnSpPr/>
          <p:nvPr/>
        </p:nvCxnSpPr>
        <p:spPr bwMode="auto">
          <a:xfrm>
            <a:off x="5757136" y="3837593"/>
            <a:ext cx="1031971" cy="1222922"/>
          </a:xfrm>
          <a:prstGeom prst="straightConnector1">
            <a:avLst/>
          </a:prstGeom>
          <a:solidFill>
            <a:srgbClr val="3374D4"/>
          </a:solidFill>
          <a:ln w="28575"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flipH="1">
            <a:off x="7214992" y="3858016"/>
            <a:ext cx="12526" cy="626302"/>
          </a:xfrm>
          <a:prstGeom prst="straightConnector1">
            <a:avLst/>
          </a:prstGeom>
          <a:solidFill>
            <a:srgbClr val="3374D4"/>
          </a:solidFill>
          <a:ln w="28575" cap="flat" cmpd="sng" algn="ctr">
            <a:solidFill>
              <a:srgbClr val="FF0000"/>
            </a:solidFill>
            <a:prstDash val="solid"/>
            <a:round/>
            <a:headEnd type="none" w="med" len="med"/>
            <a:tailEnd type="arrow"/>
          </a:ln>
          <a:effectLst/>
        </p:spPr>
      </p:cxnSp>
    </p:spTree>
  </p:cSld>
  <p:clrMapOvr>
    <a:masterClrMapping/>
  </p:clrMapOvr>
  <p:transition>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idx="1"/>
          </p:nvPr>
        </p:nvSpPr>
        <p:spPr/>
        <p:txBody>
          <a:bodyPr/>
          <a:lstStyle/>
          <a:p>
            <a:pPr eaLnBrk="1" hangingPunct="1"/>
            <a:r>
              <a:rPr lang="en-US" dirty="0"/>
              <a:t>Goal: Have Empower notify an analyst if a sample is </a:t>
            </a:r>
            <a:r>
              <a:rPr lang="en-US" dirty="0">
                <a:solidFill>
                  <a:srgbClr val="C00000"/>
                </a:solidFill>
              </a:rPr>
              <a:t>Outside Potency Limits</a:t>
            </a:r>
            <a:r>
              <a:rPr lang="en-US" dirty="0"/>
              <a:t> or at </a:t>
            </a:r>
            <a:r>
              <a:rPr lang="en-US" dirty="0">
                <a:solidFill>
                  <a:srgbClr val="C00000"/>
                </a:solidFill>
              </a:rPr>
              <a:t>Acceptable Potency</a:t>
            </a:r>
          </a:p>
          <a:p>
            <a:pPr lvl="1" eaLnBrk="1" hangingPunct="1"/>
            <a:endParaRPr lang="en-US" dirty="0"/>
          </a:p>
          <a:p>
            <a:pPr eaLnBrk="1" hangingPunct="1">
              <a:buFont typeface="Monotype Sorts"/>
              <a:buNone/>
            </a:pPr>
            <a:endParaRPr lang="en-US" dirty="0"/>
          </a:p>
        </p:txBody>
      </p:sp>
      <p:sp>
        <p:nvSpPr>
          <p:cNvPr id="779267" name="Rectangle 3" descr="25%"/>
          <p:cNvSpPr>
            <a:spLocks noGrp="1" noChangeArrowheads="1"/>
          </p:cNvSpPr>
          <p:nvPr>
            <p:ph type="title"/>
          </p:nvPr>
        </p:nvSpPr>
        <p:spPr/>
        <p:txBody>
          <a:bodyPr/>
          <a:lstStyle/>
          <a:p>
            <a:pPr eaLnBrk="1" hangingPunct="1">
              <a:defRPr/>
            </a:pPr>
            <a:br>
              <a:rPr lang="en-US" dirty="0"/>
            </a:br>
            <a:r>
              <a:rPr lang="en-US" dirty="0"/>
              <a:t>Create New </a:t>
            </a:r>
            <a:r>
              <a:rPr lang="en-US" dirty="0">
                <a:solidFill>
                  <a:schemeClr val="accent2"/>
                </a:solidFill>
              </a:rPr>
              <a:t>Peak</a:t>
            </a:r>
            <a:r>
              <a:rPr lang="en-US" dirty="0"/>
              <a:t> Type Field </a:t>
            </a:r>
            <a:r>
              <a:rPr lang="en-US" dirty="0">
                <a:solidFill>
                  <a:schemeClr val="accent2"/>
                </a:solidFill>
              </a:rPr>
              <a:t>(</a:t>
            </a:r>
            <a:r>
              <a:rPr lang="en-US" dirty="0" err="1">
                <a:solidFill>
                  <a:schemeClr val="accent2"/>
                </a:solidFill>
              </a:rPr>
              <a:t>Bool</a:t>
            </a:r>
            <a:r>
              <a:rPr lang="en-US" dirty="0">
                <a:solidFill>
                  <a:schemeClr val="accent2"/>
                </a:solidFill>
              </a:rPr>
              <a:t>)</a:t>
            </a:r>
          </a:p>
        </p:txBody>
      </p:sp>
    </p:spTree>
  </p:cSld>
  <p:clrMapOvr>
    <a:masterClrMapping/>
  </p:clrMapOvr>
  <p:transition>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pPr eaLnBrk="1" hangingPunct="1">
              <a:defRPr/>
            </a:pPr>
            <a:r>
              <a:rPr lang="en-US"/>
              <a:t>Custom Fields Operators</a:t>
            </a:r>
          </a:p>
        </p:txBody>
      </p:sp>
      <p:sp>
        <p:nvSpPr>
          <p:cNvPr id="24579" name="Rectangle 3"/>
          <p:cNvSpPr>
            <a:spLocks noChangeArrowheads="1"/>
          </p:cNvSpPr>
          <p:nvPr/>
        </p:nvSpPr>
        <p:spPr bwMode="auto">
          <a:xfrm>
            <a:off x="533400" y="1201616"/>
            <a:ext cx="3505200" cy="366713"/>
          </a:xfrm>
          <a:prstGeom prst="rect">
            <a:avLst/>
          </a:prstGeom>
          <a:noFill/>
          <a:ln w="9525">
            <a:noFill/>
            <a:miter lim="800000"/>
            <a:headEnd/>
            <a:tailEnd/>
          </a:ln>
        </p:spPr>
        <p:txBody>
          <a:bodyPr>
            <a:spAutoFit/>
          </a:bodyPr>
          <a:lstStyle/>
          <a:p>
            <a:r>
              <a:rPr lang="en-US" sz="1800" b="1" dirty="0">
                <a:latin typeface="Tahoma" pitchFamily="34" charset="0"/>
                <a:cs typeface="Times New Roman" pitchFamily="18" charset="0"/>
              </a:rPr>
              <a:t>Mathematical Operators</a:t>
            </a:r>
            <a:endParaRPr lang="en-US" sz="1800" b="1" dirty="0">
              <a:latin typeface="Tahoma" pitchFamily="34" charset="0"/>
            </a:endParaRPr>
          </a:p>
        </p:txBody>
      </p:sp>
      <p:grpSp>
        <p:nvGrpSpPr>
          <p:cNvPr id="2" name="Group 48"/>
          <p:cNvGrpSpPr>
            <a:grpSpLocks/>
          </p:cNvGrpSpPr>
          <p:nvPr/>
        </p:nvGrpSpPr>
        <p:grpSpPr bwMode="auto">
          <a:xfrm>
            <a:off x="533400" y="1647094"/>
            <a:ext cx="4114800" cy="2438400"/>
            <a:chOff x="-3" y="400"/>
            <a:chExt cx="1661" cy="2827"/>
          </a:xfrm>
        </p:grpSpPr>
        <p:grpSp>
          <p:nvGrpSpPr>
            <p:cNvPr id="3" name="Group 46"/>
            <p:cNvGrpSpPr>
              <a:grpSpLocks/>
            </p:cNvGrpSpPr>
            <p:nvPr/>
          </p:nvGrpSpPr>
          <p:grpSpPr bwMode="auto">
            <a:xfrm>
              <a:off x="0" y="403"/>
              <a:ext cx="1655" cy="2821"/>
              <a:chOff x="0" y="403"/>
              <a:chExt cx="1655" cy="2821"/>
            </a:xfrm>
          </p:grpSpPr>
          <p:grpSp>
            <p:nvGrpSpPr>
              <p:cNvPr id="4" name="Group 19"/>
              <p:cNvGrpSpPr>
                <a:grpSpLocks/>
              </p:cNvGrpSpPr>
              <p:nvPr/>
            </p:nvGrpSpPr>
            <p:grpSpPr bwMode="auto">
              <a:xfrm>
                <a:off x="0" y="403"/>
                <a:ext cx="633" cy="403"/>
                <a:chOff x="0" y="403"/>
                <a:chExt cx="633" cy="403"/>
              </a:xfrm>
            </p:grpSpPr>
            <p:sp>
              <p:nvSpPr>
                <p:cNvPr id="24691" name="Rectangle 4"/>
                <p:cNvSpPr>
                  <a:spLocks noChangeArrowheads="1"/>
                </p:cNvSpPr>
                <p:nvPr/>
              </p:nvSpPr>
              <p:spPr bwMode="auto">
                <a:xfrm>
                  <a:off x="43" y="403"/>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92" name="Rectangle 18"/>
                <p:cNvSpPr>
                  <a:spLocks noChangeArrowheads="1"/>
                </p:cNvSpPr>
                <p:nvPr/>
              </p:nvSpPr>
              <p:spPr bwMode="auto">
                <a:xfrm>
                  <a:off x="0" y="403"/>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5" name="Group 21"/>
              <p:cNvGrpSpPr>
                <a:grpSpLocks/>
              </p:cNvGrpSpPr>
              <p:nvPr/>
            </p:nvGrpSpPr>
            <p:grpSpPr bwMode="auto">
              <a:xfrm>
                <a:off x="633" y="403"/>
                <a:ext cx="1022" cy="403"/>
                <a:chOff x="633" y="403"/>
                <a:chExt cx="1022" cy="403"/>
              </a:xfrm>
            </p:grpSpPr>
            <p:sp>
              <p:nvSpPr>
                <p:cNvPr id="24689" name="Rectangle 5"/>
                <p:cNvSpPr>
                  <a:spLocks noChangeArrowheads="1"/>
                </p:cNvSpPr>
                <p:nvPr/>
              </p:nvSpPr>
              <p:spPr bwMode="auto">
                <a:xfrm>
                  <a:off x="676" y="403"/>
                  <a:ext cx="936" cy="403"/>
                </a:xfrm>
                <a:prstGeom prst="rect">
                  <a:avLst/>
                </a:prstGeom>
                <a:noFill/>
                <a:ln w="9525">
                  <a:noFill/>
                  <a:miter lim="800000"/>
                  <a:headEnd/>
                  <a:tailEnd/>
                </a:ln>
              </p:spPr>
              <p:txBody>
                <a:bodyPr/>
                <a:lstStyle/>
                <a:p>
                  <a:r>
                    <a:rPr lang="en-US" sz="1800">
                      <a:latin typeface="Arial" pitchFamily="34" charset="0"/>
                      <a:cs typeface="Arial" pitchFamily="34" charset="0"/>
                    </a:rPr>
                    <a:t>Subtraction</a:t>
                  </a:r>
                </a:p>
                <a:p>
                  <a:endParaRPr lang="en-US" sz="1800">
                    <a:latin typeface="Arial" pitchFamily="34" charset="0"/>
                    <a:cs typeface="Arial" pitchFamily="34" charset="0"/>
                  </a:endParaRPr>
                </a:p>
              </p:txBody>
            </p:sp>
            <p:sp>
              <p:nvSpPr>
                <p:cNvPr id="24690" name="Rectangle 20"/>
                <p:cNvSpPr>
                  <a:spLocks noChangeArrowheads="1"/>
                </p:cNvSpPr>
                <p:nvPr/>
              </p:nvSpPr>
              <p:spPr bwMode="auto">
                <a:xfrm>
                  <a:off x="633" y="403"/>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6" name="Group 23"/>
              <p:cNvGrpSpPr>
                <a:grpSpLocks/>
              </p:cNvGrpSpPr>
              <p:nvPr/>
            </p:nvGrpSpPr>
            <p:grpSpPr bwMode="auto">
              <a:xfrm>
                <a:off x="0" y="806"/>
                <a:ext cx="633" cy="403"/>
                <a:chOff x="0" y="806"/>
                <a:chExt cx="633" cy="403"/>
              </a:xfrm>
            </p:grpSpPr>
            <p:sp>
              <p:nvSpPr>
                <p:cNvPr id="24687" name="Rectangle 6"/>
                <p:cNvSpPr>
                  <a:spLocks noChangeArrowheads="1"/>
                </p:cNvSpPr>
                <p:nvPr/>
              </p:nvSpPr>
              <p:spPr bwMode="auto">
                <a:xfrm>
                  <a:off x="43" y="806"/>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88" name="Rectangle 22"/>
                <p:cNvSpPr>
                  <a:spLocks noChangeArrowheads="1"/>
                </p:cNvSpPr>
                <p:nvPr/>
              </p:nvSpPr>
              <p:spPr bwMode="auto">
                <a:xfrm>
                  <a:off x="0" y="806"/>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7" name="Group 25"/>
              <p:cNvGrpSpPr>
                <a:grpSpLocks/>
              </p:cNvGrpSpPr>
              <p:nvPr/>
            </p:nvGrpSpPr>
            <p:grpSpPr bwMode="auto">
              <a:xfrm>
                <a:off x="633" y="806"/>
                <a:ext cx="1022" cy="403"/>
                <a:chOff x="633" y="806"/>
                <a:chExt cx="1022" cy="403"/>
              </a:xfrm>
            </p:grpSpPr>
            <p:sp>
              <p:nvSpPr>
                <p:cNvPr id="24685" name="Rectangle 7"/>
                <p:cNvSpPr>
                  <a:spLocks noChangeArrowheads="1"/>
                </p:cNvSpPr>
                <p:nvPr/>
              </p:nvSpPr>
              <p:spPr bwMode="auto">
                <a:xfrm>
                  <a:off x="676" y="806"/>
                  <a:ext cx="936" cy="403"/>
                </a:xfrm>
                <a:prstGeom prst="rect">
                  <a:avLst/>
                </a:prstGeom>
                <a:noFill/>
                <a:ln w="9525">
                  <a:noFill/>
                  <a:miter lim="800000"/>
                  <a:headEnd/>
                  <a:tailEnd/>
                </a:ln>
              </p:spPr>
              <p:txBody>
                <a:bodyPr/>
                <a:lstStyle/>
                <a:p>
                  <a:r>
                    <a:rPr lang="en-US" sz="1800">
                      <a:latin typeface="Arial" pitchFamily="34" charset="0"/>
                      <a:cs typeface="Arial" pitchFamily="34" charset="0"/>
                    </a:rPr>
                    <a:t>Left parenthesis</a:t>
                  </a:r>
                </a:p>
                <a:p>
                  <a:endParaRPr lang="en-US" sz="1800">
                    <a:latin typeface="Arial" pitchFamily="34" charset="0"/>
                    <a:cs typeface="Arial" pitchFamily="34" charset="0"/>
                  </a:endParaRPr>
                </a:p>
              </p:txBody>
            </p:sp>
            <p:sp>
              <p:nvSpPr>
                <p:cNvPr id="24686" name="Rectangle 24"/>
                <p:cNvSpPr>
                  <a:spLocks noChangeArrowheads="1"/>
                </p:cNvSpPr>
                <p:nvPr/>
              </p:nvSpPr>
              <p:spPr bwMode="auto">
                <a:xfrm>
                  <a:off x="633" y="806"/>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8" name="Group 27"/>
              <p:cNvGrpSpPr>
                <a:grpSpLocks/>
              </p:cNvGrpSpPr>
              <p:nvPr/>
            </p:nvGrpSpPr>
            <p:grpSpPr bwMode="auto">
              <a:xfrm>
                <a:off x="0" y="1209"/>
                <a:ext cx="633" cy="403"/>
                <a:chOff x="0" y="1209"/>
                <a:chExt cx="633" cy="403"/>
              </a:xfrm>
            </p:grpSpPr>
            <p:sp>
              <p:nvSpPr>
                <p:cNvPr id="24683" name="Rectangle 8"/>
                <p:cNvSpPr>
                  <a:spLocks noChangeArrowheads="1"/>
                </p:cNvSpPr>
                <p:nvPr/>
              </p:nvSpPr>
              <p:spPr bwMode="auto">
                <a:xfrm>
                  <a:off x="43" y="1209"/>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84" name="Rectangle 26"/>
                <p:cNvSpPr>
                  <a:spLocks noChangeArrowheads="1"/>
                </p:cNvSpPr>
                <p:nvPr/>
              </p:nvSpPr>
              <p:spPr bwMode="auto">
                <a:xfrm>
                  <a:off x="0" y="1209"/>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9" name="Group 29"/>
              <p:cNvGrpSpPr>
                <a:grpSpLocks/>
              </p:cNvGrpSpPr>
              <p:nvPr/>
            </p:nvGrpSpPr>
            <p:grpSpPr bwMode="auto">
              <a:xfrm>
                <a:off x="633" y="1209"/>
                <a:ext cx="1022" cy="403"/>
                <a:chOff x="633" y="1209"/>
                <a:chExt cx="1022" cy="403"/>
              </a:xfrm>
            </p:grpSpPr>
            <p:sp>
              <p:nvSpPr>
                <p:cNvPr id="24681" name="Rectangle 9"/>
                <p:cNvSpPr>
                  <a:spLocks noChangeArrowheads="1"/>
                </p:cNvSpPr>
                <p:nvPr/>
              </p:nvSpPr>
              <p:spPr bwMode="auto">
                <a:xfrm>
                  <a:off x="676" y="1209"/>
                  <a:ext cx="936" cy="403"/>
                </a:xfrm>
                <a:prstGeom prst="rect">
                  <a:avLst/>
                </a:prstGeom>
                <a:noFill/>
                <a:ln w="9525">
                  <a:noFill/>
                  <a:miter lim="800000"/>
                  <a:headEnd/>
                  <a:tailEnd/>
                </a:ln>
              </p:spPr>
              <p:txBody>
                <a:bodyPr/>
                <a:lstStyle/>
                <a:p>
                  <a:r>
                    <a:rPr lang="en-US" sz="1800">
                      <a:latin typeface="Arial" pitchFamily="34" charset="0"/>
                      <a:cs typeface="Arial" pitchFamily="34" charset="0"/>
                    </a:rPr>
                    <a:t>Right parenthesis</a:t>
                  </a:r>
                </a:p>
                <a:p>
                  <a:endParaRPr lang="en-US" sz="1800">
                    <a:latin typeface="Arial" pitchFamily="34" charset="0"/>
                    <a:cs typeface="Arial" pitchFamily="34" charset="0"/>
                  </a:endParaRPr>
                </a:p>
              </p:txBody>
            </p:sp>
            <p:sp>
              <p:nvSpPr>
                <p:cNvPr id="24682" name="Rectangle 28"/>
                <p:cNvSpPr>
                  <a:spLocks noChangeArrowheads="1"/>
                </p:cNvSpPr>
                <p:nvPr/>
              </p:nvSpPr>
              <p:spPr bwMode="auto">
                <a:xfrm>
                  <a:off x="633" y="1209"/>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0" name="Group 31"/>
              <p:cNvGrpSpPr>
                <a:grpSpLocks/>
              </p:cNvGrpSpPr>
              <p:nvPr/>
            </p:nvGrpSpPr>
            <p:grpSpPr bwMode="auto">
              <a:xfrm>
                <a:off x="0" y="1612"/>
                <a:ext cx="633" cy="403"/>
                <a:chOff x="0" y="1612"/>
                <a:chExt cx="633" cy="403"/>
              </a:xfrm>
            </p:grpSpPr>
            <p:sp>
              <p:nvSpPr>
                <p:cNvPr id="24679" name="Rectangle 10"/>
                <p:cNvSpPr>
                  <a:spLocks noChangeArrowheads="1"/>
                </p:cNvSpPr>
                <p:nvPr/>
              </p:nvSpPr>
              <p:spPr bwMode="auto">
                <a:xfrm>
                  <a:off x="43" y="1612"/>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80" name="Rectangle 30"/>
                <p:cNvSpPr>
                  <a:spLocks noChangeArrowheads="1"/>
                </p:cNvSpPr>
                <p:nvPr/>
              </p:nvSpPr>
              <p:spPr bwMode="auto">
                <a:xfrm>
                  <a:off x="0" y="1612"/>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1" name="Group 33"/>
              <p:cNvGrpSpPr>
                <a:grpSpLocks/>
              </p:cNvGrpSpPr>
              <p:nvPr/>
            </p:nvGrpSpPr>
            <p:grpSpPr bwMode="auto">
              <a:xfrm>
                <a:off x="633" y="1612"/>
                <a:ext cx="1022" cy="403"/>
                <a:chOff x="633" y="1612"/>
                <a:chExt cx="1022" cy="403"/>
              </a:xfrm>
            </p:grpSpPr>
            <p:sp>
              <p:nvSpPr>
                <p:cNvPr id="24677" name="Rectangle 11"/>
                <p:cNvSpPr>
                  <a:spLocks noChangeArrowheads="1"/>
                </p:cNvSpPr>
                <p:nvPr/>
              </p:nvSpPr>
              <p:spPr bwMode="auto">
                <a:xfrm>
                  <a:off x="676" y="1612"/>
                  <a:ext cx="936" cy="403"/>
                </a:xfrm>
                <a:prstGeom prst="rect">
                  <a:avLst/>
                </a:prstGeom>
                <a:noFill/>
                <a:ln w="9525">
                  <a:noFill/>
                  <a:miter lim="800000"/>
                  <a:headEnd/>
                  <a:tailEnd/>
                </a:ln>
              </p:spPr>
              <p:txBody>
                <a:bodyPr/>
                <a:lstStyle/>
                <a:p>
                  <a:r>
                    <a:rPr lang="en-US" sz="1800">
                      <a:latin typeface="Arial" pitchFamily="34" charset="0"/>
                      <a:cs typeface="Arial" pitchFamily="34" charset="0"/>
                    </a:rPr>
                    <a:t>Multiplication</a:t>
                  </a:r>
                </a:p>
                <a:p>
                  <a:endParaRPr lang="en-US" sz="1800">
                    <a:latin typeface="Arial" pitchFamily="34" charset="0"/>
                    <a:cs typeface="Arial" pitchFamily="34" charset="0"/>
                  </a:endParaRPr>
                </a:p>
              </p:txBody>
            </p:sp>
            <p:sp>
              <p:nvSpPr>
                <p:cNvPr id="24678" name="Rectangle 32"/>
                <p:cNvSpPr>
                  <a:spLocks noChangeArrowheads="1"/>
                </p:cNvSpPr>
                <p:nvPr/>
              </p:nvSpPr>
              <p:spPr bwMode="auto">
                <a:xfrm>
                  <a:off x="633" y="1612"/>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2" name="Group 35"/>
              <p:cNvGrpSpPr>
                <a:grpSpLocks/>
              </p:cNvGrpSpPr>
              <p:nvPr/>
            </p:nvGrpSpPr>
            <p:grpSpPr bwMode="auto">
              <a:xfrm>
                <a:off x="0" y="2015"/>
                <a:ext cx="633" cy="403"/>
                <a:chOff x="0" y="2015"/>
                <a:chExt cx="633" cy="403"/>
              </a:xfrm>
            </p:grpSpPr>
            <p:sp>
              <p:nvSpPr>
                <p:cNvPr id="24675" name="Rectangle 12"/>
                <p:cNvSpPr>
                  <a:spLocks noChangeArrowheads="1"/>
                </p:cNvSpPr>
                <p:nvPr/>
              </p:nvSpPr>
              <p:spPr bwMode="auto">
                <a:xfrm>
                  <a:off x="43" y="2015"/>
                  <a:ext cx="547" cy="403"/>
                </a:xfrm>
                <a:prstGeom prst="rect">
                  <a:avLst/>
                </a:prstGeom>
                <a:noFill/>
                <a:ln w="9525">
                  <a:noFill/>
                  <a:miter lim="800000"/>
                  <a:headEnd/>
                  <a:tailEnd/>
                </a:ln>
              </p:spPr>
              <p:txBody>
                <a:bodyPr/>
                <a:lstStyle/>
                <a:p>
                  <a:r>
                    <a:rPr lang="en-US" sz="1800" dirty="0">
                      <a:latin typeface="Arial" pitchFamily="34" charset="0"/>
                      <a:cs typeface="Arial" pitchFamily="34" charset="0"/>
                    </a:rPr>
                    <a:t>**</a:t>
                  </a:r>
                </a:p>
                <a:p>
                  <a:endParaRPr lang="en-US" sz="1800" dirty="0">
                    <a:latin typeface="Arial" pitchFamily="34" charset="0"/>
                    <a:cs typeface="Arial" pitchFamily="34" charset="0"/>
                  </a:endParaRPr>
                </a:p>
              </p:txBody>
            </p:sp>
            <p:sp>
              <p:nvSpPr>
                <p:cNvPr id="24676" name="Rectangle 34"/>
                <p:cNvSpPr>
                  <a:spLocks noChangeArrowheads="1"/>
                </p:cNvSpPr>
                <p:nvPr/>
              </p:nvSpPr>
              <p:spPr bwMode="auto">
                <a:xfrm>
                  <a:off x="0" y="2015"/>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3" name="Group 37"/>
              <p:cNvGrpSpPr>
                <a:grpSpLocks/>
              </p:cNvGrpSpPr>
              <p:nvPr/>
            </p:nvGrpSpPr>
            <p:grpSpPr bwMode="auto">
              <a:xfrm>
                <a:off x="633" y="2015"/>
                <a:ext cx="1022" cy="403"/>
                <a:chOff x="633" y="2015"/>
                <a:chExt cx="1022" cy="403"/>
              </a:xfrm>
            </p:grpSpPr>
            <p:sp>
              <p:nvSpPr>
                <p:cNvPr id="24673" name="Rectangle 13"/>
                <p:cNvSpPr>
                  <a:spLocks noChangeArrowheads="1"/>
                </p:cNvSpPr>
                <p:nvPr/>
              </p:nvSpPr>
              <p:spPr bwMode="auto">
                <a:xfrm>
                  <a:off x="676" y="2015"/>
                  <a:ext cx="936" cy="403"/>
                </a:xfrm>
                <a:prstGeom prst="rect">
                  <a:avLst/>
                </a:prstGeom>
                <a:noFill/>
                <a:ln w="9525">
                  <a:noFill/>
                  <a:miter lim="800000"/>
                  <a:headEnd/>
                  <a:tailEnd/>
                </a:ln>
              </p:spPr>
              <p:txBody>
                <a:bodyPr/>
                <a:lstStyle/>
                <a:p>
                  <a:r>
                    <a:rPr lang="en-US" sz="1800" dirty="0">
                      <a:latin typeface="Arial" pitchFamily="34" charset="0"/>
                      <a:cs typeface="Arial" pitchFamily="34" charset="0"/>
                    </a:rPr>
                    <a:t>Exponent</a:t>
                  </a:r>
                </a:p>
                <a:p>
                  <a:endParaRPr lang="en-US" sz="1800" dirty="0">
                    <a:latin typeface="Arial" pitchFamily="34" charset="0"/>
                    <a:cs typeface="Arial" pitchFamily="34" charset="0"/>
                  </a:endParaRPr>
                </a:p>
              </p:txBody>
            </p:sp>
            <p:sp>
              <p:nvSpPr>
                <p:cNvPr id="24674" name="Rectangle 36"/>
                <p:cNvSpPr>
                  <a:spLocks noChangeArrowheads="1"/>
                </p:cNvSpPr>
                <p:nvPr/>
              </p:nvSpPr>
              <p:spPr bwMode="auto">
                <a:xfrm>
                  <a:off x="633" y="2015"/>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4" name="Group 39"/>
              <p:cNvGrpSpPr>
                <a:grpSpLocks/>
              </p:cNvGrpSpPr>
              <p:nvPr/>
            </p:nvGrpSpPr>
            <p:grpSpPr bwMode="auto">
              <a:xfrm>
                <a:off x="0" y="2418"/>
                <a:ext cx="633" cy="403"/>
                <a:chOff x="0" y="2418"/>
                <a:chExt cx="633" cy="403"/>
              </a:xfrm>
            </p:grpSpPr>
            <p:sp>
              <p:nvSpPr>
                <p:cNvPr id="24671" name="Rectangle 14"/>
                <p:cNvSpPr>
                  <a:spLocks noChangeArrowheads="1"/>
                </p:cNvSpPr>
                <p:nvPr/>
              </p:nvSpPr>
              <p:spPr bwMode="auto">
                <a:xfrm>
                  <a:off x="43" y="2418"/>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72" name="Rectangle 38"/>
                <p:cNvSpPr>
                  <a:spLocks noChangeArrowheads="1"/>
                </p:cNvSpPr>
                <p:nvPr/>
              </p:nvSpPr>
              <p:spPr bwMode="auto">
                <a:xfrm>
                  <a:off x="0" y="2418"/>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5" name="Group 41"/>
              <p:cNvGrpSpPr>
                <a:grpSpLocks/>
              </p:cNvGrpSpPr>
              <p:nvPr/>
            </p:nvGrpSpPr>
            <p:grpSpPr bwMode="auto">
              <a:xfrm>
                <a:off x="633" y="2418"/>
                <a:ext cx="1022" cy="403"/>
                <a:chOff x="633" y="2418"/>
                <a:chExt cx="1022" cy="403"/>
              </a:xfrm>
            </p:grpSpPr>
            <p:sp>
              <p:nvSpPr>
                <p:cNvPr id="24669" name="Rectangle 15"/>
                <p:cNvSpPr>
                  <a:spLocks noChangeArrowheads="1"/>
                </p:cNvSpPr>
                <p:nvPr/>
              </p:nvSpPr>
              <p:spPr bwMode="auto">
                <a:xfrm>
                  <a:off x="676" y="2418"/>
                  <a:ext cx="936" cy="403"/>
                </a:xfrm>
                <a:prstGeom prst="rect">
                  <a:avLst/>
                </a:prstGeom>
                <a:noFill/>
                <a:ln w="9525">
                  <a:noFill/>
                  <a:miter lim="800000"/>
                  <a:headEnd/>
                  <a:tailEnd/>
                </a:ln>
              </p:spPr>
              <p:txBody>
                <a:bodyPr/>
                <a:lstStyle/>
                <a:p>
                  <a:r>
                    <a:rPr lang="en-US" sz="1800">
                      <a:latin typeface="Arial" pitchFamily="34" charset="0"/>
                      <a:cs typeface="Arial" pitchFamily="34" charset="0"/>
                    </a:rPr>
                    <a:t>Division</a:t>
                  </a:r>
                </a:p>
                <a:p>
                  <a:endParaRPr lang="en-US" sz="1800">
                    <a:latin typeface="Arial" pitchFamily="34" charset="0"/>
                    <a:cs typeface="Arial" pitchFamily="34" charset="0"/>
                  </a:endParaRPr>
                </a:p>
              </p:txBody>
            </p:sp>
            <p:sp>
              <p:nvSpPr>
                <p:cNvPr id="24670" name="Rectangle 40"/>
                <p:cNvSpPr>
                  <a:spLocks noChangeArrowheads="1"/>
                </p:cNvSpPr>
                <p:nvPr/>
              </p:nvSpPr>
              <p:spPr bwMode="auto">
                <a:xfrm>
                  <a:off x="633" y="2418"/>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6" name="Group 43"/>
              <p:cNvGrpSpPr>
                <a:grpSpLocks/>
              </p:cNvGrpSpPr>
              <p:nvPr/>
            </p:nvGrpSpPr>
            <p:grpSpPr bwMode="auto">
              <a:xfrm>
                <a:off x="0" y="2821"/>
                <a:ext cx="633" cy="403"/>
                <a:chOff x="0" y="2821"/>
                <a:chExt cx="633" cy="403"/>
              </a:xfrm>
            </p:grpSpPr>
            <p:sp>
              <p:nvSpPr>
                <p:cNvPr id="24667" name="Rectangle 16"/>
                <p:cNvSpPr>
                  <a:spLocks noChangeArrowheads="1"/>
                </p:cNvSpPr>
                <p:nvPr/>
              </p:nvSpPr>
              <p:spPr bwMode="auto">
                <a:xfrm>
                  <a:off x="43" y="2821"/>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4668" name="Rectangle 42"/>
                <p:cNvSpPr>
                  <a:spLocks noChangeArrowheads="1"/>
                </p:cNvSpPr>
                <p:nvPr/>
              </p:nvSpPr>
              <p:spPr bwMode="auto">
                <a:xfrm>
                  <a:off x="0" y="2821"/>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7" name="Group 45"/>
              <p:cNvGrpSpPr>
                <a:grpSpLocks/>
              </p:cNvGrpSpPr>
              <p:nvPr/>
            </p:nvGrpSpPr>
            <p:grpSpPr bwMode="auto">
              <a:xfrm>
                <a:off x="633" y="2821"/>
                <a:ext cx="1022" cy="403"/>
                <a:chOff x="633" y="2821"/>
                <a:chExt cx="1022" cy="403"/>
              </a:xfrm>
            </p:grpSpPr>
            <p:sp>
              <p:nvSpPr>
                <p:cNvPr id="24665" name="Rectangle 17"/>
                <p:cNvSpPr>
                  <a:spLocks noChangeArrowheads="1"/>
                </p:cNvSpPr>
                <p:nvPr/>
              </p:nvSpPr>
              <p:spPr bwMode="auto">
                <a:xfrm>
                  <a:off x="676" y="2821"/>
                  <a:ext cx="936" cy="403"/>
                </a:xfrm>
                <a:prstGeom prst="rect">
                  <a:avLst/>
                </a:prstGeom>
                <a:noFill/>
                <a:ln w="9525">
                  <a:noFill/>
                  <a:miter lim="800000"/>
                  <a:headEnd/>
                  <a:tailEnd/>
                </a:ln>
              </p:spPr>
              <p:txBody>
                <a:bodyPr/>
                <a:lstStyle/>
                <a:p>
                  <a:r>
                    <a:rPr lang="en-US" sz="1800">
                      <a:latin typeface="Arial" pitchFamily="34" charset="0"/>
                      <a:cs typeface="Arial" pitchFamily="34" charset="0"/>
                    </a:rPr>
                    <a:t>Addition</a:t>
                  </a:r>
                </a:p>
                <a:p>
                  <a:endParaRPr lang="en-US" sz="1800">
                    <a:latin typeface="Arial" pitchFamily="34" charset="0"/>
                    <a:cs typeface="Arial" pitchFamily="34" charset="0"/>
                  </a:endParaRPr>
                </a:p>
              </p:txBody>
            </p:sp>
            <p:sp>
              <p:nvSpPr>
                <p:cNvPr id="24666" name="Rectangle 44"/>
                <p:cNvSpPr>
                  <a:spLocks noChangeArrowheads="1"/>
                </p:cNvSpPr>
                <p:nvPr/>
              </p:nvSpPr>
              <p:spPr bwMode="auto">
                <a:xfrm>
                  <a:off x="633" y="2821"/>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sp>
          <p:nvSpPr>
            <p:cNvPr id="24650" name="Rectangle 47"/>
            <p:cNvSpPr>
              <a:spLocks noChangeArrowheads="1"/>
            </p:cNvSpPr>
            <p:nvPr/>
          </p:nvSpPr>
          <p:spPr bwMode="auto">
            <a:xfrm>
              <a:off x="-3" y="400"/>
              <a:ext cx="1661" cy="2827"/>
            </a:xfrm>
            <a:prstGeom prst="rect">
              <a:avLst/>
            </a:prstGeom>
            <a:noFill/>
            <a:ln w="9525">
              <a:solidFill>
                <a:srgbClr val="A0A0A0"/>
              </a:solidFill>
              <a:miter lim="800000"/>
              <a:headEnd/>
              <a:tailEnd/>
            </a:ln>
          </p:spPr>
          <p:txBody>
            <a:bodyPr/>
            <a:lstStyle/>
            <a:p>
              <a:endParaRPr lang="en-US" sz="1800">
                <a:latin typeface="Arial" pitchFamily="34" charset="0"/>
                <a:cs typeface="Arial" pitchFamily="34" charset="0"/>
              </a:endParaRPr>
            </a:p>
          </p:txBody>
        </p:sp>
      </p:grpSp>
      <p:sp>
        <p:nvSpPr>
          <p:cNvPr id="24581" name="Rectangle 49"/>
          <p:cNvSpPr>
            <a:spLocks noChangeArrowheads="1"/>
          </p:cNvSpPr>
          <p:nvPr/>
        </p:nvSpPr>
        <p:spPr bwMode="auto">
          <a:xfrm>
            <a:off x="4876802" y="1201615"/>
            <a:ext cx="3581400" cy="366713"/>
          </a:xfrm>
          <a:prstGeom prst="rect">
            <a:avLst/>
          </a:prstGeom>
          <a:noFill/>
          <a:ln w="9525">
            <a:noFill/>
            <a:miter lim="800000"/>
            <a:headEnd/>
            <a:tailEnd/>
          </a:ln>
        </p:spPr>
        <p:txBody>
          <a:bodyPr>
            <a:spAutoFit/>
          </a:bodyPr>
          <a:lstStyle/>
          <a:p>
            <a:r>
              <a:rPr lang="en-US" sz="1800" b="1" dirty="0">
                <a:latin typeface="Tahoma" pitchFamily="34" charset="0"/>
                <a:cs typeface="Times New Roman" pitchFamily="18" charset="0"/>
              </a:rPr>
              <a:t>Mathematical Functions</a:t>
            </a:r>
            <a:endParaRPr lang="en-US" sz="1800" b="1" dirty="0">
              <a:latin typeface="Tahoma" pitchFamily="34" charset="0"/>
            </a:endParaRPr>
          </a:p>
        </p:txBody>
      </p:sp>
      <p:grpSp>
        <p:nvGrpSpPr>
          <p:cNvPr id="18" name="Group 88"/>
          <p:cNvGrpSpPr>
            <a:grpSpLocks/>
          </p:cNvGrpSpPr>
          <p:nvPr/>
        </p:nvGrpSpPr>
        <p:grpSpPr bwMode="auto">
          <a:xfrm>
            <a:off x="4847493" y="1652955"/>
            <a:ext cx="3810000" cy="1981200"/>
            <a:chOff x="-3" y="400"/>
            <a:chExt cx="1661" cy="2424"/>
          </a:xfrm>
        </p:grpSpPr>
        <p:grpSp>
          <p:nvGrpSpPr>
            <p:cNvPr id="19" name="Group 86"/>
            <p:cNvGrpSpPr>
              <a:grpSpLocks/>
            </p:cNvGrpSpPr>
            <p:nvPr/>
          </p:nvGrpSpPr>
          <p:grpSpPr bwMode="auto">
            <a:xfrm>
              <a:off x="0" y="403"/>
              <a:ext cx="1655" cy="2418"/>
              <a:chOff x="0" y="403"/>
              <a:chExt cx="1655" cy="2418"/>
            </a:xfrm>
          </p:grpSpPr>
          <p:grpSp>
            <p:nvGrpSpPr>
              <p:cNvPr id="20" name="Group 63"/>
              <p:cNvGrpSpPr>
                <a:grpSpLocks/>
              </p:cNvGrpSpPr>
              <p:nvPr/>
            </p:nvGrpSpPr>
            <p:grpSpPr bwMode="auto">
              <a:xfrm>
                <a:off x="0" y="403"/>
                <a:ext cx="633" cy="403"/>
                <a:chOff x="0" y="403"/>
                <a:chExt cx="633" cy="403"/>
              </a:xfrm>
            </p:grpSpPr>
            <p:sp>
              <p:nvSpPr>
                <p:cNvPr id="24647" name="Rectangle 50"/>
                <p:cNvSpPr>
                  <a:spLocks noChangeArrowheads="1"/>
                </p:cNvSpPr>
                <p:nvPr/>
              </p:nvSpPr>
              <p:spPr bwMode="auto">
                <a:xfrm>
                  <a:off x="43" y="403"/>
                  <a:ext cx="547" cy="403"/>
                </a:xfrm>
                <a:prstGeom prst="rect">
                  <a:avLst/>
                </a:prstGeom>
                <a:noFill/>
                <a:ln w="9525">
                  <a:noFill/>
                  <a:miter lim="800000"/>
                  <a:headEnd/>
                  <a:tailEnd/>
                </a:ln>
              </p:spPr>
              <p:txBody>
                <a:bodyPr/>
                <a:lstStyle/>
                <a:p>
                  <a:r>
                    <a:rPr lang="en-US" sz="1800">
                      <a:latin typeface="Arial" pitchFamily="34" charset="0"/>
                      <a:cs typeface="Arial" pitchFamily="34" charset="0"/>
                    </a:rPr>
                    <a:t>ABS</a:t>
                  </a:r>
                </a:p>
                <a:p>
                  <a:endParaRPr lang="en-US" sz="1800">
                    <a:latin typeface="Arial" pitchFamily="34" charset="0"/>
                    <a:cs typeface="Arial" pitchFamily="34" charset="0"/>
                  </a:endParaRPr>
                </a:p>
              </p:txBody>
            </p:sp>
            <p:sp>
              <p:nvSpPr>
                <p:cNvPr id="24648" name="Rectangle 62"/>
                <p:cNvSpPr>
                  <a:spLocks noChangeArrowheads="1"/>
                </p:cNvSpPr>
                <p:nvPr/>
              </p:nvSpPr>
              <p:spPr bwMode="auto">
                <a:xfrm>
                  <a:off x="0" y="403"/>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1" name="Group 65"/>
              <p:cNvGrpSpPr>
                <a:grpSpLocks/>
              </p:cNvGrpSpPr>
              <p:nvPr/>
            </p:nvGrpSpPr>
            <p:grpSpPr bwMode="auto">
              <a:xfrm>
                <a:off x="633" y="403"/>
                <a:ext cx="1022" cy="403"/>
                <a:chOff x="633" y="403"/>
                <a:chExt cx="1022" cy="403"/>
              </a:xfrm>
            </p:grpSpPr>
            <p:sp>
              <p:nvSpPr>
                <p:cNvPr id="24645" name="Rectangle 51"/>
                <p:cNvSpPr>
                  <a:spLocks noChangeArrowheads="1"/>
                </p:cNvSpPr>
                <p:nvPr/>
              </p:nvSpPr>
              <p:spPr bwMode="auto">
                <a:xfrm>
                  <a:off x="676" y="403"/>
                  <a:ext cx="936" cy="403"/>
                </a:xfrm>
                <a:prstGeom prst="rect">
                  <a:avLst/>
                </a:prstGeom>
                <a:noFill/>
                <a:ln w="9525">
                  <a:noFill/>
                  <a:miter lim="800000"/>
                  <a:headEnd/>
                  <a:tailEnd/>
                </a:ln>
              </p:spPr>
              <p:txBody>
                <a:bodyPr/>
                <a:lstStyle/>
                <a:p>
                  <a:r>
                    <a:rPr lang="en-US" sz="1800">
                      <a:latin typeface="Arial" pitchFamily="34" charset="0"/>
                      <a:cs typeface="Arial" pitchFamily="34" charset="0"/>
                    </a:rPr>
                    <a:t>Absolute value</a:t>
                  </a:r>
                </a:p>
                <a:p>
                  <a:endParaRPr lang="en-US" sz="1800">
                    <a:latin typeface="Arial" pitchFamily="34" charset="0"/>
                    <a:cs typeface="Arial" pitchFamily="34" charset="0"/>
                  </a:endParaRPr>
                </a:p>
              </p:txBody>
            </p:sp>
            <p:sp>
              <p:nvSpPr>
                <p:cNvPr id="24646" name="Rectangle 64"/>
                <p:cNvSpPr>
                  <a:spLocks noChangeArrowheads="1"/>
                </p:cNvSpPr>
                <p:nvPr/>
              </p:nvSpPr>
              <p:spPr bwMode="auto">
                <a:xfrm>
                  <a:off x="633" y="403"/>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2" name="Group 67"/>
              <p:cNvGrpSpPr>
                <a:grpSpLocks/>
              </p:cNvGrpSpPr>
              <p:nvPr/>
            </p:nvGrpSpPr>
            <p:grpSpPr bwMode="auto">
              <a:xfrm>
                <a:off x="0" y="806"/>
                <a:ext cx="633" cy="403"/>
                <a:chOff x="0" y="806"/>
                <a:chExt cx="633" cy="403"/>
              </a:xfrm>
            </p:grpSpPr>
            <p:sp>
              <p:nvSpPr>
                <p:cNvPr id="24643" name="Rectangle 52"/>
                <p:cNvSpPr>
                  <a:spLocks noChangeArrowheads="1"/>
                </p:cNvSpPr>
                <p:nvPr/>
              </p:nvSpPr>
              <p:spPr bwMode="auto">
                <a:xfrm>
                  <a:off x="43" y="806"/>
                  <a:ext cx="547" cy="403"/>
                </a:xfrm>
                <a:prstGeom prst="rect">
                  <a:avLst/>
                </a:prstGeom>
                <a:noFill/>
                <a:ln w="9525">
                  <a:noFill/>
                  <a:miter lim="800000"/>
                  <a:headEnd/>
                  <a:tailEnd/>
                </a:ln>
              </p:spPr>
              <p:txBody>
                <a:bodyPr/>
                <a:lstStyle/>
                <a:p>
                  <a:r>
                    <a:rPr lang="en-US" sz="1800">
                      <a:latin typeface="Arial" pitchFamily="34" charset="0"/>
                      <a:cs typeface="Arial" pitchFamily="34" charset="0"/>
                    </a:rPr>
                    <a:t>COS</a:t>
                  </a:r>
                </a:p>
                <a:p>
                  <a:endParaRPr lang="en-US" sz="1800">
                    <a:latin typeface="Arial" pitchFamily="34" charset="0"/>
                    <a:cs typeface="Arial" pitchFamily="34" charset="0"/>
                  </a:endParaRPr>
                </a:p>
              </p:txBody>
            </p:sp>
            <p:sp>
              <p:nvSpPr>
                <p:cNvPr id="24644" name="Rectangle 66"/>
                <p:cNvSpPr>
                  <a:spLocks noChangeArrowheads="1"/>
                </p:cNvSpPr>
                <p:nvPr/>
              </p:nvSpPr>
              <p:spPr bwMode="auto">
                <a:xfrm>
                  <a:off x="0" y="806"/>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3" name="Group 69"/>
              <p:cNvGrpSpPr>
                <a:grpSpLocks/>
              </p:cNvGrpSpPr>
              <p:nvPr/>
            </p:nvGrpSpPr>
            <p:grpSpPr bwMode="auto">
              <a:xfrm>
                <a:off x="633" y="806"/>
                <a:ext cx="1022" cy="403"/>
                <a:chOff x="633" y="806"/>
                <a:chExt cx="1022" cy="403"/>
              </a:xfrm>
            </p:grpSpPr>
            <p:sp>
              <p:nvSpPr>
                <p:cNvPr id="24641" name="Rectangle 53"/>
                <p:cNvSpPr>
                  <a:spLocks noChangeArrowheads="1"/>
                </p:cNvSpPr>
                <p:nvPr/>
              </p:nvSpPr>
              <p:spPr bwMode="auto">
                <a:xfrm>
                  <a:off x="676" y="806"/>
                  <a:ext cx="936" cy="403"/>
                </a:xfrm>
                <a:prstGeom prst="rect">
                  <a:avLst/>
                </a:prstGeom>
                <a:noFill/>
                <a:ln w="9525">
                  <a:noFill/>
                  <a:miter lim="800000"/>
                  <a:headEnd/>
                  <a:tailEnd/>
                </a:ln>
              </p:spPr>
              <p:txBody>
                <a:bodyPr/>
                <a:lstStyle/>
                <a:p>
                  <a:r>
                    <a:rPr lang="en-US" sz="1800">
                      <a:latin typeface="Arial" pitchFamily="34" charset="0"/>
                      <a:cs typeface="Arial" pitchFamily="34" charset="0"/>
                    </a:rPr>
                    <a:t>Cosine</a:t>
                  </a:r>
                </a:p>
                <a:p>
                  <a:endParaRPr lang="en-US" sz="1800">
                    <a:latin typeface="Arial" pitchFamily="34" charset="0"/>
                    <a:cs typeface="Arial" pitchFamily="34" charset="0"/>
                  </a:endParaRPr>
                </a:p>
              </p:txBody>
            </p:sp>
            <p:sp>
              <p:nvSpPr>
                <p:cNvPr id="24642" name="Rectangle 68"/>
                <p:cNvSpPr>
                  <a:spLocks noChangeArrowheads="1"/>
                </p:cNvSpPr>
                <p:nvPr/>
              </p:nvSpPr>
              <p:spPr bwMode="auto">
                <a:xfrm>
                  <a:off x="633" y="806"/>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 name="Group 71"/>
              <p:cNvGrpSpPr>
                <a:grpSpLocks/>
              </p:cNvGrpSpPr>
              <p:nvPr/>
            </p:nvGrpSpPr>
            <p:grpSpPr bwMode="auto">
              <a:xfrm>
                <a:off x="0" y="1209"/>
                <a:ext cx="633" cy="403"/>
                <a:chOff x="0" y="1209"/>
                <a:chExt cx="633" cy="403"/>
              </a:xfrm>
            </p:grpSpPr>
            <p:sp>
              <p:nvSpPr>
                <p:cNvPr id="24639" name="Rectangle 54"/>
                <p:cNvSpPr>
                  <a:spLocks noChangeArrowheads="1"/>
                </p:cNvSpPr>
                <p:nvPr/>
              </p:nvSpPr>
              <p:spPr bwMode="auto">
                <a:xfrm>
                  <a:off x="43" y="1209"/>
                  <a:ext cx="547" cy="403"/>
                </a:xfrm>
                <a:prstGeom prst="rect">
                  <a:avLst/>
                </a:prstGeom>
                <a:noFill/>
                <a:ln w="9525">
                  <a:noFill/>
                  <a:miter lim="800000"/>
                  <a:headEnd/>
                  <a:tailEnd/>
                </a:ln>
              </p:spPr>
              <p:txBody>
                <a:bodyPr/>
                <a:lstStyle/>
                <a:p>
                  <a:r>
                    <a:rPr lang="en-US" sz="1800">
                      <a:latin typeface="Arial" pitchFamily="34" charset="0"/>
                      <a:cs typeface="Arial" pitchFamily="34" charset="0"/>
                    </a:rPr>
                    <a:t>LN</a:t>
                  </a:r>
                </a:p>
                <a:p>
                  <a:endParaRPr lang="en-US" sz="1800">
                    <a:latin typeface="Arial" pitchFamily="34" charset="0"/>
                    <a:cs typeface="Arial" pitchFamily="34" charset="0"/>
                  </a:endParaRPr>
                </a:p>
              </p:txBody>
            </p:sp>
            <p:sp>
              <p:nvSpPr>
                <p:cNvPr id="24640" name="Rectangle 70"/>
                <p:cNvSpPr>
                  <a:spLocks noChangeArrowheads="1"/>
                </p:cNvSpPr>
                <p:nvPr/>
              </p:nvSpPr>
              <p:spPr bwMode="auto">
                <a:xfrm>
                  <a:off x="0" y="1209"/>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5" name="Group 73"/>
              <p:cNvGrpSpPr>
                <a:grpSpLocks/>
              </p:cNvGrpSpPr>
              <p:nvPr/>
            </p:nvGrpSpPr>
            <p:grpSpPr bwMode="auto">
              <a:xfrm>
                <a:off x="633" y="1209"/>
                <a:ext cx="1022" cy="403"/>
                <a:chOff x="633" y="1209"/>
                <a:chExt cx="1022" cy="403"/>
              </a:xfrm>
            </p:grpSpPr>
            <p:sp>
              <p:nvSpPr>
                <p:cNvPr id="24637" name="Rectangle 55"/>
                <p:cNvSpPr>
                  <a:spLocks noChangeArrowheads="1"/>
                </p:cNvSpPr>
                <p:nvPr/>
              </p:nvSpPr>
              <p:spPr bwMode="auto">
                <a:xfrm>
                  <a:off x="676" y="1209"/>
                  <a:ext cx="936" cy="403"/>
                </a:xfrm>
                <a:prstGeom prst="rect">
                  <a:avLst/>
                </a:prstGeom>
                <a:noFill/>
                <a:ln w="9525">
                  <a:noFill/>
                  <a:miter lim="800000"/>
                  <a:headEnd/>
                  <a:tailEnd/>
                </a:ln>
              </p:spPr>
              <p:txBody>
                <a:bodyPr/>
                <a:lstStyle/>
                <a:p>
                  <a:r>
                    <a:rPr lang="en-US" sz="1800">
                      <a:latin typeface="Arial" pitchFamily="34" charset="0"/>
                      <a:cs typeface="Arial" pitchFamily="34" charset="0"/>
                    </a:rPr>
                    <a:t>Natural log</a:t>
                  </a:r>
                </a:p>
                <a:p>
                  <a:endParaRPr lang="en-US" sz="1800">
                    <a:latin typeface="Arial" pitchFamily="34" charset="0"/>
                    <a:cs typeface="Arial" pitchFamily="34" charset="0"/>
                  </a:endParaRPr>
                </a:p>
              </p:txBody>
            </p:sp>
            <p:sp>
              <p:nvSpPr>
                <p:cNvPr id="24638" name="Rectangle 72"/>
                <p:cNvSpPr>
                  <a:spLocks noChangeArrowheads="1"/>
                </p:cNvSpPr>
                <p:nvPr/>
              </p:nvSpPr>
              <p:spPr bwMode="auto">
                <a:xfrm>
                  <a:off x="633" y="1209"/>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6" name="Group 75"/>
              <p:cNvGrpSpPr>
                <a:grpSpLocks/>
              </p:cNvGrpSpPr>
              <p:nvPr/>
            </p:nvGrpSpPr>
            <p:grpSpPr bwMode="auto">
              <a:xfrm>
                <a:off x="0" y="1612"/>
                <a:ext cx="633" cy="403"/>
                <a:chOff x="0" y="1612"/>
                <a:chExt cx="633" cy="403"/>
              </a:xfrm>
            </p:grpSpPr>
            <p:sp>
              <p:nvSpPr>
                <p:cNvPr id="24635" name="Rectangle 56"/>
                <p:cNvSpPr>
                  <a:spLocks noChangeArrowheads="1"/>
                </p:cNvSpPr>
                <p:nvPr/>
              </p:nvSpPr>
              <p:spPr bwMode="auto">
                <a:xfrm>
                  <a:off x="43" y="1612"/>
                  <a:ext cx="547" cy="403"/>
                </a:xfrm>
                <a:prstGeom prst="rect">
                  <a:avLst/>
                </a:prstGeom>
                <a:noFill/>
                <a:ln w="9525">
                  <a:noFill/>
                  <a:miter lim="800000"/>
                  <a:headEnd/>
                  <a:tailEnd/>
                </a:ln>
              </p:spPr>
              <p:txBody>
                <a:bodyPr/>
                <a:lstStyle/>
                <a:p>
                  <a:r>
                    <a:rPr lang="en-US" sz="1800">
                      <a:latin typeface="Arial" pitchFamily="34" charset="0"/>
                      <a:cs typeface="Arial" pitchFamily="34" charset="0"/>
                    </a:rPr>
                    <a:t>LOG</a:t>
                  </a:r>
                </a:p>
                <a:p>
                  <a:endParaRPr lang="en-US" sz="1800">
                    <a:latin typeface="Arial" pitchFamily="34" charset="0"/>
                    <a:cs typeface="Arial" pitchFamily="34" charset="0"/>
                  </a:endParaRPr>
                </a:p>
              </p:txBody>
            </p:sp>
            <p:sp>
              <p:nvSpPr>
                <p:cNvPr id="24636" name="Rectangle 74"/>
                <p:cNvSpPr>
                  <a:spLocks noChangeArrowheads="1"/>
                </p:cNvSpPr>
                <p:nvPr/>
              </p:nvSpPr>
              <p:spPr bwMode="auto">
                <a:xfrm>
                  <a:off x="0" y="1612"/>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7" name="Group 77"/>
              <p:cNvGrpSpPr>
                <a:grpSpLocks/>
              </p:cNvGrpSpPr>
              <p:nvPr/>
            </p:nvGrpSpPr>
            <p:grpSpPr bwMode="auto">
              <a:xfrm>
                <a:off x="633" y="1612"/>
                <a:ext cx="1022" cy="403"/>
                <a:chOff x="633" y="1612"/>
                <a:chExt cx="1022" cy="403"/>
              </a:xfrm>
            </p:grpSpPr>
            <p:sp>
              <p:nvSpPr>
                <p:cNvPr id="24633" name="Rectangle 57"/>
                <p:cNvSpPr>
                  <a:spLocks noChangeArrowheads="1"/>
                </p:cNvSpPr>
                <p:nvPr/>
              </p:nvSpPr>
              <p:spPr bwMode="auto">
                <a:xfrm>
                  <a:off x="676" y="1612"/>
                  <a:ext cx="936" cy="403"/>
                </a:xfrm>
                <a:prstGeom prst="rect">
                  <a:avLst/>
                </a:prstGeom>
                <a:noFill/>
                <a:ln w="9525">
                  <a:noFill/>
                  <a:miter lim="800000"/>
                  <a:headEnd/>
                  <a:tailEnd/>
                </a:ln>
              </p:spPr>
              <p:txBody>
                <a:bodyPr/>
                <a:lstStyle/>
                <a:p>
                  <a:r>
                    <a:rPr lang="en-US" sz="1800">
                      <a:latin typeface="Arial" pitchFamily="34" charset="0"/>
                      <a:cs typeface="Arial" pitchFamily="34" charset="0"/>
                    </a:rPr>
                    <a:t>Regular  log</a:t>
                  </a:r>
                </a:p>
                <a:p>
                  <a:endParaRPr lang="en-US" sz="1800">
                    <a:latin typeface="Arial" pitchFamily="34" charset="0"/>
                    <a:cs typeface="Arial" pitchFamily="34" charset="0"/>
                  </a:endParaRPr>
                </a:p>
              </p:txBody>
            </p:sp>
            <p:sp>
              <p:nvSpPr>
                <p:cNvPr id="24634" name="Rectangle 76"/>
                <p:cNvSpPr>
                  <a:spLocks noChangeArrowheads="1"/>
                </p:cNvSpPr>
                <p:nvPr/>
              </p:nvSpPr>
              <p:spPr bwMode="auto">
                <a:xfrm>
                  <a:off x="633" y="1612"/>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8" name="Group 79"/>
              <p:cNvGrpSpPr>
                <a:grpSpLocks/>
              </p:cNvGrpSpPr>
              <p:nvPr/>
            </p:nvGrpSpPr>
            <p:grpSpPr bwMode="auto">
              <a:xfrm>
                <a:off x="0" y="2015"/>
                <a:ext cx="633" cy="403"/>
                <a:chOff x="0" y="2015"/>
                <a:chExt cx="633" cy="403"/>
              </a:xfrm>
            </p:grpSpPr>
            <p:sp>
              <p:nvSpPr>
                <p:cNvPr id="24631" name="Rectangle 58"/>
                <p:cNvSpPr>
                  <a:spLocks noChangeArrowheads="1"/>
                </p:cNvSpPr>
                <p:nvPr/>
              </p:nvSpPr>
              <p:spPr bwMode="auto">
                <a:xfrm>
                  <a:off x="43" y="2015"/>
                  <a:ext cx="547" cy="403"/>
                </a:xfrm>
                <a:prstGeom prst="rect">
                  <a:avLst/>
                </a:prstGeom>
                <a:noFill/>
                <a:ln w="9525">
                  <a:noFill/>
                  <a:miter lim="800000"/>
                  <a:headEnd/>
                  <a:tailEnd/>
                </a:ln>
              </p:spPr>
              <p:txBody>
                <a:bodyPr/>
                <a:lstStyle/>
                <a:p>
                  <a:r>
                    <a:rPr lang="en-US" sz="1800">
                      <a:latin typeface="Arial" pitchFamily="34" charset="0"/>
                      <a:cs typeface="Arial" pitchFamily="34" charset="0"/>
                    </a:rPr>
                    <a:t>SIN</a:t>
                  </a:r>
                </a:p>
                <a:p>
                  <a:endParaRPr lang="en-US" sz="1800">
                    <a:latin typeface="Arial" pitchFamily="34" charset="0"/>
                    <a:cs typeface="Arial" pitchFamily="34" charset="0"/>
                  </a:endParaRPr>
                </a:p>
              </p:txBody>
            </p:sp>
            <p:sp>
              <p:nvSpPr>
                <p:cNvPr id="24632" name="Rectangle 78"/>
                <p:cNvSpPr>
                  <a:spLocks noChangeArrowheads="1"/>
                </p:cNvSpPr>
                <p:nvPr/>
              </p:nvSpPr>
              <p:spPr bwMode="auto">
                <a:xfrm>
                  <a:off x="0" y="2015"/>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9" name="Group 81"/>
              <p:cNvGrpSpPr>
                <a:grpSpLocks/>
              </p:cNvGrpSpPr>
              <p:nvPr/>
            </p:nvGrpSpPr>
            <p:grpSpPr bwMode="auto">
              <a:xfrm>
                <a:off x="633" y="2015"/>
                <a:ext cx="1022" cy="403"/>
                <a:chOff x="633" y="2015"/>
                <a:chExt cx="1022" cy="403"/>
              </a:xfrm>
            </p:grpSpPr>
            <p:sp>
              <p:nvSpPr>
                <p:cNvPr id="24629" name="Rectangle 59"/>
                <p:cNvSpPr>
                  <a:spLocks noChangeArrowheads="1"/>
                </p:cNvSpPr>
                <p:nvPr/>
              </p:nvSpPr>
              <p:spPr bwMode="auto">
                <a:xfrm>
                  <a:off x="676" y="2015"/>
                  <a:ext cx="936" cy="403"/>
                </a:xfrm>
                <a:prstGeom prst="rect">
                  <a:avLst/>
                </a:prstGeom>
                <a:noFill/>
                <a:ln w="9525">
                  <a:noFill/>
                  <a:miter lim="800000"/>
                  <a:headEnd/>
                  <a:tailEnd/>
                </a:ln>
              </p:spPr>
              <p:txBody>
                <a:bodyPr/>
                <a:lstStyle/>
                <a:p>
                  <a:r>
                    <a:rPr lang="en-US" sz="1800">
                      <a:latin typeface="Arial" pitchFamily="34" charset="0"/>
                      <a:cs typeface="Arial" pitchFamily="34" charset="0"/>
                    </a:rPr>
                    <a:t>Sine</a:t>
                  </a:r>
                </a:p>
                <a:p>
                  <a:endParaRPr lang="en-US" sz="1800">
                    <a:latin typeface="Arial" pitchFamily="34" charset="0"/>
                    <a:cs typeface="Arial" pitchFamily="34" charset="0"/>
                  </a:endParaRPr>
                </a:p>
              </p:txBody>
            </p:sp>
            <p:sp>
              <p:nvSpPr>
                <p:cNvPr id="24630" name="Rectangle 80"/>
                <p:cNvSpPr>
                  <a:spLocks noChangeArrowheads="1"/>
                </p:cNvSpPr>
                <p:nvPr/>
              </p:nvSpPr>
              <p:spPr bwMode="auto">
                <a:xfrm>
                  <a:off x="633" y="2015"/>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30" name="Group 83"/>
              <p:cNvGrpSpPr>
                <a:grpSpLocks/>
              </p:cNvGrpSpPr>
              <p:nvPr/>
            </p:nvGrpSpPr>
            <p:grpSpPr bwMode="auto">
              <a:xfrm>
                <a:off x="0" y="2418"/>
                <a:ext cx="633" cy="403"/>
                <a:chOff x="0" y="2418"/>
                <a:chExt cx="633" cy="403"/>
              </a:xfrm>
            </p:grpSpPr>
            <p:sp>
              <p:nvSpPr>
                <p:cNvPr id="24627" name="Rectangle 60"/>
                <p:cNvSpPr>
                  <a:spLocks noChangeArrowheads="1"/>
                </p:cNvSpPr>
                <p:nvPr/>
              </p:nvSpPr>
              <p:spPr bwMode="auto">
                <a:xfrm>
                  <a:off x="43" y="2418"/>
                  <a:ext cx="547" cy="403"/>
                </a:xfrm>
                <a:prstGeom prst="rect">
                  <a:avLst/>
                </a:prstGeom>
                <a:noFill/>
                <a:ln w="9525">
                  <a:noFill/>
                  <a:miter lim="800000"/>
                  <a:headEnd/>
                  <a:tailEnd/>
                </a:ln>
              </p:spPr>
              <p:txBody>
                <a:bodyPr/>
                <a:lstStyle/>
                <a:p>
                  <a:r>
                    <a:rPr lang="en-US" sz="1800">
                      <a:latin typeface="Arial" pitchFamily="34" charset="0"/>
                      <a:cs typeface="Arial" pitchFamily="34" charset="0"/>
                    </a:rPr>
                    <a:t>SQRT</a:t>
                  </a:r>
                </a:p>
                <a:p>
                  <a:endParaRPr lang="en-US" sz="1800">
                    <a:latin typeface="Arial" pitchFamily="34" charset="0"/>
                    <a:cs typeface="Arial" pitchFamily="34" charset="0"/>
                  </a:endParaRPr>
                </a:p>
              </p:txBody>
            </p:sp>
            <p:sp>
              <p:nvSpPr>
                <p:cNvPr id="24628" name="Rectangle 82"/>
                <p:cNvSpPr>
                  <a:spLocks noChangeArrowheads="1"/>
                </p:cNvSpPr>
                <p:nvPr/>
              </p:nvSpPr>
              <p:spPr bwMode="auto">
                <a:xfrm>
                  <a:off x="0" y="2418"/>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31" name="Group 85"/>
              <p:cNvGrpSpPr>
                <a:grpSpLocks/>
              </p:cNvGrpSpPr>
              <p:nvPr/>
            </p:nvGrpSpPr>
            <p:grpSpPr bwMode="auto">
              <a:xfrm>
                <a:off x="633" y="2418"/>
                <a:ext cx="1022" cy="403"/>
                <a:chOff x="633" y="2418"/>
                <a:chExt cx="1022" cy="403"/>
              </a:xfrm>
            </p:grpSpPr>
            <p:sp>
              <p:nvSpPr>
                <p:cNvPr id="24625" name="Rectangle 61"/>
                <p:cNvSpPr>
                  <a:spLocks noChangeArrowheads="1"/>
                </p:cNvSpPr>
                <p:nvPr/>
              </p:nvSpPr>
              <p:spPr bwMode="auto">
                <a:xfrm>
                  <a:off x="676" y="2418"/>
                  <a:ext cx="936" cy="403"/>
                </a:xfrm>
                <a:prstGeom prst="rect">
                  <a:avLst/>
                </a:prstGeom>
                <a:noFill/>
                <a:ln w="9525">
                  <a:noFill/>
                  <a:miter lim="800000"/>
                  <a:headEnd/>
                  <a:tailEnd/>
                </a:ln>
              </p:spPr>
              <p:txBody>
                <a:bodyPr/>
                <a:lstStyle/>
                <a:p>
                  <a:r>
                    <a:rPr lang="en-US" sz="1800" dirty="0">
                      <a:latin typeface="Arial" pitchFamily="34" charset="0"/>
                      <a:cs typeface="Arial" pitchFamily="34" charset="0"/>
                    </a:rPr>
                    <a:t>Square root</a:t>
                  </a:r>
                </a:p>
                <a:p>
                  <a:endParaRPr lang="en-US" sz="1800" dirty="0">
                    <a:latin typeface="Arial" pitchFamily="34" charset="0"/>
                    <a:cs typeface="Arial" pitchFamily="34" charset="0"/>
                  </a:endParaRPr>
                </a:p>
              </p:txBody>
            </p:sp>
            <p:sp>
              <p:nvSpPr>
                <p:cNvPr id="24626" name="Rectangle 84"/>
                <p:cNvSpPr>
                  <a:spLocks noChangeArrowheads="1"/>
                </p:cNvSpPr>
                <p:nvPr/>
              </p:nvSpPr>
              <p:spPr bwMode="auto">
                <a:xfrm>
                  <a:off x="633" y="2418"/>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sp>
          <p:nvSpPr>
            <p:cNvPr id="24612" name="Rectangle 87"/>
            <p:cNvSpPr>
              <a:spLocks noChangeArrowheads="1"/>
            </p:cNvSpPr>
            <p:nvPr/>
          </p:nvSpPr>
          <p:spPr bwMode="auto">
            <a:xfrm>
              <a:off x="-3" y="400"/>
              <a:ext cx="1661" cy="2424"/>
            </a:xfrm>
            <a:prstGeom prst="rect">
              <a:avLst/>
            </a:prstGeom>
            <a:noFill/>
            <a:ln w="9525">
              <a:solidFill>
                <a:srgbClr val="A0A0A0"/>
              </a:solidFill>
              <a:miter lim="800000"/>
              <a:headEnd/>
              <a:tailEnd/>
            </a:ln>
          </p:spPr>
          <p:txBody>
            <a:bodyPr/>
            <a:lstStyle/>
            <a:p>
              <a:endParaRPr lang="en-US" sz="1800">
                <a:latin typeface="Arial" pitchFamily="34" charset="0"/>
                <a:cs typeface="Arial" pitchFamily="34" charset="0"/>
              </a:endParaRPr>
            </a:p>
          </p:txBody>
        </p:sp>
      </p:grpSp>
      <p:sp>
        <p:nvSpPr>
          <p:cNvPr id="24583" name="Rectangle 91"/>
          <p:cNvSpPr>
            <a:spLocks noChangeArrowheads="1"/>
          </p:cNvSpPr>
          <p:nvPr/>
        </p:nvSpPr>
        <p:spPr bwMode="auto">
          <a:xfrm>
            <a:off x="4958863" y="3874479"/>
            <a:ext cx="2895600" cy="366713"/>
          </a:xfrm>
          <a:prstGeom prst="rect">
            <a:avLst/>
          </a:prstGeom>
          <a:noFill/>
          <a:ln w="9525">
            <a:noFill/>
            <a:miter lim="800000"/>
            <a:headEnd/>
            <a:tailEnd/>
          </a:ln>
        </p:spPr>
        <p:txBody>
          <a:bodyPr>
            <a:spAutoFit/>
          </a:bodyPr>
          <a:lstStyle/>
          <a:p>
            <a:r>
              <a:rPr lang="en-US" sz="1800" b="1" dirty="0">
                <a:latin typeface="Tahoma" pitchFamily="34" charset="0"/>
                <a:cs typeface="Times New Roman" pitchFamily="18" charset="0"/>
              </a:rPr>
              <a:t>Summary Functions</a:t>
            </a:r>
            <a:endParaRPr lang="en-US" sz="1800" b="1" dirty="0">
              <a:latin typeface="Tahoma" pitchFamily="34" charset="0"/>
            </a:endParaRPr>
          </a:p>
        </p:txBody>
      </p:sp>
      <p:grpSp>
        <p:nvGrpSpPr>
          <p:cNvPr id="24649" name="Group 118"/>
          <p:cNvGrpSpPr>
            <a:grpSpLocks/>
          </p:cNvGrpSpPr>
          <p:nvPr/>
        </p:nvGrpSpPr>
        <p:grpSpPr bwMode="auto">
          <a:xfrm>
            <a:off x="4847493" y="4255478"/>
            <a:ext cx="3810000" cy="1359879"/>
            <a:chOff x="-3" y="400"/>
            <a:chExt cx="1661" cy="1618"/>
          </a:xfrm>
        </p:grpSpPr>
        <p:grpSp>
          <p:nvGrpSpPr>
            <p:cNvPr id="24651" name="Group 116"/>
            <p:cNvGrpSpPr>
              <a:grpSpLocks/>
            </p:cNvGrpSpPr>
            <p:nvPr/>
          </p:nvGrpSpPr>
          <p:grpSpPr bwMode="auto">
            <a:xfrm>
              <a:off x="0" y="403"/>
              <a:ext cx="1655" cy="1612"/>
              <a:chOff x="0" y="403"/>
              <a:chExt cx="1655" cy="1612"/>
            </a:xfrm>
          </p:grpSpPr>
          <p:grpSp>
            <p:nvGrpSpPr>
              <p:cNvPr id="24652" name="Group 101"/>
              <p:cNvGrpSpPr>
                <a:grpSpLocks/>
              </p:cNvGrpSpPr>
              <p:nvPr/>
            </p:nvGrpSpPr>
            <p:grpSpPr bwMode="auto">
              <a:xfrm>
                <a:off x="0" y="403"/>
                <a:ext cx="633" cy="403"/>
                <a:chOff x="0" y="403"/>
                <a:chExt cx="633" cy="403"/>
              </a:xfrm>
            </p:grpSpPr>
            <p:sp>
              <p:nvSpPr>
                <p:cNvPr id="24609" name="Rectangle 92"/>
                <p:cNvSpPr>
                  <a:spLocks noChangeArrowheads="1"/>
                </p:cNvSpPr>
                <p:nvPr/>
              </p:nvSpPr>
              <p:spPr bwMode="auto">
                <a:xfrm>
                  <a:off x="43" y="403"/>
                  <a:ext cx="547" cy="403"/>
                </a:xfrm>
                <a:prstGeom prst="rect">
                  <a:avLst/>
                </a:prstGeom>
                <a:noFill/>
                <a:ln w="9525">
                  <a:noFill/>
                  <a:miter lim="800000"/>
                  <a:headEnd/>
                  <a:tailEnd/>
                </a:ln>
              </p:spPr>
              <p:txBody>
                <a:bodyPr/>
                <a:lstStyle/>
                <a:p>
                  <a:r>
                    <a:rPr lang="en-US" sz="1800">
                      <a:latin typeface="Arial" pitchFamily="34" charset="0"/>
                      <a:cs typeface="Arial" pitchFamily="34" charset="0"/>
                    </a:rPr>
                    <a:t>AVE</a:t>
                  </a:r>
                </a:p>
                <a:p>
                  <a:endParaRPr lang="en-US" sz="1800">
                    <a:latin typeface="Arial" pitchFamily="34" charset="0"/>
                    <a:cs typeface="Arial" pitchFamily="34" charset="0"/>
                  </a:endParaRPr>
                </a:p>
              </p:txBody>
            </p:sp>
            <p:sp>
              <p:nvSpPr>
                <p:cNvPr id="24610" name="Rectangle 100"/>
                <p:cNvSpPr>
                  <a:spLocks noChangeArrowheads="1"/>
                </p:cNvSpPr>
                <p:nvPr/>
              </p:nvSpPr>
              <p:spPr bwMode="auto">
                <a:xfrm>
                  <a:off x="0" y="403"/>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3" name="Group 103"/>
              <p:cNvGrpSpPr>
                <a:grpSpLocks/>
              </p:cNvGrpSpPr>
              <p:nvPr/>
            </p:nvGrpSpPr>
            <p:grpSpPr bwMode="auto">
              <a:xfrm>
                <a:off x="633" y="403"/>
                <a:ext cx="1022" cy="403"/>
                <a:chOff x="633" y="403"/>
                <a:chExt cx="1022" cy="403"/>
              </a:xfrm>
            </p:grpSpPr>
            <p:sp>
              <p:nvSpPr>
                <p:cNvPr id="24607" name="Rectangle 93"/>
                <p:cNvSpPr>
                  <a:spLocks noChangeArrowheads="1"/>
                </p:cNvSpPr>
                <p:nvPr/>
              </p:nvSpPr>
              <p:spPr bwMode="auto">
                <a:xfrm>
                  <a:off x="676" y="403"/>
                  <a:ext cx="936" cy="403"/>
                </a:xfrm>
                <a:prstGeom prst="rect">
                  <a:avLst/>
                </a:prstGeom>
                <a:noFill/>
                <a:ln w="9525">
                  <a:noFill/>
                  <a:miter lim="800000"/>
                  <a:headEnd/>
                  <a:tailEnd/>
                </a:ln>
              </p:spPr>
              <p:txBody>
                <a:bodyPr/>
                <a:lstStyle/>
                <a:p>
                  <a:r>
                    <a:rPr lang="en-US" sz="1800">
                      <a:latin typeface="Arial" pitchFamily="34" charset="0"/>
                      <a:cs typeface="Arial" pitchFamily="34" charset="0"/>
                    </a:rPr>
                    <a:t>Average</a:t>
                  </a:r>
                </a:p>
                <a:p>
                  <a:endParaRPr lang="en-US" sz="1800">
                    <a:latin typeface="Arial" pitchFamily="34" charset="0"/>
                    <a:cs typeface="Arial" pitchFamily="34" charset="0"/>
                  </a:endParaRPr>
                </a:p>
              </p:txBody>
            </p:sp>
            <p:sp>
              <p:nvSpPr>
                <p:cNvPr id="24608" name="Rectangle 102"/>
                <p:cNvSpPr>
                  <a:spLocks noChangeArrowheads="1"/>
                </p:cNvSpPr>
                <p:nvPr/>
              </p:nvSpPr>
              <p:spPr bwMode="auto">
                <a:xfrm>
                  <a:off x="633" y="403"/>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4" name="Group 105"/>
              <p:cNvGrpSpPr>
                <a:grpSpLocks/>
              </p:cNvGrpSpPr>
              <p:nvPr/>
            </p:nvGrpSpPr>
            <p:grpSpPr bwMode="auto">
              <a:xfrm>
                <a:off x="0" y="806"/>
                <a:ext cx="633" cy="403"/>
                <a:chOff x="0" y="806"/>
                <a:chExt cx="633" cy="403"/>
              </a:xfrm>
            </p:grpSpPr>
            <p:sp>
              <p:nvSpPr>
                <p:cNvPr id="24605" name="Rectangle 94"/>
                <p:cNvSpPr>
                  <a:spLocks noChangeArrowheads="1"/>
                </p:cNvSpPr>
                <p:nvPr/>
              </p:nvSpPr>
              <p:spPr bwMode="auto">
                <a:xfrm>
                  <a:off x="43" y="806"/>
                  <a:ext cx="547" cy="403"/>
                </a:xfrm>
                <a:prstGeom prst="rect">
                  <a:avLst/>
                </a:prstGeom>
                <a:noFill/>
                <a:ln w="9525">
                  <a:noFill/>
                  <a:miter lim="800000"/>
                  <a:headEnd/>
                  <a:tailEnd/>
                </a:ln>
              </p:spPr>
              <p:txBody>
                <a:bodyPr/>
                <a:lstStyle/>
                <a:p>
                  <a:r>
                    <a:rPr lang="en-US" sz="1800">
                      <a:latin typeface="Arial" pitchFamily="34" charset="0"/>
                      <a:cs typeface="Arial" pitchFamily="34" charset="0"/>
                    </a:rPr>
                    <a:t>MAX</a:t>
                  </a:r>
                </a:p>
                <a:p>
                  <a:endParaRPr lang="en-US" sz="1800">
                    <a:latin typeface="Arial" pitchFamily="34" charset="0"/>
                    <a:cs typeface="Arial" pitchFamily="34" charset="0"/>
                  </a:endParaRPr>
                </a:p>
              </p:txBody>
            </p:sp>
            <p:sp>
              <p:nvSpPr>
                <p:cNvPr id="24606" name="Rectangle 104"/>
                <p:cNvSpPr>
                  <a:spLocks noChangeArrowheads="1"/>
                </p:cNvSpPr>
                <p:nvPr/>
              </p:nvSpPr>
              <p:spPr bwMode="auto">
                <a:xfrm>
                  <a:off x="0" y="806"/>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5" name="Group 107"/>
              <p:cNvGrpSpPr>
                <a:grpSpLocks/>
              </p:cNvGrpSpPr>
              <p:nvPr/>
            </p:nvGrpSpPr>
            <p:grpSpPr bwMode="auto">
              <a:xfrm>
                <a:off x="633" y="806"/>
                <a:ext cx="1022" cy="403"/>
                <a:chOff x="633" y="806"/>
                <a:chExt cx="1022" cy="403"/>
              </a:xfrm>
            </p:grpSpPr>
            <p:sp>
              <p:nvSpPr>
                <p:cNvPr id="24603" name="Rectangle 95"/>
                <p:cNvSpPr>
                  <a:spLocks noChangeArrowheads="1"/>
                </p:cNvSpPr>
                <p:nvPr/>
              </p:nvSpPr>
              <p:spPr bwMode="auto">
                <a:xfrm>
                  <a:off x="676" y="806"/>
                  <a:ext cx="936" cy="403"/>
                </a:xfrm>
                <a:prstGeom prst="rect">
                  <a:avLst/>
                </a:prstGeom>
                <a:noFill/>
                <a:ln w="9525">
                  <a:noFill/>
                  <a:miter lim="800000"/>
                  <a:headEnd/>
                  <a:tailEnd/>
                </a:ln>
              </p:spPr>
              <p:txBody>
                <a:bodyPr/>
                <a:lstStyle/>
                <a:p>
                  <a:r>
                    <a:rPr lang="en-US" sz="1800">
                      <a:latin typeface="Arial" pitchFamily="34" charset="0"/>
                      <a:cs typeface="Arial" pitchFamily="34" charset="0"/>
                    </a:rPr>
                    <a:t>Maximum value</a:t>
                  </a:r>
                </a:p>
                <a:p>
                  <a:endParaRPr lang="en-US" sz="1800">
                    <a:latin typeface="Arial" pitchFamily="34" charset="0"/>
                    <a:cs typeface="Arial" pitchFamily="34" charset="0"/>
                  </a:endParaRPr>
                </a:p>
              </p:txBody>
            </p:sp>
            <p:sp>
              <p:nvSpPr>
                <p:cNvPr id="24604" name="Rectangle 106"/>
                <p:cNvSpPr>
                  <a:spLocks noChangeArrowheads="1"/>
                </p:cNvSpPr>
                <p:nvPr/>
              </p:nvSpPr>
              <p:spPr bwMode="auto">
                <a:xfrm>
                  <a:off x="633" y="806"/>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6" name="Group 109"/>
              <p:cNvGrpSpPr>
                <a:grpSpLocks/>
              </p:cNvGrpSpPr>
              <p:nvPr/>
            </p:nvGrpSpPr>
            <p:grpSpPr bwMode="auto">
              <a:xfrm>
                <a:off x="0" y="1209"/>
                <a:ext cx="633" cy="403"/>
                <a:chOff x="0" y="1209"/>
                <a:chExt cx="633" cy="403"/>
              </a:xfrm>
            </p:grpSpPr>
            <p:sp>
              <p:nvSpPr>
                <p:cNvPr id="24601" name="Rectangle 96"/>
                <p:cNvSpPr>
                  <a:spLocks noChangeArrowheads="1"/>
                </p:cNvSpPr>
                <p:nvPr/>
              </p:nvSpPr>
              <p:spPr bwMode="auto">
                <a:xfrm>
                  <a:off x="43" y="1209"/>
                  <a:ext cx="547" cy="403"/>
                </a:xfrm>
                <a:prstGeom prst="rect">
                  <a:avLst/>
                </a:prstGeom>
                <a:noFill/>
                <a:ln w="9525">
                  <a:noFill/>
                  <a:miter lim="800000"/>
                  <a:headEnd/>
                  <a:tailEnd/>
                </a:ln>
              </p:spPr>
              <p:txBody>
                <a:bodyPr/>
                <a:lstStyle/>
                <a:p>
                  <a:r>
                    <a:rPr lang="en-US" sz="1800">
                      <a:latin typeface="Arial" pitchFamily="34" charset="0"/>
                      <a:cs typeface="Arial" pitchFamily="34" charset="0"/>
                    </a:rPr>
                    <a:t>MIN</a:t>
                  </a:r>
                </a:p>
                <a:p>
                  <a:endParaRPr lang="en-US" sz="1800">
                    <a:latin typeface="Arial" pitchFamily="34" charset="0"/>
                    <a:cs typeface="Arial" pitchFamily="34" charset="0"/>
                  </a:endParaRPr>
                </a:p>
              </p:txBody>
            </p:sp>
            <p:sp>
              <p:nvSpPr>
                <p:cNvPr id="24602" name="Rectangle 108"/>
                <p:cNvSpPr>
                  <a:spLocks noChangeArrowheads="1"/>
                </p:cNvSpPr>
                <p:nvPr/>
              </p:nvSpPr>
              <p:spPr bwMode="auto">
                <a:xfrm>
                  <a:off x="0" y="1209"/>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7" name="Group 111"/>
              <p:cNvGrpSpPr>
                <a:grpSpLocks/>
              </p:cNvGrpSpPr>
              <p:nvPr/>
            </p:nvGrpSpPr>
            <p:grpSpPr bwMode="auto">
              <a:xfrm>
                <a:off x="633" y="1209"/>
                <a:ext cx="1022" cy="403"/>
                <a:chOff x="633" y="1209"/>
                <a:chExt cx="1022" cy="403"/>
              </a:xfrm>
            </p:grpSpPr>
            <p:sp>
              <p:nvSpPr>
                <p:cNvPr id="24599" name="Rectangle 97"/>
                <p:cNvSpPr>
                  <a:spLocks noChangeArrowheads="1"/>
                </p:cNvSpPr>
                <p:nvPr/>
              </p:nvSpPr>
              <p:spPr bwMode="auto">
                <a:xfrm>
                  <a:off x="676" y="1209"/>
                  <a:ext cx="936" cy="403"/>
                </a:xfrm>
                <a:prstGeom prst="rect">
                  <a:avLst/>
                </a:prstGeom>
                <a:noFill/>
                <a:ln w="9525">
                  <a:noFill/>
                  <a:miter lim="800000"/>
                  <a:headEnd/>
                  <a:tailEnd/>
                </a:ln>
              </p:spPr>
              <p:txBody>
                <a:bodyPr/>
                <a:lstStyle/>
                <a:p>
                  <a:r>
                    <a:rPr lang="en-US" sz="1800" dirty="0">
                      <a:latin typeface="Arial" pitchFamily="34" charset="0"/>
                      <a:cs typeface="Arial" pitchFamily="34" charset="0"/>
                    </a:rPr>
                    <a:t>Minimum value</a:t>
                  </a:r>
                </a:p>
                <a:p>
                  <a:endParaRPr lang="en-US" sz="1800" dirty="0">
                    <a:latin typeface="Arial" pitchFamily="34" charset="0"/>
                    <a:cs typeface="Arial" pitchFamily="34" charset="0"/>
                  </a:endParaRPr>
                </a:p>
              </p:txBody>
            </p:sp>
            <p:sp>
              <p:nvSpPr>
                <p:cNvPr id="24600" name="Rectangle 110"/>
                <p:cNvSpPr>
                  <a:spLocks noChangeArrowheads="1"/>
                </p:cNvSpPr>
                <p:nvPr/>
              </p:nvSpPr>
              <p:spPr bwMode="auto">
                <a:xfrm>
                  <a:off x="633" y="1209"/>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8" name="Group 113"/>
              <p:cNvGrpSpPr>
                <a:grpSpLocks/>
              </p:cNvGrpSpPr>
              <p:nvPr/>
            </p:nvGrpSpPr>
            <p:grpSpPr bwMode="auto">
              <a:xfrm>
                <a:off x="0" y="1612"/>
                <a:ext cx="633" cy="403"/>
                <a:chOff x="0" y="1612"/>
                <a:chExt cx="633" cy="403"/>
              </a:xfrm>
            </p:grpSpPr>
            <p:sp>
              <p:nvSpPr>
                <p:cNvPr id="24597" name="Rectangle 98"/>
                <p:cNvSpPr>
                  <a:spLocks noChangeArrowheads="1"/>
                </p:cNvSpPr>
                <p:nvPr/>
              </p:nvSpPr>
              <p:spPr bwMode="auto">
                <a:xfrm>
                  <a:off x="43" y="1612"/>
                  <a:ext cx="547" cy="403"/>
                </a:xfrm>
                <a:prstGeom prst="rect">
                  <a:avLst/>
                </a:prstGeom>
                <a:noFill/>
                <a:ln w="9525">
                  <a:noFill/>
                  <a:miter lim="800000"/>
                  <a:headEnd/>
                  <a:tailEnd/>
                </a:ln>
              </p:spPr>
              <p:txBody>
                <a:bodyPr/>
                <a:lstStyle/>
                <a:p>
                  <a:r>
                    <a:rPr lang="en-US" sz="1800">
                      <a:latin typeface="Arial" pitchFamily="34" charset="0"/>
                      <a:cs typeface="Arial" pitchFamily="34" charset="0"/>
                    </a:rPr>
                    <a:t>SUM</a:t>
                  </a:r>
                </a:p>
                <a:p>
                  <a:endParaRPr lang="en-US" sz="1800">
                    <a:latin typeface="Arial" pitchFamily="34" charset="0"/>
                    <a:cs typeface="Arial" pitchFamily="34" charset="0"/>
                  </a:endParaRPr>
                </a:p>
              </p:txBody>
            </p:sp>
            <p:sp>
              <p:nvSpPr>
                <p:cNvPr id="24598" name="Rectangle 112"/>
                <p:cNvSpPr>
                  <a:spLocks noChangeArrowheads="1"/>
                </p:cNvSpPr>
                <p:nvPr/>
              </p:nvSpPr>
              <p:spPr bwMode="auto">
                <a:xfrm>
                  <a:off x="0" y="1612"/>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659" name="Group 115"/>
              <p:cNvGrpSpPr>
                <a:grpSpLocks/>
              </p:cNvGrpSpPr>
              <p:nvPr/>
            </p:nvGrpSpPr>
            <p:grpSpPr bwMode="auto">
              <a:xfrm>
                <a:off x="633" y="1612"/>
                <a:ext cx="1022" cy="403"/>
                <a:chOff x="633" y="1612"/>
                <a:chExt cx="1022" cy="403"/>
              </a:xfrm>
            </p:grpSpPr>
            <p:sp>
              <p:nvSpPr>
                <p:cNvPr id="24595" name="Rectangle 99"/>
                <p:cNvSpPr>
                  <a:spLocks noChangeArrowheads="1"/>
                </p:cNvSpPr>
                <p:nvPr/>
              </p:nvSpPr>
              <p:spPr bwMode="auto">
                <a:xfrm>
                  <a:off x="676" y="1612"/>
                  <a:ext cx="936" cy="403"/>
                </a:xfrm>
                <a:prstGeom prst="rect">
                  <a:avLst/>
                </a:prstGeom>
                <a:noFill/>
                <a:ln w="9525">
                  <a:noFill/>
                  <a:miter lim="800000"/>
                  <a:headEnd/>
                  <a:tailEnd/>
                </a:ln>
              </p:spPr>
              <p:txBody>
                <a:bodyPr/>
                <a:lstStyle/>
                <a:p>
                  <a:r>
                    <a:rPr lang="en-US" sz="1800">
                      <a:latin typeface="Arial" pitchFamily="34" charset="0"/>
                      <a:cs typeface="Arial" pitchFamily="34" charset="0"/>
                    </a:rPr>
                    <a:t>Summation</a:t>
                  </a:r>
                </a:p>
                <a:p>
                  <a:endParaRPr lang="en-US" sz="1800">
                    <a:latin typeface="Arial" pitchFamily="34" charset="0"/>
                    <a:cs typeface="Arial" pitchFamily="34" charset="0"/>
                  </a:endParaRPr>
                </a:p>
              </p:txBody>
            </p:sp>
            <p:sp>
              <p:nvSpPr>
                <p:cNvPr id="24596" name="Rectangle 114"/>
                <p:cNvSpPr>
                  <a:spLocks noChangeArrowheads="1"/>
                </p:cNvSpPr>
                <p:nvPr/>
              </p:nvSpPr>
              <p:spPr bwMode="auto">
                <a:xfrm>
                  <a:off x="633" y="1612"/>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sp>
          <p:nvSpPr>
            <p:cNvPr id="24586" name="Rectangle 117"/>
            <p:cNvSpPr>
              <a:spLocks noChangeArrowheads="1"/>
            </p:cNvSpPr>
            <p:nvPr/>
          </p:nvSpPr>
          <p:spPr bwMode="auto">
            <a:xfrm>
              <a:off x="-3" y="400"/>
              <a:ext cx="1661" cy="1618"/>
            </a:xfrm>
            <a:prstGeom prst="rect">
              <a:avLst/>
            </a:prstGeom>
            <a:noFill/>
            <a:ln w="9525">
              <a:solidFill>
                <a:srgbClr val="A0A0A0"/>
              </a:solidFill>
              <a:miter lim="800000"/>
              <a:headEnd/>
              <a:tailEnd/>
            </a:ln>
          </p:spPr>
          <p:txBody>
            <a:bodyPr/>
            <a:lstStyle/>
            <a:p>
              <a:endParaRPr lang="en-US" sz="1800">
                <a:latin typeface="Arial" pitchFamily="34" charset="0"/>
                <a:cs typeface="Arial" pitchFamily="34" charset="0"/>
              </a:endParaRPr>
            </a:p>
          </p:txBody>
        </p:sp>
      </p:grpSp>
    </p:spTree>
  </p:cSld>
  <p:clrMapOvr>
    <a:masterClrMapping/>
  </p:clrMapOvr>
  <p:transition>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eaLnBrk="1" hangingPunct="1">
              <a:defRPr/>
            </a:pPr>
            <a:r>
              <a:rPr lang="en-US"/>
              <a:t>Boolean Operators</a:t>
            </a:r>
          </a:p>
        </p:txBody>
      </p:sp>
      <p:sp>
        <p:nvSpPr>
          <p:cNvPr id="25603" name="Rectangle 3"/>
          <p:cNvSpPr>
            <a:spLocks noChangeArrowheads="1"/>
          </p:cNvSpPr>
          <p:nvPr/>
        </p:nvSpPr>
        <p:spPr bwMode="auto">
          <a:xfrm>
            <a:off x="556846" y="1271955"/>
            <a:ext cx="2743200" cy="366713"/>
          </a:xfrm>
          <a:prstGeom prst="rect">
            <a:avLst/>
          </a:prstGeom>
          <a:noFill/>
          <a:ln w="9525">
            <a:noFill/>
            <a:miter lim="800000"/>
            <a:headEnd/>
            <a:tailEnd/>
          </a:ln>
        </p:spPr>
        <p:txBody>
          <a:bodyPr>
            <a:spAutoFit/>
          </a:bodyPr>
          <a:lstStyle/>
          <a:p>
            <a:r>
              <a:rPr lang="en-US" sz="1800" b="1" dirty="0">
                <a:latin typeface="Tahoma" pitchFamily="34" charset="0"/>
                <a:cs typeface="Times New Roman" pitchFamily="18" charset="0"/>
              </a:rPr>
              <a:t>Boolean Functions</a:t>
            </a:r>
            <a:endParaRPr lang="en-US" sz="1800" b="1" dirty="0">
              <a:latin typeface="Tahoma" pitchFamily="34" charset="0"/>
            </a:endParaRPr>
          </a:p>
        </p:txBody>
      </p:sp>
      <p:sp>
        <p:nvSpPr>
          <p:cNvPr id="25605" name="Rectangle 55"/>
          <p:cNvSpPr>
            <a:spLocks noChangeArrowheads="1"/>
          </p:cNvSpPr>
          <p:nvPr/>
        </p:nvSpPr>
        <p:spPr bwMode="auto">
          <a:xfrm>
            <a:off x="5029200" y="1271955"/>
            <a:ext cx="2819400" cy="366713"/>
          </a:xfrm>
          <a:prstGeom prst="rect">
            <a:avLst/>
          </a:prstGeom>
          <a:noFill/>
          <a:ln w="9525">
            <a:noFill/>
            <a:miter lim="800000"/>
            <a:headEnd/>
            <a:tailEnd/>
          </a:ln>
        </p:spPr>
        <p:txBody>
          <a:bodyPr>
            <a:spAutoFit/>
          </a:bodyPr>
          <a:lstStyle/>
          <a:p>
            <a:r>
              <a:rPr lang="en-US" sz="1800">
                <a:latin typeface="Tahoma" pitchFamily="34" charset="0"/>
                <a:cs typeface="Times New Roman" pitchFamily="18" charset="0"/>
              </a:rPr>
              <a:t> </a:t>
            </a:r>
            <a:r>
              <a:rPr lang="en-US" sz="1800" b="1">
                <a:latin typeface="Tahoma" pitchFamily="34" charset="0"/>
                <a:cs typeface="Times New Roman" pitchFamily="18" charset="0"/>
              </a:rPr>
              <a:t>Special Functions</a:t>
            </a:r>
            <a:endParaRPr lang="en-US" sz="1800" b="1">
              <a:latin typeface="Tahoma" pitchFamily="34" charset="0"/>
            </a:endParaRPr>
          </a:p>
        </p:txBody>
      </p:sp>
      <p:grpSp>
        <p:nvGrpSpPr>
          <p:cNvPr id="20" name="Group 70"/>
          <p:cNvGrpSpPr>
            <a:grpSpLocks/>
          </p:cNvGrpSpPr>
          <p:nvPr/>
        </p:nvGrpSpPr>
        <p:grpSpPr bwMode="auto">
          <a:xfrm>
            <a:off x="4953000" y="1787771"/>
            <a:ext cx="3733800" cy="755650"/>
            <a:chOff x="-3" y="515"/>
            <a:chExt cx="1661" cy="812"/>
          </a:xfrm>
        </p:grpSpPr>
        <p:grpSp>
          <p:nvGrpSpPr>
            <p:cNvPr id="21" name="Group 68"/>
            <p:cNvGrpSpPr>
              <a:grpSpLocks/>
            </p:cNvGrpSpPr>
            <p:nvPr/>
          </p:nvGrpSpPr>
          <p:grpSpPr bwMode="auto">
            <a:xfrm>
              <a:off x="0" y="518"/>
              <a:ext cx="1655" cy="806"/>
              <a:chOff x="0" y="518"/>
              <a:chExt cx="1655" cy="806"/>
            </a:xfrm>
          </p:grpSpPr>
          <p:grpSp>
            <p:nvGrpSpPr>
              <p:cNvPr id="22" name="Group 61"/>
              <p:cNvGrpSpPr>
                <a:grpSpLocks/>
              </p:cNvGrpSpPr>
              <p:nvPr/>
            </p:nvGrpSpPr>
            <p:grpSpPr bwMode="auto">
              <a:xfrm>
                <a:off x="0" y="518"/>
                <a:ext cx="633" cy="403"/>
                <a:chOff x="0" y="518"/>
                <a:chExt cx="633" cy="403"/>
              </a:xfrm>
            </p:grpSpPr>
            <p:sp>
              <p:nvSpPr>
                <p:cNvPr id="25641" name="Rectangle 56"/>
                <p:cNvSpPr>
                  <a:spLocks noChangeArrowheads="1"/>
                </p:cNvSpPr>
                <p:nvPr/>
              </p:nvSpPr>
              <p:spPr bwMode="auto">
                <a:xfrm>
                  <a:off x="43" y="518"/>
                  <a:ext cx="547" cy="403"/>
                </a:xfrm>
                <a:prstGeom prst="rect">
                  <a:avLst/>
                </a:prstGeom>
                <a:noFill/>
                <a:ln w="9525">
                  <a:noFill/>
                  <a:miter lim="800000"/>
                  <a:headEnd/>
                  <a:tailEnd/>
                </a:ln>
              </p:spPr>
              <p:txBody>
                <a:bodyPr/>
                <a:lstStyle/>
                <a:p>
                  <a:r>
                    <a:rPr lang="en-US" sz="1800">
                      <a:latin typeface="Arial" pitchFamily="34" charset="0"/>
                      <a:cs typeface="Arial" pitchFamily="34" charset="0"/>
                    </a:rPr>
                    <a:t>ROUND</a:t>
                  </a:r>
                </a:p>
                <a:p>
                  <a:endParaRPr lang="en-US" sz="1800">
                    <a:latin typeface="Arial" pitchFamily="34" charset="0"/>
                    <a:cs typeface="Arial" pitchFamily="34" charset="0"/>
                  </a:endParaRPr>
                </a:p>
              </p:txBody>
            </p:sp>
            <p:sp>
              <p:nvSpPr>
                <p:cNvPr id="25642" name="Rectangle 60"/>
                <p:cNvSpPr>
                  <a:spLocks noChangeArrowheads="1"/>
                </p:cNvSpPr>
                <p:nvPr/>
              </p:nvSpPr>
              <p:spPr bwMode="auto">
                <a:xfrm>
                  <a:off x="0" y="518"/>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3" name="Group 63"/>
              <p:cNvGrpSpPr>
                <a:grpSpLocks/>
              </p:cNvGrpSpPr>
              <p:nvPr/>
            </p:nvGrpSpPr>
            <p:grpSpPr bwMode="auto">
              <a:xfrm>
                <a:off x="633" y="518"/>
                <a:ext cx="1022" cy="403"/>
                <a:chOff x="633" y="518"/>
                <a:chExt cx="1022" cy="403"/>
              </a:xfrm>
            </p:grpSpPr>
            <p:sp>
              <p:nvSpPr>
                <p:cNvPr id="25639" name="Rectangle 57"/>
                <p:cNvSpPr>
                  <a:spLocks noChangeArrowheads="1"/>
                </p:cNvSpPr>
                <p:nvPr/>
              </p:nvSpPr>
              <p:spPr bwMode="auto">
                <a:xfrm>
                  <a:off x="676" y="518"/>
                  <a:ext cx="936" cy="403"/>
                </a:xfrm>
                <a:prstGeom prst="rect">
                  <a:avLst/>
                </a:prstGeom>
                <a:noFill/>
                <a:ln w="9525">
                  <a:noFill/>
                  <a:miter lim="800000"/>
                  <a:headEnd/>
                  <a:tailEnd/>
                </a:ln>
              </p:spPr>
              <p:txBody>
                <a:bodyPr/>
                <a:lstStyle/>
                <a:p>
                  <a:r>
                    <a:rPr lang="en-US" sz="1800">
                      <a:latin typeface="Arial" pitchFamily="34" charset="0"/>
                      <a:cs typeface="Arial" pitchFamily="34" charset="0"/>
                    </a:rPr>
                    <a:t>Round</a:t>
                  </a:r>
                </a:p>
                <a:p>
                  <a:endParaRPr lang="en-US" sz="1800">
                    <a:latin typeface="Arial" pitchFamily="34" charset="0"/>
                    <a:cs typeface="Arial" pitchFamily="34" charset="0"/>
                  </a:endParaRPr>
                </a:p>
              </p:txBody>
            </p:sp>
            <p:sp>
              <p:nvSpPr>
                <p:cNvPr id="25640" name="Rectangle 62"/>
                <p:cNvSpPr>
                  <a:spLocks noChangeArrowheads="1"/>
                </p:cNvSpPr>
                <p:nvPr/>
              </p:nvSpPr>
              <p:spPr bwMode="auto">
                <a:xfrm>
                  <a:off x="633" y="518"/>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4" name="Group 65"/>
              <p:cNvGrpSpPr>
                <a:grpSpLocks/>
              </p:cNvGrpSpPr>
              <p:nvPr/>
            </p:nvGrpSpPr>
            <p:grpSpPr bwMode="auto">
              <a:xfrm>
                <a:off x="0" y="921"/>
                <a:ext cx="633" cy="403"/>
                <a:chOff x="0" y="921"/>
                <a:chExt cx="633" cy="403"/>
              </a:xfrm>
            </p:grpSpPr>
            <p:sp>
              <p:nvSpPr>
                <p:cNvPr id="25637" name="Rectangle 58"/>
                <p:cNvSpPr>
                  <a:spLocks noChangeArrowheads="1"/>
                </p:cNvSpPr>
                <p:nvPr/>
              </p:nvSpPr>
              <p:spPr bwMode="auto">
                <a:xfrm>
                  <a:off x="43" y="921"/>
                  <a:ext cx="582" cy="403"/>
                </a:xfrm>
                <a:prstGeom prst="rect">
                  <a:avLst/>
                </a:prstGeom>
                <a:noFill/>
                <a:ln w="9525">
                  <a:noFill/>
                  <a:miter lim="800000"/>
                  <a:headEnd/>
                  <a:tailEnd/>
                </a:ln>
              </p:spPr>
              <p:txBody>
                <a:bodyPr/>
                <a:lstStyle/>
                <a:p>
                  <a:r>
                    <a:rPr lang="en-US" sz="1800" dirty="0">
                      <a:latin typeface="Arial" pitchFamily="34" charset="0"/>
                      <a:cs typeface="Arial" pitchFamily="34" charset="0"/>
                    </a:rPr>
                    <a:t>REPLACE</a:t>
                  </a:r>
                </a:p>
                <a:p>
                  <a:endParaRPr lang="en-US" sz="1800" dirty="0">
                    <a:latin typeface="Arial" pitchFamily="34" charset="0"/>
                    <a:cs typeface="Arial" pitchFamily="34" charset="0"/>
                  </a:endParaRPr>
                </a:p>
              </p:txBody>
            </p:sp>
            <p:sp>
              <p:nvSpPr>
                <p:cNvPr id="25638" name="Rectangle 64"/>
                <p:cNvSpPr>
                  <a:spLocks noChangeArrowheads="1"/>
                </p:cNvSpPr>
                <p:nvPr/>
              </p:nvSpPr>
              <p:spPr bwMode="auto">
                <a:xfrm>
                  <a:off x="0" y="921"/>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5" name="Group 67"/>
              <p:cNvGrpSpPr>
                <a:grpSpLocks/>
              </p:cNvGrpSpPr>
              <p:nvPr/>
            </p:nvGrpSpPr>
            <p:grpSpPr bwMode="auto">
              <a:xfrm>
                <a:off x="633" y="921"/>
                <a:ext cx="1022" cy="403"/>
                <a:chOff x="633" y="921"/>
                <a:chExt cx="1022" cy="403"/>
              </a:xfrm>
            </p:grpSpPr>
            <p:sp>
              <p:nvSpPr>
                <p:cNvPr id="25635" name="Rectangle 59"/>
                <p:cNvSpPr>
                  <a:spLocks noChangeArrowheads="1"/>
                </p:cNvSpPr>
                <p:nvPr/>
              </p:nvSpPr>
              <p:spPr bwMode="auto">
                <a:xfrm>
                  <a:off x="676" y="921"/>
                  <a:ext cx="936" cy="403"/>
                </a:xfrm>
                <a:prstGeom prst="rect">
                  <a:avLst/>
                </a:prstGeom>
                <a:noFill/>
                <a:ln w="9525">
                  <a:noFill/>
                  <a:miter lim="800000"/>
                  <a:headEnd/>
                  <a:tailEnd/>
                </a:ln>
              </p:spPr>
              <p:txBody>
                <a:bodyPr/>
                <a:lstStyle/>
                <a:p>
                  <a:r>
                    <a:rPr lang="en-US" sz="1800">
                      <a:latin typeface="Arial" pitchFamily="34" charset="0"/>
                      <a:cs typeface="Arial" pitchFamily="34" charset="0"/>
                    </a:rPr>
                    <a:t>Replace value</a:t>
                  </a:r>
                </a:p>
                <a:p>
                  <a:endParaRPr lang="en-US" sz="1800">
                    <a:latin typeface="Arial" pitchFamily="34" charset="0"/>
                    <a:cs typeface="Arial" pitchFamily="34" charset="0"/>
                  </a:endParaRPr>
                </a:p>
              </p:txBody>
            </p:sp>
            <p:sp>
              <p:nvSpPr>
                <p:cNvPr id="25636" name="Rectangle 66"/>
                <p:cNvSpPr>
                  <a:spLocks noChangeArrowheads="1"/>
                </p:cNvSpPr>
                <p:nvPr/>
              </p:nvSpPr>
              <p:spPr bwMode="auto">
                <a:xfrm>
                  <a:off x="633" y="921"/>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sp>
          <p:nvSpPr>
            <p:cNvPr id="25630" name="Rectangle 69"/>
            <p:cNvSpPr>
              <a:spLocks noChangeArrowheads="1"/>
            </p:cNvSpPr>
            <p:nvPr/>
          </p:nvSpPr>
          <p:spPr bwMode="auto">
            <a:xfrm>
              <a:off x="-3" y="515"/>
              <a:ext cx="1661" cy="812"/>
            </a:xfrm>
            <a:prstGeom prst="rect">
              <a:avLst/>
            </a:prstGeom>
            <a:noFill/>
            <a:ln w="9525">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6" name="Group 92"/>
          <p:cNvGrpSpPr>
            <a:grpSpLocks/>
          </p:cNvGrpSpPr>
          <p:nvPr/>
        </p:nvGrpSpPr>
        <p:grpSpPr bwMode="auto">
          <a:xfrm>
            <a:off x="4941277" y="3634154"/>
            <a:ext cx="3733800" cy="1143368"/>
            <a:chOff x="-3" y="1957"/>
            <a:chExt cx="1661" cy="1215"/>
          </a:xfrm>
        </p:grpSpPr>
        <p:grpSp>
          <p:nvGrpSpPr>
            <p:cNvPr id="27" name="Group 90"/>
            <p:cNvGrpSpPr>
              <a:grpSpLocks/>
            </p:cNvGrpSpPr>
            <p:nvPr/>
          </p:nvGrpSpPr>
          <p:grpSpPr bwMode="auto">
            <a:xfrm>
              <a:off x="0" y="1960"/>
              <a:ext cx="1655" cy="1209"/>
              <a:chOff x="0" y="1960"/>
              <a:chExt cx="1655" cy="1209"/>
            </a:xfrm>
          </p:grpSpPr>
          <p:grpSp>
            <p:nvGrpSpPr>
              <p:cNvPr id="28" name="Group 79"/>
              <p:cNvGrpSpPr>
                <a:grpSpLocks/>
              </p:cNvGrpSpPr>
              <p:nvPr/>
            </p:nvGrpSpPr>
            <p:grpSpPr bwMode="auto">
              <a:xfrm>
                <a:off x="0" y="1960"/>
                <a:ext cx="633" cy="403"/>
                <a:chOff x="0" y="1960"/>
                <a:chExt cx="633" cy="403"/>
              </a:xfrm>
            </p:grpSpPr>
            <p:sp>
              <p:nvSpPr>
                <p:cNvPr id="25627" name="Rectangle 72"/>
                <p:cNvSpPr>
                  <a:spLocks noChangeArrowheads="1"/>
                </p:cNvSpPr>
                <p:nvPr/>
              </p:nvSpPr>
              <p:spPr bwMode="auto">
                <a:xfrm>
                  <a:off x="43" y="1960"/>
                  <a:ext cx="547" cy="403"/>
                </a:xfrm>
                <a:prstGeom prst="rect">
                  <a:avLst/>
                </a:prstGeom>
                <a:noFill/>
                <a:ln w="9525">
                  <a:noFill/>
                  <a:miter lim="800000"/>
                  <a:headEnd/>
                  <a:tailEnd/>
                </a:ln>
              </p:spPr>
              <p:txBody>
                <a:bodyPr/>
                <a:lstStyle/>
                <a:p>
                  <a:r>
                    <a:rPr lang="en-US" sz="1800">
                      <a:latin typeface="Arial" pitchFamily="34" charset="0"/>
                      <a:cs typeface="Arial" pitchFamily="34" charset="0"/>
                    </a:rPr>
                    <a:t>&amp;</a:t>
                  </a:r>
                </a:p>
                <a:p>
                  <a:endParaRPr lang="en-US" sz="1800">
                    <a:latin typeface="Arial" pitchFamily="34" charset="0"/>
                    <a:cs typeface="Arial" pitchFamily="34" charset="0"/>
                  </a:endParaRPr>
                </a:p>
              </p:txBody>
            </p:sp>
            <p:sp>
              <p:nvSpPr>
                <p:cNvPr id="25628" name="Rectangle 78"/>
                <p:cNvSpPr>
                  <a:spLocks noChangeArrowheads="1"/>
                </p:cNvSpPr>
                <p:nvPr/>
              </p:nvSpPr>
              <p:spPr bwMode="auto">
                <a:xfrm>
                  <a:off x="0" y="1960"/>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9" name="Group 81"/>
              <p:cNvGrpSpPr>
                <a:grpSpLocks/>
              </p:cNvGrpSpPr>
              <p:nvPr/>
            </p:nvGrpSpPr>
            <p:grpSpPr bwMode="auto">
              <a:xfrm>
                <a:off x="633" y="1960"/>
                <a:ext cx="1022" cy="403"/>
                <a:chOff x="633" y="1960"/>
                <a:chExt cx="1022" cy="403"/>
              </a:xfrm>
            </p:grpSpPr>
            <p:sp>
              <p:nvSpPr>
                <p:cNvPr id="25625" name="Rectangle 73"/>
                <p:cNvSpPr>
                  <a:spLocks noChangeArrowheads="1"/>
                </p:cNvSpPr>
                <p:nvPr/>
              </p:nvSpPr>
              <p:spPr bwMode="auto">
                <a:xfrm>
                  <a:off x="676" y="1960"/>
                  <a:ext cx="936" cy="403"/>
                </a:xfrm>
                <a:prstGeom prst="rect">
                  <a:avLst/>
                </a:prstGeom>
                <a:noFill/>
                <a:ln w="9525">
                  <a:noFill/>
                  <a:miter lim="800000"/>
                  <a:headEnd/>
                  <a:tailEnd/>
                </a:ln>
              </p:spPr>
              <p:txBody>
                <a:bodyPr/>
                <a:lstStyle/>
                <a:p>
                  <a:r>
                    <a:rPr lang="en-US" sz="1800">
                      <a:latin typeface="Arial" pitchFamily="34" charset="0"/>
                      <a:cs typeface="Arial" pitchFamily="34" charset="0"/>
                    </a:rPr>
                    <a:t>AND</a:t>
                  </a:r>
                </a:p>
                <a:p>
                  <a:endParaRPr lang="en-US" sz="1800">
                    <a:latin typeface="Arial" pitchFamily="34" charset="0"/>
                    <a:cs typeface="Arial" pitchFamily="34" charset="0"/>
                  </a:endParaRPr>
                </a:p>
              </p:txBody>
            </p:sp>
            <p:sp>
              <p:nvSpPr>
                <p:cNvPr id="25626" name="Rectangle 80"/>
                <p:cNvSpPr>
                  <a:spLocks noChangeArrowheads="1"/>
                </p:cNvSpPr>
                <p:nvPr/>
              </p:nvSpPr>
              <p:spPr bwMode="auto">
                <a:xfrm>
                  <a:off x="633" y="1960"/>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30" name="Group 83"/>
              <p:cNvGrpSpPr>
                <a:grpSpLocks/>
              </p:cNvGrpSpPr>
              <p:nvPr/>
            </p:nvGrpSpPr>
            <p:grpSpPr bwMode="auto">
              <a:xfrm>
                <a:off x="0" y="2363"/>
                <a:ext cx="633" cy="403"/>
                <a:chOff x="0" y="2363"/>
                <a:chExt cx="633" cy="403"/>
              </a:xfrm>
            </p:grpSpPr>
            <p:sp>
              <p:nvSpPr>
                <p:cNvPr id="25623" name="Rectangle 74"/>
                <p:cNvSpPr>
                  <a:spLocks noChangeArrowheads="1"/>
                </p:cNvSpPr>
                <p:nvPr/>
              </p:nvSpPr>
              <p:spPr bwMode="auto">
                <a:xfrm>
                  <a:off x="43" y="2363"/>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5624" name="Rectangle 82"/>
                <p:cNvSpPr>
                  <a:spLocks noChangeArrowheads="1"/>
                </p:cNvSpPr>
                <p:nvPr/>
              </p:nvSpPr>
              <p:spPr bwMode="auto">
                <a:xfrm>
                  <a:off x="0" y="2363"/>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31" name="Group 85"/>
              <p:cNvGrpSpPr>
                <a:grpSpLocks/>
              </p:cNvGrpSpPr>
              <p:nvPr/>
            </p:nvGrpSpPr>
            <p:grpSpPr bwMode="auto">
              <a:xfrm>
                <a:off x="633" y="2363"/>
                <a:ext cx="1022" cy="403"/>
                <a:chOff x="633" y="2363"/>
                <a:chExt cx="1022" cy="403"/>
              </a:xfrm>
            </p:grpSpPr>
            <p:sp>
              <p:nvSpPr>
                <p:cNvPr id="25621" name="Rectangle 75"/>
                <p:cNvSpPr>
                  <a:spLocks noChangeArrowheads="1"/>
                </p:cNvSpPr>
                <p:nvPr/>
              </p:nvSpPr>
              <p:spPr bwMode="auto">
                <a:xfrm>
                  <a:off x="676" y="2363"/>
                  <a:ext cx="936" cy="403"/>
                </a:xfrm>
                <a:prstGeom prst="rect">
                  <a:avLst/>
                </a:prstGeom>
                <a:noFill/>
                <a:ln w="9525">
                  <a:noFill/>
                  <a:miter lim="800000"/>
                  <a:headEnd/>
                  <a:tailEnd/>
                </a:ln>
              </p:spPr>
              <p:txBody>
                <a:bodyPr/>
                <a:lstStyle/>
                <a:p>
                  <a:r>
                    <a:rPr lang="en-US" sz="1800">
                      <a:latin typeface="Arial" pitchFamily="34" charset="0"/>
                      <a:cs typeface="Arial" pitchFamily="34" charset="0"/>
                    </a:rPr>
                    <a:t>OR</a:t>
                  </a:r>
                </a:p>
                <a:p>
                  <a:endParaRPr lang="en-US" sz="1800">
                    <a:latin typeface="Arial" pitchFamily="34" charset="0"/>
                    <a:cs typeface="Arial" pitchFamily="34" charset="0"/>
                  </a:endParaRPr>
                </a:p>
              </p:txBody>
            </p:sp>
            <p:sp>
              <p:nvSpPr>
                <p:cNvPr id="25622" name="Rectangle 84"/>
                <p:cNvSpPr>
                  <a:spLocks noChangeArrowheads="1"/>
                </p:cNvSpPr>
                <p:nvPr/>
              </p:nvSpPr>
              <p:spPr bwMode="auto">
                <a:xfrm>
                  <a:off x="633" y="2363"/>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5600" name="Group 87"/>
              <p:cNvGrpSpPr>
                <a:grpSpLocks/>
              </p:cNvGrpSpPr>
              <p:nvPr/>
            </p:nvGrpSpPr>
            <p:grpSpPr bwMode="auto">
              <a:xfrm>
                <a:off x="0" y="2766"/>
                <a:ext cx="633" cy="403"/>
                <a:chOff x="0" y="2766"/>
                <a:chExt cx="633" cy="403"/>
              </a:xfrm>
            </p:grpSpPr>
            <p:sp>
              <p:nvSpPr>
                <p:cNvPr id="25619" name="Rectangle 76"/>
                <p:cNvSpPr>
                  <a:spLocks noChangeArrowheads="1"/>
                </p:cNvSpPr>
                <p:nvPr/>
              </p:nvSpPr>
              <p:spPr bwMode="auto">
                <a:xfrm>
                  <a:off x="43" y="2766"/>
                  <a:ext cx="547" cy="403"/>
                </a:xfrm>
                <a:prstGeom prst="rect">
                  <a:avLst/>
                </a:prstGeom>
                <a:noFill/>
                <a:ln w="9525">
                  <a:noFill/>
                  <a:miter lim="800000"/>
                  <a:headEnd/>
                  <a:tailEnd/>
                </a:ln>
              </p:spPr>
              <p:txBody>
                <a:bodyPr/>
                <a:lstStyle/>
                <a:p>
                  <a:r>
                    <a:rPr lang="en-US" sz="1800">
                      <a:latin typeface="Arial" pitchFamily="34" charset="0"/>
                      <a:cs typeface="Arial" pitchFamily="34" charset="0"/>
                    </a:rPr>
                    <a:t>,</a:t>
                  </a:r>
                </a:p>
                <a:p>
                  <a:endParaRPr lang="en-US" sz="1800">
                    <a:latin typeface="Arial" pitchFamily="34" charset="0"/>
                    <a:cs typeface="Arial" pitchFamily="34" charset="0"/>
                  </a:endParaRPr>
                </a:p>
              </p:txBody>
            </p:sp>
            <p:sp>
              <p:nvSpPr>
                <p:cNvPr id="25620" name="Rectangle 86"/>
                <p:cNvSpPr>
                  <a:spLocks noChangeArrowheads="1"/>
                </p:cNvSpPr>
                <p:nvPr/>
              </p:nvSpPr>
              <p:spPr bwMode="auto">
                <a:xfrm>
                  <a:off x="0" y="2766"/>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25601" name="Group 89"/>
              <p:cNvGrpSpPr>
                <a:grpSpLocks/>
              </p:cNvGrpSpPr>
              <p:nvPr/>
            </p:nvGrpSpPr>
            <p:grpSpPr bwMode="auto">
              <a:xfrm>
                <a:off x="633" y="2766"/>
                <a:ext cx="1022" cy="403"/>
                <a:chOff x="633" y="2766"/>
                <a:chExt cx="1022" cy="403"/>
              </a:xfrm>
            </p:grpSpPr>
            <p:sp>
              <p:nvSpPr>
                <p:cNvPr id="25617" name="Rectangle 77"/>
                <p:cNvSpPr>
                  <a:spLocks noChangeArrowheads="1"/>
                </p:cNvSpPr>
                <p:nvPr/>
              </p:nvSpPr>
              <p:spPr bwMode="auto">
                <a:xfrm>
                  <a:off x="676" y="2766"/>
                  <a:ext cx="936" cy="403"/>
                </a:xfrm>
                <a:prstGeom prst="rect">
                  <a:avLst/>
                </a:prstGeom>
                <a:noFill/>
                <a:ln w="9525">
                  <a:noFill/>
                  <a:miter lim="800000"/>
                  <a:headEnd/>
                  <a:tailEnd/>
                </a:ln>
              </p:spPr>
              <p:txBody>
                <a:bodyPr/>
                <a:lstStyle/>
                <a:p>
                  <a:r>
                    <a:rPr lang="en-US" sz="1800">
                      <a:latin typeface="Arial" pitchFamily="34" charset="0"/>
                      <a:cs typeface="Arial" pitchFamily="34" charset="0"/>
                    </a:rPr>
                    <a:t>Comma separator</a:t>
                  </a:r>
                </a:p>
                <a:p>
                  <a:endParaRPr lang="en-US" sz="1800">
                    <a:latin typeface="Arial" pitchFamily="34" charset="0"/>
                    <a:cs typeface="Arial" pitchFamily="34" charset="0"/>
                  </a:endParaRPr>
                </a:p>
              </p:txBody>
            </p:sp>
            <p:sp>
              <p:nvSpPr>
                <p:cNvPr id="25618" name="Rectangle 88"/>
                <p:cNvSpPr>
                  <a:spLocks noChangeArrowheads="1"/>
                </p:cNvSpPr>
                <p:nvPr/>
              </p:nvSpPr>
              <p:spPr bwMode="auto">
                <a:xfrm>
                  <a:off x="633" y="2766"/>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sp>
          <p:nvSpPr>
            <p:cNvPr id="25610" name="Rectangle 91"/>
            <p:cNvSpPr>
              <a:spLocks noChangeArrowheads="1"/>
            </p:cNvSpPr>
            <p:nvPr/>
          </p:nvSpPr>
          <p:spPr bwMode="auto">
            <a:xfrm>
              <a:off x="-3" y="1957"/>
              <a:ext cx="1661" cy="1215"/>
            </a:xfrm>
            <a:prstGeom prst="rect">
              <a:avLst/>
            </a:prstGeom>
            <a:noFill/>
            <a:ln w="9525">
              <a:solidFill>
                <a:srgbClr val="A0A0A0"/>
              </a:solidFill>
              <a:miter lim="800000"/>
              <a:headEnd/>
              <a:tailEnd/>
            </a:ln>
          </p:spPr>
          <p:txBody>
            <a:bodyPr/>
            <a:lstStyle/>
            <a:p>
              <a:endParaRPr lang="en-US" sz="1800">
                <a:latin typeface="Arial" pitchFamily="34" charset="0"/>
                <a:cs typeface="Arial" pitchFamily="34" charset="0"/>
              </a:endParaRPr>
            </a:p>
          </p:txBody>
        </p:sp>
      </p:grpSp>
      <p:sp>
        <p:nvSpPr>
          <p:cNvPr id="25608" name="Rectangle 93"/>
          <p:cNvSpPr>
            <a:spLocks noChangeArrowheads="1"/>
          </p:cNvSpPr>
          <p:nvPr/>
        </p:nvSpPr>
        <p:spPr bwMode="auto">
          <a:xfrm>
            <a:off x="5099537" y="3176955"/>
            <a:ext cx="2819400" cy="366713"/>
          </a:xfrm>
          <a:prstGeom prst="rect">
            <a:avLst/>
          </a:prstGeom>
          <a:noFill/>
          <a:ln w="9525">
            <a:noFill/>
            <a:miter lim="800000"/>
            <a:headEnd/>
            <a:tailEnd/>
          </a:ln>
        </p:spPr>
        <p:txBody>
          <a:bodyPr>
            <a:spAutoFit/>
          </a:bodyPr>
          <a:lstStyle/>
          <a:p>
            <a:r>
              <a:rPr lang="en-US" sz="1800" b="1" dirty="0">
                <a:latin typeface="Tahoma" pitchFamily="34" charset="0"/>
                <a:cs typeface="Times New Roman" pitchFamily="18" charset="0"/>
              </a:rPr>
              <a:t>Boolean Operators</a:t>
            </a:r>
            <a:r>
              <a:rPr lang="en-US" sz="1800" b="1" dirty="0">
                <a:latin typeface="Tahoma" pitchFamily="34" charset="0"/>
              </a:rPr>
              <a:t> </a:t>
            </a:r>
          </a:p>
        </p:txBody>
      </p:sp>
      <p:grpSp>
        <p:nvGrpSpPr>
          <p:cNvPr id="94" name="Group 93"/>
          <p:cNvGrpSpPr/>
          <p:nvPr/>
        </p:nvGrpSpPr>
        <p:grpSpPr>
          <a:xfrm>
            <a:off x="494352" y="1808115"/>
            <a:ext cx="4327710" cy="2598255"/>
            <a:chOff x="494352" y="1808115"/>
            <a:chExt cx="4327710" cy="2598255"/>
          </a:xfrm>
        </p:grpSpPr>
        <p:grpSp>
          <p:nvGrpSpPr>
            <p:cNvPr id="3" name="Group 52"/>
            <p:cNvGrpSpPr>
              <a:grpSpLocks/>
            </p:cNvGrpSpPr>
            <p:nvPr/>
          </p:nvGrpSpPr>
          <p:grpSpPr bwMode="auto">
            <a:xfrm>
              <a:off x="494352" y="1808115"/>
              <a:ext cx="4327710" cy="2598255"/>
              <a:chOff x="0" y="403"/>
              <a:chExt cx="1655" cy="2824"/>
            </a:xfrm>
          </p:grpSpPr>
          <p:grpSp>
            <p:nvGrpSpPr>
              <p:cNvPr id="4" name="Group 21"/>
              <p:cNvGrpSpPr>
                <a:grpSpLocks/>
              </p:cNvGrpSpPr>
              <p:nvPr/>
            </p:nvGrpSpPr>
            <p:grpSpPr bwMode="auto">
              <a:xfrm>
                <a:off x="0" y="403"/>
                <a:ext cx="633" cy="403"/>
                <a:chOff x="0" y="403"/>
                <a:chExt cx="633" cy="403"/>
              </a:xfrm>
            </p:grpSpPr>
            <p:sp>
              <p:nvSpPr>
                <p:cNvPr id="25691" name="Rectangle 4"/>
                <p:cNvSpPr>
                  <a:spLocks noChangeArrowheads="1"/>
                </p:cNvSpPr>
                <p:nvPr/>
              </p:nvSpPr>
              <p:spPr bwMode="auto">
                <a:xfrm>
                  <a:off x="43" y="403"/>
                  <a:ext cx="547" cy="403"/>
                </a:xfrm>
                <a:prstGeom prst="rect">
                  <a:avLst/>
                </a:prstGeom>
                <a:noFill/>
                <a:ln w="9525">
                  <a:noFill/>
                  <a:miter lim="800000"/>
                  <a:headEnd/>
                  <a:tailEnd/>
                </a:ln>
              </p:spPr>
              <p:txBody>
                <a:bodyPr/>
                <a:lstStyle/>
                <a:p>
                  <a:r>
                    <a:rPr lang="en-US" sz="1800">
                      <a:latin typeface="Arial" pitchFamily="34" charset="0"/>
                      <a:cs typeface="Arial" pitchFamily="34" charset="0"/>
                    </a:rPr>
                    <a:t>ENUM</a:t>
                  </a:r>
                </a:p>
                <a:p>
                  <a:endParaRPr lang="en-US" sz="1800">
                    <a:latin typeface="Arial" pitchFamily="34" charset="0"/>
                    <a:cs typeface="Arial" pitchFamily="34" charset="0"/>
                  </a:endParaRPr>
                </a:p>
              </p:txBody>
            </p:sp>
            <p:sp>
              <p:nvSpPr>
                <p:cNvPr id="25692" name="Rectangle 20"/>
                <p:cNvSpPr>
                  <a:spLocks noChangeArrowheads="1"/>
                </p:cNvSpPr>
                <p:nvPr/>
              </p:nvSpPr>
              <p:spPr bwMode="auto">
                <a:xfrm>
                  <a:off x="0" y="403"/>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5" name="Group 23"/>
              <p:cNvGrpSpPr>
                <a:grpSpLocks/>
              </p:cNvGrpSpPr>
              <p:nvPr/>
            </p:nvGrpSpPr>
            <p:grpSpPr bwMode="auto">
              <a:xfrm>
                <a:off x="633" y="403"/>
                <a:ext cx="1022" cy="403"/>
                <a:chOff x="633" y="403"/>
                <a:chExt cx="1022" cy="403"/>
              </a:xfrm>
            </p:grpSpPr>
            <p:sp>
              <p:nvSpPr>
                <p:cNvPr id="25689" name="Rectangle 5"/>
                <p:cNvSpPr>
                  <a:spLocks noChangeArrowheads="1"/>
                </p:cNvSpPr>
                <p:nvPr/>
              </p:nvSpPr>
              <p:spPr bwMode="auto">
                <a:xfrm>
                  <a:off x="676" y="403"/>
                  <a:ext cx="936" cy="403"/>
                </a:xfrm>
                <a:prstGeom prst="rect">
                  <a:avLst/>
                </a:prstGeom>
                <a:noFill/>
                <a:ln w="9525">
                  <a:noFill/>
                  <a:miter lim="800000"/>
                  <a:headEnd/>
                  <a:tailEnd/>
                </a:ln>
              </p:spPr>
              <p:txBody>
                <a:bodyPr/>
                <a:lstStyle/>
                <a:p>
                  <a:r>
                    <a:rPr lang="en-US" sz="1800">
                      <a:latin typeface="Arial" pitchFamily="34" charset="0"/>
                      <a:cs typeface="Arial" pitchFamily="34" charset="0"/>
                    </a:rPr>
                    <a:t>Enumeration</a:t>
                  </a:r>
                </a:p>
                <a:p>
                  <a:endParaRPr lang="en-US" sz="1800">
                    <a:latin typeface="Arial" pitchFamily="34" charset="0"/>
                    <a:cs typeface="Arial" pitchFamily="34" charset="0"/>
                  </a:endParaRPr>
                </a:p>
              </p:txBody>
            </p:sp>
            <p:sp>
              <p:nvSpPr>
                <p:cNvPr id="25690" name="Rectangle 22"/>
                <p:cNvSpPr>
                  <a:spLocks noChangeArrowheads="1"/>
                </p:cNvSpPr>
                <p:nvPr/>
              </p:nvSpPr>
              <p:spPr bwMode="auto">
                <a:xfrm>
                  <a:off x="633" y="403"/>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6" name="Group 25"/>
              <p:cNvGrpSpPr>
                <a:grpSpLocks/>
              </p:cNvGrpSpPr>
              <p:nvPr/>
            </p:nvGrpSpPr>
            <p:grpSpPr bwMode="auto">
              <a:xfrm>
                <a:off x="0" y="806"/>
                <a:ext cx="633" cy="403"/>
                <a:chOff x="0" y="806"/>
                <a:chExt cx="633" cy="403"/>
              </a:xfrm>
            </p:grpSpPr>
            <p:sp>
              <p:nvSpPr>
                <p:cNvPr id="25687" name="Rectangle 6"/>
                <p:cNvSpPr>
                  <a:spLocks noChangeArrowheads="1"/>
                </p:cNvSpPr>
                <p:nvPr/>
              </p:nvSpPr>
              <p:spPr bwMode="auto">
                <a:xfrm>
                  <a:off x="43" y="806"/>
                  <a:ext cx="547" cy="403"/>
                </a:xfrm>
                <a:prstGeom prst="rect">
                  <a:avLst/>
                </a:prstGeom>
                <a:noFill/>
                <a:ln w="9525">
                  <a:noFill/>
                  <a:miter lim="800000"/>
                  <a:headEnd/>
                  <a:tailEnd/>
                </a:ln>
              </p:spPr>
              <p:txBody>
                <a:bodyPr/>
                <a:lstStyle/>
                <a:p>
                  <a:r>
                    <a:rPr lang="en-US" sz="1800">
                      <a:latin typeface="Arial" pitchFamily="34" charset="0"/>
                      <a:cs typeface="Arial" pitchFamily="34" charset="0"/>
                    </a:rPr>
                    <a:t>EQ</a:t>
                  </a:r>
                </a:p>
                <a:p>
                  <a:endParaRPr lang="en-US" sz="1800">
                    <a:latin typeface="Arial" pitchFamily="34" charset="0"/>
                    <a:cs typeface="Arial" pitchFamily="34" charset="0"/>
                  </a:endParaRPr>
                </a:p>
              </p:txBody>
            </p:sp>
            <p:sp>
              <p:nvSpPr>
                <p:cNvPr id="25688" name="Rectangle 24"/>
                <p:cNvSpPr>
                  <a:spLocks noChangeArrowheads="1"/>
                </p:cNvSpPr>
                <p:nvPr/>
              </p:nvSpPr>
              <p:spPr bwMode="auto">
                <a:xfrm>
                  <a:off x="0" y="806"/>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7" name="Group 27"/>
              <p:cNvGrpSpPr>
                <a:grpSpLocks/>
              </p:cNvGrpSpPr>
              <p:nvPr/>
            </p:nvGrpSpPr>
            <p:grpSpPr bwMode="auto">
              <a:xfrm>
                <a:off x="633" y="806"/>
                <a:ext cx="1022" cy="403"/>
                <a:chOff x="633" y="806"/>
                <a:chExt cx="1022" cy="403"/>
              </a:xfrm>
            </p:grpSpPr>
            <p:sp>
              <p:nvSpPr>
                <p:cNvPr id="25685" name="Rectangle 7"/>
                <p:cNvSpPr>
                  <a:spLocks noChangeArrowheads="1"/>
                </p:cNvSpPr>
                <p:nvPr/>
              </p:nvSpPr>
              <p:spPr bwMode="auto">
                <a:xfrm>
                  <a:off x="676" y="806"/>
                  <a:ext cx="936" cy="403"/>
                </a:xfrm>
                <a:prstGeom prst="rect">
                  <a:avLst/>
                </a:prstGeom>
                <a:noFill/>
                <a:ln w="9525">
                  <a:noFill/>
                  <a:miter lim="800000"/>
                  <a:headEnd/>
                  <a:tailEnd/>
                </a:ln>
              </p:spPr>
              <p:txBody>
                <a:bodyPr/>
                <a:lstStyle/>
                <a:p>
                  <a:r>
                    <a:rPr lang="en-US" sz="1800" dirty="0">
                      <a:latin typeface="Arial" pitchFamily="34" charset="0"/>
                      <a:cs typeface="Arial" pitchFamily="34" charset="0"/>
                    </a:rPr>
                    <a:t>Equal</a:t>
                  </a:r>
                </a:p>
                <a:p>
                  <a:endParaRPr lang="en-US" sz="1800" dirty="0">
                    <a:latin typeface="Arial" pitchFamily="34" charset="0"/>
                    <a:cs typeface="Arial" pitchFamily="34" charset="0"/>
                  </a:endParaRPr>
                </a:p>
              </p:txBody>
            </p:sp>
            <p:sp>
              <p:nvSpPr>
                <p:cNvPr id="25686" name="Rectangle 26"/>
                <p:cNvSpPr>
                  <a:spLocks noChangeArrowheads="1"/>
                </p:cNvSpPr>
                <p:nvPr/>
              </p:nvSpPr>
              <p:spPr bwMode="auto">
                <a:xfrm>
                  <a:off x="633" y="806"/>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sp>
            <p:nvSpPr>
              <p:cNvPr id="25684" name="Rectangle 28"/>
              <p:cNvSpPr>
                <a:spLocks noChangeArrowheads="1"/>
              </p:cNvSpPr>
              <p:nvPr/>
            </p:nvSpPr>
            <p:spPr bwMode="auto">
              <a:xfrm>
                <a:off x="0" y="1209"/>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nvGrpSpPr>
              <p:cNvPr id="10" name="Group 33"/>
              <p:cNvGrpSpPr>
                <a:grpSpLocks/>
              </p:cNvGrpSpPr>
              <p:nvPr/>
            </p:nvGrpSpPr>
            <p:grpSpPr bwMode="auto">
              <a:xfrm>
                <a:off x="0" y="1198"/>
                <a:ext cx="633" cy="817"/>
                <a:chOff x="0" y="1198"/>
                <a:chExt cx="633" cy="817"/>
              </a:xfrm>
            </p:grpSpPr>
            <p:sp>
              <p:nvSpPr>
                <p:cNvPr id="25679" name="Rectangle 10"/>
                <p:cNvSpPr>
                  <a:spLocks noChangeArrowheads="1"/>
                </p:cNvSpPr>
                <p:nvPr/>
              </p:nvSpPr>
              <p:spPr bwMode="auto">
                <a:xfrm>
                  <a:off x="43" y="1198"/>
                  <a:ext cx="547" cy="403"/>
                </a:xfrm>
                <a:prstGeom prst="rect">
                  <a:avLst/>
                </a:prstGeom>
                <a:noFill/>
                <a:ln w="9525">
                  <a:noFill/>
                  <a:miter lim="800000"/>
                  <a:headEnd/>
                  <a:tailEnd/>
                </a:ln>
              </p:spPr>
              <p:txBody>
                <a:bodyPr/>
                <a:lstStyle/>
                <a:p>
                  <a:r>
                    <a:rPr lang="en-US" sz="1800" dirty="0">
                      <a:latin typeface="Arial" pitchFamily="34" charset="0"/>
                      <a:cs typeface="Arial" pitchFamily="34" charset="0"/>
                    </a:rPr>
                    <a:t>GTE</a:t>
                  </a:r>
                </a:p>
                <a:p>
                  <a:endParaRPr lang="en-US" sz="1800" dirty="0">
                    <a:latin typeface="Arial" pitchFamily="34" charset="0"/>
                    <a:cs typeface="Arial" pitchFamily="34" charset="0"/>
                  </a:endParaRPr>
                </a:p>
              </p:txBody>
            </p:sp>
            <p:sp>
              <p:nvSpPr>
                <p:cNvPr id="25680" name="Rectangle 32"/>
                <p:cNvSpPr>
                  <a:spLocks noChangeArrowheads="1"/>
                </p:cNvSpPr>
                <p:nvPr/>
              </p:nvSpPr>
              <p:spPr bwMode="auto">
                <a:xfrm>
                  <a:off x="0" y="1612"/>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1" name="Group 35"/>
              <p:cNvGrpSpPr>
                <a:grpSpLocks/>
              </p:cNvGrpSpPr>
              <p:nvPr/>
            </p:nvGrpSpPr>
            <p:grpSpPr bwMode="auto">
              <a:xfrm>
                <a:off x="633" y="1212"/>
                <a:ext cx="1022" cy="803"/>
                <a:chOff x="633" y="1212"/>
                <a:chExt cx="1022" cy="803"/>
              </a:xfrm>
            </p:grpSpPr>
            <p:sp>
              <p:nvSpPr>
                <p:cNvPr id="25677" name="Rectangle 11"/>
                <p:cNvSpPr>
                  <a:spLocks noChangeArrowheads="1"/>
                </p:cNvSpPr>
                <p:nvPr/>
              </p:nvSpPr>
              <p:spPr bwMode="auto">
                <a:xfrm>
                  <a:off x="676" y="1212"/>
                  <a:ext cx="936" cy="403"/>
                </a:xfrm>
                <a:prstGeom prst="rect">
                  <a:avLst/>
                </a:prstGeom>
                <a:noFill/>
                <a:ln w="9525">
                  <a:noFill/>
                  <a:miter lim="800000"/>
                  <a:headEnd/>
                  <a:tailEnd/>
                </a:ln>
              </p:spPr>
              <p:txBody>
                <a:bodyPr/>
                <a:lstStyle/>
                <a:p>
                  <a:r>
                    <a:rPr lang="en-US" sz="1800" dirty="0">
                      <a:latin typeface="Arial" pitchFamily="34" charset="0"/>
                      <a:cs typeface="Arial" pitchFamily="34" charset="0"/>
                    </a:rPr>
                    <a:t>Greater than or equal</a:t>
                  </a:r>
                </a:p>
                <a:p>
                  <a:endParaRPr lang="en-US" sz="1800" dirty="0">
                    <a:latin typeface="Arial" pitchFamily="34" charset="0"/>
                    <a:cs typeface="Arial" pitchFamily="34" charset="0"/>
                  </a:endParaRPr>
                </a:p>
              </p:txBody>
            </p:sp>
            <p:sp>
              <p:nvSpPr>
                <p:cNvPr id="25678" name="Rectangle 34"/>
                <p:cNvSpPr>
                  <a:spLocks noChangeArrowheads="1"/>
                </p:cNvSpPr>
                <p:nvPr/>
              </p:nvSpPr>
              <p:spPr bwMode="auto">
                <a:xfrm>
                  <a:off x="633" y="1612"/>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2" name="Group 37"/>
              <p:cNvGrpSpPr>
                <a:grpSpLocks/>
              </p:cNvGrpSpPr>
              <p:nvPr/>
            </p:nvGrpSpPr>
            <p:grpSpPr bwMode="auto">
              <a:xfrm>
                <a:off x="0" y="1601"/>
                <a:ext cx="633" cy="817"/>
                <a:chOff x="0" y="1601"/>
                <a:chExt cx="633" cy="817"/>
              </a:xfrm>
            </p:grpSpPr>
            <p:sp>
              <p:nvSpPr>
                <p:cNvPr id="25675" name="Rectangle 12"/>
                <p:cNvSpPr>
                  <a:spLocks noChangeArrowheads="1"/>
                </p:cNvSpPr>
                <p:nvPr/>
              </p:nvSpPr>
              <p:spPr bwMode="auto">
                <a:xfrm>
                  <a:off x="43" y="1601"/>
                  <a:ext cx="547" cy="403"/>
                </a:xfrm>
                <a:prstGeom prst="rect">
                  <a:avLst/>
                </a:prstGeom>
                <a:noFill/>
                <a:ln w="9525">
                  <a:noFill/>
                  <a:miter lim="800000"/>
                  <a:headEnd/>
                  <a:tailEnd/>
                </a:ln>
              </p:spPr>
              <p:txBody>
                <a:bodyPr/>
                <a:lstStyle/>
                <a:p>
                  <a:r>
                    <a:rPr lang="en-US" sz="1800" dirty="0">
                      <a:latin typeface="Arial" pitchFamily="34" charset="0"/>
                      <a:cs typeface="Arial" pitchFamily="34" charset="0"/>
                    </a:rPr>
                    <a:t>LT</a:t>
                  </a:r>
                </a:p>
                <a:p>
                  <a:endParaRPr lang="en-US" sz="1800" dirty="0">
                    <a:latin typeface="Arial" pitchFamily="34" charset="0"/>
                    <a:cs typeface="Arial" pitchFamily="34" charset="0"/>
                  </a:endParaRPr>
                </a:p>
              </p:txBody>
            </p:sp>
            <p:sp>
              <p:nvSpPr>
                <p:cNvPr id="25676" name="Rectangle 36"/>
                <p:cNvSpPr>
                  <a:spLocks noChangeArrowheads="1"/>
                </p:cNvSpPr>
                <p:nvPr/>
              </p:nvSpPr>
              <p:spPr bwMode="auto">
                <a:xfrm>
                  <a:off x="0" y="2015"/>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3" name="Group 39"/>
              <p:cNvGrpSpPr>
                <a:grpSpLocks/>
              </p:cNvGrpSpPr>
              <p:nvPr/>
            </p:nvGrpSpPr>
            <p:grpSpPr bwMode="auto">
              <a:xfrm>
                <a:off x="633" y="1615"/>
                <a:ext cx="1022" cy="803"/>
                <a:chOff x="633" y="1615"/>
                <a:chExt cx="1022" cy="803"/>
              </a:xfrm>
            </p:grpSpPr>
            <p:sp>
              <p:nvSpPr>
                <p:cNvPr id="25673" name="Rectangle 13"/>
                <p:cNvSpPr>
                  <a:spLocks noChangeArrowheads="1"/>
                </p:cNvSpPr>
                <p:nvPr/>
              </p:nvSpPr>
              <p:spPr bwMode="auto">
                <a:xfrm>
                  <a:off x="676" y="1615"/>
                  <a:ext cx="936" cy="403"/>
                </a:xfrm>
                <a:prstGeom prst="rect">
                  <a:avLst/>
                </a:prstGeom>
                <a:noFill/>
                <a:ln w="9525">
                  <a:noFill/>
                  <a:miter lim="800000"/>
                  <a:headEnd/>
                  <a:tailEnd/>
                </a:ln>
              </p:spPr>
              <p:txBody>
                <a:bodyPr/>
                <a:lstStyle/>
                <a:p>
                  <a:r>
                    <a:rPr lang="en-US" sz="1800">
                      <a:latin typeface="Arial" pitchFamily="34" charset="0"/>
                      <a:cs typeface="Arial" pitchFamily="34" charset="0"/>
                    </a:rPr>
                    <a:t>Less than</a:t>
                  </a:r>
                </a:p>
                <a:p>
                  <a:endParaRPr lang="en-US" sz="1800">
                    <a:latin typeface="Arial" pitchFamily="34" charset="0"/>
                    <a:cs typeface="Arial" pitchFamily="34" charset="0"/>
                  </a:endParaRPr>
                </a:p>
              </p:txBody>
            </p:sp>
            <p:sp>
              <p:nvSpPr>
                <p:cNvPr id="25674" name="Rectangle 38"/>
                <p:cNvSpPr>
                  <a:spLocks noChangeArrowheads="1"/>
                </p:cNvSpPr>
                <p:nvPr/>
              </p:nvSpPr>
              <p:spPr bwMode="auto">
                <a:xfrm>
                  <a:off x="633" y="2015"/>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4" name="Group 41"/>
              <p:cNvGrpSpPr>
                <a:grpSpLocks/>
              </p:cNvGrpSpPr>
              <p:nvPr/>
            </p:nvGrpSpPr>
            <p:grpSpPr bwMode="auto">
              <a:xfrm>
                <a:off x="0" y="2004"/>
                <a:ext cx="633" cy="817"/>
                <a:chOff x="0" y="2004"/>
                <a:chExt cx="633" cy="817"/>
              </a:xfrm>
            </p:grpSpPr>
            <p:sp>
              <p:nvSpPr>
                <p:cNvPr id="25671" name="Rectangle 14"/>
                <p:cNvSpPr>
                  <a:spLocks noChangeArrowheads="1"/>
                </p:cNvSpPr>
                <p:nvPr/>
              </p:nvSpPr>
              <p:spPr bwMode="auto">
                <a:xfrm>
                  <a:off x="43" y="2004"/>
                  <a:ext cx="547" cy="403"/>
                </a:xfrm>
                <a:prstGeom prst="rect">
                  <a:avLst/>
                </a:prstGeom>
                <a:noFill/>
                <a:ln w="9525">
                  <a:noFill/>
                  <a:miter lim="800000"/>
                  <a:headEnd/>
                  <a:tailEnd/>
                </a:ln>
              </p:spPr>
              <p:txBody>
                <a:bodyPr/>
                <a:lstStyle/>
                <a:p>
                  <a:r>
                    <a:rPr lang="en-US" sz="1800">
                      <a:latin typeface="Arial" pitchFamily="34" charset="0"/>
                      <a:cs typeface="Arial" pitchFamily="34" charset="0"/>
                    </a:rPr>
                    <a:t>LTE</a:t>
                  </a:r>
                </a:p>
                <a:p>
                  <a:endParaRPr lang="en-US" sz="1800">
                    <a:latin typeface="Arial" pitchFamily="34" charset="0"/>
                    <a:cs typeface="Arial" pitchFamily="34" charset="0"/>
                  </a:endParaRPr>
                </a:p>
              </p:txBody>
            </p:sp>
            <p:sp>
              <p:nvSpPr>
                <p:cNvPr id="25672" name="Rectangle 40"/>
                <p:cNvSpPr>
                  <a:spLocks noChangeArrowheads="1"/>
                </p:cNvSpPr>
                <p:nvPr/>
              </p:nvSpPr>
              <p:spPr bwMode="auto">
                <a:xfrm>
                  <a:off x="0" y="2418"/>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5" name="Group 43"/>
              <p:cNvGrpSpPr>
                <a:grpSpLocks/>
              </p:cNvGrpSpPr>
              <p:nvPr/>
            </p:nvGrpSpPr>
            <p:grpSpPr bwMode="auto">
              <a:xfrm>
                <a:off x="633" y="2018"/>
                <a:ext cx="1022" cy="803"/>
                <a:chOff x="633" y="2018"/>
                <a:chExt cx="1022" cy="803"/>
              </a:xfrm>
            </p:grpSpPr>
            <p:sp>
              <p:nvSpPr>
                <p:cNvPr id="25669" name="Rectangle 15"/>
                <p:cNvSpPr>
                  <a:spLocks noChangeArrowheads="1"/>
                </p:cNvSpPr>
                <p:nvPr/>
              </p:nvSpPr>
              <p:spPr bwMode="auto">
                <a:xfrm>
                  <a:off x="676" y="2018"/>
                  <a:ext cx="936" cy="403"/>
                </a:xfrm>
                <a:prstGeom prst="rect">
                  <a:avLst/>
                </a:prstGeom>
                <a:noFill/>
                <a:ln w="9525">
                  <a:noFill/>
                  <a:miter lim="800000"/>
                  <a:headEnd/>
                  <a:tailEnd/>
                </a:ln>
              </p:spPr>
              <p:txBody>
                <a:bodyPr/>
                <a:lstStyle/>
                <a:p>
                  <a:r>
                    <a:rPr lang="en-US" sz="1800">
                      <a:latin typeface="Arial" pitchFamily="34" charset="0"/>
                      <a:cs typeface="Arial" pitchFamily="34" charset="0"/>
                    </a:rPr>
                    <a:t>Less than or equal</a:t>
                  </a:r>
                </a:p>
                <a:p>
                  <a:endParaRPr lang="en-US" sz="1800">
                    <a:latin typeface="Arial" pitchFamily="34" charset="0"/>
                    <a:cs typeface="Arial" pitchFamily="34" charset="0"/>
                  </a:endParaRPr>
                </a:p>
              </p:txBody>
            </p:sp>
            <p:sp>
              <p:nvSpPr>
                <p:cNvPr id="25670" name="Rectangle 42"/>
                <p:cNvSpPr>
                  <a:spLocks noChangeArrowheads="1"/>
                </p:cNvSpPr>
                <p:nvPr/>
              </p:nvSpPr>
              <p:spPr bwMode="auto">
                <a:xfrm>
                  <a:off x="633" y="2418"/>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6" name="Group 45"/>
              <p:cNvGrpSpPr>
                <a:grpSpLocks/>
              </p:cNvGrpSpPr>
              <p:nvPr/>
            </p:nvGrpSpPr>
            <p:grpSpPr bwMode="auto">
              <a:xfrm>
                <a:off x="0" y="2407"/>
                <a:ext cx="633" cy="817"/>
                <a:chOff x="0" y="2407"/>
                <a:chExt cx="633" cy="817"/>
              </a:xfrm>
            </p:grpSpPr>
            <p:sp>
              <p:nvSpPr>
                <p:cNvPr id="25667" name="Rectangle 16"/>
                <p:cNvSpPr>
                  <a:spLocks noChangeArrowheads="1"/>
                </p:cNvSpPr>
                <p:nvPr/>
              </p:nvSpPr>
              <p:spPr bwMode="auto">
                <a:xfrm>
                  <a:off x="43" y="2407"/>
                  <a:ext cx="547" cy="403"/>
                </a:xfrm>
                <a:prstGeom prst="rect">
                  <a:avLst/>
                </a:prstGeom>
                <a:noFill/>
                <a:ln w="9525">
                  <a:noFill/>
                  <a:miter lim="800000"/>
                  <a:headEnd/>
                  <a:tailEnd/>
                </a:ln>
              </p:spPr>
              <p:txBody>
                <a:bodyPr/>
                <a:lstStyle/>
                <a:p>
                  <a:r>
                    <a:rPr lang="en-US" sz="1800">
                      <a:latin typeface="Arial" pitchFamily="34" charset="0"/>
                      <a:cs typeface="Arial" pitchFamily="34" charset="0"/>
                    </a:rPr>
                    <a:t>NEQ</a:t>
                  </a:r>
                </a:p>
                <a:p>
                  <a:endParaRPr lang="en-US" sz="1800">
                    <a:latin typeface="Arial" pitchFamily="34" charset="0"/>
                    <a:cs typeface="Arial" pitchFamily="34" charset="0"/>
                  </a:endParaRPr>
                </a:p>
              </p:txBody>
            </p:sp>
            <p:sp>
              <p:nvSpPr>
                <p:cNvPr id="25668" name="Rectangle 44"/>
                <p:cNvSpPr>
                  <a:spLocks noChangeArrowheads="1"/>
                </p:cNvSpPr>
                <p:nvPr/>
              </p:nvSpPr>
              <p:spPr bwMode="auto">
                <a:xfrm>
                  <a:off x="0" y="2821"/>
                  <a:ext cx="633"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grpSp>
            <p:nvGrpSpPr>
              <p:cNvPr id="17" name="Group 47"/>
              <p:cNvGrpSpPr>
                <a:grpSpLocks/>
              </p:cNvGrpSpPr>
              <p:nvPr/>
            </p:nvGrpSpPr>
            <p:grpSpPr bwMode="auto">
              <a:xfrm>
                <a:off x="633" y="2421"/>
                <a:ext cx="1022" cy="803"/>
                <a:chOff x="633" y="2421"/>
                <a:chExt cx="1022" cy="803"/>
              </a:xfrm>
            </p:grpSpPr>
            <p:sp>
              <p:nvSpPr>
                <p:cNvPr id="25665" name="Rectangle 17"/>
                <p:cNvSpPr>
                  <a:spLocks noChangeArrowheads="1"/>
                </p:cNvSpPr>
                <p:nvPr/>
              </p:nvSpPr>
              <p:spPr bwMode="auto">
                <a:xfrm>
                  <a:off x="676" y="2421"/>
                  <a:ext cx="936" cy="403"/>
                </a:xfrm>
                <a:prstGeom prst="rect">
                  <a:avLst/>
                </a:prstGeom>
                <a:noFill/>
                <a:ln w="9525">
                  <a:noFill/>
                  <a:miter lim="800000"/>
                  <a:headEnd/>
                  <a:tailEnd/>
                </a:ln>
              </p:spPr>
              <p:txBody>
                <a:bodyPr/>
                <a:lstStyle/>
                <a:p>
                  <a:r>
                    <a:rPr lang="en-US" sz="1800" dirty="0">
                      <a:latin typeface="Arial" pitchFamily="34" charset="0"/>
                      <a:cs typeface="Arial" pitchFamily="34" charset="0"/>
                    </a:rPr>
                    <a:t>Not equal</a:t>
                  </a:r>
                </a:p>
                <a:p>
                  <a:endParaRPr lang="en-US" sz="1800" dirty="0">
                    <a:latin typeface="Arial" pitchFamily="34" charset="0"/>
                    <a:cs typeface="Arial" pitchFamily="34" charset="0"/>
                  </a:endParaRPr>
                </a:p>
              </p:txBody>
            </p:sp>
            <p:sp>
              <p:nvSpPr>
                <p:cNvPr id="25666" name="Rectangle 46"/>
                <p:cNvSpPr>
                  <a:spLocks noChangeArrowheads="1"/>
                </p:cNvSpPr>
                <p:nvPr/>
              </p:nvSpPr>
              <p:spPr bwMode="auto">
                <a:xfrm>
                  <a:off x="633" y="2821"/>
                  <a:ext cx="1022" cy="403"/>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sp>
            <p:nvSpPr>
              <p:cNvPr id="25663" name="Rectangle 18"/>
              <p:cNvSpPr>
                <a:spLocks noChangeArrowheads="1"/>
              </p:cNvSpPr>
              <p:nvPr/>
            </p:nvSpPr>
            <p:spPr bwMode="auto">
              <a:xfrm>
                <a:off x="43" y="2810"/>
                <a:ext cx="547" cy="403"/>
              </a:xfrm>
              <a:prstGeom prst="rect">
                <a:avLst/>
              </a:prstGeom>
              <a:noFill/>
              <a:ln w="9525">
                <a:noFill/>
                <a:miter lim="800000"/>
                <a:headEnd/>
                <a:tailEnd/>
              </a:ln>
            </p:spPr>
            <p:txBody>
              <a:bodyPr/>
              <a:lstStyle/>
              <a:p>
                <a:r>
                  <a:rPr lang="en-US" sz="1800" dirty="0">
                    <a:latin typeface="Arial" pitchFamily="34" charset="0"/>
                    <a:cs typeface="Arial" pitchFamily="34" charset="0"/>
                  </a:rPr>
                  <a:t>RANGE</a:t>
                </a:r>
              </a:p>
              <a:p>
                <a:endParaRPr lang="en-US" sz="1800" dirty="0">
                  <a:latin typeface="Arial" pitchFamily="34" charset="0"/>
                  <a:cs typeface="Arial" pitchFamily="34" charset="0"/>
                </a:endParaRPr>
              </a:p>
            </p:txBody>
          </p:sp>
          <p:sp>
            <p:nvSpPr>
              <p:cNvPr id="25661" name="Rectangle 19"/>
              <p:cNvSpPr>
                <a:spLocks noChangeArrowheads="1"/>
              </p:cNvSpPr>
              <p:nvPr/>
            </p:nvSpPr>
            <p:spPr bwMode="auto">
              <a:xfrm>
                <a:off x="676" y="2824"/>
                <a:ext cx="936" cy="403"/>
              </a:xfrm>
              <a:prstGeom prst="rect">
                <a:avLst/>
              </a:prstGeom>
              <a:noFill/>
              <a:ln w="9525">
                <a:noFill/>
                <a:miter lim="800000"/>
                <a:headEnd/>
                <a:tailEnd/>
              </a:ln>
            </p:spPr>
            <p:txBody>
              <a:bodyPr/>
              <a:lstStyle/>
              <a:p>
                <a:r>
                  <a:rPr lang="en-US" sz="1800">
                    <a:latin typeface="Arial" pitchFamily="34" charset="0"/>
                    <a:cs typeface="Arial" pitchFamily="34" charset="0"/>
                  </a:rPr>
                  <a:t>Range</a:t>
                </a:r>
              </a:p>
              <a:p>
                <a:endParaRPr lang="en-US" sz="1800">
                  <a:latin typeface="Arial" pitchFamily="34" charset="0"/>
                  <a:cs typeface="Arial" pitchFamily="34" charset="0"/>
                </a:endParaRPr>
              </a:p>
            </p:txBody>
          </p:sp>
        </p:grpSp>
        <p:sp>
          <p:nvSpPr>
            <p:cNvPr id="93" name="Rectangle 26"/>
            <p:cNvSpPr>
              <a:spLocks noChangeArrowheads="1"/>
            </p:cNvSpPr>
            <p:nvPr/>
          </p:nvSpPr>
          <p:spPr bwMode="auto">
            <a:xfrm>
              <a:off x="2149603" y="2547200"/>
              <a:ext cx="2672459" cy="370785"/>
            </a:xfrm>
            <a:prstGeom prst="rect">
              <a:avLst/>
            </a:prstGeom>
            <a:noFill/>
            <a:ln w="7">
              <a:solidFill>
                <a:srgbClr val="A0A0A0"/>
              </a:solidFill>
              <a:miter lim="800000"/>
              <a:headEnd/>
              <a:tailEnd/>
            </a:ln>
          </p:spPr>
          <p:txBody>
            <a:bodyPr/>
            <a:lstStyle/>
            <a:p>
              <a:endParaRPr lang="en-US" sz="1800">
                <a:latin typeface="Arial" pitchFamily="34" charset="0"/>
                <a:cs typeface="Arial" pitchFamily="34" charset="0"/>
              </a:endParaRPr>
            </a:p>
          </p:txBody>
        </p:sp>
      </p:grpSp>
    </p:spTree>
  </p:cSld>
  <p:clrMapOvr>
    <a:masterClrMapping/>
  </p:clrMapOvr>
  <p:transition>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52.png"/>
          <p:cNvPicPr>
            <a:picLocks noGrp="1" noChangeAspect="1"/>
          </p:cNvPicPr>
          <p:nvPr>
            <p:ph idx="1"/>
          </p:nvPr>
        </p:nvPicPr>
        <p:blipFill>
          <a:blip r:embed="rId3" cstate="print"/>
          <a:stretch>
            <a:fillRect/>
          </a:stretch>
        </p:blipFill>
        <p:spPr>
          <a:xfrm>
            <a:off x="1371360" y="1338940"/>
            <a:ext cx="6373685" cy="4909460"/>
          </a:xfrm>
        </p:spPr>
      </p:pic>
      <p:sp>
        <p:nvSpPr>
          <p:cNvPr id="781315" name="Rectangle 3" descr="25%"/>
          <p:cNvSpPr>
            <a:spLocks noGrp="1" noChangeArrowheads="1"/>
          </p:cNvSpPr>
          <p:nvPr>
            <p:ph type="title"/>
          </p:nvPr>
        </p:nvSpPr>
        <p:spPr/>
        <p:txBody>
          <a:bodyPr/>
          <a:lstStyle/>
          <a:p>
            <a:r>
              <a:rPr lang="en-US" dirty="0"/>
              <a:t>Create New </a:t>
            </a:r>
            <a:r>
              <a:rPr lang="en-US" dirty="0">
                <a:solidFill>
                  <a:schemeClr val="accent2"/>
                </a:solidFill>
              </a:rPr>
              <a:t>Peak</a:t>
            </a:r>
            <a:r>
              <a:rPr lang="en-US" dirty="0"/>
              <a:t> Type Field </a:t>
            </a:r>
            <a:r>
              <a:rPr lang="en-US" dirty="0">
                <a:solidFill>
                  <a:schemeClr val="accent2"/>
                </a:solidFill>
              </a:rPr>
              <a:t>(</a:t>
            </a:r>
            <a:r>
              <a:rPr lang="en-US" dirty="0" err="1">
                <a:solidFill>
                  <a:schemeClr val="accent2"/>
                </a:solidFill>
              </a:rPr>
              <a:t>Bool</a:t>
            </a:r>
            <a:r>
              <a:rPr lang="en-US" dirty="0">
                <a:solidFill>
                  <a:schemeClr val="accent2"/>
                </a:solidFill>
              </a:rPr>
              <a:t>)</a:t>
            </a:r>
            <a:endParaRPr lang="en-US" dirty="0"/>
          </a:p>
        </p:txBody>
      </p:sp>
      <p:sp>
        <p:nvSpPr>
          <p:cNvPr id="4" name="Oval 3"/>
          <p:cNvSpPr/>
          <p:nvPr/>
        </p:nvSpPr>
        <p:spPr bwMode="auto">
          <a:xfrm>
            <a:off x="5645725" y="2672442"/>
            <a:ext cx="814122" cy="35376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5" name="Oval 4"/>
          <p:cNvSpPr/>
          <p:nvPr/>
        </p:nvSpPr>
        <p:spPr bwMode="auto">
          <a:xfrm>
            <a:off x="5798125" y="4298042"/>
            <a:ext cx="814122" cy="35376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book 3 pg 53.png"/>
          <p:cNvPicPr>
            <a:picLocks noGrp="1" noChangeAspect="1"/>
          </p:cNvPicPr>
          <p:nvPr>
            <p:ph idx="1"/>
          </p:nvPr>
        </p:nvPicPr>
        <p:blipFill>
          <a:blip r:embed="rId3" cstate="print"/>
          <a:stretch>
            <a:fillRect/>
          </a:stretch>
        </p:blipFill>
        <p:spPr>
          <a:xfrm>
            <a:off x="646420" y="1471606"/>
            <a:ext cx="4933334" cy="3800000"/>
          </a:xfrm>
        </p:spPr>
      </p:pic>
      <p:sp>
        <p:nvSpPr>
          <p:cNvPr id="783363" name="Rectangle 3" descr="25%"/>
          <p:cNvSpPr>
            <a:spLocks noGrp="1" noChangeArrowheads="1"/>
          </p:cNvSpPr>
          <p:nvPr>
            <p:ph type="title"/>
          </p:nvPr>
        </p:nvSpPr>
        <p:spPr/>
        <p:txBody>
          <a:bodyPr/>
          <a:lstStyle/>
          <a:p>
            <a:r>
              <a:rPr lang="en-US" dirty="0"/>
              <a:t>Create New </a:t>
            </a:r>
            <a:r>
              <a:rPr lang="en-US" dirty="0">
                <a:solidFill>
                  <a:schemeClr val="accent2"/>
                </a:solidFill>
              </a:rPr>
              <a:t>Peak</a:t>
            </a:r>
            <a:r>
              <a:rPr lang="en-US" dirty="0"/>
              <a:t> Type Field </a:t>
            </a:r>
            <a:r>
              <a:rPr lang="en-US" dirty="0">
                <a:solidFill>
                  <a:schemeClr val="accent2"/>
                </a:solidFill>
              </a:rPr>
              <a:t>(</a:t>
            </a:r>
            <a:r>
              <a:rPr lang="en-US" dirty="0" err="1">
                <a:solidFill>
                  <a:schemeClr val="accent2"/>
                </a:solidFill>
              </a:rPr>
              <a:t>Bool</a:t>
            </a:r>
            <a:r>
              <a:rPr lang="en-US" dirty="0">
                <a:solidFill>
                  <a:schemeClr val="accent2"/>
                </a:solidFill>
              </a:rPr>
              <a:t>)</a:t>
            </a:r>
            <a:endParaRPr lang="en-US" dirty="0"/>
          </a:p>
        </p:txBody>
      </p:sp>
      <p:pic>
        <p:nvPicPr>
          <p:cNvPr id="11" name="Content Placeholder 10" descr="book 3 pg 53a.png"/>
          <p:cNvPicPr>
            <a:picLocks noGrp="1" noChangeAspect="1"/>
          </p:cNvPicPr>
          <p:nvPr>
            <p:ph sz="half" idx="4294967295"/>
          </p:nvPr>
        </p:nvPicPr>
        <p:blipFill>
          <a:blip r:embed="rId4" cstate="print"/>
          <a:stretch>
            <a:fillRect/>
          </a:stretch>
        </p:blipFill>
        <p:spPr>
          <a:xfrm>
            <a:off x="4368922" y="4165478"/>
            <a:ext cx="4351093" cy="1544282"/>
          </a:xfrm>
        </p:spPr>
      </p:pic>
      <p:sp>
        <p:nvSpPr>
          <p:cNvPr id="12" name="Bent Arrow 11"/>
          <p:cNvSpPr/>
          <p:nvPr/>
        </p:nvSpPr>
        <p:spPr bwMode="auto">
          <a:xfrm rot="5400000">
            <a:off x="5709651" y="2304540"/>
            <a:ext cx="1625112" cy="1462013"/>
          </a:xfrm>
          <a:prstGeom prst="bentArrow">
            <a:avLst/>
          </a:prstGeom>
          <a:solidFill>
            <a:srgbClr val="FF0000"/>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6" name="Oval 5"/>
          <p:cNvSpPr/>
          <p:nvPr/>
        </p:nvSpPr>
        <p:spPr bwMode="auto">
          <a:xfrm>
            <a:off x="4197925" y="2226600"/>
            <a:ext cx="814122" cy="35376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7" name="Oval 6"/>
          <p:cNvSpPr/>
          <p:nvPr/>
        </p:nvSpPr>
        <p:spPr bwMode="auto">
          <a:xfrm>
            <a:off x="2648525" y="4450442"/>
            <a:ext cx="814122" cy="35376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54.png"/>
          <p:cNvPicPr>
            <a:picLocks noGrp="1" noChangeAspect="1"/>
          </p:cNvPicPr>
          <p:nvPr>
            <p:ph idx="1"/>
          </p:nvPr>
        </p:nvPicPr>
        <p:blipFill>
          <a:blip r:embed="rId3" cstate="print"/>
          <a:stretch>
            <a:fillRect/>
          </a:stretch>
        </p:blipFill>
        <p:spPr>
          <a:xfrm>
            <a:off x="1346200" y="1307123"/>
            <a:ext cx="6424233" cy="4948395"/>
          </a:xfrm>
        </p:spPr>
      </p:pic>
      <p:sp>
        <p:nvSpPr>
          <p:cNvPr id="787459" name="Rectangle 1027"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 </a:t>
            </a:r>
            <a:r>
              <a:rPr lang="en-US" dirty="0">
                <a:solidFill>
                  <a:schemeClr val="accent2"/>
                </a:solidFill>
              </a:rPr>
              <a:t>(</a:t>
            </a:r>
            <a:r>
              <a:rPr lang="en-US" dirty="0" err="1">
                <a:solidFill>
                  <a:schemeClr val="accent2"/>
                </a:solidFill>
              </a:rPr>
              <a:t>Bool</a:t>
            </a:r>
            <a:r>
              <a:rPr lang="en-US" dirty="0">
                <a:solidFill>
                  <a:schemeClr val="accent2"/>
                </a:solidFill>
              </a:rPr>
              <a:t>)</a:t>
            </a:r>
            <a:endParaRPr lang="en-US" dirty="0"/>
          </a:p>
        </p:txBody>
      </p:sp>
      <p:sp>
        <p:nvSpPr>
          <p:cNvPr id="4" name="Oval 3"/>
          <p:cNvSpPr/>
          <p:nvPr/>
        </p:nvSpPr>
        <p:spPr bwMode="auto">
          <a:xfrm>
            <a:off x="3258124" y="1719942"/>
            <a:ext cx="2837875" cy="464458"/>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book 3 pg 55.png"/>
          <p:cNvPicPr>
            <a:picLocks noGrp="1" noChangeAspect="1"/>
          </p:cNvPicPr>
          <p:nvPr>
            <p:ph idx="1"/>
          </p:nvPr>
        </p:nvPicPr>
        <p:blipFill>
          <a:blip r:embed="rId3" cstate="print"/>
          <a:stretch>
            <a:fillRect/>
          </a:stretch>
        </p:blipFill>
        <p:spPr>
          <a:xfrm>
            <a:off x="1390192" y="1446034"/>
            <a:ext cx="6366551" cy="4903965"/>
          </a:xfrm>
        </p:spPr>
      </p:pic>
      <p:sp>
        <p:nvSpPr>
          <p:cNvPr id="789507"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 </a:t>
            </a:r>
            <a:r>
              <a:rPr lang="en-US" dirty="0">
                <a:solidFill>
                  <a:schemeClr val="accent2"/>
                </a:solidFill>
              </a:rPr>
              <a:t>(</a:t>
            </a:r>
            <a:r>
              <a:rPr lang="en-US" dirty="0" err="1">
                <a:solidFill>
                  <a:schemeClr val="accent2"/>
                </a:solidFill>
              </a:rPr>
              <a:t>Bool</a:t>
            </a:r>
            <a:r>
              <a:rPr lang="en-US" dirty="0">
                <a:solidFill>
                  <a:schemeClr val="accent2"/>
                </a:solidFill>
              </a:rPr>
              <a:t>)</a:t>
            </a:r>
            <a:endParaRPr lang="en-US" dirty="0"/>
          </a:p>
        </p:txBody>
      </p:sp>
    </p:spTree>
  </p:cSld>
  <p:clrMapOvr>
    <a:masterClrMapping/>
  </p:clrMapOvr>
  <p:transition>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56.png"/>
          <p:cNvPicPr>
            <a:picLocks noGrp="1" noChangeAspect="1"/>
          </p:cNvPicPr>
          <p:nvPr>
            <p:ph idx="1"/>
          </p:nvPr>
        </p:nvPicPr>
        <p:blipFill>
          <a:blip r:embed="rId3" cstate="print"/>
          <a:stretch>
            <a:fillRect/>
          </a:stretch>
        </p:blipFill>
        <p:spPr>
          <a:xfrm>
            <a:off x="1358900" y="1325981"/>
            <a:ext cx="6410716" cy="4937984"/>
          </a:xfrm>
        </p:spPr>
      </p:pic>
      <p:sp>
        <p:nvSpPr>
          <p:cNvPr id="791555" name="Rectangle 3" descr="25%"/>
          <p:cNvSpPr>
            <a:spLocks noGrp="1" noChangeArrowheads="1"/>
          </p:cNvSpPr>
          <p:nvPr>
            <p:ph type="title"/>
          </p:nvPr>
        </p:nvSpPr>
        <p:spPr/>
        <p:txBody>
          <a:bodyPr/>
          <a:lstStyle/>
          <a:p>
            <a:r>
              <a:rPr lang="en-US" dirty="0"/>
              <a:t>Create New </a:t>
            </a:r>
            <a:r>
              <a:rPr lang="en-US" dirty="0">
                <a:solidFill>
                  <a:schemeClr val="accent2"/>
                </a:solidFill>
              </a:rPr>
              <a:t>Peak</a:t>
            </a:r>
            <a:r>
              <a:rPr lang="en-US" dirty="0"/>
              <a:t> Type Field </a:t>
            </a:r>
            <a:r>
              <a:rPr lang="en-US" dirty="0">
                <a:solidFill>
                  <a:schemeClr val="accent2"/>
                </a:solidFill>
              </a:rPr>
              <a:t>(</a:t>
            </a:r>
            <a:r>
              <a:rPr lang="en-US" dirty="0" err="1">
                <a:solidFill>
                  <a:schemeClr val="accent2"/>
                </a:solidFill>
              </a:rPr>
              <a:t>Bool</a:t>
            </a:r>
            <a:r>
              <a:rPr lang="en-US" dirty="0">
                <a:solidFill>
                  <a:schemeClr val="accent2"/>
                </a:solidFill>
              </a:rPr>
              <a:t>)</a:t>
            </a:r>
            <a:endParaRPr lang="en-US" dirty="0"/>
          </a:p>
        </p:txBody>
      </p:sp>
    </p:spTree>
  </p:cSld>
  <p:clrMapOvr>
    <a:masterClrMapping/>
  </p:clrMapOvr>
  <p:transition>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Viewing: Results for a </a:t>
            </a:r>
            <a:r>
              <a:rPr lang="en-US" dirty="0">
                <a:solidFill>
                  <a:schemeClr val="accent2"/>
                </a:solidFill>
              </a:rPr>
              <a:t>Peak (</a:t>
            </a:r>
            <a:r>
              <a:rPr lang="en-US" dirty="0" err="1">
                <a:solidFill>
                  <a:schemeClr val="accent2"/>
                </a:solidFill>
              </a:rPr>
              <a:t>Bool</a:t>
            </a:r>
            <a:r>
              <a:rPr lang="en-US" dirty="0">
                <a:solidFill>
                  <a:schemeClr val="accent2"/>
                </a:solidFill>
              </a:rPr>
              <a:t>)</a:t>
            </a:r>
            <a:r>
              <a:rPr lang="en-US" dirty="0"/>
              <a:t> CF</a:t>
            </a:r>
          </a:p>
        </p:txBody>
      </p:sp>
      <p:grpSp>
        <p:nvGrpSpPr>
          <p:cNvPr id="8" name="Group 7"/>
          <p:cNvGrpSpPr/>
          <p:nvPr/>
        </p:nvGrpSpPr>
        <p:grpSpPr>
          <a:xfrm>
            <a:off x="503139" y="1363954"/>
            <a:ext cx="8120161" cy="4836430"/>
            <a:chOff x="423862" y="2237801"/>
            <a:chExt cx="7155653" cy="4261962"/>
          </a:xfrm>
        </p:grpSpPr>
        <p:pic>
          <p:nvPicPr>
            <p:cNvPr id="5" name="Picture 2" descr="H:\Empower CF screen captures\ScreenHunter_34 Mar. 07 10.57.jpg"/>
            <p:cNvPicPr>
              <a:picLocks noChangeAspect="1" noChangeArrowheads="1"/>
            </p:cNvPicPr>
            <p:nvPr/>
          </p:nvPicPr>
          <p:blipFill>
            <a:blip r:embed="rId3" cstate="print"/>
            <a:srcRect t="19733" r="2793" b="11345"/>
            <a:stretch>
              <a:fillRect/>
            </a:stretch>
          </p:blipFill>
          <p:spPr bwMode="auto">
            <a:xfrm>
              <a:off x="423862" y="2237801"/>
              <a:ext cx="7155653" cy="4261962"/>
            </a:xfrm>
            <a:prstGeom prst="rect">
              <a:avLst/>
            </a:prstGeom>
            <a:noFill/>
          </p:spPr>
        </p:pic>
        <p:sp>
          <p:nvSpPr>
            <p:cNvPr id="6" name="Rectangle 5"/>
            <p:cNvSpPr/>
            <p:nvPr/>
          </p:nvSpPr>
          <p:spPr bwMode="auto">
            <a:xfrm>
              <a:off x="5605272" y="5394960"/>
              <a:ext cx="868680" cy="106984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grpSp>
    </p:spTree>
  </p:cSld>
  <p:clrMapOvr>
    <a:masterClrMapping/>
  </p:clrMapOvr>
  <p:transition>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a:t>What are the possible issues with this calculation?</a:t>
            </a:r>
          </a:p>
          <a:p>
            <a:endParaRPr lang="en-AU" dirty="0"/>
          </a:p>
          <a:p>
            <a:pPr lvl="1"/>
            <a:r>
              <a:rPr lang="en-AU" dirty="0"/>
              <a:t>Does not differentiate ‘low’ versus ‘high’ potency</a:t>
            </a:r>
          </a:p>
          <a:p>
            <a:pPr lvl="1"/>
            <a:r>
              <a:rPr lang="en-AU" dirty="0"/>
              <a:t>RANGE may be difficult to control because of the way it calculates &gt; for the lower number, and &lt;= for the higher number</a:t>
            </a:r>
          </a:p>
          <a:p>
            <a:pPr lvl="1"/>
            <a:endParaRPr lang="en-AU" dirty="0"/>
          </a:p>
          <a:p>
            <a:r>
              <a:rPr lang="en-AU" dirty="0"/>
              <a:t>How else could you do this calculation? Can it be improved?</a:t>
            </a:r>
          </a:p>
          <a:p>
            <a:endParaRPr lang="en-AU" dirty="0"/>
          </a:p>
          <a:p>
            <a:pPr lvl="1"/>
            <a:endParaRPr lang="en-AU" dirty="0"/>
          </a:p>
        </p:txBody>
      </p:sp>
      <p:sp>
        <p:nvSpPr>
          <p:cNvPr id="3" name="Title 2"/>
          <p:cNvSpPr>
            <a:spLocks noGrp="1"/>
          </p:cNvSpPr>
          <p:nvPr>
            <p:ph type="title"/>
          </p:nvPr>
        </p:nvSpPr>
        <p:spPr/>
        <p:txBody>
          <a:bodyPr/>
          <a:lstStyle/>
          <a:p>
            <a:r>
              <a:rPr lang="en-AU" dirty="0"/>
              <a:t>Possible Issues</a:t>
            </a:r>
          </a:p>
        </p:txBody>
      </p:sp>
      <p:pic>
        <p:nvPicPr>
          <p:cNvPr id="108546" name="Picture 2" descr="Image result for ideas image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23372" y="3975100"/>
            <a:ext cx="5012427" cy="250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578852"/>
      </p:ext>
    </p:extLst>
  </p:cSld>
  <p:clrMapOvr>
    <a:masterClrMapping/>
  </p:clrMapOvr>
  <p:transition>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dirty="0"/>
              <a:t>Possible Issues – Unclear Wording</a:t>
            </a:r>
          </a:p>
        </p:txBody>
      </p:sp>
      <p:pic>
        <p:nvPicPr>
          <p:cNvPr id="1146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6524" y="1249361"/>
            <a:ext cx="6048375" cy="46588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bwMode="auto">
          <a:xfrm>
            <a:off x="3452491" y="2076465"/>
            <a:ext cx="1983109" cy="742935"/>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8" name="Content Placeholder 1"/>
          <p:cNvSpPr txBox="1">
            <a:spLocks/>
          </p:cNvSpPr>
          <p:nvPr/>
        </p:nvSpPr>
        <p:spPr>
          <a:xfrm>
            <a:off x="457200" y="6108700"/>
            <a:ext cx="8360228" cy="482600"/>
          </a:xfrm>
          <a:prstGeom prst="rect">
            <a:avLst/>
          </a:prstGeom>
        </p:spPr>
        <p:txBody>
          <a:bodyPr/>
          <a:lstStyle>
            <a:lvl1pPr marL="233363" indent="-233363" algn="l" rtl="0" eaLnBrk="1" fontAlgn="base" hangingPunct="1">
              <a:lnSpc>
                <a:spcPct val="110000"/>
              </a:lnSpc>
              <a:spcBef>
                <a:spcPct val="20000"/>
              </a:spcBef>
              <a:spcAft>
                <a:spcPct val="0"/>
              </a:spcAft>
              <a:buClr>
                <a:schemeClr val="accent1"/>
              </a:buClr>
              <a:buFont typeface="Wingdings 2" charset="2"/>
              <a:buChar char="¡"/>
              <a:defRPr sz="2000">
                <a:solidFill>
                  <a:schemeClr val="tx1"/>
                </a:solidFill>
                <a:latin typeface="Arial"/>
                <a:ea typeface="MS PGothic" pitchFamily="34" charset="-128"/>
                <a:cs typeface="Arial"/>
              </a:defRPr>
            </a:lvl1pPr>
            <a:lvl2pPr marL="457200" indent="-223838" algn="l" rtl="0" eaLnBrk="1" fontAlgn="base" hangingPunct="1">
              <a:lnSpc>
                <a:spcPct val="110000"/>
              </a:lnSpc>
              <a:spcBef>
                <a:spcPct val="20000"/>
              </a:spcBef>
              <a:spcAft>
                <a:spcPct val="0"/>
              </a:spcAft>
              <a:buClr>
                <a:schemeClr val="accent1"/>
              </a:buClr>
              <a:buFont typeface="Verdana" pitchFamily="34" charset="0"/>
              <a:buChar char="–"/>
              <a:defRPr>
                <a:solidFill>
                  <a:schemeClr val="tx1"/>
                </a:solidFill>
                <a:latin typeface="Arial"/>
                <a:ea typeface="MS PGothic" pitchFamily="34" charset="-128"/>
                <a:cs typeface="Arial"/>
              </a:defRPr>
            </a:lvl2pPr>
            <a:lvl3pPr marL="693738" indent="-228600" algn="l" rtl="0" eaLnBrk="1" fontAlgn="base" hangingPunct="1">
              <a:lnSpc>
                <a:spcPct val="110000"/>
              </a:lnSpc>
              <a:spcBef>
                <a:spcPct val="20000"/>
              </a:spcBef>
              <a:spcAft>
                <a:spcPct val="0"/>
              </a:spcAft>
              <a:buClr>
                <a:schemeClr val="accent1"/>
              </a:buClr>
              <a:buSzPct val="80000"/>
              <a:buFont typeface="Courier New" pitchFamily="49" charset="0"/>
              <a:buChar char="o"/>
              <a:defRPr>
                <a:solidFill>
                  <a:schemeClr val="tx1"/>
                </a:solidFill>
                <a:latin typeface="Arial"/>
                <a:ea typeface="MS PGothic" pitchFamily="34" charset="-128"/>
                <a:cs typeface="Arial"/>
              </a:defRPr>
            </a:lvl3pPr>
            <a:lvl4pPr marL="917575" indent="-228600" algn="l" rtl="0" eaLnBrk="1" fontAlgn="base" hangingPunct="1">
              <a:lnSpc>
                <a:spcPct val="110000"/>
              </a:lnSpc>
              <a:spcBef>
                <a:spcPct val="20000"/>
              </a:spcBef>
              <a:spcAft>
                <a:spcPct val="0"/>
              </a:spcAft>
              <a:buClr>
                <a:schemeClr val="accent1"/>
              </a:buClr>
              <a:buFont typeface="Arial" charset="0"/>
              <a:buChar char="•"/>
              <a:defRPr>
                <a:solidFill>
                  <a:schemeClr val="tx1"/>
                </a:solidFill>
                <a:latin typeface="Arial"/>
                <a:ea typeface="MS PGothic" pitchFamily="34" charset="-128"/>
                <a:cs typeface="Arial"/>
              </a:defRPr>
            </a:lvl4pPr>
            <a:lvl5pPr marL="1150938" indent="-228600" algn="l" rtl="0" eaLnBrk="1" fontAlgn="base" hangingPunct="1">
              <a:lnSpc>
                <a:spcPct val="110000"/>
              </a:lnSpc>
              <a:spcBef>
                <a:spcPct val="20000"/>
              </a:spcBef>
              <a:spcAft>
                <a:spcPct val="0"/>
              </a:spcAft>
              <a:buClr>
                <a:schemeClr val="accent1"/>
              </a:buClr>
              <a:buFont typeface="Arial" charset="0"/>
              <a:buChar char="•"/>
              <a:defRPr>
                <a:solidFill>
                  <a:schemeClr val="tx1"/>
                </a:solidFill>
                <a:latin typeface="Arial"/>
                <a:ea typeface="MS PGothic" pitchFamily="34" charset="-128"/>
                <a:cs typeface="Arial"/>
              </a:defRPr>
            </a:lvl5pPr>
            <a:lvl6pPr marL="2514600" indent="-228600" algn="l" rtl="0" eaLnBrk="1" fontAlgn="base" hangingPunct="1">
              <a:spcBef>
                <a:spcPct val="20000"/>
              </a:spcBef>
              <a:spcAft>
                <a:spcPct val="0"/>
              </a:spcAft>
              <a:buClr>
                <a:srgbClr val="3374D4"/>
              </a:buClr>
              <a:buFont typeface="Arial" pitchFamily="34" charset="0"/>
              <a:buChar char="•"/>
              <a:defRPr sz="1800" baseline="0">
                <a:solidFill>
                  <a:schemeClr val="tx1"/>
                </a:solidFill>
                <a:latin typeface="+mn-lt"/>
              </a:defRPr>
            </a:lvl6pPr>
            <a:lvl7pPr marL="2971800" indent="-228600" algn="l" rtl="0" eaLnBrk="1" fontAlgn="base" hangingPunct="1">
              <a:spcBef>
                <a:spcPct val="20000"/>
              </a:spcBef>
              <a:spcAft>
                <a:spcPct val="0"/>
              </a:spcAft>
              <a:buClr>
                <a:srgbClr val="3374D4"/>
              </a:buClr>
              <a:buFont typeface="Arial" pitchFamily="34" charset="0"/>
              <a:buChar char="•"/>
              <a:defRPr sz="1800" baseline="0">
                <a:solidFill>
                  <a:schemeClr val="tx1"/>
                </a:solidFill>
                <a:latin typeface="+mn-lt"/>
              </a:defRPr>
            </a:lvl7pPr>
            <a:lvl8pPr marL="3429000" indent="-228600" algn="l" rtl="0" eaLnBrk="1" fontAlgn="base" hangingPunct="1">
              <a:spcBef>
                <a:spcPct val="20000"/>
              </a:spcBef>
              <a:spcAft>
                <a:spcPct val="0"/>
              </a:spcAft>
              <a:buNone/>
              <a:defRPr sz="1800" baseline="0">
                <a:solidFill>
                  <a:schemeClr val="tx1"/>
                </a:solidFill>
                <a:latin typeface="+mn-lt"/>
              </a:defRPr>
            </a:lvl8pPr>
            <a:lvl9pPr marL="3886200" indent="-228600" algn="l" rtl="0" eaLnBrk="1" fontAlgn="base" hangingPunct="1">
              <a:spcBef>
                <a:spcPct val="20000"/>
              </a:spcBef>
              <a:spcAft>
                <a:spcPct val="0"/>
              </a:spcAft>
              <a:buNone/>
              <a:defRPr sz="2000" baseline="0">
                <a:solidFill>
                  <a:schemeClr val="tx1"/>
                </a:solidFill>
                <a:latin typeface="Arial" charset="0"/>
              </a:defRPr>
            </a:lvl9pPr>
          </a:lstStyle>
          <a:p>
            <a:pPr marL="0" indent="0" algn="ctr">
              <a:buNone/>
            </a:pPr>
            <a:r>
              <a:rPr lang="en-AU" kern="0" dirty="0"/>
              <a:t>The Words Used are Critical to Understanding</a:t>
            </a:r>
            <a:endParaRPr lang="en-AU" sz="1800" kern="0" dirty="0"/>
          </a:p>
        </p:txBody>
      </p:sp>
    </p:spTree>
    <p:extLst>
      <p:ext uri="{BB962C8B-B14F-4D97-AF65-F5344CB8AC3E}">
        <p14:creationId xmlns:p14="http://schemas.microsoft.com/office/powerpoint/2010/main" val="4072075104"/>
      </p:ext>
    </p:extLst>
  </p:cSld>
  <p:clrMapOvr>
    <a:masterClrMapping/>
  </p:clrMapOvr>
  <p:transition>
    <p:wipe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2224" y="1292224"/>
            <a:ext cx="6086475" cy="4676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p:txBody>
          <a:bodyPr/>
          <a:lstStyle/>
          <a:p>
            <a:r>
              <a:rPr lang="en-AU" dirty="0"/>
              <a:t>Possible Issues – Removing Use of RANGE</a:t>
            </a:r>
          </a:p>
        </p:txBody>
      </p:sp>
      <p:sp>
        <p:nvSpPr>
          <p:cNvPr id="7" name="Rectangle 6"/>
          <p:cNvSpPr/>
          <p:nvPr/>
        </p:nvSpPr>
        <p:spPr bwMode="auto">
          <a:xfrm>
            <a:off x="3341525" y="1778029"/>
            <a:ext cx="3630775" cy="24127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8" name="Content Placeholder 1"/>
          <p:cNvSpPr txBox="1">
            <a:spLocks/>
          </p:cNvSpPr>
          <p:nvPr/>
        </p:nvSpPr>
        <p:spPr>
          <a:xfrm>
            <a:off x="457200" y="6108700"/>
            <a:ext cx="8360228" cy="482600"/>
          </a:xfrm>
          <a:prstGeom prst="rect">
            <a:avLst/>
          </a:prstGeom>
        </p:spPr>
        <p:txBody>
          <a:bodyPr/>
          <a:lstStyle>
            <a:lvl1pPr marL="233363" indent="-233363" algn="l" rtl="0" eaLnBrk="1" fontAlgn="base" hangingPunct="1">
              <a:lnSpc>
                <a:spcPct val="110000"/>
              </a:lnSpc>
              <a:spcBef>
                <a:spcPct val="20000"/>
              </a:spcBef>
              <a:spcAft>
                <a:spcPct val="0"/>
              </a:spcAft>
              <a:buClr>
                <a:schemeClr val="accent1"/>
              </a:buClr>
              <a:buFont typeface="Wingdings 2" charset="2"/>
              <a:buChar char="¡"/>
              <a:defRPr sz="2000">
                <a:solidFill>
                  <a:schemeClr val="tx1"/>
                </a:solidFill>
                <a:latin typeface="Arial"/>
                <a:ea typeface="MS PGothic" pitchFamily="34" charset="-128"/>
                <a:cs typeface="Arial"/>
              </a:defRPr>
            </a:lvl1pPr>
            <a:lvl2pPr marL="457200" indent="-223838" algn="l" rtl="0" eaLnBrk="1" fontAlgn="base" hangingPunct="1">
              <a:lnSpc>
                <a:spcPct val="110000"/>
              </a:lnSpc>
              <a:spcBef>
                <a:spcPct val="20000"/>
              </a:spcBef>
              <a:spcAft>
                <a:spcPct val="0"/>
              </a:spcAft>
              <a:buClr>
                <a:schemeClr val="accent1"/>
              </a:buClr>
              <a:buFont typeface="Verdana" pitchFamily="34" charset="0"/>
              <a:buChar char="–"/>
              <a:defRPr>
                <a:solidFill>
                  <a:schemeClr val="tx1"/>
                </a:solidFill>
                <a:latin typeface="Arial"/>
                <a:ea typeface="MS PGothic" pitchFamily="34" charset="-128"/>
                <a:cs typeface="Arial"/>
              </a:defRPr>
            </a:lvl2pPr>
            <a:lvl3pPr marL="693738" indent="-228600" algn="l" rtl="0" eaLnBrk="1" fontAlgn="base" hangingPunct="1">
              <a:lnSpc>
                <a:spcPct val="110000"/>
              </a:lnSpc>
              <a:spcBef>
                <a:spcPct val="20000"/>
              </a:spcBef>
              <a:spcAft>
                <a:spcPct val="0"/>
              </a:spcAft>
              <a:buClr>
                <a:schemeClr val="accent1"/>
              </a:buClr>
              <a:buSzPct val="80000"/>
              <a:buFont typeface="Courier New" pitchFamily="49" charset="0"/>
              <a:buChar char="o"/>
              <a:defRPr>
                <a:solidFill>
                  <a:schemeClr val="tx1"/>
                </a:solidFill>
                <a:latin typeface="Arial"/>
                <a:ea typeface="MS PGothic" pitchFamily="34" charset="-128"/>
                <a:cs typeface="Arial"/>
              </a:defRPr>
            </a:lvl3pPr>
            <a:lvl4pPr marL="917575" indent="-228600" algn="l" rtl="0" eaLnBrk="1" fontAlgn="base" hangingPunct="1">
              <a:lnSpc>
                <a:spcPct val="110000"/>
              </a:lnSpc>
              <a:spcBef>
                <a:spcPct val="20000"/>
              </a:spcBef>
              <a:spcAft>
                <a:spcPct val="0"/>
              </a:spcAft>
              <a:buClr>
                <a:schemeClr val="accent1"/>
              </a:buClr>
              <a:buFont typeface="Arial" charset="0"/>
              <a:buChar char="•"/>
              <a:defRPr>
                <a:solidFill>
                  <a:schemeClr val="tx1"/>
                </a:solidFill>
                <a:latin typeface="Arial"/>
                <a:ea typeface="MS PGothic" pitchFamily="34" charset="-128"/>
                <a:cs typeface="Arial"/>
              </a:defRPr>
            </a:lvl4pPr>
            <a:lvl5pPr marL="1150938" indent="-228600" algn="l" rtl="0" eaLnBrk="1" fontAlgn="base" hangingPunct="1">
              <a:lnSpc>
                <a:spcPct val="110000"/>
              </a:lnSpc>
              <a:spcBef>
                <a:spcPct val="20000"/>
              </a:spcBef>
              <a:spcAft>
                <a:spcPct val="0"/>
              </a:spcAft>
              <a:buClr>
                <a:schemeClr val="accent1"/>
              </a:buClr>
              <a:buFont typeface="Arial" charset="0"/>
              <a:buChar char="•"/>
              <a:defRPr>
                <a:solidFill>
                  <a:schemeClr val="tx1"/>
                </a:solidFill>
                <a:latin typeface="Arial"/>
                <a:ea typeface="MS PGothic" pitchFamily="34" charset="-128"/>
                <a:cs typeface="Arial"/>
              </a:defRPr>
            </a:lvl5pPr>
            <a:lvl6pPr marL="2514600" indent="-228600" algn="l" rtl="0" eaLnBrk="1" fontAlgn="base" hangingPunct="1">
              <a:spcBef>
                <a:spcPct val="20000"/>
              </a:spcBef>
              <a:spcAft>
                <a:spcPct val="0"/>
              </a:spcAft>
              <a:buClr>
                <a:srgbClr val="3374D4"/>
              </a:buClr>
              <a:buFont typeface="Arial" pitchFamily="34" charset="0"/>
              <a:buChar char="•"/>
              <a:defRPr sz="1800" baseline="0">
                <a:solidFill>
                  <a:schemeClr val="tx1"/>
                </a:solidFill>
                <a:latin typeface="+mn-lt"/>
              </a:defRPr>
            </a:lvl6pPr>
            <a:lvl7pPr marL="2971800" indent="-228600" algn="l" rtl="0" eaLnBrk="1" fontAlgn="base" hangingPunct="1">
              <a:spcBef>
                <a:spcPct val="20000"/>
              </a:spcBef>
              <a:spcAft>
                <a:spcPct val="0"/>
              </a:spcAft>
              <a:buClr>
                <a:srgbClr val="3374D4"/>
              </a:buClr>
              <a:buFont typeface="Arial" pitchFamily="34" charset="0"/>
              <a:buChar char="•"/>
              <a:defRPr sz="1800" baseline="0">
                <a:solidFill>
                  <a:schemeClr val="tx1"/>
                </a:solidFill>
                <a:latin typeface="+mn-lt"/>
              </a:defRPr>
            </a:lvl7pPr>
            <a:lvl8pPr marL="3429000" indent="-228600" algn="l" rtl="0" eaLnBrk="1" fontAlgn="base" hangingPunct="1">
              <a:spcBef>
                <a:spcPct val="20000"/>
              </a:spcBef>
              <a:spcAft>
                <a:spcPct val="0"/>
              </a:spcAft>
              <a:buNone/>
              <a:defRPr sz="1800" baseline="0">
                <a:solidFill>
                  <a:schemeClr val="tx1"/>
                </a:solidFill>
                <a:latin typeface="+mn-lt"/>
              </a:defRPr>
            </a:lvl8pPr>
            <a:lvl9pPr marL="3886200" indent="-228600" algn="l" rtl="0" eaLnBrk="1" fontAlgn="base" hangingPunct="1">
              <a:spcBef>
                <a:spcPct val="20000"/>
              </a:spcBef>
              <a:spcAft>
                <a:spcPct val="0"/>
              </a:spcAft>
              <a:buNone/>
              <a:defRPr sz="2000" baseline="0">
                <a:solidFill>
                  <a:schemeClr val="tx1"/>
                </a:solidFill>
                <a:latin typeface="Arial" charset="0"/>
              </a:defRPr>
            </a:lvl9pPr>
          </a:lstStyle>
          <a:p>
            <a:pPr marL="0" indent="0" algn="ctr">
              <a:buNone/>
            </a:pPr>
            <a:r>
              <a:rPr lang="en-AU" kern="0" dirty="0"/>
              <a:t>Note the use of the ‘&amp;’ (AND) operator between the two parts</a:t>
            </a:r>
            <a:endParaRPr lang="en-AU" sz="1800" kern="0" dirty="0"/>
          </a:p>
        </p:txBody>
      </p:sp>
    </p:spTree>
    <p:extLst>
      <p:ext uri="{BB962C8B-B14F-4D97-AF65-F5344CB8AC3E}">
        <p14:creationId xmlns:p14="http://schemas.microsoft.com/office/powerpoint/2010/main" val="3241944392"/>
      </p:ext>
    </p:extLst>
  </p:cSld>
  <p:clrMapOvr>
    <a:masterClrMapping/>
  </p:clrMapOvr>
  <p:transition>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Possible Issues – Removing Use of RANGE</a:t>
            </a:r>
          </a:p>
        </p:txBody>
      </p:sp>
      <p:pic>
        <p:nvPicPr>
          <p:cNvPr id="1167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1298405"/>
            <a:ext cx="6045200" cy="4638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1"/>
          <p:cNvSpPr txBox="1">
            <a:spLocks/>
          </p:cNvSpPr>
          <p:nvPr/>
        </p:nvSpPr>
        <p:spPr>
          <a:xfrm>
            <a:off x="457200" y="6108700"/>
            <a:ext cx="8360228" cy="482600"/>
          </a:xfrm>
          <a:prstGeom prst="rect">
            <a:avLst/>
          </a:prstGeom>
        </p:spPr>
        <p:txBody>
          <a:bodyPr/>
          <a:lstStyle>
            <a:lvl1pPr marL="233363" indent="-233363" algn="l" rtl="0" eaLnBrk="1" fontAlgn="base" hangingPunct="1">
              <a:lnSpc>
                <a:spcPct val="110000"/>
              </a:lnSpc>
              <a:spcBef>
                <a:spcPct val="20000"/>
              </a:spcBef>
              <a:spcAft>
                <a:spcPct val="0"/>
              </a:spcAft>
              <a:buClr>
                <a:schemeClr val="accent1"/>
              </a:buClr>
              <a:buFont typeface="Wingdings 2" charset="2"/>
              <a:buChar char="¡"/>
              <a:defRPr sz="2000">
                <a:solidFill>
                  <a:schemeClr val="tx1"/>
                </a:solidFill>
                <a:latin typeface="Arial"/>
                <a:ea typeface="MS PGothic" pitchFamily="34" charset="-128"/>
                <a:cs typeface="Arial"/>
              </a:defRPr>
            </a:lvl1pPr>
            <a:lvl2pPr marL="457200" indent="-223838" algn="l" rtl="0" eaLnBrk="1" fontAlgn="base" hangingPunct="1">
              <a:lnSpc>
                <a:spcPct val="110000"/>
              </a:lnSpc>
              <a:spcBef>
                <a:spcPct val="20000"/>
              </a:spcBef>
              <a:spcAft>
                <a:spcPct val="0"/>
              </a:spcAft>
              <a:buClr>
                <a:schemeClr val="accent1"/>
              </a:buClr>
              <a:buFont typeface="Verdana" pitchFamily="34" charset="0"/>
              <a:buChar char="–"/>
              <a:defRPr>
                <a:solidFill>
                  <a:schemeClr val="tx1"/>
                </a:solidFill>
                <a:latin typeface="Arial"/>
                <a:ea typeface="MS PGothic" pitchFamily="34" charset="-128"/>
                <a:cs typeface="Arial"/>
              </a:defRPr>
            </a:lvl2pPr>
            <a:lvl3pPr marL="693738" indent="-228600" algn="l" rtl="0" eaLnBrk="1" fontAlgn="base" hangingPunct="1">
              <a:lnSpc>
                <a:spcPct val="110000"/>
              </a:lnSpc>
              <a:spcBef>
                <a:spcPct val="20000"/>
              </a:spcBef>
              <a:spcAft>
                <a:spcPct val="0"/>
              </a:spcAft>
              <a:buClr>
                <a:schemeClr val="accent1"/>
              </a:buClr>
              <a:buSzPct val="80000"/>
              <a:buFont typeface="Courier New" pitchFamily="49" charset="0"/>
              <a:buChar char="o"/>
              <a:defRPr>
                <a:solidFill>
                  <a:schemeClr val="tx1"/>
                </a:solidFill>
                <a:latin typeface="Arial"/>
                <a:ea typeface="MS PGothic" pitchFamily="34" charset="-128"/>
                <a:cs typeface="Arial"/>
              </a:defRPr>
            </a:lvl3pPr>
            <a:lvl4pPr marL="917575" indent="-228600" algn="l" rtl="0" eaLnBrk="1" fontAlgn="base" hangingPunct="1">
              <a:lnSpc>
                <a:spcPct val="110000"/>
              </a:lnSpc>
              <a:spcBef>
                <a:spcPct val="20000"/>
              </a:spcBef>
              <a:spcAft>
                <a:spcPct val="0"/>
              </a:spcAft>
              <a:buClr>
                <a:schemeClr val="accent1"/>
              </a:buClr>
              <a:buFont typeface="Arial" charset="0"/>
              <a:buChar char="•"/>
              <a:defRPr>
                <a:solidFill>
                  <a:schemeClr val="tx1"/>
                </a:solidFill>
                <a:latin typeface="Arial"/>
                <a:ea typeface="MS PGothic" pitchFamily="34" charset="-128"/>
                <a:cs typeface="Arial"/>
              </a:defRPr>
            </a:lvl4pPr>
            <a:lvl5pPr marL="1150938" indent="-228600" algn="l" rtl="0" eaLnBrk="1" fontAlgn="base" hangingPunct="1">
              <a:lnSpc>
                <a:spcPct val="110000"/>
              </a:lnSpc>
              <a:spcBef>
                <a:spcPct val="20000"/>
              </a:spcBef>
              <a:spcAft>
                <a:spcPct val="0"/>
              </a:spcAft>
              <a:buClr>
                <a:schemeClr val="accent1"/>
              </a:buClr>
              <a:buFont typeface="Arial" charset="0"/>
              <a:buChar char="•"/>
              <a:defRPr>
                <a:solidFill>
                  <a:schemeClr val="tx1"/>
                </a:solidFill>
                <a:latin typeface="Arial"/>
                <a:ea typeface="MS PGothic" pitchFamily="34" charset="-128"/>
                <a:cs typeface="Arial"/>
              </a:defRPr>
            </a:lvl5pPr>
            <a:lvl6pPr marL="2514600" indent="-228600" algn="l" rtl="0" eaLnBrk="1" fontAlgn="base" hangingPunct="1">
              <a:spcBef>
                <a:spcPct val="20000"/>
              </a:spcBef>
              <a:spcAft>
                <a:spcPct val="0"/>
              </a:spcAft>
              <a:buClr>
                <a:srgbClr val="3374D4"/>
              </a:buClr>
              <a:buFont typeface="Arial" pitchFamily="34" charset="0"/>
              <a:buChar char="•"/>
              <a:defRPr sz="1800" baseline="0">
                <a:solidFill>
                  <a:schemeClr val="tx1"/>
                </a:solidFill>
                <a:latin typeface="+mn-lt"/>
              </a:defRPr>
            </a:lvl6pPr>
            <a:lvl7pPr marL="2971800" indent="-228600" algn="l" rtl="0" eaLnBrk="1" fontAlgn="base" hangingPunct="1">
              <a:spcBef>
                <a:spcPct val="20000"/>
              </a:spcBef>
              <a:spcAft>
                <a:spcPct val="0"/>
              </a:spcAft>
              <a:buClr>
                <a:srgbClr val="3374D4"/>
              </a:buClr>
              <a:buFont typeface="Arial" pitchFamily="34" charset="0"/>
              <a:buChar char="•"/>
              <a:defRPr sz="1800" baseline="0">
                <a:solidFill>
                  <a:schemeClr val="tx1"/>
                </a:solidFill>
                <a:latin typeface="+mn-lt"/>
              </a:defRPr>
            </a:lvl7pPr>
            <a:lvl8pPr marL="3429000" indent="-228600" algn="l" rtl="0" eaLnBrk="1" fontAlgn="base" hangingPunct="1">
              <a:spcBef>
                <a:spcPct val="20000"/>
              </a:spcBef>
              <a:spcAft>
                <a:spcPct val="0"/>
              </a:spcAft>
              <a:buNone/>
              <a:defRPr sz="1800" baseline="0">
                <a:solidFill>
                  <a:schemeClr val="tx1"/>
                </a:solidFill>
                <a:latin typeface="+mn-lt"/>
              </a:defRPr>
            </a:lvl8pPr>
            <a:lvl9pPr marL="3886200" indent="-228600" algn="l" rtl="0" eaLnBrk="1" fontAlgn="base" hangingPunct="1">
              <a:spcBef>
                <a:spcPct val="20000"/>
              </a:spcBef>
              <a:spcAft>
                <a:spcPct val="0"/>
              </a:spcAft>
              <a:buNone/>
              <a:defRPr sz="2000" baseline="0">
                <a:solidFill>
                  <a:schemeClr val="tx1"/>
                </a:solidFill>
                <a:latin typeface="Arial" charset="0"/>
              </a:defRPr>
            </a:lvl9pPr>
          </a:lstStyle>
          <a:p>
            <a:pPr marL="0" indent="0" algn="ctr">
              <a:buNone/>
            </a:pPr>
            <a:r>
              <a:rPr lang="en-AU" kern="0" dirty="0"/>
              <a:t>Note the use of the ‘I’ (OR) operator between the two parts</a:t>
            </a:r>
            <a:endParaRPr lang="en-AU" sz="1800" kern="0" dirty="0"/>
          </a:p>
        </p:txBody>
      </p:sp>
      <p:sp>
        <p:nvSpPr>
          <p:cNvPr id="5" name="Rectangle 4"/>
          <p:cNvSpPr/>
          <p:nvPr/>
        </p:nvSpPr>
        <p:spPr bwMode="auto">
          <a:xfrm>
            <a:off x="3341525" y="1778029"/>
            <a:ext cx="3630775" cy="24127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4010" y="2230194"/>
            <a:ext cx="2603979" cy="9321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107079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Possible Issues – Greater Clarity</a:t>
            </a:r>
          </a:p>
        </p:txBody>
      </p:sp>
      <p:sp>
        <p:nvSpPr>
          <p:cNvPr id="3" name="Rectangle 2"/>
          <p:cNvSpPr/>
          <p:nvPr/>
        </p:nvSpPr>
        <p:spPr>
          <a:xfrm>
            <a:off x="635000" y="1467991"/>
            <a:ext cx="8089900" cy="1323439"/>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txBody>
          <a:bodyPr wrap="square">
            <a:spAutoFit/>
          </a:bodyPr>
          <a:lstStyle/>
          <a:p>
            <a:r>
              <a:rPr lang="en-AU" b="1" dirty="0"/>
              <a:t>ENUM(</a:t>
            </a:r>
            <a:br>
              <a:rPr lang="en-AU" b="1" dirty="0"/>
            </a:br>
            <a:r>
              <a:rPr lang="en-AU" b="1" dirty="0"/>
              <a:t>     LT(Percent_Label_Claim,95),</a:t>
            </a:r>
            <a:br>
              <a:rPr lang="en-AU" b="1" dirty="0"/>
            </a:br>
            <a:r>
              <a:rPr lang="en-AU" b="1" dirty="0"/>
              <a:t>     GT(Percent_Label_Claim,103),</a:t>
            </a:r>
            <a:br>
              <a:rPr lang="en-AU" b="1" dirty="0"/>
            </a:br>
            <a:r>
              <a:rPr lang="en-AU" b="1" dirty="0"/>
              <a:t>     GTE(Percent_Label_Claim,95)&amp;LTE(Percent_Label_Claim,103)</a:t>
            </a:r>
            <a:br>
              <a:rPr lang="en-AU" b="1" dirty="0"/>
            </a:br>
            <a:r>
              <a:rPr lang="en-AU" b="1" dirty="0"/>
              <a:t>)</a:t>
            </a:r>
          </a:p>
        </p:txBody>
      </p:sp>
      <p:pic>
        <p:nvPicPr>
          <p:cNvPr id="1187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2281" y="4127874"/>
            <a:ext cx="2738437" cy="1429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ight Arrow 3"/>
          <p:cNvSpPr/>
          <p:nvPr/>
        </p:nvSpPr>
        <p:spPr bwMode="auto">
          <a:xfrm rot="5400000">
            <a:off x="3670300" y="2829904"/>
            <a:ext cx="1422400" cy="1031644"/>
          </a:xfrm>
          <a:prstGeom prst="rightArrow">
            <a:avLst/>
          </a:prstGeom>
          <a:solidFill>
            <a:srgbClr val="3374D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AU" sz="1600" b="0" i="0" u="none" strike="noStrike" cap="none" normalizeH="0" baseline="0">
              <a:ln>
                <a:noFill/>
              </a:ln>
              <a:solidFill>
                <a:schemeClr val="tx1"/>
              </a:solidFill>
              <a:effectLst/>
              <a:latin typeface="Verdana" pitchFamily="34" charset="0"/>
            </a:endParaRPr>
          </a:p>
        </p:txBody>
      </p:sp>
      <p:sp>
        <p:nvSpPr>
          <p:cNvPr id="6" name="Content Placeholder 1"/>
          <p:cNvSpPr txBox="1">
            <a:spLocks/>
          </p:cNvSpPr>
          <p:nvPr/>
        </p:nvSpPr>
        <p:spPr>
          <a:xfrm>
            <a:off x="435994" y="5867400"/>
            <a:ext cx="8360228" cy="482600"/>
          </a:xfrm>
          <a:prstGeom prst="rect">
            <a:avLst/>
          </a:prstGeom>
        </p:spPr>
        <p:txBody>
          <a:bodyPr/>
          <a:lstStyle>
            <a:lvl1pPr marL="233363" indent="-233363" algn="l" rtl="0" eaLnBrk="1" fontAlgn="base" hangingPunct="1">
              <a:lnSpc>
                <a:spcPct val="110000"/>
              </a:lnSpc>
              <a:spcBef>
                <a:spcPct val="20000"/>
              </a:spcBef>
              <a:spcAft>
                <a:spcPct val="0"/>
              </a:spcAft>
              <a:buClr>
                <a:schemeClr val="accent1"/>
              </a:buClr>
              <a:buFont typeface="Wingdings 2" charset="2"/>
              <a:buChar char="¡"/>
              <a:defRPr sz="2000">
                <a:solidFill>
                  <a:schemeClr val="tx1"/>
                </a:solidFill>
                <a:latin typeface="Arial"/>
                <a:ea typeface="MS PGothic" pitchFamily="34" charset="-128"/>
                <a:cs typeface="Arial"/>
              </a:defRPr>
            </a:lvl1pPr>
            <a:lvl2pPr marL="457200" indent="-223838" algn="l" rtl="0" eaLnBrk="1" fontAlgn="base" hangingPunct="1">
              <a:lnSpc>
                <a:spcPct val="110000"/>
              </a:lnSpc>
              <a:spcBef>
                <a:spcPct val="20000"/>
              </a:spcBef>
              <a:spcAft>
                <a:spcPct val="0"/>
              </a:spcAft>
              <a:buClr>
                <a:schemeClr val="accent1"/>
              </a:buClr>
              <a:buFont typeface="Verdana" pitchFamily="34" charset="0"/>
              <a:buChar char="–"/>
              <a:defRPr>
                <a:solidFill>
                  <a:schemeClr val="tx1"/>
                </a:solidFill>
                <a:latin typeface="Arial"/>
                <a:ea typeface="MS PGothic" pitchFamily="34" charset="-128"/>
                <a:cs typeface="Arial"/>
              </a:defRPr>
            </a:lvl2pPr>
            <a:lvl3pPr marL="693738" indent="-228600" algn="l" rtl="0" eaLnBrk="1" fontAlgn="base" hangingPunct="1">
              <a:lnSpc>
                <a:spcPct val="110000"/>
              </a:lnSpc>
              <a:spcBef>
                <a:spcPct val="20000"/>
              </a:spcBef>
              <a:spcAft>
                <a:spcPct val="0"/>
              </a:spcAft>
              <a:buClr>
                <a:schemeClr val="accent1"/>
              </a:buClr>
              <a:buSzPct val="80000"/>
              <a:buFont typeface="Courier New" pitchFamily="49" charset="0"/>
              <a:buChar char="o"/>
              <a:defRPr>
                <a:solidFill>
                  <a:schemeClr val="tx1"/>
                </a:solidFill>
                <a:latin typeface="Arial"/>
                <a:ea typeface="MS PGothic" pitchFamily="34" charset="-128"/>
                <a:cs typeface="Arial"/>
              </a:defRPr>
            </a:lvl3pPr>
            <a:lvl4pPr marL="917575" indent="-228600" algn="l" rtl="0" eaLnBrk="1" fontAlgn="base" hangingPunct="1">
              <a:lnSpc>
                <a:spcPct val="110000"/>
              </a:lnSpc>
              <a:spcBef>
                <a:spcPct val="20000"/>
              </a:spcBef>
              <a:spcAft>
                <a:spcPct val="0"/>
              </a:spcAft>
              <a:buClr>
                <a:schemeClr val="accent1"/>
              </a:buClr>
              <a:buFont typeface="Arial" charset="0"/>
              <a:buChar char="•"/>
              <a:defRPr>
                <a:solidFill>
                  <a:schemeClr val="tx1"/>
                </a:solidFill>
                <a:latin typeface="Arial"/>
                <a:ea typeface="MS PGothic" pitchFamily="34" charset="-128"/>
                <a:cs typeface="Arial"/>
              </a:defRPr>
            </a:lvl4pPr>
            <a:lvl5pPr marL="1150938" indent="-228600" algn="l" rtl="0" eaLnBrk="1" fontAlgn="base" hangingPunct="1">
              <a:lnSpc>
                <a:spcPct val="110000"/>
              </a:lnSpc>
              <a:spcBef>
                <a:spcPct val="20000"/>
              </a:spcBef>
              <a:spcAft>
                <a:spcPct val="0"/>
              </a:spcAft>
              <a:buClr>
                <a:schemeClr val="accent1"/>
              </a:buClr>
              <a:buFont typeface="Arial" charset="0"/>
              <a:buChar char="•"/>
              <a:defRPr>
                <a:solidFill>
                  <a:schemeClr val="tx1"/>
                </a:solidFill>
                <a:latin typeface="Arial"/>
                <a:ea typeface="MS PGothic" pitchFamily="34" charset="-128"/>
                <a:cs typeface="Arial"/>
              </a:defRPr>
            </a:lvl5pPr>
            <a:lvl6pPr marL="2514600" indent="-228600" algn="l" rtl="0" eaLnBrk="1" fontAlgn="base" hangingPunct="1">
              <a:spcBef>
                <a:spcPct val="20000"/>
              </a:spcBef>
              <a:spcAft>
                <a:spcPct val="0"/>
              </a:spcAft>
              <a:buClr>
                <a:srgbClr val="3374D4"/>
              </a:buClr>
              <a:buFont typeface="Arial" pitchFamily="34" charset="0"/>
              <a:buChar char="•"/>
              <a:defRPr sz="1800" baseline="0">
                <a:solidFill>
                  <a:schemeClr val="tx1"/>
                </a:solidFill>
                <a:latin typeface="+mn-lt"/>
              </a:defRPr>
            </a:lvl6pPr>
            <a:lvl7pPr marL="2971800" indent="-228600" algn="l" rtl="0" eaLnBrk="1" fontAlgn="base" hangingPunct="1">
              <a:spcBef>
                <a:spcPct val="20000"/>
              </a:spcBef>
              <a:spcAft>
                <a:spcPct val="0"/>
              </a:spcAft>
              <a:buClr>
                <a:srgbClr val="3374D4"/>
              </a:buClr>
              <a:buFont typeface="Arial" pitchFamily="34" charset="0"/>
              <a:buChar char="•"/>
              <a:defRPr sz="1800" baseline="0">
                <a:solidFill>
                  <a:schemeClr val="tx1"/>
                </a:solidFill>
                <a:latin typeface="+mn-lt"/>
              </a:defRPr>
            </a:lvl7pPr>
            <a:lvl8pPr marL="3429000" indent="-228600" algn="l" rtl="0" eaLnBrk="1" fontAlgn="base" hangingPunct="1">
              <a:spcBef>
                <a:spcPct val="20000"/>
              </a:spcBef>
              <a:spcAft>
                <a:spcPct val="0"/>
              </a:spcAft>
              <a:buNone/>
              <a:defRPr sz="1800" baseline="0">
                <a:solidFill>
                  <a:schemeClr val="tx1"/>
                </a:solidFill>
                <a:latin typeface="+mn-lt"/>
              </a:defRPr>
            </a:lvl8pPr>
            <a:lvl9pPr marL="3886200" indent="-228600" algn="l" rtl="0" eaLnBrk="1" fontAlgn="base" hangingPunct="1">
              <a:spcBef>
                <a:spcPct val="20000"/>
              </a:spcBef>
              <a:spcAft>
                <a:spcPct val="0"/>
              </a:spcAft>
              <a:buNone/>
              <a:defRPr sz="2000" baseline="0">
                <a:solidFill>
                  <a:schemeClr val="tx1"/>
                </a:solidFill>
                <a:latin typeface="Arial" charset="0"/>
              </a:defRPr>
            </a:lvl9pPr>
          </a:lstStyle>
          <a:p>
            <a:pPr marL="0" indent="0" algn="ctr">
              <a:buNone/>
            </a:pPr>
            <a:r>
              <a:rPr lang="en-AU" b="1" i="1" kern="0" dirty="0">
                <a:solidFill>
                  <a:srgbClr val="FF0000"/>
                </a:solidFill>
              </a:rPr>
              <a:t>Many ways to do the same thing!</a:t>
            </a:r>
            <a:endParaRPr lang="en-AU" sz="1800" b="1" i="1" kern="0" dirty="0">
              <a:solidFill>
                <a:srgbClr val="FF0000"/>
              </a:solidFill>
            </a:endParaRPr>
          </a:p>
        </p:txBody>
      </p:sp>
    </p:spTree>
    <p:extLst>
      <p:ext uri="{BB962C8B-B14F-4D97-AF65-F5344CB8AC3E}">
        <p14:creationId xmlns:p14="http://schemas.microsoft.com/office/powerpoint/2010/main" val="491147522"/>
      </p:ext>
    </p:extLst>
  </p:cSld>
  <p:clrMapOvr>
    <a:masterClrMapping/>
  </p:clrMapOvr>
  <p:transition>
    <p:wipe dir="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idx="1"/>
          </p:nvPr>
        </p:nvSpPr>
        <p:spPr/>
        <p:txBody>
          <a:bodyPr/>
          <a:lstStyle/>
          <a:p>
            <a:pPr eaLnBrk="1" hangingPunct="1"/>
            <a:r>
              <a:rPr lang="en-US" dirty="0"/>
              <a:t>Goal: Have Empower notify an analyst if </a:t>
            </a:r>
            <a:r>
              <a:rPr lang="en-US" dirty="0">
                <a:solidFill>
                  <a:srgbClr val="C00000"/>
                </a:solidFill>
              </a:rPr>
              <a:t>Detector Noise </a:t>
            </a:r>
            <a:r>
              <a:rPr lang="en-US" dirty="0"/>
              <a:t>is acceptable</a:t>
            </a:r>
          </a:p>
          <a:p>
            <a:pPr lvl="1" eaLnBrk="1" hangingPunct="1"/>
            <a:endParaRPr lang="en-US" dirty="0"/>
          </a:p>
          <a:p>
            <a:pPr eaLnBrk="1" hangingPunct="1">
              <a:buFont typeface="Monotype Sorts"/>
              <a:buNone/>
            </a:pPr>
            <a:endParaRPr lang="en-US" dirty="0"/>
          </a:p>
        </p:txBody>
      </p:sp>
      <p:sp>
        <p:nvSpPr>
          <p:cNvPr id="807939" name="Rectangle 3" descr="25%"/>
          <p:cNvSpPr>
            <a:spLocks noGrp="1" noChangeArrowheads="1"/>
          </p:cNvSpPr>
          <p:nvPr>
            <p:ph type="title"/>
          </p:nvPr>
        </p:nvSpPr>
        <p:spPr/>
        <p:txBody>
          <a:bodyPr/>
          <a:lstStyle/>
          <a:p>
            <a:pPr eaLnBrk="1" hangingPunct="1">
              <a:defRPr/>
            </a:pPr>
            <a:r>
              <a:rPr lang="en-US" dirty="0"/>
              <a:t>Create New </a:t>
            </a:r>
            <a:r>
              <a:rPr lang="en-US" dirty="0">
                <a:solidFill>
                  <a:schemeClr val="accent2"/>
                </a:solidFill>
              </a:rPr>
              <a:t>Result </a:t>
            </a:r>
            <a:r>
              <a:rPr lang="en-US" dirty="0"/>
              <a:t>Type Field</a:t>
            </a:r>
          </a:p>
        </p:txBody>
      </p:sp>
    </p:spTree>
  </p:cSld>
  <p:clrMapOvr>
    <a:masterClrMapping/>
  </p:clrMapOvr>
  <p:transition>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64.png"/>
          <p:cNvPicPr>
            <a:picLocks noGrp="1" noChangeAspect="1"/>
          </p:cNvPicPr>
          <p:nvPr>
            <p:ph idx="1"/>
          </p:nvPr>
        </p:nvPicPr>
        <p:blipFill>
          <a:blip r:embed="rId3" cstate="print"/>
          <a:stretch>
            <a:fillRect/>
          </a:stretch>
        </p:blipFill>
        <p:spPr>
          <a:xfrm>
            <a:off x="1375150" y="1368011"/>
            <a:ext cx="6368919" cy="4905789"/>
          </a:xfrm>
        </p:spPr>
      </p:pic>
      <p:sp>
        <p:nvSpPr>
          <p:cNvPr id="809987"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Result </a:t>
            </a:r>
            <a:r>
              <a:rPr lang="en-US" dirty="0"/>
              <a:t>Type Field</a:t>
            </a:r>
          </a:p>
        </p:txBody>
      </p:sp>
    </p:spTree>
  </p:cSld>
  <p:clrMapOvr>
    <a:masterClrMapping/>
  </p:clrMapOvr>
  <p:transition>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book 3 pg 65.png"/>
          <p:cNvPicPr>
            <a:picLocks noGrp="1" noChangeAspect="1"/>
          </p:cNvPicPr>
          <p:nvPr>
            <p:ph idx="1"/>
          </p:nvPr>
        </p:nvPicPr>
        <p:blipFill>
          <a:blip r:embed="rId3" cstate="print"/>
          <a:stretch>
            <a:fillRect/>
          </a:stretch>
        </p:blipFill>
        <p:spPr>
          <a:xfrm>
            <a:off x="693311" y="1401269"/>
            <a:ext cx="4759409" cy="3666031"/>
          </a:xfrm>
        </p:spPr>
      </p:pic>
      <p:sp>
        <p:nvSpPr>
          <p:cNvPr id="812035"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Result</a:t>
            </a:r>
            <a:r>
              <a:rPr lang="en-US" dirty="0"/>
              <a:t> Type Field</a:t>
            </a:r>
          </a:p>
        </p:txBody>
      </p:sp>
      <p:pic>
        <p:nvPicPr>
          <p:cNvPr id="11" name="Content Placeholder 10" descr="book 3 pg 65a.png"/>
          <p:cNvPicPr>
            <a:picLocks noGrp="1" noChangeAspect="1"/>
          </p:cNvPicPr>
          <p:nvPr>
            <p:ph sz="half" idx="4294967295"/>
          </p:nvPr>
        </p:nvPicPr>
        <p:blipFill>
          <a:blip r:embed="rId4" cstate="print"/>
          <a:stretch>
            <a:fillRect/>
          </a:stretch>
        </p:blipFill>
        <p:spPr>
          <a:xfrm>
            <a:off x="4285152" y="4193322"/>
            <a:ext cx="4483710" cy="1589876"/>
          </a:xfrm>
        </p:spPr>
      </p:pic>
      <p:sp>
        <p:nvSpPr>
          <p:cNvPr id="12" name="Bent Arrow 11"/>
          <p:cNvSpPr/>
          <p:nvPr/>
        </p:nvSpPr>
        <p:spPr bwMode="auto">
          <a:xfrm rot="5400000">
            <a:off x="5728457" y="2378543"/>
            <a:ext cx="1714500" cy="1614415"/>
          </a:xfrm>
          <a:prstGeom prst="bentArrow">
            <a:avLst/>
          </a:prstGeom>
          <a:solidFill>
            <a:srgbClr val="FF0000"/>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66.png"/>
          <p:cNvPicPr>
            <a:picLocks noGrp="1" noChangeAspect="1"/>
          </p:cNvPicPr>
          <p:nvPr>
            <p:ph idx="1"/>
          </p:nvPr>
        </p:nvPicPr>
        <p:blipFill>
          <a:blip r:embed="rId3" cstate="print"/>
          <a:stretch>
            <a:fillRect/>
          </a:stretch>
        </p:blipFill>
        <p:spPr>
          <a:xfrm>
            <a:off x="1425028" y="1415590"/>
            <a:ext cx="6258472" cy="4820715"/>
          </a:xfrm>
        </p:spPr>
      </p:pic>
      <p:sp>
        <p:nvSpPr>
          <p:cNvPr id="814083"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Result </a:t>
            </a:r>
            <a:r>
              <a:rPr lang="en-US" dirty="0"/>
              <a:t>Type Field</a:t>
            </a:r>
          </a:p>
        </p:txBody>
      </p:sp>
    </p:spTree>
  </p:cSld>
  <p:clrMapOvr>
    <a:masterClrMapping/>
  </p:clrMapOvr>
  <p:transition>
    <p:wipe dir="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67.png"/>
          <p:cNvPicPr>
            <a:picLocks noGrp="1" noChangeAspect="1"/>
          </p:cNvPicPr>
          <p:nvPr>
            <p:ph idx="1"/>
          </p:nvPr>
        </p:nvPicPr>
        <p:blipFill>
          <a:blip r:embed="rId3" cstate="print"/>
          <a:stretch>
            <a:fillRect/>
          </a:stretch>
        </p:blipFill>
        <p:spPr>
          <a:xfrm>
            <a:off x="1390042" y="1384090"/>
            <a:ext cx="6331557" cy="4877010"/>
          </a:xfrm>
        </p:spPr>
      </p:pic>
      <p:sp>
        <p:nvSpPr>
          <p:cNvPr id="816131"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Result</a:t>
            </a:r>
            <a:r>
              <a:rPr lang="en-US" dirty="0"/>
              <a:t> Type Field</a:t>
            </a:r>
          </a:p>
        </p:txBody>
      </p:sp>
    </p:spTree>
  </p:cSld>
  <p:clrMapOvr>
    <a:masterClrMapping/>
  </p:clrMapOvr>
  <p:transition>
    <p:wipe dir="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68.png"/>
          <p:cNvPicPr>
            <a:picLocks noGrp="1" noChangeAspect="1"/>
          </p:cNvPicPr>
          <p:nvPr>
            <p:ph idx="1"/>
          </p:nvPr>
        </p:nvPicPr>
        <p:blipFill>
          <a:blip r:embed="rId3" cstate="print"/>
          <a:stretch>
            <a:fillRect/>
          </a:stretch>
        </p:blipFill>
        <p:spPr>
          <a:xfrm>
            <a:off x="1405279" y="1386044"/>
            <a:ext cx="6329020" cy="4875056"/>
          </a:xfrm>
        </p:spPr>
      </p:pic>
      <p:sp>
        <p:nvSpPr>
          <p:cNvPr id="818179"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Result</a:t>
            </a:r>
            <a:r>
              <a:rPr lang="en-US" dirty="0"/>
              <a:t> Type Field</a:t>
            </a:r>
          </a:p>
        </p:txBody>
      </p:sp>
    </p:spTree>
  </p:cSld>
  <p:clrMapOvr>
    <a:masterClrMapping/>
  </p:clrMapOvr>
  <p:transition>
    <p:wipe dir="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endParaRPr lang="en-US"/>
          </a:p>
        </p:txBody>
      </p:sp>
      <p:sp>
        <p:nvSpPr>
          <p:cNvPr id="4" name="Title 3"/>
          <p:cNvSpPr>
            <a:spLocks noGrp="1"/>
          </p:cNvSpPr>
          <p:nvPr>
            <p:ph type="title"/>
          </p:nvPr>
        </p:nvSpPr>
        <p:spPr/>
        <p:txBody>
          <a:bodyPr/>
          <a:lstStyle/>
          <a:p>
            <a:r>
              <a:rPr lang="en-US" dirty="0"/>
              <a:t>Viewing: Results for a </a:t>
            </a:r>
            <a:r>
              <a:rPr lang="en-US" dirty="0">
                <a:solidFill>
                  <a:schemeClr val="accent2"/>
                </a:solidFill>
              </a:rPr>
              <a:t>Result</a:t>
            </a:r>
            <a:r>
              <a:rPr lang="en-US" dirty="0"/>
              <a:t> Type CF</a:t>
            </a:r>
          </a:p>
        </p:txBody>
      </p:sp>
      <p:pic>
        <p:nvPicPr>
          <p:cNvPr id="117762" name="Picture 2" descr="H:\Empower CF screen captures\ScreenHunter_34 Mar. 07 10.57.jpg"/>
          <p:cNvPicPr>
            <a:picLocks noChangeAspect="1" noChangeArrowheads="1"/>
          </p:cNvPicPr>
          <p:nvPr/>
        </p:nvPicPr>
        <p:blipFill>
          <a:blip r:embed="rId3" cstate="print"/>
          <a:srcRect b="17269"/>
          <a:stretch>
            <a:fillRect/>
          </a:stretch>
        </p:blipFill>
        <p:spPr bwMode="auto">
          <a:xfrm>
            <a:off x="874798" y="1310011"/>
            <a:ext cx="7361238" cy="5115841"/>
          </a:xfrm>
          <a:prstGeom prst="rect">
            <a:avLst/>
          </a:prstGeom>
          <a:noFill/>
        </p:spPr>
      </p:pic>
      <p:sp>
        <p:nvSpPr>
          <p:cNvPr id="6" name="Rectangle 5"/>
          <p:cNvSpPr/>
          <p:nvPr/>
        </p:nvSpPr>
        <p:spPr bwMode="auto">
          <a:xfrm>
            <a:off x="6208453" y="1671795"/>
            <a:ext cx="563770" cy="44946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Viewing: Results for a </a:t>
            </a:r>
            <a:r>
              <a:rPr lang="en-US" dirty="0">
                <a:solidFill>
                  <a:schemeClr val="accent2"/>
                </a:solidFill>
              </a:rPr>
              <a:t>Result</a:t>
            </a:r>
            <a:r>
              <a:rPr lang="en-US" dirty="0"/>
              <a:t> Type CF</a:t>
            </a:r>
          </a:p>
        </p:txBody>
      </p:sp>
      <p:pic>
        <p:nvPicPr>
          <p:cNvPr id="118786" name="Picture 2" descr="H:\Empower CF screen captures\ScreenHunter_35 Mar. 07 10.58.jpg"/>
          <p:cNvPicPr>
            <a:picLocks noChangeAspect="1" noChangeArrowheads="1"/>
          </p:cNvPicPr>
          <p:nvPr/>
        </p:nvPicPr>
        <p:blipFill>
          <a:blip r:embed="rId3" cstate="print"/>
          <a:srcRect r="993"/>
          <a:stretch>
            <a:fillRect/>
          </a:stretch>
        </p:blipFill>
        <p:spPr bwMode="auto">
          <a:xfrm>
            <a:off x="383653" y="1352297"/>
            <a:ext cx="8484774" cy="1085407"/>
          </a:xfrm>
          <a:prstGeom prst="rect">
            <a:avLst/>
          </a:prstGeom>
          <a:noFill/>
        </p:spPr>
      </p:pic>
      <p:pic>
        <p:nvPicPr>
          <p:cNvPr id="118787" name="Picture 3" descr="H:\Empower CF screen captures\ScreenHunter_36 Mar. 07 10.58.jpg"/>
          <p:cNvPicPr>
            <a:picLocks noChangeAspect="1" noChangeArrowheads="1"/>
          </p:cNvPicPr>
          <p:nvPr/>
        </p:nvPicPr>
        <p:blipFill>
          <a:blip r:embed="rId4" cstate="print"/>
          <a:srcRect r="693"/>
          <a:stretch>
            <a:fillRect/>
          </a:stretch>
        </p:blipFill>
        <p:spPr bwMode="auto">
          <a:xfrm>
            <a:off x="363015" y="4052203"/>
            <a:ext cx="8530464" cy="885814"/>
          </a:xfrm>
          <a:prstGeom prst="rect">
            <a:avLst/>
          </a:prstGeom>
          <a:noFill/>
        </p:spPr>
      </p:pic>
      <p:pic>
        <p:nvPicPr>
          <p:cNvPr id="7" name="Picture 2" descr="H:\Empower CF screen captures\ScreenHunter_35 Mar. 07 10.58.jpg"/>
          <p:cNvPicPr>
            <a:picLocks noChangeAspect="1" noChangeArrowheads="1"/>
          </p:cNvPicPr>
          <p:nvPr/>
        </p:nvPicPr>
        <p:blipFill>
          <a:blip r:embed="rId3" cstate="print"/>
          <a:srcRect l="65374" t="16923" r="16433" b="28205"/>
          <a:stretch>
            <a:fillRect/>
          </a:stretch>
        </p:blipFill>
        <p:spPr bwMode="auto">
          <a:xfrm>
            <a:off x="5426956" y="2733697"/>
            <a:ext cx="2679445" cy="1023703"/>
          </a:xfrm>
          <a:prstGeom prst="rect">
            <a:avLst/>
          </a:prstGeom>
          <a:noFill/>
          <a:ln w="22225">
            <a:solidFill>
              <a:srgbClr val="FF0000"/>
            </a:solidFill>
          </a:ln>
        </p:spPr>
      </p:pic>
      <p:pic>
        <p:nvPicPr>
          <p:cNvPr id="8" name="Picture 3" descr="H:\Empower CF screen captures\ScreenHunter_36 Mar. 07 10.58.jpg"/>
          <p:cNvPicPr>
            <a:picLocks noChangeAspect="1" noChangeArrowheads="1"/>
          </p:cNvPicPr>
          <p:nvPr/>
        </p:nvPicPr>
        <p:blipFill>
          <a:blip r:embed="rId4" cstate="print"/>
          <a:srcRect l="65436" t="17337" r="16448" b="17337"/>
          <a:stretch>
            <a:fillRect/>
          </a:stretch>
        </p:blipFill>
        <p:spPr bwMode="auto">
          <a:xfrm>
            <a:off x="5530640" y="5223214"/>
            <a:ext cx="2654437" cy="986982"/>
          </a:xfrm>
          <a:prstGeom prst="rect">
            <a:avLst/>
          </a:prstGeom>
          <a:noFill/>
          <a:ln w="22225">
            <a:solidFill>
              <a:srgbClr val="FF0000"/>
            </a:solidFill>
          </a:ln>
        </p:spPr>
      </p:pic>
      <p:cxnSp>
        <p:nvCxnSpPr>
          <p:cNvPr id="10" name="Straight Connector 9"/>
          <p:cNvCxnSpPr/>
          <p:nvPr/>
        </p:nvCxnSpPr>
        <p:spPr bwMode="auto">
          <a:xfrm flipH="1">
            <a:off x="5414648" y="1540701"/>
            <a:ext cx="597845" cy="1202907"/>
          </a:xfrm>
          <a:prstGeom prst="line">
            <a:avLst/>
          </a:prstGeom>
          <a:solidFill>
            <a:srgbClr val="3374D4"/>
          </a:solidFill>
          <a:ln w="28575" cap="flat" cmpd="sng" algn="ctr">
            <a:solidFill>
              <a:srgbClr val="FF0000"/>
            </a:solidFill>
            <a:prstDash val="solid"/>
            <a:round/>
            <a:headEnd type="none" w="med" len="med"/>
            <a:tailEnd type="none"/>
          </a:ln>
          <a:effectLst/>
        </p:spPr>
      </p:cxnSp>
      <p:cxnSp>
        <p:nvCxnSpPr>
          <p:cNvPr id="11" name="Straight Connector 10"/>
          <p:cNvCxnSpPr/>
          <p:nvPr/>
        </p:nvCxnSpPr>
        <p:spPr bwMode="auto">
          <a:xfrm>
            <a:off x="7540668" y="1578279"/>
            <a:ext cx="567484" cy="1155390"/>
          </a:xfrm>
          <a:prstGeom prst="line">
            <a:avLst/>
          </a:prstGeom>
          <a:solidFill>
            <a:srgbClr val="3374D4"/>
          </a:solidFill>
          <a:ln w="28575" cap="flat" cmpd="sng" algn="ctr">
            <a:solidFill>
              <a:srgbClr val="FF0000"/>
            </a:solidFill>
            <a:prstDash val="solid"/>
            <a:round/>
            <a:headEnd type="none" w="med" len="med"/>
            <a:tailEnd type="none"/>
          </a:ln>
          <a:effectLst/>
        </p:spPr>
      </p:cxnSp>
      <p:cxnSp>
        <p:nvCxnSpPr>
          <p:cNvPr id="16" name="Straight Connector 15"/>
          <p:cNvCxnSpPr/>
          <p:nvPr/>
        </p:nvCxnSpPr>
        <p:spPr bwMode="auto">
          <a:xfrm flipH="1">
            <a:off x="5549030" y="4264295"/>
            <a:ext cx="442087" cy="971584"/>
          </a:xfrm>
          <a:prstGeom prst="line">
            <a:avLst/>
          </a:prstGeom>
          <a:solidFill>
            <a:srgbClr val="3374D4"/>
          </a:solidFill>
          <a:ln w="28575" cap="flat" cmpd="sng" algn="ctr">
            <a:solidFill>
              <a:srgbClr val="FF0000"/>
            </a:solidFill>
            <a:prstDash val="solid"/>
            <a:round/>
            <a:headEnd type="none" w="med" len="med"/>
            <a:tailEnd type="none"/>
          </a:ln>
          <a:effectLst/>
        </p:spPr>
      </p:cxnSp>
      <p:cxnSp>
        <p:nvCxnSpPr>
          <p:cNvPr id="17" name="Straight Connector 16"/>
          <p:cNvCxnSpPr/>
          <p:nvPr/>
        </p:nvCxnSpPr>
        <p:spPr bwMode="auto">
          <a:xfrm>
            <a:off x="7528142" y="4246323"/>
            <a:ext cx="638828" cy="989556"/>
          </a:xfrm>
          <a:prstGeom prst="line">
            <a:avLst/>
          </a:prstGeom>
          <a:solidFill>
            <a:srgbClr val="3374D4"/>
          </a:solidFill>
          <a:ln w="28575" cap="flat" cmpd="sng" algn="ctr">
            <a:solidFill>
              <a:srgbClr val="FF0000"/>
            </a:solidFill>
            <a:prstDash val="solid"/>
            <a:round/>
            <a:headEnd type="none" w="med" len="med"/>
            <a:tailEnd type="none"/>
          </a:ln>
          <a:effectLst/>
        </p:spPr>
      </p:cxnSp>
    </p:spTree>
  </p:cSld>
  <p:clrMapOvr>
    <a:masterClrMapping/>
  </p:clrMapOvr>
  <p:transition>
    <p:wipe dir="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Advanced Custom Fields Creation</a:t>
            </a:r>
          </a:p>
        </p:txBody>
      </p:sp>
    </p:spTree>
  </p:cSld>
  <p:clrMapOvr>
    <a:masterClrMapping/>
  </p:clrMapOvr>
  <p:transition>
    <p:wipe dir="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457200" y="3581400"/>
            <a:ext cx="8360228" cy="2957186"/>
          </a:xfrm>
        </p:spPr>
        <p:txBody>
          <a:bodyPr>
            <a:normAutofit lnSpcReduction="10000"/>
          </a:bodyPr>
          <a:lstStyle/>
          <a:p>
            <a:r>
              <a:rPr lang="en-US" dirty="0"/>
              <a:t>Syntax for referencing a specific peak: </a:t>
            </a:r>
            <a:r>
              <a:rPr lang="en-US" dirty="0">
                <a:solidFill>
                  <a:srgbClr val="C00000"/>
                </a:solidFill>
              </a:rPr>
              <a:t>Peak Name[Field]</a:t>
            </a:r>
          </a:p>
          <a:p>
            <a:endParaRPr lang="en-US" dirty="0"/>
          </a:p>
          <a:p>
            <a:r>
              <a:rPr lang="en-US" dirty="0"/>
              <a:t>Peak Custom Field to correct the area of the </a:t>
            </a:r>
            <a:r>
              <a:rPr lang="en-US" dirty="0" err="1"/>
              <a:t>preCalci</a:t>
            </a:r>
            <a:r>
              <a:rPr lang="en-US" dirty="0"/>
              <a:t> peak by a factor of 1.92 and add this to the area of the </a:t>
            </a:r>
            <a:r>
              <a:rPr lang="en-US" dirty="0" err="1"/>
              <a:t>Calci</a:t>
            </a:r>
            <a:r>
              <a:rPr lang="en-US" dirty="0"/>
              <a:t> peak:</a:t>
            </a:r>
          </a:p>
          <a:p>
            <a:pPr algn="ctr">
              <a:buNone/>
            </a:pPr>
            <a:r>
              <a:rPr lang="en-US" dirty="0"/>
              <a:t>(</a:t>
            </a:r>
            <a:r>
              <a:rPr lang="en-US" dirty="0" err="1"/>
              <a:t>preCalci</a:t>
            </a:r>
            <a:r>
              <a:rPr lang="en-US" dirty="0"/>
              <a:t>[Area]*1.92)+</a:t>
            </a:r>
            <a:r>
              <a:rPr lang="en-US" dirty="0" err="1"/>
              <a:t>Calci</a:t>
            </a:r>
            <a:r>
              <a:rPr lang="en-US" dirty="0"/>
              <a:t>[Area]</a:t>
            </a:r>
          </a:p>
          <a:p>
            <a:endParaRPr lang="en-US" dirty="0"/>
          </a:p>
          <a:p>
            <a:r>
              <a:rPr lang="en-US" sz="1800" i="1" dirty="0"/>
              <a:t>Note: Spelling of peak names has to match the spelling in the component table of the processing method. </a:t>
            </a:r>
          </a:p>
        </p:txBody>
      </p:sp>
      <p:sp>
        <p:nvSpPr>
          <p:cNvPr id="2" name="Title 1"/>
          <p:cNvSpPr>
            <a:spLocks noGrp="1"/>
          </p:cNvSpPr>
          <p:nvPr>
            <p:ph type="title"/>
          </p:nvPr>
        </p:nvSpPr>
        <p:spPr>
          <a:xfrm>
            <a:off x="457200" y="31468"/>
            <a:ext cx="6692900" cy="1005840"/>
          </a:xfrm>
        </p:spPr>
        <p:txBody>
          <a:bodyPr/>
          <a:lstStyle/>
          <a:p>
            <a:r>
              <a:rPr lang="da-DK" dirty="0">
                <a:solidFill>
                  <a:schemeClr val="accent2"/>
                </a:solidFill>
              </a:rPr>
              <a:t>Peak</a:t>
            </a:r>
            <a:r>
              <a:rPr lang="da-DK" dirty="0"/>
              <a:t> Type Field with </a:t>
            </a:r>
            <a:r>
              <a:rPr lang="da-DK" dirty="0">
                <a:solidFill>
                  <a:schemeClr val="accent2"/>
                </a:solidFill>
              </a:rPr>
              <a:t>Reference to Peak Name</a:t>
            </a:r>
            <a:endParaRPr lang="en-US" dirty="0">
              <a:solidFill>
                <a:schemeClr val="accent2"/>
              </a:solidFill>
            </a:endParaRPr>
          </a:p>
        </p:txBody>
      </p:sp>
      <p:grpSp>
        <p:nvGrpSpPr>
          <p:cNvPr id="9" name="Group 8"/>
          <p:cNvGrpSpPr/>
          <p:nvPr/>
        </p:nvGrpSpPr>
        <p:grpSpPr>
          <a:xfrm>
            <a:off x="503288" y="1285770"/>
            <a:ext cx="8105299" cy="2155984"/>
            <a:chOff x="503288" y="1411726"/>
            <a:chExt cx="8105299" cy="2155984"/>
          </a:xfrm>
        </p:grpSpPr>
        <p:pic>
          <p:nvPicPr>
            <p:cNvPr id="101379" name="Picture 3"/>
            <p:cNvPicPr>
              <a:picLocks noChangeAspect="1" noChangeArrowheads="1"/>
            </p:cNvPicPr>
            <p:nvPr/>
          </p:nvPicPr>
          <p:blipFill>
            <a:blip r:embed="rId3" cstate="print">
              <a:lum bright="-20000" contrast="40000"/>
            </a:blip>
            <a:srcRect/>
            <a:stretch>
              <a:fillRect/>
            </a:stretch>
          </p:blipFill>
          <p:spPr bwMode="auto">
            <a:xfrm>
              <a:off x="503288" y="1411726"/>
              <a:ext cx="8105299" cy="2155984"/>
            </a:xfrm>
            <a:prstGeom prst="rect">
              <a:avLst/>
            </a:prstGeom>
            <a:noFill/>
            <a:ln w="9525">
              <a:noFill/>
              <a:miter lim="800000"/>
              <a:headEnd/>
              <a:tailEnd/>
            </a:ln>
          </p:spPr>
        </p:pic>
        <p:sp>
          <p:nvSpPr>
            <p:cNvPr id="5" name="TextBox 4"/>
            <p:cNvSpPr txBox="1"/>
            <p:nvPr/>
          </p:nvSpPr>
          <p:spPr>
            <a:xfrm rot="16200000">
              <a:off x="3321570" y="2423159"/>
              <a:ext cx="934871" cy="338554"/>
            </a:xfrm>
            <a:prstGeom prst="rect">
              <a:avLst/>
            </a:prstGeom>
            <a:noFill/>
          </p:spPr>
          <p:txBody>
            <a:bodyPr wrap="none" rtlCol="0">
              <a:spAutoFit/>
            </a:bodyPr>
            <a:lstStyle/>
            <a:p>
              <a:r>
                <a:rPr lang="da-DK" dirty="0">
                  <a:latin typeface="Arial" pitchFamily="34" charset="0"/>
                  <a:cs typeface="Arial" pitchFamily="34" charset="0"/>
                </a:rPr>
                <a:t>preCalci</a:t>
              </a:r>
              <a:endParaRPr lang="en-US" dirty="0">
                <a:latin typeface="Arial" pitchFamily="34" charset="0"/>
                <a:cs typeface="Arial" pitchFamily="34" charset="0"/>
              </a:endParaRPr>
            </a:p>
          </p:txBody>
        </p:sp>
        <p:sp>
          <p:nvSpPr>
            <p:cNvPr id="6" name="TextBox 5"/>
            <p:cNvSpPr txBox="1"/>
            <p:nvPr/>
          </p:nvSpPr>
          <p:spPr>
            <a:xfrm rot="16200000">
              <a:off x="4838398" y="1844041"/>
              <a:ext cx="638316" cy="338554"/>
            </a:xfrm>
            <a:prstGeom prst="rect">
              <a:avLst/>
            </a:prstGeom>
            <a:noFill/>
          </p:spPr>
          <p:txBody>
            <a:bodyPr wrap="none" rtlCol="0">
              <a:spAutoFit/>
            </a:bodyPr>
            <a:lstStyle/>
            <a:p>
              <a:r>
                <a:rPr lang="da-DK" dirty="0">
                  <a:latin typeface="Arial" pitchFamily="34" charset="0"/>
                  <a:cs typeface="Arial" pitchFamily="34" charset="0"/>
                </a:rPr>
                <a:t>Calci</a:t>
              </a:r>
              <a:endParaRPr lang="en-US" dirty="0">
                <a:latin typeface="Arial" pitchFamily="34" charset="0"/>
                <a:cs typeface="Arial" pitchFamily="34" charset="0"/>
              </a:endParaRPr>
            </a:p>
          </p:txBody>
        </p:sp>
      </p:grpSp>
    </p:spTree>
  </p:cSld>
  <p:clrMapOvr>
    <a:masterClrMapping/>
  </p:clrMapOvr>
  <p:transition>
    <p:wipe dir="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5981700" y="1312000"/>
            <a:ext cx="2835728" cy="5029200"/>
          </a:xfrm>
        </p:spPr>
        <p:txBody>
          <a:bodyPr/>
          <a:lstStyle/>
          <a:p>
            <a:r>
              <a:rPr lang="en-US" dirty="0"/>
              <a:t>Custom Field: </a:t>
            </a:r>
            <a:r>
              <a:rPr lang="en-US" dirty="0" err="1">
                <a:solidFill>
                  <a:srgbClr val="C00000"/>
                </a:solidFill>
              </a:rPr>
              <a:t>Corrected_Area</a:t>
            </a:r>
            <a:r>
              <a:rPr lang="en-US" dirty="0">
                <a:solidFill>
                  <a:srgbClr val="C00000"/>
                </a:solidFill>
              </a:rPr>
              <a:t> = (</a:t>
            </a:r>
            <a:r>
              <a:rPr lang="en-US" dirty="0" err="1">
                <a:solidFill>
                  <a:srgbClr val="C00000"/>
                </a:solidFill>
              </a:rPr>
              <a:t>preCalci</a:t>
            </a:r>
            <a:r>
              <a:rPr lang="en-US" dirty="0">
                <a:solidFill>
                  <a:srgbClr val="C00000"/>
                </a:solidFill>
              </a:rPr>
              <a:t>[Area]*1.92)+</a:t>
            </a:r>
            <a:r>
              <a:rPr lang="en-US" dirty="0" err="1">
                <a:solidFill>
                  <a:srgbClr val="C00000"/>
                </a:solidFill>
              </a:rPr>
              <a:t>Calci</a:t>
            </a:r>
            <a:r>
              <a:rPr lang="en-US" dirty="0">
                <a:solidFill>
                  <a:srgbClr val="C00000"/>
                </a:solidFill>
              </a:rPr>
              <a:t>[Area]</a:t>
            </a:r>
          </a:p>
        </p:txBody>
      </p:sp>
      <p:sp>
        <p:nvSpPr>
          <p:cNvPr id="2" name="Title 1"/>
          <p:cNvSpPr>
            <a:spLocks noGrp="1"/>
          </p:cNvSpPr>
          <p:nvPr>
            <p:ph type="title"/>
          </p:nvPr>
        </p:nvSpPr>
        <p:spPr>
          <a:xfrm>
            <a:off x="457200" y="31468"/>
            <a:ext cx="6731000" cy="1005840"/>
          </a:xfrm>
        </p:spPr>
        <p:txBody>
          <a:bodyPr/>
          <a:lstStyle/>
          <a:p>
            <a:r>
              <a:rPr lang="da-DK" dirty="0">
                <a:solidFill>
                  <a:schemeClr val="accent2"/>
                </a:solidFill>
              </a:rPr>
              <a:t>Peak</a:t>
            </a:r>
            <a:r>
              <a:rPr lang="da-DK" dirty="0"/>
              <a:t> Type Field with </a:t>
            </a:r>
            <a:r>
              <a:rPr lang="da-DK" dirty="0">
                <a:solidFill>
                  <a:schemeClr val="accent2"/>
                </a:solidFill>
              </a:rPr>
              <a:t>Reference to Peak Name</a:t>
            </a:r>
            <a:endParaRPr lang="en-US" dirty="0"/>
          </a:p>
        </p:txBody>
      </p:sp>
      <p:pic>
        <p:nvPicPr>
          <p:cNvPr id="102402" name="Picture 2"/>
          <p:cNvPicPr>
            <a:picLocks noChangeAspect="1" noChangeArrowheads="1"/>
          </p:cNvPicPr>
          <p:nvPr/>
        </p:nvPicPr>
        <p:blipFill>
          <a:blip r:embed="rId3" cstate="print"/>
          <a:srcRect l="548" r="548"/>
          <a:stretch>
            <a:fillRect/>
          </a:stretch>
        </p:blipFill>
        <p:spPr bwMode="auto">
          <a:xfrm>
            <a:off x="555303" y="1333801"/>
            <a:ext cx="5312097" cy="4966170"/>
          </a:xfrm>
          <a:prstGeom prst="rect">
            <a:avLst/>
          </a:prstGeom>
          <a:noFill/>
          <a:ln w="9525">
            <a:noFill/>
            <a:miter lim="800000"/>
            <a:headEnd/>
            <a:tailEnd/>
          </a:ln>
        </p:spPr>
      </p:pic>
      <p:sp>
        <p:nvSpPr>
          <p:cNvPr id="4" name="Rectangle 3"/>
          <p:cNvSpPr/>
          <p:nvPr/>
        </p:nvSpPr>
        <p:spPr bwMode="auto">
          <a:xfrm>
            <a:off x="1894840" y="1700784"/>
            <a:ext cx="1686560" cy="32004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5" name="Rectangle 4"/>
          <p:cNvSpPr/>
          <p:nvPr/>
        </p:nvSpPr>
        <p:spPr bwMode="auto">
          <a:xfrm>
            <a:off x="1891284" y="4946904"/>
            <a:ext cx="1828800" cy="26517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6" name="Rectangle 5"/>
          <p:cNvSpPr/>
          <p:nvPr/>
        </p:nvSpPr>
        <p:spPr bwMode="auto">
          <a:xfrm>
            <a:off x="716280" y="2149348"/>
            <a:ext cx="640080" cy="24688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7" name="Rectangle 6"/>
          <p:cNvSpPr/>
          <p:nvPr/>
        </p:nvSpPr>
        <p:spPr bwMode="auto">
          <a:xfrm>
            <a:off x="712724" y="3572764"/>
            <a:ext cx="804672" cy="26517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dirty="0"/>
              <a:t>Viewing: Results of </a:t>
            </a:r>
            <a:r>
              <a:rPr lang="da-DK" dirty="0">
                <a:solidFill>
                  <a:schemeClr val="accent2"/>
                </a:solidFill>
              </a:rPr>
              <a:t>Peak</a:t>
            </a:r>
            <a:r>
              <a:rPr lang="da-DK" dirty="0"/>
              <a:t> Type CF</a:t>
            </a:r>
            <a:endParaRPr lang="en-US" dirty="0"/>
          </a:p>
        </p:txBody>
      </p:sp>
      <p:pic>
        <p:nvPicPr>
          <p:cNvPr id="103426" name="Picture 2"/>
          <p:cNvPicPr>
            <a:picLocks noChangeAspect="1" noChangeArrowheads="1"/>
          </p:cNvPicPr>
          <p:nvPr/>
        </p:nvPicPr>
        <p:blipFill>
          <a:blip r:embed="rId3" cstate="print"/>
          <a:srcRect/>
          <a:stretch>
            <a:fillRect/>
          </a:stretch>
        </p:blipFill>
        <p:spPr bwMode="auto">
          <a:xfrm>
            <a:off x="581693" y="3759200"/>
            <a:ext cx="5719963" cy="1841499"/>
          </a:xfrm>
          <a:prstGeom prst="rect">
            <a:avLst/>
          </a:prstGeom>
          <a:noFill/>
          <a:ln w="9525">
            <a:noFill/>
            <a:miter lim="800000"/>
            <a:headEnd/>
            <a:tailEnd/>
          </a:ln>
        </p:spPr>
      </p:pic>
      <p:sp>
        <p:nvSpPr>
          <p:cNvPr id="7" name="TextBox 6"/>
          <p:cNvSpPr txBox="1"/>
          <p:nvPr/>
        </p:nvSpPr>
        <p:spPr>
          <a:xfrm>
            <a:off x="6388100" y="3923792"/>
            <a:ext cx="2171700" cy="1477328"/>
          </a:xfrm>
          <a:prstGeom prst="rect">
            <a:avLst/>
          </a:prstGeom>
          <a:noFill/>
        </p:spPr>
        <p:txBody>
          <a:bodyPr wrap="square" rtlCol="0">
            <a:spAutoFit/>
          </a:bodyPr>
          <a:lstStyle/>
          <a:p>
            <a:r>
              <a:rPr lang="da-DK" sz="1800" dirty="0">
                <a:latin typeface="Arial" pitchFamily="34" charset="0"/>
                <a:cs typeface="Arial" pitchFamily="34" charset="0"/>
              </a:rPr>
              <a:t>CF result is shown for all peaks, but it is the same = </a:t>
            </a:r>
          </a:p>
          <a:p>
            <a:r>
              <a:rPr lang="da-DK" sz="1800" dirty="0">
                <a:solidFill>
                  <a:srgbClr val="C00000"/>
                </a:solidFill>
                <a:latin typeface="Arial" pitchFamily="34" charset="0"/>
                <a:cs typeface="Arial" pitchFamily="34" charset="0"/>
              </a:rPr>
              <a:t>1.92 x 8466 + 1516466</a:t>
            </a:r>
            <a:endParaRPr lang="en-US" sz="1800" dirty="0">
              <a:solidFill>
                <a:srgbClr val="C00000"/>
              </a:solidFill>
              <a:latin typeface="Arial" pitchFamily="34" charset="0"/>
              <a:cs typeface="Arial" pitchFamily="34" charset="0"/>
            </a:endParaRPr>
          </a:p>
        </p:txBody>
      </p:sp>
      <p:sp>
        <p:nvSpPr>
          <p:cNvPr id="8" name="Rectangle 7"/>
          <p:cNvSpPr/>
          <p:nvPr/>
        </p:nvSpPr>
        <p:spPr bwMode="auto">
          <a:xfrm>
            <a:off x="5343144" y="3754120"/>
            <a:ext cx="968756" cy="182118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9" name="Rectangle 8"/>
          <p:cNvSpPr/>
          <p:nvPr/>
        </p:nvSpPr>
        <p:spPr bwMode="auto">
          <a:xfrm>
            <a:off x="1824736" y="4280408"/>
            <a:ext cx="557784" cy="23774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10" name="Rectangle 9"/>
          <p:cNvSpPr/>
          <p:nvPr/>
        </p:nvSpPr>
        <p:spPr bwMode="auto">
          <a:xfrm>
            <a:off x="1830324" y="4900168"/>
            <a:ext cx="539496" cy="21945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grpSp>
        <p:nvGrpSpPr>
          <p:cNvPr id="12" name="Group 11"/>
          <p:cNvGrpSpPr/>
          <p:nvPr/>
        </p:nvGrpSpPr>
        <p:grpSpPr>
          <a:xfrm>
            <a:off x="503288" y="1285770"/>
            <a:ext cx="8105299" cy="2155984"/>
            <a:chOff x="503288" y="1411726"/>
            <a:chExt cx="8105299" cy="2155984"/>
          </a:xfrm>
        </p:grpSpPr>
        <p:pic>
          <p:nvPicPr>
            <p:cNvPr id="13" name="Picture 3"/>
            <p:cNvPicPr>
              <a:picLocks noChangeAspect="1" noChangeArrowheads="1"/>
            </p:cNvPicPr>
            <p:nvPr/>
          </p:nvPicPr>
          <p:blipFill>
            <a:blip r:embed="rId4" cstate="print">
              <a:lum bright="-20000" contrast="40000"/>
            </a:blip>
            <a:srcRect/>
            <a:stretch>
              <a:fillRect/>
            </a:stretch>
          </p:blipFill>
          <p:spPr bwMode="auto">
            <a:xfrm>
              <a:off x="503288" y="1411726"/>
              <a:ext cx="8105299" cy="2155984"/>
            </a:xfrm>
            <a:prstGeom prst="rect">
              <a:avLst/>
            </a:prstGeom>
            <a:noFill/>
            <a:ln w="9525">
              <a:noFill/>
              <a:miter lim="800000"/>
              <a:headEnd/>
              <a:tailEnd/>
            </a:ln>
          </p:spPr>
        </p:pic>
        <p:sp>
          <p:nvSpPr>
            <p:cNvPr id="14" name="TextBox 13"/>
            <p:cNvSpPr txBox="1"/>
            <p:nvPr/>
          </p:nvSpPr>
          <p:spPr>
            <a:xfrm rot="16200000">
              <a:off x="3321570" y="2423159"/>
              <a:ext cx="934871" cy="338554"/>
            </a:xfrm>
            <a:prstGeom prst="rect">
              <a:avLst/>
            </a:prstGeom>
            <a:noFill/>
          </p:spPr>
          <p:txBody>
            <a:bodyPr wrap="none" rtlCol="0">
              <a:spAutoFit/>
            </a:bodyPr>
            <a:lstStyle/>
            <a:p>
              <a:r>
                <a:rPr lang="da-DK" dirty="0">
                  <a:latin typeface="Arial" pitchFamily="34" charset="0"/>
                  <a:cs typeface="Arial" pitchFamily="34" charset="0"/>
                </a:rPr>
                <a:t>preCalci</a:t>
              </a:r>
              <a:endParaRPr lang="en-US" dirty="0">
                <a:latin typeface="Arial" pitchFamily="34" charset="0"/>
                <a:cs typeface="Arial" pitchFamily="34" charset="0"/>
              </a:endParaRPr>
            </a:p>
          </p:txBody>
        </p:sp>
        <p:sp>
          <p:nvSpPr>
            <p:cNvPr id="15" name="TextBox 14"/>
            <p:cNvSpPr txBox="1"/>
            <p:nvPr/>
          </p:nvSpPr>
          <p:spPr>
            <a:xfrm rot="16200000">
              <a:off x="4838398" y="1844041"/>
              <a:ext cx="638316" cy="338554"/>
            </a:xfrm>
            <a:prstGeom prst="rect">
              <a:avLst/>
            </a:prstGeom>
            <a:noFill/>
          </p:spPr>
          <p:txBody>
            <a:bodyPr wrap="none" rtlCol="0">
              <a:spAutoFit/>
            </a:bodyPr>
            <a:lstStyle/>
            <a:p>
              <a:r>
                <a:rPr lang="da-DK" dirty="0">
                  <a:latin typeface="Arial" pitchFamily="34" charset="0"/>
                  <a:cs typeface="Arial" pitchFamily="34" charset="0"/>
                </a:rPr>
                <a:t>Calci</a:t>
              </a:r>
              <a:endParaRPr lang="en-US" dirty="0">
                <a:latin typeface="Arial" pitchFamily="34" charset="0"/>
                <a:cs typeface="Arial" pitchFamily="34" charset="0"/>
              </a:endParaRPr>
            </a:p>
          </p:txBody>
        </p:sp>
      </p:grpSp>
      <p:sp>
        <p:nvSpPr>
          <p:cNvPr id="16" name="TextBox 15"/>
          <p:cNvSpPr txBox="1"/>
          <p:nvPr/>
        </p:nvSpPr>
        <p:spPr>
          <a:xfrm>
            <a:off x="4826000" y="5854700"/>
            <a:ext cx="3683000" cy="338554"/>
          </a:xfrm>
          <a:prstGeom prst="rect">
            <a:avLst/>
          </a:prstGeom>
          <a:noFill/>
        </p:spPr>
        <p:txBody>
          <a:bodyPr wrap="square" rtlCol="0">
            <a:spAutoFit/>
          </a:bodyPr>
          <a:lstStyle/>
          <a:p>
            <a:pPr algn="r"/>
            <a:r>
              <a:rPr lang="en-US" b="1" dirty="0">
                <a:solidFill>
                  <a:schemeClr val="accent4"/>
                </a:solidFill>
                <a:latin typeface="Arial"/>
                <a:cs typeface="Arial"/>
              </a:rPr>
              <a:t>Why</a:t>
            </a:r>
            <a:r>
              <a:rPr lang="en-US" dirty="0">
                <a:solidFill>
                  <a:schemeClr val="accent4"/>
                </a:solidFill>
                <a:latin typeface="Arial"/>
                <a:cs typeface="Arial"/>
              </a:rPr>
              <a:t> is CF result shown for all peaks?</a:t>
            </a:r>
          </a:p>
        </p:txBody>
      </p:sp>
    </p:spTree>
  </p:cSld>
  <p:clrMapOvr>
    <a:masterClrMapping/>
  </p:clrMapOvr>
  <p:transition>
    <p:wipe dir="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3" name="Picture 5"/>
          <p:cNvPicPr>
            <a:picLocks noChangeAspect="1" noChangeArrowheads="1"/>
          </p:cNvPicPr>
          <p:nvPr/>
        </p:nvPicPr>
        <p:blipFill>
          <a:blip r:embed="rId3" cstate="print">
            <a:lum bright="-10000" contrast="30000"/>
          </a:blip>
          <a:srcRect r="580"/>
          <a:stretch>
            <a:fillRect/>
          </a:stretch>
        </p:blipFill>
        <p:spPr bwMode="auto">
          <a:xfrm>
            <a:off x="639445" y="2123256"/>
            <a:ext cx="6536055" cy="4138605"/>
          </a:xfrm>
          <a:prstGeom prst="rect">
            <a:avLst/>
          </a:prstGeom>
          <a:noFill/>
          <a:ln w="9525">
            <a:noFill/>
            <a:miter lim="800000"/>
            <a:headEnd/>
            <a:tailEnd/>
          </a:ln>
        </p:spPr>
      </p:pic>
      <p:sp>
        <p:nvSpPr>
          <p:cNvPr id="2" name="Title 1"/>
          <p:cNvSpPr>
            <a:spLocks noGrp="1"/>
          </p:cNvSpPr>
          <p:nvPr>
            <p:ph type="title"/>
          </p:nvPr>
        </p:nvSpPr>
        <p:spPr>
          <a:xfrm>
            <a:off x="457200" y="31468"/>
            <a:ext cx="7708900" cy="1005840"/>
          </a:xfrm>
        </p:spPr>
        <p:txBody>
          <a:bodyPr/>
          <a:lstStyle/>
          <a:p>
            <a:r>
              <a:rPr lang="da-DK" dirty="0"/>
              <a:t>Using </a:t>
            </a:r>
            <a:r>
              <a:rPr lang="da-DK" dirty="0">
                <a:solidFill>
                  <a:schemeClr val="accent2"/>
                </a:solidFill>
              </a:rPr>
              <a:t>Corrected Area </a:t>
            </a:r>
            <a:r>
              <a:rPr lang="da-DK" dirty="0"/>
              <a:t>as Y-Value in Calibration</a:t>
            </a:r>
            <a:endParaRPr lang="en-US" dirty="0"/>
          </a:p>
        </p:txBody>
      </p:sp>
      <p:pic>
        <p:nvPicPr>
          <p:cNvPr id="104450" name="Picture 2"/>
          <p:cNvPicPr>
            <a:picLocks noChangeAspect="1" noChangeArrowheads="1"/>
          </p:cNvPicPr>
          <p:nvPr/>
        </p:nvPicPr>
        <p:blipFill>
          <a:blip r:embed="rId4" cstate="print">
            <a:lum bright="-10000" contrast="30000"/>
          </a:blip>
          <a:srcRect/>
          <a:stretch>
            <a:fillRect/>
          </a:stretch>
        </p:blipFill>
        <p:spPr bwMode="auto">
          <a:xfrm>
            <a:off x="3268378" y="1300417"/>
            <a:ext cx="5280747" cy="1163383"/>
          </a:xfrm>
          <a:prstGeom prst="rect">
            <a:avLst/>
          </a:prstGeom>
          <a:noFill/>
          <a:ln w="9525">
            <a:noFill/>
            <a:miter lim="800000"/>
            <a:headEnd/>
            <a:tailEnd/>
          </a:ln>
        </p:spPr>
      </p:pic>
      <p:sp>
        <p:nvSpPr>
          <p:cNvPr id="4" name="Rectangle 3"/>
          <p:cNvSpPr/>
          <p:nvPr/>
        </p:nvSpPr>
        <p:spPr bwMode="auto">
          <a:xfrm>
            <a:off x="6483096" y="1974088"/>
            <a:ext cx="886968" cy="25603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7" name="Rectangle 6"/>
          <p:cNvSpPr/>
          <p:nvPr/>
        </p:nvSpPr>
        <p:spPr bwMode="auto">
          <a:xfrm>
            <a:off x="796544" y="3145028"/>
            <a:ext cx="256032" cy="101498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9" name="Rectangle 8"/>
          <p:cNvSpPr/>
          <p:nvPr/>
        </p:nvSpPr>
        <p:spPr bwMode="auto">
          <a:xfrm>
            <a:off x="2089912" y="5816600"/>
            <a:ext cx="1042416" cy="41402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pic>
        <p:nvPicPr>
          <p:cNvPr id="11" name="Picture 10" descr="revie icons 5.png"/>
          <p:cNvPicPr>
            <a:picLocks noChangeAspect="1"/>
          </p:cNvPicPr>
          <p:nvPr/>
        </p:nvPicPr>
        <p:blipFill>
          <a:blip r:embed="rId5" cstate="print"/>
          <a:srcRect r="85126" b="96014"/>
          <a:stretch>
            <a:fillRect/>
          </a:stretch>
        </p:blipFill>
        <p:spPr>
          <a:xfrm>
            <a:off x="1045958" y="1316841"/>
            <a:ext cx="2024080" cy="433655"/>
          </a:xfrm>
          <a:prstGeom prst="rect">
            <a:avLst/>
          </a:prstGeom>
        </p:spPr>
      </p:pic>
      <p:sp>
        <p:nvSpPr>
          <p:cNvPr id="12" name="Rectangle 11"/>
          <p:cNvSpPr/>
          <p:nvPr/>
        </p:nvSpPr>
        <p:spPr bwMode="auto">
          <a:xfrm>
            <a:off x="1441196" y="1326388"/>
            <a:ext cx="438404" cy="40081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468"/>
            <a:ext cx="7048500" cy="1005840"/>
          </a:xfrm>
        </p:spPr>
        <p:txBody>
          <a:bodyPr/>
          <a:lstStyle/>
          <a:p>
            <a:r>
              <a:rPr lang="da-DK" dirty="0"/>
              <a:t>Using </a:t>
            </a:r>
            <a:r>
              <a:rPr lang="da-DK" dirty="0">
                <a:solidFill>
                  <a:schemeClr val="accent2"/>
                </a:solidFill>
              </a:rPr>
              <a:t>Corrected Area </a:t>
            </a:r>
            <a:r>
              <a:rPr lang="da-DK" dirty="0"/>
              <a:t>as Y-Value in Calibration</a:t>
            </a:r>
            <a:endParaRPr lang="en-US" dirty="0"/>
          </a:p>
        </p:txBody>
      </p:sp>
      <p:pic>
        <p:nvPicPr>
          <p:cNvPr id="105476" name="Picture 4"/>
          <p:cNvPicPr>
            <a:picLocks noChangeAspect="1" noChangeArrowheads="1"/>
          </p:cNvPicPr>
          <p:nvPr/>
        </p:nvPicPr>
        <p:blipFill>
          <a:blip r:embed="rId3" cstate="print"/>
          <a:srcRect/>
          <a:stretch>
            <a:fillRect/>
          </a:stretch>
        </p:blipFill>
        <p:spPr bwMode="auto">
          <a:xfrm>
            <a:off x="875347" y="3797300"/>
            <a:ext cx="7359451" cy="1625157"/>
          </a:xfrm>
          <a:prstGeom prst="rect">
            <a:avLst/>
          </a:prstGeom>
          <a:noFill/>
          <a:ln w="9525">
            <a:noFill/>
            <a:miter lim="800000"/>
            <a:headEnd/>
            <a:tailEnd/>
          </a:ln>
        </p:spPr>
      </p:pic>
      <p:sp>
        <p:nvSpPr>
          <p:cNvPr id="8" name="Rectangle 7"/>
          <p:cNvSpPr/>
          <p:nvPr/>
        </p:nvSpPr>
        <p:spPr bwMode="auto">
          <a:xfrm>
            <a:off x="4949952" y="4775708"/>
            <a:ext cx="650748" cy="22809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9" name="TextBox 8"/>
          <p:cNvSpPr txBox="1"/>
          <p:nvPr/>
        </p:nvSpPr>
        <p:spPr>
          <a:xfrm>
            <a:off x="2487168" y="5769864"/>
            <a:ext cx="4378250" cy="369332"/>
          </a:xfrm>
          <a:prstGeom prst="rect">
            <a:avLst/>
          </a:prstGeom>
          <a:noFill/>
        </p:spPr>
        <p:txBody>
          <a:bodyPr wrap="none" rtlCol="0">
            <a:spAutoFit/>
          </a:bodyPr>
          <a:lstStyle/>
          <a:p>
            <a:r>
              <a:rPr lang="da-DK" sz="1800" dirty="0">
                <a:solidFill>
                  <a:srgbClr val="C00000"/>
                </a:solidFill>
                <a:latin typeface="Arial" pitchFamily="34" charset="0"/>
                <a:cs typeface="Arial" pitchFamily="34" charset="0"/>
              </a:rPr>
              <a:t>Corrected Area </a:t>
            </a:r>
            <a:r>
              <a:rPr lang="da-DK" sz="1800" dirty="0">
                <a:latin typeface="Arial" pitchFamily="34" charset="0"/>
                <a:cs typeface="Arial" pitchFamily="34" charset="0"/>
              </a:rPr>
              <a:t>used to calculate Amount</a:t>
            </a:r>
            <a:endParaRPr lang="en-US" sz="1800" dirty="0">
              <a:latin typeface="Arial" pitchFamily="34" charset="0"/>
              <a:cs typeface="Arial" pitchFamily="34" charset="0"/>
            </a:endParaRPr>
          </a:p>
        </p:txBody>
      </p:sp>
      <p:cxnSp>
        <p:nvCxnSpPr>
          <p:cNvPr id="11" name="Straight Arrow Connector 10"/>
          <p:cNvCxnSpPr/>
          <p:nvPr/>
        </p:nvCxnSpPr>
        <p:spPr bwMode="auto">
          <a:xfrm flipV="1">
            <a:off x="4292600" y="5054600"/>
            <a:ext cx="711200" cy="749300"/>
          </a:xfrm>
          <a:prstGeom prst="straightConnector1">
            <a:avLst/>
          </a:prstGeom>
          <a:solidFill>
            <a:srgbClr val="3374D4"/>
          </a:solidFill>
          <a:ln w="28575" cap="flat" cmpd="sng" algn="ctr">
            <a:solidFill>
              <a:srgbClr val="FF0000"/>
            </a:solidFill>
            <a:prstDash val="solid"/>
            <a:round/>
            <a:headEnd type="none" w="med" len="med"/>
            <a:tailEnd type="arrow"/>
          </a:ln>
          <a:effectLst/>
        </p:spPr>
      </p:cxnSp>
      <p:grpSp>
        <p:nvGrpSpPr>
          <p:cNvPr id="14" name="Group 13"/>
          <p:cNvGrpSpPr/>
          <p:nvPr/>
        </p:nvGrpSpPr>
        <p:grpSpPr>
          <a:xfrm>
            <a:off x="503288" y="1285770"/>
            <a:ext cx="8105299" cy="2155984"/>
            <a:chOff x="503288" y="1411726"/>
            <a:chExt cx="8105299" cy="2155984"/>
          </a:xfrm>
        </p:grpSpPr>
        <p:pic>
          <p:nvPicPr>
            <p:cNvPr id="15" name="Picture 3"/>
            <p:cNvPicPr>
              <a:picLocks noChangeAspect="1" noChangeArrowheads="1"/>
            </p:cNvPicPr>
            <p:nvPr/>
          </p:nvPicPr>
          <p:blipFill>
            <a:blip r:embed="rId4" cstate="print">
              <a:lum bright="-20000" contrast="40000"/>
            </a:blip>
            <a:srcRect/>
            <a:stretch>
              <a:fillRect/>
            </a:stretch>
          </p:blipFill>
          <p:spPr bwMode="auto">
            <a:xfrm>
              <a:off x="503288" y="1411726"/>
              <a:ext cx="8105299" cy="2155984"/>
            </a:xfrm>
            <a:prstGeom prst="rect">
              <a:avLst/>
            </a:prstGeom>
            <a:noFill/>
            <a:ln w="9525">
              <a:noFill/>
              <a:miter lim="800000"/>
              <a:headEnd/>
              <a:tailEnd/>
            </a:ln>
          </p:spPr>
        </p:pic>
        <p:sp>
          <p:nvSpPr>
            <p:cNvPr id="16" name="TextBox 15"/>
            <p:cNvSpPr txBox="1"/>
            <p:nvPr/>
          </p:nvSpPr>
          <p:spPr>
            <a:xfrm rot="16200000">
              <a:off x="3321570" y="2423159"/>
              <a:ext cx="934871" cy="338554"/>
            </a:xfrm>
            <a:prstGeom prst="rect">
              <a:avLst/>
            </a:prstGeom>
            <a:noFill/>
          </p:spPr>
          <p:txBody>
            <a:bodyPr wrap="none" rtlCol="0">
              <a:spAutoFit/>
            </a:bodyPr>
            <a:lstStyle/>
            <a:p>
              <a:r>
                <a:rPr lang="da-DK" dirty="0">
                  <a:latin typeface="Arial" pitchFamily="34" charset="0"/>
                  <a:cs typeface="Arial" pitchFamily="34" charset="0"/>
                </a:rPr>
                <a:t>preCalci</a:t>
              </a:r>
              <a:endParaRPr lang="en-US" dirty="0">
                <a:latin typeface="Arial" pitchFamily="34" charset="0"/>
                <a:cs typeface="Arial" pitchFamily="34" charset="0"/>
              </a:endParaRPr>
            </a:p>
          </p:txBody>
        </p:sp>
        <p:sp>
          <p:nvSpPr>
            <p:cNvPr id="17" name="TextBox 16"/>
            <p:cNvSpPr txBox="1"/>
            <p:nvPr/>
          </p:nvSpPr>
          <p:spPr>
            <a:xfrm rot="16200000">
              <a:off x="4838398" y="1844041"/>
              <a:ext cx="638316" cy="338554"/>
            </a:xfrm>
            <a:prstGeom prst="rect">
              <a:avLst/>
            </a:prstGeom>
            <a:noFill/>
          </p:spPr>
          <p:txBody>
            <a:bodyPr wrap="none" rtlCol="0">
              <a:spAutoFit/>
            </a:bodyPr>
            <a:lstStyle/>
            <a:p>
              <a:r>
                <a:rPr lang="da-DK" dirty="0">
                  <a:latin typeface="Arial" pitchFamily="34" charset="0"/>
                  <a:cs typeface="Arial" pitchFamily="34" charset="0"/>
                </a:rPr>
                <a:t>Calci</a:t>
              </a:r>
              <a:endParaRPr lang="en-US" dirty="0">
                <a:latin typeface="Arial" pitchFamily="34" charset="0"/>
                <a:cs typeface="Arial" pitchFamily="34" charset="0"/>
              </a:endParaRPr>
            </a:p>
          </p:txBody>
        </p:sp>
      </p:grpSp>
    </p:spTree>
  </p:cSld>
  <p:clrMapOvr>
    <a:masterClrMapping/>
  </p:clrMapOvr>
  <p:transition>
    <p:wipe dir="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457200" y="4724400"/>
            <a:ext cx="8360228" cy="1866900"/>
          </a:xfrm>
        </p:spPr>
        <p:txBody>
          <a:bodyPr>
            <a:normAutofit/>
          </a:bodyPr>
          <a:lstStyle/>
          <a:p>
            <a:r>
              <a:rPr lang="da-DK" dirty="0"/>
              <a:t>In the Formula Entry window of the CF wizard we can choose the </a:t>
            </a:r>
            <a:r>
              <a:rPr lang="da-DK" dirty="0">
                <a:solidFill>
                  <a:srgbClr val="C00000"/>
                </a:solidFill>
              </a:rPr>
              <a:t>CCompRef1</a:t>
            </a:r>
            <a:r>
              <a:rPr lang="da-DK" dirty="0"/>
              <a:t> and </a:t>
            </a:r>
            <a:r>
              <a:rPr lang="da-DK" dirty="0">
                <a:solidFill>
                  <a:srgbClr val="C00000"/>
                </a:solidFill>
              </a:rPr>
              <a:t>CCompRef2</a:t>
            </a:r>
            <a:r>
              <a:rPr lang="da-DK" dirty="0"/>
              <a:t> as the ”peak names” and use the CConst1 as the multiplier.</a:t>
            </a:r>
          </a:p>
          <a:p>
            <a:r>
              <a:rPr lang="da-DK" dirty="0"/>
              <a:t>Formula is now: </a:t>
            </a:r>
            <a:r>
              <a:rPr lang="da-DK" dirty="0">
                <a:solidFill>
                  <a:srgbClr val="C00000"/>
                </a:solidFill>
              </a:rPr>
              <a:t>(CCompRef1[Area]*CConst1)+CCompRef2[Area]</a:t>
            </a:r>
            <a:endParaRPr lang="en-US" dirty="0">
              <a:solidFill>
                <a:srgbClr val="C00000"/>
              </a:solidFill>
            </a:endParaRPr>
          </a:p>
        </p:txBody>
      </p:sp>
      <p:sp>
        <p:nvSpPr>
          <p:cNvPr id="2" name="Title 1"/>
          <p:cNvSpPr>
            <a:spLocks noGrp="1"/>
          </p:cNvSpPr>
          <p:nvPr>
            <p:ph type="title"/>
          </p:nvPr>
        </p:nvSpPr>
        <p:spPr>
          <a:xfrm>
            <a:off x="457200" y="31468"/>
            <a:ext cx="7404100" cy="1005840"/>
          </a:xfrm>
        </p:spPr>
        <p:txBody>
          <a:bodyPr/>
          <a:lstStyle/>
          <a:p>
            <a:r>
              <a:rPr lang="da-DK" dirty="0"/>
              <a:t>Creating </a:t>
            </a:r>
            <a:r>
              <a:rPr lang="da-DK" dirty="0">
                <a:solidFill>
                  <a:schemeClr val="accent2"/>
                </a:solidFill>
              </a:rPr>
              <a:t>Generic CF </a:t>
            </a:r>
            <a:r>
              <a:rPr lang="da-DK" dirty="0"/>
              <a:t>referring to </a:t>
            </a:r>
            <a:r>
              <a:rPr lang="da-DK" dirty="0">
                <a:solidFill>
                  <a:schemeClr val="accent2"/>
                </a:solidFill>
              </a:rPr>
              <a:t>Specific Peaks</a:t>
            </a:r>
            <a:endParaRPr lang="en-US" dirty="0">
              <a:solidFill>
                <a:schemeClr val="accent2"/>
              </a:solidFill>
            </a:endParaRPr>
          </a:p>
        </p:txBody>
      </p:sp>
      <p:pic>
        <p:nvPicPr>
          <p:cNvPr id="106498" name="Picture 2"/>
          <p:cNvPicPr>
            <a:picLocks noChangeAspect="1" noChangeArrowheads="1"/>
          </p:cNvPicPr>
          <p:nvPr/>
        </p:nvPicPr>
        <p:blipFill>
          <a:blip r:embed="rId3" cstate="print"/>
          <a:srcRect t="940" r="730" b="13701"/>
          <a:stretch>
            <a:fillRect/>
          </a:stretch>
        </p:blipFill>
        <p:spPr bwMode="auto">
          <a:xfrm>
            <a:off x="2119249" y="1290887"/>
            <a:ext cx="4897950" cy="3268413"/>
          </a:xfrm>
          <a:prstGeom prst="rect">
            <a:avLst/>
          </a:prstGeom>
          <a:noFill/>
          <a:ln w="9525">
            <a:noFill/>
            <a:miter lim="800000"/>
            <a:headEnd/>
            <a:tailEnd/>
          </a:ln>
        </p:spPr>
      </p:pic>
      <p:sp>
        <p:nvSpPr>
          <p:cNvPr id="8" name="Rectangle 7"/>
          <p:cNvSpPr/>
          <p:nvPr/>
        </p:nvSpPr>
        <p:spPr bwMode="auto">
          <a:xfrm>
            <a:off x="3396996" y="1645920"/>
            <a:ext cx="3219704" cy="57658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9" name="Rectangle 8"/>
          <p:cNvSpPr/>
          <p:nvPr/>
        </p:nvSpPr>
        <p:spPr bwMode="auto">
          <a:xfrm>
            <a:off x="3409696" y="2306320"/>
            <a:ext cx="1162304" cy="150368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3"/>
          <p:cNvPicPr>
            <a:picLocks noChangeAspect="1" noChangeArrowheads="1"/>
          </p:cNvPicPr>
          <p:nvPr/>
        </p:nvPicPr>
        <p:blipFill>
          <a:blip r:embed="rId3" cstate="print">
            <a:lum bright="-10000" contrast="30000"/>
          </a:blip>
          <a:srcRect r="87633"/>
          <a:stretch>
            <a:fillRect/>
          </a:stretch>
        </p:blipFill>
        <p:spPr bwMode="auto">
          <a:xfrm>
            <a:off x="649769" y="1916929"/>
            <a:ext cx="1331432" cy="991371"/>
          </a:xfrm>
          <a:prstGeom prst="rect">
            <a:avLst/>
          </a:prstGeom>
          <a:noFill/>
          <a:ln w="9525">
            <a:noFill/>
            <a:miter lim="800000"/>
            <a:headEnd/>
            <a:tailEnd/>
          </a:ln>
        </p:spPr>
      </p:pic>
      <p:pic>
        <p:nvPicPr>
          <p:cNvPr id="15" name="Picture 3"/>
          <p:cNvPicPr>
            <a:picLocks noChangeAspect="1" noChangeArrowheads="1"/>
          </p:cNvPicPr>
          <p:nvPr/>
        </p:nvPicPr>
        <p:blipFill>
          <a:blip r:embed="rId3" cstate="print">
            <a:lum bright="-10000" contrast="30000"/>
          </a:blip>
          <a:srcRect l="25403" r="49671"/>
          <a:stretch>
            <a:fillRect/>
          </a:stretch>
        </p:blipFill>
        <p:spPr bwMode="auto">
          <a:xfrm>
            <a:off x="1812198" y="1916929"/>
            <a:ext cx="2683602" cy="991371"/>
          </a:xfrm>
          <a:prstGeom prst="rect">
            <a:avLst/>
          </a:prstGeom>
          <a:noFill/>
          <a:ln w="9525">
            <a:noFill/>
            <a:miter lim="800000"/>
            <a:headEnd/>
            <a:tailEnd/>
          </a:ln>
        </p:spPr>
      </p:pic>
      <p:sp>
        <p:nvSpPr>
          <p:cNvPr id="2" name="Title 1"/>
          <p:cNvSpPr>
            <a:spLocks noGrp="1"/>
          </p:cNvSpPr>
          <p:nvPr>
            <p:ph type="title"/>
          </p:nvPr>
        </p:nvSpPr>
        <p:spPr>
          <a:xfrm>
            <a:off x="457200" y="31468"/>
            <a:ext cx="6832600" cy="1005840"/>
          </a:xfrm>
        </p:spPr>
        <p:txBody>
          <a:bodyPr/>
          <a:lstStyle/>
          <a:p>
            <a:r>
              <a:rPr lang="da-DK" dirty="0"/>
              <a:t>Creating </a:t>
            </a:r>
            <a:r>
              <a:rPr lang="da-DK" dirty="0">
                <a:solidFill>
                  <a:schemeClr val="accent2"/>
                </a:solidFill>
              </a:rPr>
              <a:t>Generic CF </a:t>
            </a:r>
            <a:r>
              <a:rPr lang="da-DK" dirty="0"/>
              <a:t>referring to </a:t>
            </a:r>
            <a:r>
              <a:rPr lang="da-DK" dirty="0">
                <a:solidFill>
                  <a:schemeClr val="accent2"/>
                </a:solidFill>
              </a:rPr>
              <a:t>Specific Peaks</a:t>
            </a:r>
            <a:endParaRPr lang="en-US" dirty="0"/>
          </a:p>
        </p:txBody>
      </p:sp>
      <p:pic>
        <p:nvPicPr>
          <p:cNvPr id="107523" name="Picture 3"/>
          <p:cNvPicPr>
            <a:picLocks noChangeAspect="1" noChangeArrowheads="1"/>
          </p:cNvPicPr>
          <p:nvPr/>
        </p:nvPicPr>
        <p:blipFill>
          <a:blip r:embed="rId3" cstate="print">
            <a:lum bright="-10000" contrast="30000"/>
          </a:blip>
          <a:srcRect l="61831"/>
          <a:stretch>
            <a:fillRect/>
          </a:stretch>
        </p:blipFill>
        <p:spPr bwMode="auto">
          <a:xfrm>
            <a:off x="4403212" y="1916929"/>
            <a:ext cx="4109343" cy="991371"/>
          </a:xfrm>
          <a:prstGeom prst="rect">
            <a:avLst/>
          </a:prstGeom>
          <a:noFill/>
          <a:ln w="9525">
            <a:noFill/>
            <a:miter lim="800000"/>
            <a:headEnd/>
            <a:tailEnd/>
          </a:ln>
        </p:spPr>
      </p:pic>
      <p:sp>
        <p:nvSpPr>
          <p:cNvPr id="5" name="Rectangle 4"/>
          <p:cNvSpPr/>
          <p:nvPr/>
        </p:nvSpPr>
        <p:spPr bwMode="auto">
          <a:xfrm>
            <a:off x="4343399" y="2395219"/>
            <a:ext cx="4165601" cy="24638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pic>
        <p:nvPicPr>
          <p:cNvPr id="107524" name="Picture 4"/>
          <p:cNvPicPr>
            <a:picLocks noChangeAspect="1" noChangeArrowheads="1"/>
          </p:cNvPicPr>
          <p:nvPr/>
        </p:nvPicPr>
        <p:blipFill>
          <a:blip r:embed="rId4" cstate="print"/>
          <a:srcRect/>
          <a:stretch>
            <a:fillRect/>
          </a:stretch>
        </p:blipFill>
        <p:spPr bwMode="auto">
          <a:xfrm>
            <a:off x="880415" y="3069181"/>
            <a:ext cx="7370499" cy="2390789"/>
          </a:xfrm>
          <a:prstGeom prst="rect">
            <a:avLst/>
          </a:prstGeom>
          <a:noFill/>
          <a:ln w="9525">
            <a:noFill/>
            <a:miter lim="800000"/>
            <a:headEnd/>
            <a:tailEnd/>
          </a:ln>
        </p:spPr>
      </p:pic>
      <p:sp>
        <p:nvSpPr>
          <p:cNvPr id="7" name="Rectangle 6"/>
          <p:cNvSpPr/>
          <p:nvPr/>
        </p:nvSpPr>
        <p:spPr bwMode="auto">
          <a:xfrm>
            <a:off x="1066250" y="4585661"/>
            <a:ext cx="7112549" cy="26574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8" name="TextBox 7"/>
          <p:cNvSpPr txBox="1"/>
          <p:nvPr/>
        </p:nvSpPr>
        <p:spPr>
          <a:xfrm>
            <a:off x="3172968" y="5755640"/>
            <a:ext cx="4814203" cy="369332"/>
          </a:xfrm>
          <a:prstGeom prst="rect">
            <a:avLst/>
          </a:prstGeom>
          <a:noFill/>
        </p:spPr>
        <p:txBody>
          <a:bodyPr wrap="none" rtlCol="0">
            <a:spAutoFit/>
          </a:bodyPr>
          <a:lstStyle/>
          <a:p>
            <a:r>
              <a:rPr lang="da-DK" sz="1800" dirty="0">
                <a:latin typeface="Arial" pitchFamily="34" charset="0"/>
                <a:cs typeface="Arial" pitchFamily="34" charset="0"/>
              </a:rPr>
              <a:t>Corrected Area only shown for the </a:t>
            </a:r>
            <a:r>
              <a:rPr lang="da-DK" sz="1800" dirty="0">
                <a:solidFill>
                  <a:srgbClr val="C00000"/>
                </a:solidFill>
                <a:latin typeface="Arial" pitchFamily="34" charset="0"/>
                <a:cs typeface="Arial" pitchFamily="34" charset="0"/>
              </a:rPr>
              <a:t>Calci</a:t>
            </a:r>
            <a:r>
              <a:rPr lang="da-DK" sz="1800" dirty="0">
                <a:latin typeface="Arial" pitchFamily="34" charset="0"/>
                <a:cs typeface="Arial" pitchFamily="34" charset="0"/>
              </a:rPr>
              <a:t> peak</a:t>
            </a:r>
            <a:endParaRPr lang="en-US" sz="1800" dirty="0">
              <a:latin typeface="Arial" pitchFamily="34" charset="0"/>
              <a:cs typeface="Arial" pitchFamily="34" charset="0"/>
            </a:endParaRPr>
          </a:p>
        </p:txBody>
      </p:sp>
      <p:cxnSp>
        <p:nvCxnSpPr>
          <p:cNvPr id="10" name="Straight Arrow Connector 9"/>
          <p:cNvCxnSpPr/>
          <p:nvPr/>
        </p:nvCxnSpPr>
        <p:spPr bwMode="auto">
          <a:xfrm flipV="1">
            <a:off x="7061200" y="4893276"/>
            <a:ext cx="650103" cy="885224"/>
          </a:xfrm>
          <a:prstGeom prst="straightConnector1">
            <a:avLst/>
          </a:prstGeom>
          <a:solidFill>
            <a:srgbClr val="3374D4"/>
          </a:solidFill>
          <a:ln w="28575" cap="flat" cmpd="sng" algn="ctr">
            <a:solidFill>
              <a:srgbClr val="FF0000"/>
            </a:solidFill>
            <a:prstDash val="solid"/>
            <a:round/>
            <a:headEnd type="none" w="med" len="med"/>
            <a:tailEnd type="arrow"/>
          </a:ln>
          <a:effectLst/>
        </p:spPr>
      </p:cxnSp>
      <p:pic>
        <p:nvPicPr>
          <p:cNvPr id="11" name="Picture 10" descr="revie icons 5.png"/>
          <p:cNvPicPr>
            <a:picLocks noChangeAspect="1"/>
          </p:cNvPicPr>
          <p:nvPr/>
        </p:nvPicPr>
        <p:blipFill>
          <a:blip r:embed="rId5" cstate="print"/>
          <a:srcRect r="85126" b="96014"/>
          <a:stretch>
            <a:fillRect/>
          </a:stretch>
        </p:blipFill>
        <p:spPr>
          <a:xfrm>
            <a:off x="1045958" y="1316841"/>
            <a:ext cx="2024080" cy="433655"/>
          </a:xfrm>
          <a:prstGeom prst="rect">
            <a:avLst/>
          </a:prstGeom>
        </p:spPr>
      </p:pic>
      <p:sp>
        <p:nvSpPr>
          <p:cNvPr id="12" name="Rectangle 11"/>
          <p:cNvSpPr/>
          <p:nvPr/>
        </p:nvSpPr>
        <p:spPr bwMode="auto">
          <a:xfrm>
            <a:off x="1441196" y="1326388"/>
            <a:ext cx="438404" cy="40081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idx="1"/>
          </p:nvPr>
        </p:nvSpPr>
        <p:spPr/>
        <p:txBody>
          <a:bodyPr/>
          <a:lstStyle/>
          <a:p>
            <a:pPr eaLnBrk="1" hangingPunct="1"/>
            <a:r>
              <a:rPr lang="en-US" dirty="0"/>
              <a:t>Goal: Have Empower calculate </a:t>
            </a:r>
            <a:r>
              <a:rPr lang="en-US" dirty="0">
                <a:solidFill>
                  <a:srgbClr val="C00000"/>
                </a:solidFill>
              </a:rPr>
              <a:t>Relative Retention Time </a:t>
            </a:r>
            <a:r>
              <a:rPr lang="en-US" dirty="0"/>
              <a:t>for unknowns based on one selectable reference peak</a:t>
            </a:r>
          </a:p>
          <a:p>
            <a:pPr lvl="1" eaLnBrk="1" hangingPunct="1"/>
            <a:endParaRPr lang="en-US" dirty="0"/>
          </a:p>
          <a:p>
            <a:pPr eaLnBrk="1" hangingPunct="1">
              <a:buFont typeface="Monotype Sorts"/>
              <a:buNone/>
            </a:pPr>
            <a:endParaRPr lang="en-US" dirty="0"/>
          </a:p>
        </p:txBody>
      </p:sp>
      <p:sp>
        <p:nvSpPr>
          <p:cNvPr id="793603" name="Rectangle 3" descr="25%"/>
          <p:cNvSpPr>
            <a:spLocks noGrp="1" noChangeArrowheads="1"/>
          </p:cNvSpPr>
          <p:nvPr>
            <p:ph type="title"/>
          </p:nvPr>
        </p:nvSpPr>
        <p:spPr/>
        <p:txBody>
          <a:bodyPr/>
          <a:lstStyle/>
          <a:p>
            <a:pPr eaLnBrk="1" hangingPunct="1">
              <a:defRPr/>
            </a:pPr>
            <a:r>
              <a:rPr lang="en-US" dirty="0"/>
              <a:t>Create New </a:t>
            </a:r>
            <a:r>
              <a:rPr lang="en-US" dirty="0">
                <a:solidFill>
                  <a:schemeClr val="accent2"/>
                </a:solidFill>
              </a:rPr>
              <a:t>Peak</a:t>
            </a:r>
            <a:r>
              <a:rPr lang="en-US" dirty="0"/>
              <a:t> Type Field</a:t>
            </a:r>
          </a:p>
        </p:txBody>
      </p:sp>
    </p:spTree>
  </p:cSld>
  <p:clrMapOvr>
    <a:masterClrMapping/>
  </p:clrMapOvr>
  <p:transition>
    <p:wipe dir="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58.png"/>
          <p:cNvPicPr>
            <a:picLocks noGrp="1" noChangeAspect="1"/>
          </p:cNvPicPr>
          <p:nvPr>
            <p:ph idx="1"/>
          </p:nvPr>
        </p:nvPicPr>
        <p:blipFill>
          <a:blip r:embed="rId3" cstate="print"/>
          <a:stretch>
            <a:fillRect/>
          </a:stretch>
        </p:blipFill>
        <p:spPr>
          <a:xfrm>
            <a:off x="1358900" y="1350927"/>
            <a:ext cx="6408616" cy="4936365"/>
          </a:xfrm>
        </p:spPr>
      </p:pic>
      <p:sp>
        <p:nvSpPr>
          <p:cNvPr id="795651"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a:t>
            </a:r>
          </a:p>
        </p:txBody>
      </p:sp>
      <p:sp>
        <p:nvSpPr>
          <p:cNvPr id="9" name="Oval 8"/>
          <p:cNvSpPr/>
          <p:nvPr/>
        </p:nvSpPr>
        <p:spPr bwMode="auto">
          <a:xfrm>
            <a:off x="5685372" y="2658989"/>
            <a:ext cx="783813" cy="392383"/>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0" name="Oval 9"/>
          <p:cNvSpPr/>
          <p:nvPr/>
        </p:nvSpPr>
        <p:spPr bwMode="auto">
          <a:xfrm>
            <a:off x="3716856" y="4610881"/>
            <a:ext cx="1120867" cy="396835"/>
          </a:xfrm>
          <a:prstGeom prst="ellips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
        <p:nvSpPr>
          <p:cNvPr id="11" name="Rectangle 10"/>
          <p:cNvSpPr/>
          <p:nvPr/>
        </p:nvSpPr>
        <p:spPr bwMode="auto">
          <a:xfrm>
            <a:off x="4552065" y="5792275"/>
            <a:ext cx="915773" cy="31893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book 3 pg 59.png"/>
          <p:cNvPicPr>
            <a:picLocks noGrp="1" noChangeAspect="1"/>
          </p:cNvPicPr>
          <p:nvPr>
            <p:ph idx="1"/>
          </p:nvPr>
        </p:nvPicPr>
        <p:blipFill>
          <a:blip r:embed="rId3" cstate="print"/>
          <a:stretch>
            <a:fillRect/>
          </a:stretch>
        </p:blipFill>
        <p:spPr>
          <a:xfrm>
            <a:off x="692335" y="1448159"/>
            <a:ext cx="4933334" cy="3800000"/>
          </a:xfrm>
        </p:spPr>
      </p:pic>
      <p:sp>
        <p:nvSpPr>
          <p:cNvPr id="797699"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a:t>
            </a:r>
          </a:p>
        </p:txBody>
      </p:sp>
      <p:pic>
        <p:nvPicPr>
          <p:cNvPr id="11" name="Content Placeholder 10" descr="book 3 pg 59a.png"/>
          <p:cNvPicPr>
            <a:picLocks noGrp="1" noChangeAspect="1"/>
          </p:cNvPicPr>
          <p:nvPr>
            <p:ph sz="half" idx="4294967295"/>
          </p:nvPr>
        </p:nvPicPr>
        <p:blipFill>
          <a:blip r:embed="rId4" cstate="print"/>
          <a:stretch>
            <a:fillRect/>
          </a:stretch>
        </p:blipFill>
        <p:spPr>
          <a:xfrm>
            <a:off x="4405680" y="4185993"/>
            <a:ext cx="4337664" cy="1537799"/>
          </a:xfrm>
        </p:spPr>
      </p:pic>
      <p:sp>
        <p:nvSpPr>
          <p:cNvPr id="12" name="Bent Arrow 11"/>
          <p:cNvSpPr/>
          <p:nvPr/>
        </p:nvSpPr>
        <p:spPr bwMode="auto">
          <a:xfrm rot="5400000">
            <a:off x="5668620" y="2439356"/>
            <a:ext cx="1730619" cy="1368229"/>
          </a:xfrm>
          <a:prstGeom prst="bentArrow">
            <a:avLst/>
          </a:prstGeom>
          <a:solidFill>
            <a:srgbClr val="FF0000"/>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Verdana" pitchFamily="34" charset="0"/>
            </a:endParaRPr>
          </a:p>
        </p:txBody>
      </p:sp>
    </p:spTree>
  </p:cSld>
  <p:clrMapOvr>
    <a:masterClrMapping/>
  </p:clrMapOvr>
  <p:transition>
    <p:wipe dir="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60.png"/>
          <p:cNvPicPr>
            <a:picLocks noGrp="1" noChangeAspect="1"/>
          </p:cNvPicPr>
          <p:nvPr>
            <p:ph idx="1"/>
          </p:nvPr>
        </p:nvPicPr>
        <p:blipFill>
          <a:blip r:embed="rId3" cstate="print"/>
          <a:stretch>
            <a:fillRect/>
          </a:stretch>
        </p:blipFill>
        <p:spPr>
          <a:xfrm>
            <a:off x="1290212" y="1347999"/>
            <a:ext cx="6520288" cy="5022384"/>
          </a:xfrm>
        </p:spPr>
      </p:pic>
      <p:sp>
        <p:nvSpPr>
          <p:cNvPr id="801795"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a:t>
            </a:r>
          </a:p>
        </p:txBody>
      </p:sp>
    </p:spTree>
  </p:cSld>
  <p:clrMapOvr>
    <a:masterClrMapping/>
  </p:clrMapOvr>
  <p:transition>
    <p:wipe dir="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61.png"/>
          <p:cNvPicPr>
            <a:picLocks noGrp="1" noChangeAspect="1"/>
          </p:cNvPicPr>
          <p:nvPr>
            <p:ph idx="1"/>
          </p:nvPr>
        </p:nvPicPr>
        <p:blipFill>
          <a:blip r:embed="rId3" cstate="print"/>
          <a:stretch>
            <a:fillRect/>
          </a:stretch>
        </p:blipFill>
        <p:spPr>
          <a:xfrm>
            <a:off x="1337134" y="1322834"/>
            <a:ext cx="6444058" cy="4963666"/>
          </a:xfrm>
        </p:spPr>
      </p:pic>
      <p:sp>
        <p:nvSpPr>
          <p:cNvPr id="803843"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a:t>
            </a:r>
          </a:p>
        </p:txBody>
      </p:sp>
    </p:spTree>
  </p:cSld>
  <p:clrMapOvr>
    <a:masterClrMapping/>
  </p:clrMapOvr>
  <p:transition>
    <p:wipe dir="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ook 3 pg 62.png"/>
          <p:cNvPicPr>
            <a:picLocks noGrp="1" noChangeAspect="1"/>
          </p:cNvPicPr>
          <p:nvPr>
            <p:ph idx="1"/>
          </p:nvPr>
        </p:nvPicPr>
        <p:blipFill>
          <a:blip r:embed="rId3" cstate="print"/>
          <a:stretch>
            <a:fillRect/>
          </a:stretch>
        </p:blipFill>
        <p:spPr>
          <a:xfrm>
            <a:off x="1384300" y="1485003"/>
            <a:ext cx="6371491" cy="4907770"/>
          </a:xfrm>
        </p:spPr>
      </p:pic>
      <p:sp>
        <p:nvSpPr>
          <p:cNvPr id="805891" name="Rectangle 3" descr="25%"/>
          <p:cNvSpPr>
            <a:spLocks noGrp="1" noChangeArrowheads="1"/>
          </p:cNvSpPr>
          <p:nvPr>
            <p:ph type="title"/>
          </p:nvPr>
        </p:nvSpPr>
        <p:spPr/>
        <p:txBody>
          <a:bodyPr/>
          <a:lstStyle/>
          <a:p>
            <a:br>
              <a:rPr lang="en-US" dirty="0"/>
            </a:br>
            <a:r>
              <a:rPr lang="en-US" dirty="0"/>
              <a:t>Create New </a:t>
            </a:r>
            <a:r>
              <a:rPr lang="en-US" dirty="0">
                <a:solidFill>
                  <a:schemeClr val="accent2"/>
                </a:solidFill>
              </a:rPr>
              <a:t>Peak</a:t>
            </a:r>
            <a:r>
              <a:rPr lang="en-US" dirty="0"/>
              <a:t> Type Field</a:t>
            </a:r>
          </a:p>
        </p:txBody>
      </p:sp>
    </p:spTree>
  </p:cSld>
  <p:clrMapOvr>
    <a:masterClrMapping/>
  </p:clrMapOvr>
  <p:transition>
    <p:wipe dir="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5" name="Picture 1" descr="H:\Empower CF screen captures\ScreenHunter_01 Mar. 12 14.05.jpg"/>
          <p:cNvPicPr>
            <a:picLocks noChangeAspect="1" noChangeArrowheads="1"/>
          </p:cNvPicPr>
          <p:nvPr/>
        </p:nvPicPr>
        <p:blipFill>
          <a:blip r:embed="rId3" cstate="print">
            <a:lum bright="-10000" contrast="30000"/>
          </a:blip>
          <a:srcRect r="2001"/>
          <a:stretch>
            <a:fillRect/>
          </a:stretch>
        </p:blipFill>
        <p:spPr bwMode="auto">
          <a:xfrm>
            <a:off x="651524" y="2730674"/>
            <a:ext cx="7840462" cy="3156559"/>
          </a:xfrm>
          <a:prstGeom prst="rect">
            <a:avLst/>
          </a:prstGeom>
          <a:noFill/>
        </p:spPr>
      </p:pic>
      <p:sp>
        <p:nvSpPr>
          <p:cNvPr id="20" name="Content Placeholder 19"/>
          <p:cNvSpPr>
            <a:spLocks noGrp="1"/>
          </p:cNvSpPr>
          <p:nvPr>
            <p:ph idx="1"/>
          </p:nvPr>
        </p:nvSpPr>
        <p:spPr>
          <a:xfrm>
            <a:off x="457200" y="1312000"/>
            <a:ext cx="8360228" cy="1506356"/>
          </a:xfrm>
        </p:spPr>
        <p:txBody>
          <a:bodyPr/>
          <a:lstStyle/>
          <a:p>
            <a:r>
              <a:rPr lang="en-US" dirty="0"/>
              <a:t>Sample Information?</a:t>
            </a:r>
          </a:p>
          <a:p>
            <a:r>
              <a:rPr lang="en-US" dirty="0"/>
              <a:t>Sample Set Information?</a:t>
            </a:r>
          </a:p>
          <a:p>
            <a:r>
              <a:rPr lang="en-US" dirty="0"/>
              <a:t>Component Information?</a:t>
            </a:r>
          </a:p>
        </p:txBody>
      </p:sp>
      <p:sp>
        <p:nvSpPr>
          <p:cNvPr id="24578" name="Rectangle 2"/>
          <p:cNvSpPr>
            <a:spLocks noGrp="1" noChangeArrowheads="1"/>
          </p:cNvSpPr>
          <p:nvPr>
            <p:ph type="title"/>
          </p:nvPr>
        </p:nvSpPr>
        <p:spPr/>
        <p:txBody>
          <a:bodyPr/>
          <a:lstStyle/>
          <a:p>
            <a:pPr eaLnBrk="1" hangingPunct="1">
              <a:defRPr/>
            </a:pPr>
            <a:r>
              <a:rPr lang="en-US" dirty="0">
                <a:solidFill>
                  <a:schemeClr val="accent4"/>
                </a:solidFill>
              </a:rPr>
              <a:t>Where do We Input Data for…</a:t>
            </a:r>
            <a:endParaRPr lang="en-US" u="sng" dirty="0">
              <a:solidFill>
                <a:schemeClr val="accent4"/>
              </a:solidFill>
            </a:endParaRPr>
          </a:p>
        </p:txBody>
      </p:sp>
    </p:spTree>
  </p:cSld>
  <p:clrMapOvr>
    <a:masterClrMapping/>
  </p:clrMapOvr>
  <p:transition>
    <p:wipe dir="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5" name="Picture 1" descr="H:\Empower CF screen captures\ScreenHunter_01 Mar. 12 14.05.jpg"/>
          <p:cNvPicPr>
            <a:picLocks noChangeAspect="1" noChangeArrowheads="1"/>
          </p:cNvPicPr>
          <p:nvPr/>
        </p:nvPicPr>
        <p:blipFill>
          <a:blip r:embed="rId3" cstate="print">
            <a:lum bright="-10000" contrast="30000"/>
          </a:blip>
          <a:srcRect r="2001"/>
          <a:stretch>
            <a:fillRect/>
          </a:stretch>
        </p:blipFill>
        <p:spPr bwMode="auto">
          <a:xfrm>
            <a:off x="651524" y="2730674"/>
            <a:ext cx="7840462" cy="3156559"/>
          </a:xfrm>
          <a:prstGeom prst="rect">
            <a:avLst/>
          </a:prstGeom>
          <a:noFill/>
        </p:spPr>
      </p:pic>
      <p:sp>
        <p:nvSpPr>
          <p:cNvPr id="20" name="Content Placeholder 19"/>
          <p:cNvSpPr>
            <a:spLocks noGrp="1"/>
          </p:cNvSpPr>
          <p:nvPr>
            <p:ph idx="1"/>
          </p:nvPr>
        </p:nvSpPr>
        <p:spPr>
          <a:xfrm>
            <a:off x="457200" y="1312000"/>
            <a:ext cx="8360228" cy="1506356"/>
          </a:xfrm>
        </p:spPr>
        <p:txBody>
          <a:bodyPr/>
          <a:lstStyle/>
          <a:p>
            <a:r>
              <a:rPr lang="en-US" dirty="0"/>
              <a:t>Sample Information?</a:t>
            </a:r>
          </a:p>
          <a:p>
            <a:r>
              <a:rPr lang="en-US" dirty="0"/>
              <a:t>Sample Set Information?</a:t>
            </a:r>
          </a:p>
          <a:p>
            <a:r>
              <a:rPr lang="en-US" dirty="0"/>
              <a:t>Component Information?</a:t>
            </a:r>
          </a:p>
        </p:txBody>
      </p:sp>
      <p:sp>
        <p:nvSpPr>
          <p:cNvPr id="24578" name="Rectangle 2"/>
          <p:cNvSpPr>
            <a:spLocks noGrp="1" noChangeArrowheads="1"/>
          </p:cNvSpPr>
          <p:nvPr>
            <p:ph type="title"/>
          </p:nvPr>
        </p:nvSpPr>
        <p:spPr/>
        <p:txBody>
          <a:bodyPr/>
          <a:lstStyle/>
          <a:p>
            <a:pPr>
              <a:defRPr/>
            </a:pPr>
            <a:r>
              <a:rPr lang="en-US" dirty="0">
                <a:solidFill>
                  <a:schemeClr val="accent4"/>
                </a:solidFill>
              </a:rPr>
              <a:t>Where do We Input Data for…</a:t>
            </a:r>
            <a:endParaRPr lang="en-US" u="sng" dirty="0"/>
          </a:p>
        </p:txBody>
      </p:sp>
      <p:sp>
        <p:nvSpPr>
          <p:cNvPr id="5" name="Rectangle 11"/>
          <p:cNvSpPr>
            <a:spLocks noChangeArrowheads="1"/>
          </p:cNvSpPr>
          <p:nvPr/>
        </p:nvSpPr>
        <p:spPr bwMode="auto">
          <a:xfrm>
            <a:off x="644106" y="3613357"/>
            <a:ext cx="7810962" cy="2286401"/>
          </a:xfrm>
          <a:prstGeom prst="rect">
            <a:avLst/>
          </a:prstGeom>
          <a:noFill/>
          <a:ln w="38100">
            <a:solidFill>
              <a:srgbClr val="FF0000"/>
            </a:solidFill>
            <a:miter lim="800000"/>
            <a:headEnd/>
            <a:tailEnd/>
          </a:ln>
        </p:spPr>
        <p:txBody>
          <a:bodyPr wrap="none" anchor="ctr"/>
          <a:lstStyle/>
          <a:p>
            <a:endParaRPr lang="en-US" sz="1400">
              <a:latin typeface="Arial" pitchFamily="34" charset="0"/>
              <a:cs typeface="Arial" pitchFamily="34" charset="0"/>
            </a:endParaRPr>
          </a:p>
        </p:txBody>
      </p:sp>
      <p:sp>
        <p:nvSpPr>
          <p:cNvPr id="6" name="Rectangle 11"/>
          <p:cNvSpPr>
            <a:spLocks noChangeArrowheads="1"/>
          </p:cNvSpPr>
          <p:nvPr/>
        </p:nvSpPr>
        <p:spPr bwMode="auto">
          <a:xfrm>
            <a:off x="646193" y="3064298"/>
            <a:ext cx="4213905" cy="355307"/>
          </a:xfrm>
          <a:prstGeom prst="rect">
            <a:avLst/>
          </a:prstGeom>
          <a:noFill/>
          <a:ln w="38100">
            <a:solidFill>
              <a:srgbClr val="FF0000"/>
            </a:solidFill>
            <a:miter lim="800000"/>
            <a:headEnd/>
            <a:tailEnd/>
          </a:ln>
        </p:spPr>
        <p:txBody>
          <a:bodyPr wrap="none" anchor="ctr"/>
          <a:lstStyle/>
          <a:p>
            <a:endParaRPr lang="en-US" sz="1400">
              <a:latin typeface="Arial" pitchFamily="34" charset="0"/>
              <a:cs typeface="Arial" pitchFamily="34" charset="0"/>
            </a:endParaRPr>
          </a:p>
        </p:txBody>
      </p:sp>
    </p:spTree>
  </p:cSld>
  <p:clrMapOvr>
    <a:masterClrMapping/>
  </p:clrMapOvr>
  <p:transition>
    <p:wipe dir="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5" name="Picture 1" descr="H:\Empower CF screen captures\ScreenHunter_01 Mar. 12 14.05.jpg"/>
          <p:cNvPicPr>
            <a:picLocks noChangeAspect="1" noChangeArrowheads="1"/>
          </p:cNvPicPr>
          <p:nvPr/>
        </p:nvPicPr>
        <p:blipFill>
          <a:blip r:embed="rId3" cstate="print"/>
          <a:srcRect r="2001"/>
          <a:stretch>
            <a:fillRect/>
          </a:stretch>
        </p:blipFill>
        <p:spPr bwMode="auto">
          <a:xfrm>
            <a:off x="1365609" y="1295284"/>
            <a:ext cx="6600944" cy="2657531"/>
          </a:xfrm>
          <a:prstGeom prst="rect">
            <a:avLst/>
          </a:prstGeom>
          <a:noFill/>
        </p:spPr>
      </p:pic>
      <p:sp>
        <p:nvSpPr>
          <p:cNvPr id="24578" name="Rectangle 2"/>
          <p:cNvSpPr>
            <a:spLocks noGrp="1" noChangeArrowheads="1"/>
          </p:cNvSpPr>
          <p:nvPr>
            <p:ph type="title"/>
          </p:nvPr>
        </p:nvSpPr>
        <p:spPr/>
        <p:txBody>
          <a:bodyPr/>
          <a:lstStyle/>
          <a:p>
            <a:pPr eaLnBrk="1" hangingPunct="1">
              <a:defRPr/>
            </a:pPr>
            <a:r>
              <a:rPr lang="en-US" dirty="0"/>
              <a:t>Input Data in </a:t>
            </a:r>
            <a:r>
              <a:rPr lang="en-US" dirty="0">
                <a:solidFill>
                  <a:schemeClr val="accent2"/>
                </a:solidFill>
              </a:rPr>
              <a:t>Run Samples </a:t>
            </a:r>
            <a:r>
              <a:rPr lang="en-US" dirty="0"/>
              <a:t>or </a:t>
            </a:r>
            <a:r>
              <a:rPr lang="en-US" dirty="0">
                <a:solidFill>
                  <a:schemeClr val="accent2"/>
                </a:solidFill>
              </a:rPr>
              <a:t>Alter Data</a:t>
            </a:r>
            <a:endParaRPr lang="en-US" u="sng" dirty="0">
              <a:solidFill>
                <a:schemeClr val="accent2"/>
              </a:solidFill>
            </a:endParaRPr>
          </a:p>
        </p:txBody>
      </p:sp>
      <p:pic>
        <p:nvPicPr>
          <p:cNvPr id="40979" name="Picture 6"/>
          <p:cNvPicPr>
            <a:picLocks noChangeAspect="1" noChangeArrowheads="1"/>
          </p:cNvPicPr>
          <p:nvPr/>
        </p:nvPicPr>
        <p:blipFill>
          <a:blip r:embed="rId4" cstate="print"/>
          <a:srcRect/>
          <a:stretch>
            <a:fillRect/>
          </a:stretch>
        </p:blipFill>
        <p:spPr bwMode="auto">
          <a:xfrm>
            <a:off x="2877127" y="1600303"/>
            <a:ext cx="301625" cy="311150"/>
          </a:xfrm>
          <a:prstGeom prst="rect">
            <a:avLst/>
          </a:prstGeom>
          <a:noFill/>
          <a:ln w="38100">
            <a:solidFill>
              <a:srgbClr val="FF0000"/>
            </a:solidFill>
            <a:miter lim="800000"/>
            <a:headEnd/>
            <a:tailEnd/>
          </a:ln>
        </p:spPr>
      </p:pic>
      <p:sp>
        <p:nvSpPr>
          <p:cNvPr id="40980" name="Line 7"/>
          <p:cNvSpPr>
            <a:spLocks noChangeShapeType="1"/>
          </p:cNvSpPr>
          <p:nvPr/>
        </p:nvSpPr>
        <p:spPr bwMode="auto">
          <a:xfrm>
            <a:off x="3234478" y="1777757"/>
            <a:ext cx="3886200" cy="0"/>
          </a:xfrm>
          <a:prstGeom prst="line">
            <a:avLst/>
          </a:prstGeom>
          <a:noFill/>
          <a:ln w="25400">
            <a:solidFill>
              <a:srgbClr val="FF0000"/>
            </a:solidFill>
            <a:round/>
            <a:headEnd/>
            <a:tailEnd/>
          </a:ln>
        </p:spPr>
        <p:txBody>
          <a:bodyPr>
            <a:spAutoFit/>
          </a:bodyPr>
          <a:lstStyle/>
          <a:p>
            <a:endParaRPr lang="en-US"/>
          </a:p>
        </p:txBody>
      </p:sp>
      <p:sp>
        <p:nvSpPr>
          <p:cNvPr id="40981" name="Line 8"/>
          <p:cNvSpPr>
            <a:spLocks noChangeShapeType="1"/>
          </p:cNvSpPr>
          <p:nvPr/>
        </p:nvSpPr>
        <p:spPr bwMode="auto">
          <a:xfrm flipH="1">
            <a:off x="7134364" y="1778695"/>
            <a:ext cx="0" cy="2516292"/>
          </a:xfrm>
          <a:prstGeom prst="line">
            <a:avLst/>
          </a:prstGeom>
          <a:noFill/>
          <a:ln w="25400">
            <a:solidFill>
              <a:srgbClr val="FF0000"/>
            </a:solidFill>
            <a:round/>
            <a:headEnd/>
            <a:tailEnd type="triangle" w="lg" len="lg"/>
          </a:ln>
        </p:spPr>
        <p:txBody>
          <a:bodyPr wrap="square">
            <a:spAutoFit/>
          </a:bodyPr>
          <a:lstStyle/>
          <a:p>
            <a:endParaRPr lang="en-US"/>
          </a:p>
        </p:txBody>
      </p:sp>
      <p:sp>
        <p:nvSpPr>
          <p:cNvPr id="40982" name="Text Box 9"/>
          <p:cNvSpPr txBox="1">
            <a:spLocks noChangeArrowheads="1"/>
          </p:cNvSpPr>
          <p:nvPr/>
        </p:nvSpPr>
        <p:spPr bwMode="auto">
          <a:xfrm>
            <a:off x="6121004" y="3678326"/>
            <a:ext cx="2055371" cy="307777"/>
          </a:xfrm>
          <a:prstGeom prst="rect">
            <a:avLst/>
          </a:prstGeom>
          <a:solidFill>
            <a:schemeClr val="bg1"/>
          </a:solidFill>
          <a:ln w="25400">
            <a:solidFill>
              <a:schemeClr val="tx1"/>
            </a:solidFill>
            <a:miter lim="800000"/>
            <a:headEnd/>
            <a:tailEnd/>
          </a:ln>
        </p:spPr>
        <p:txBody>
          <a:bodyPr wrap="none">
            <a:spAutoFit/>
          </a:bodyPr>
          <a:lstStyle/>
          <a:p>
            <a:r>
              <a:rPr lang="en-US" sz="1400">
                <a:latin typeface="Arial" pitchFamily="34" charset="0"/>
                <a:cs typeface="Arial" pitchFamily="34" charset="0"/>
              </a:rPr>
              <a:t>Sample Set Information</a:t>
            </a:r>
          </a:p>
        </p:txBody>
      </p:sp>
      <p:grpSp>
        <p:nvGrpSpPr>
          <p:cNvPr id="3" name="Group 10"/>
          <p:cNvGrpSpPr>
            <a:grpSpLocks/>
          </p:cNvGrpSpPr>
          <p:nvPr/>
        </p:nvGrpSpPr>
        <p:grpSpPr bwMode="auto">
          <a:xfrm>
            <a:off x="2811109" y="2047605"/>
            <a:ext cx="3259138" cy="974725"/>
            <a:chOff x="1600" y="1332"/>
            <a:chExt cx="2053" cy="614"/>
          </a:xfrm>
        </p:grpSpPr>
        <p:sp>
          <p:nvSpPr>
            <p:cNvPr id="40975" name="Rectangle 11"/>
            <p:cNvSpPr>
              <a:spLocks noChangeArrowheads="1"/>
            </p:cNvSpPr>
            <p:nvPr/>
          </p:nvSpPr>
          <p:spPr bwMode="auto">
            <a:xfrm>
              <a:off x="1600" y="1332"/>
              <a:ext cx="287" cy="614"/>
            </a:xfrm>
            <a:prstGeom prst="rect">
              <a:avLst/>
            </a:prstGeom>
            <a:noFill/>
            <a:ln w="38100">
              <a:solidFill>
                <a:srgbClr val="FF0000"/>
              </a:solidFill>
              <a:miter lim="800000"/>
              <a:headEnd/>
              <a:tailEnd/>
            </a:ln>
          </p:spPr>
          <p:txBody>
            <a:bodyPr wrap="none" anchor="ctr"/>
            <a:lstStyle/>
            <a:p>
              <a:endParaRPr lang="en-US" sz="1400">
                <a:latin typeface="Arial" pitchFamily="34" charset="0"/>
                <a:cs typeface="Arial" pitchFamily="34" charset="0"/>
              </a:endParaRPr>
            </a:p>
          </p:txBody>
        </p:sp>
        <p:sp>
          <p:nvSpPr>
            <p:cNvPr id="40976" name="Text Box 12"/>
            <p:cNvSpPr txBox="1">
              <a:spLocks noChangeArrowheads="1"/>
            </p:cNvSpPr>
            <p:nvPr/>
          </p:nvSpPr>
          <p:spPr bwMode="auto">
            <a:xfrm>
              <a:off x="2559" y="1724"/>
              <a:ext cx="1094" cy="194"/>
            </a:xfrm>
            <a:prstGeom prst="rect">
              <a:avLst/>
            </a:prstGeom>
            <a:solidFill>
              <a:schemeClr val="bg1"/>
            </a:solidFill>
            <a:ln w="25400">
              <a:solidFill>
                <a:schemeClr val="tx1"/>
              </a:solidFill>
              <a:miter lim="800000"/>
              <a:headEnd/>
              <a:tailEnd/>
            </a:ln>
          </p:spPr>
          <p:txBody>
            <a:bodyPr wrap="none">
              <a:spAutoFit/>
            </a:bodyPr>
            <a:lstStyle/>
            <a:p>
              <a:r>
                <a:rPr lang="en-US" sz="1400" dirty="0">
                  <a:latin typeface="Arial" pitchFamily="34" charset="0"/>
                  <a:cs typeface="Arial" pitchFamily="34" charset="0"/>
                </a:rPr>
                <a:t>Sample Information</a:t>
              </a:r>
            </a:p>
          </p:txBody>
        </p:sp>
        <p:sp>
          <p:nvSpPr>
            <p:cNvPr id="40977" name="Line 13"/>
            <p:cNvSpPr>
              <a:spLocks noChangeShapeType="1"/>
            </p:cNvSpPr>
            <p:nvPr/>
          </p:nvSpPr>
          <p:spPr bwMode="auto">
            <a:xfrm>
              <a:off x="1888" y="1812"/>
              <a:ext cx="672" cy="0"/>
            </a:xfrm>
            <a:prstGeom prst="line">
              <a:avLst/>
            </a:prstGeom>
            <a:noFill/>
            <a:ln w="25400">
              <a:solidFill>
                <a:srgbClr val="FF0000"/>
              </a:solidFill>
              <a:round/>
              <a:headEnd type="triangle" w="lg" len="lg"/>
              <a:tailEnd/>
            </a:ln>
          </p:spPr>
          <p:txBody>
            <a:bodyPr>
              <a:spAutoFit/>
            </a:bodyPr>
            <a:lstStyle/>
            <a:p>
              <a:endParaRPr lang="en-US" sz="1400">
                <a:latin typeface="Arial" pitchFamily="34" charset="0"/>
                <a:cs typeface="Arial" pitchFamily="34" charset="0"/>
              </a:endParaRPr>
            </a:p>
          </p:txBody>
        </p:sp>
      </p:grpSp>
      <p:pic>
        <p:nvPicPr>
          <p:cNvPr id="40967" name="Picture 15"/>
          <p:cNvPicPr>
            <a:picLocks noChangeAspect="1" noChangeArrowheads="1"/>
          </p:cNvPicPr>
          <p:nvPr/>
        </p:nvPicPr>
        <p:blipFill>
          <a:blip r:embed="rId5" cstate="print"/>
          <a:srcRect/>
          <a:stretch>
            <a:fillRect/>
          </a:stretch>
        </p:blipFill>
        <p:spPr bwMode="auto">
          <a:xfrm>
            <a:off x="2548350" y="1600303"/>
            <a:ext cx="314325" cy="314873"/>
          </a:xfrm>
          <a:prstGeom prst="rect">
            <a:avLst/>
          </a:prstGeom>
          <a:noFill/>
          <a:ln w="38100">
            <a:solidFill>
              <a:srgbClr val="FF0000"/>
            </a:solidFill>
            <a:miter lim="800000"/>
            <a:headEnd/>
            <a:tailEnd/>
          </a:ln>
        </p:spPr>
      </p:pic>
      <p:sp>
        <p:nvSpPr>
          <p:cNvPr id="40969" name="Line 20"/>
          <p:cNvSpPr>
            <a:spLocks noChangeShapeType="1"/>
          </p:cNvSpPr>
          <p:nvPr/>
        </p:nvSpPr>
        <p:spPr bwMode="auto">
          <a:xfrm flipH="1" flipV="1">
            <a:off x="1259080" y="1773942"/>
            <a:ext cx="1276568" cy="1971"/>
          </a:xfrm>
          <a:prstGeom prst="line">
            <a:avLst/>
          </a:prstGeom>
          <a:noFill/>
          <a:ln w="25400">
            <a:solidFill>
              <a:srgbClr val="FF0000"/>
            </a:solidFill>
            <a:round/>
            <a:headEnd/>
            <a:tailEnd/>
          </a:ln>
        </p:spPr>
        <p:txBody>
          <a:bodyPr wrap="square">
            <a:spAutoFit/>
          </a:bodyPr>
          <a:lstStyle/>
          <a:p>
            <a:endParaRPr lang="en-US"/>
          </a:p>
        </p:txBody>
      </p:sp>
      <p:sp>
        <p:nvSpPr>
          <p:cNvPr id="40970" name="Line 21"/>
          <p:cNvSpPr>
            <a:spLocks noChangeShapeType="1"/>
          </p:cNvSpPr>
          <p:nvPr/>
        </p:nvSpPr>
        <p:spPr bwMode="auto">
          <a:xfrm>
            <a:off x="1252602" y="1778695"/>
            <a:ext cx="5603" cy="1706776"/>
          </a:xfrm>
          <a:prstGeom prst="line">
            <a:avLst/>
          </a:prstGeom>
          <a:noFill/>
          <a:ln w="25400">
            <a:solidFill>
              <a:srgbClr val="FF0000"/>
            </a:solidFill>
            <a:round/>
            <a:headEnd/>
            <a:tailEnd type="triangle" w="lg" len="lg"/>
          </a:ln>
        </p:spPr>
        <p:txBody>
          <a:bodyPr wrap="square">
            <a:spAutoFit/>
          </a:bodyPr>
          <a:lstStyle/>
          <a:p>
            <a:endParaRPr lang="en-US"/>
          </a:p>
        </p:txBody>
      </p:sp>
      <p:sp>
        <p:nvSpPr>
          <p:cNvPr id="40971" name="Text Box 22"/>
          <p:cNvSpPr txBox="1">
            <a:spLocks noChangeArrowheads="1"/>
          </p:cNvSpPr>
          <p:nvPr/>
        </p:nvSpPr>
        <p:spPr bwMode="auto">
          <a:xfrm>
            <a:off x="611231" y="2995699"/>
            <a:ext cx="2053767" cy="307777"/>
          </a:xfrm>
          <a:prstGeom prst="rect">
            <a:avLst/>
          </a:prstGeom>
          <a:solidFill>
            <a:schemeClr val="bg1"/>
          </a:solidFill>
          <a:ln w="25400">
            <a:solidFill>
              <a:schemeClr val="tx1"/>
            </a:solidFill>
            <a:miter lim="800000"/>
            <a:headEnd/>
            <a:tailEnd/>
          </a:ln>
        </p:spPr>
        <p:txBody>
          <a:bodyPr wrap="none">
            <a:spAutoFit/>
          </a:bodyPr>
          <a:lstStyle/>
          <a:p>
            <a:r>
              <a:rPr lang="en-US" sz="1400" dirty="0">
                <a:latin typeface="Arial" pitchFamily="34" charset="0"/>
                <a:cs typeface="Arial" pitchFamily="34" charset="0"/>
              </a:rPr>
              <a:t>Component Information</a:t>
            </a:r>
          </a:p>
        </p:txBody>
      </p:sp>
      <p:pic>
        <p:nvPicPr>
          <p:cNvPr id="98306" name="Picture 2" descr="H:\Empower CF screen captures\ScreenHunter_02 Mar. 12 14.06.jpg"/>
          <p:cNvPicPr>
            <a:picLocks noChangeAspect="1" noChangeArrowheads="1"/>
          </p:cNvPicPr>
          <p:nvPr/>
        </p:nvPicPr>
        <p:blipFill>
          <a:blip r:embed="rId6" cstate="print"/>
          <a:srcRect l="1934" t="1050" r="11883" b="9011"/>
          <a:stretch>
            <a:fillRect/>
          </a:stretch>
        </p:blipFill>
        <p:spPr bwMode="auto">
          <a:xfrm>
            <a:off x="576197" y="3519813"/>
            <a:ext cx="4597052" cy="2981195"/>
          </a:xfrm>
          <a:prstGeom prst="rect">
            <a:avLst/>
          </a:prstGeom>
          <a:noFill/>
        </p:spPr>
      </p:pic>
      <p:pic>
        <p:nvPicPr>
          <p:cNvPr id="98307" name="Picture 3" descr="H:\Empower CF screen captures\ScreenHunter_03 Mar. 12 14.06.jpg"/>
          <p:cNvPicPr>
            <a:picLocks noChangeAspect="1" noChangeArrowheads="1"/>
          </p:cNvPicPr>
          <p:nvPr/>
        </p:nvPicPr>
        <p:blipFill>
          <a:blip r:embed="rId7" cstate="print"/>
          <a:srcRect l="562" t="-224" r="56662" b="20133"/>
          <a:stretch>
            <a:fillRect/>
          </a:stretch>
        </p:blipFill>
        <p:spPr bwMode="auto">
          <a:xfrm>
            <a:off x="5461347" y="4327741"/>
            <a:ext cx="3093929" cy="2198318"/>
          </a:xfrm>
          <a:prstGeom prst="rect">
            <a:avLst/>
          </a:prstGeom>
          <a:noFill/>
        </p:spPr>
      </p:pic>
      <p:sp>
        <p:nvSpPr>
          <p:cNvPr id="28" name="Rectangle 27"/>
          <p:cNvSpPr/>
          <p:nvPr/>
        </p:nvSpPr>
        <p:spPr bwMode="auto">
          <a:xfrm>
            <a:off x="1614417" y="5671842"/>
            <a:ext cx="840828" cy="25224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29" name="Rectangle 28"/>
          <p:cNvSpPr/>
          <p:nvPr/>
        </p:nvSpPr>
        <p:spPr bwMode="auto">
          <a:xfrm>
            <a:off x="5685231" y="5174975"/>
            <a:ext cx="1078824" cy="29889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cSld>
  <p:clrMapOvr>
    <a:masterClrMapping/>
  </p:clrMapOvr>
  <p:transition>
    <p:wipe dir="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p:cNvSpPr>
            <a:spLocks noGrp="1" noChangeArrowheads="1"/>
          </p:cNvSpPr>
          <p:nvPr>
            <p:ph idx="1"/>
          </p:nvPr>
        </p:nvSpPr>
        <p:spPr/>
        <p:txBody>
          <a:bodyPr/>
          <a:lstStyle/>
          <a:p>
            <a:r>
              <a:rPr lang="en-US" dirty="0"/>
              <a:t>What is the mathematical formula?</a:t>
            </a:r>
          </a:p>
          <a:p>
            <a:r>
              <a:rPr lang="en-US" dirty="0"/>
              <a:t>What fields are required?</a:t>
            </a:r>
          </a:p>
          <a:p>
            <a:r>
              <a:rPr lang="en-US" dirty="0"/>
              <a:t>Does Empower generate the fields by default or do they need to be created?</a:t>
            </a:r>
          </a:p>
          <a:p>
            <a:r>
              <a:rPr lang="en-US" dirty="0"/>
              <a:t>Are your peaks named?</a:t>
            </a:r>
          </a:p>
          <a:p>
            <a:r>
              <a:rPr lang="en-US" dirty="0"/>
              <a:t>Is the calculation on samples, standards? All of them?</a:t>
            </a:r>
          </a:p>
          <a:p>
            <a:r>
              <a:rPr lang="en-US" dirty="0"/>
              <a:t>Is this a field/ calculation needed for several products?</a:t>
            </a:r>
          </a:p>
          <a:p>
            <a:r>
              <a:rPr lang="en-US" dirty="0"/>
              <a:t>What type of field is it?</a:t>
            </a:r>
          </a:p>
          <a:p>
            <a:r>
              <a:rPr lang="en-US" dirty="0"/>
              <a:t>What type of data will be reported out from the field?</a:t>
            </a:r>
          </a:p>
          <a:p>
            <a:pPr eaLnBrk="1" hangingPunct="1">
              <a:buFont typeface="Monotype Sorts"/>
              <a:buNone/>
            </a:pPr>
            <a:endParaRPr lang="en-US" dirty="0"/>
          </a:p>
        </p:txBody>
      </p:sp>
      <p:sp>
        <p:nvSpPr>
          <p:cNvPr id="836611" name="Rectangle 3" descr="25%"/>
          <p:cNvSpPr>
            <a:spLocks noGrp="1" noChangeArrowheads="1"/>
          </p:cNvSpPr>
          <p:nvPr>
            <p:ph type="title"/>
          </p:nvPr>
        </p:nvSpPr>
        <p:spPr/>
        <p:txBody>
          <a:bodyPr/>
          <a:lstStyle/>
          <a:p>
            <a:pPr eaLnBrk="1" hangingPunct="1">
              <a:defRPr/>
            </a:pPr>
            <a:br>
              <a:rPr lang="en-US" dirty="0"/>
            </a:br>
            <a:r>
              <a:rPr lang="en-US" dirty="0"/>
              <a:t>Important Info when Figuring out a CF? </a:t>
            </a:r>
          </a:p>
        </p:txBody>
      </p:sp>
    </p:spTree>
  </p:cSld>
  <p:clrMapOvr>
    <a:masterClrMapping/>
  </p:clrMapOvr>
  <p:transition>
    <p:wipe dir="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5"/>
          <p:cNvSpPr>
            <a:spLocks noGrp="1" noChangeArrowheads="1"/>
          </p:cNvSpPr>
          <p:nvPr>
            <p:ph idx="1"/>
          </p:nvPr>
        </p:nvSpPr>
        <p:spPr/>
        <p:txBody>
          <a:bodyPr/>
          <a:lstStyle/>
          <a:p>
            <a:r>
              <a:rPr lang="en-US" dirty="0"/>
              <a:t>Empower allows you the flexibility to create fields not already existing in the software.</a:t>
            </a:r>
          </a:p>
          <a:p>
            <a:r>
              <a:rPr lang="en-US" dirty="0"/>
              <a:t>Fields can be </a:t>
            </a:r>
            <a:r>
              <a:rPr lang="en-US" dirty="0">
                <a:solidFill>
                  <a:srgbClr val="C00000"/>
                </a:solidFill>
              </a:rPr>
              <a:t>simple user entered information</a:t>
            </a:r>
            <a:r>
              <a:rPr lang="en-US" dirty="0"/>
              <a:t>.</a:t>
            </a:r>
          </a:p>
          <a:p>
            <a:r>
              <a:rPr lang="en-US" dirty="0"/>
              <a:t>Fields can be </a:t>
            </a:r>
            <a:r>
              <a:rPr lang="en-US" dirty="0">
                <a:solidFill>
                  <a:srgbClr val="C00000"/>
                </a:solidFill>
              </a:rPr>
              <a:t>customized calculations</a:t>
            </a:r>
            <a:r>
              <a:rPr lang="en-US" dirty="0"/>
              <a:t>.</a:t>
            </a:r>
          </a:p>
          <a:p>
            <a:r>
              <a:rPr lang="en-US" dirty="0"/>
              <a:t>Fields created by you can be used in customized calculations.</a:t>
            </a:r>
          </a:p>
          <a:p>
            <a:endParaRPr lang="en-US" dirty="0"/>
          </a:p>
        </p:txBody>
      </p:sp>
      <p:sp>
        <p:nvSpPr>
          <p:cNvPr id="441348" name="Rectangle 4" descr="25%"/>
          <p:cNvSpPr>
            <a:spLocks noGrp="1" noChangeArrowheads="1"/>
          </p:cNvSpPr>
          <p:nvPr>
            <p:ph type="title"/>
          </p:nvPr>
        </p:nvSpPr>
        <p:spPr/>
        <p:txBody>
          <a:bodyPr/>
          <a:lstStyle/>
          <a:p>
            <a:br>
              <a:rPr lang="en-US" dirty="0"/>
            </a:br>
            <a:r>
              <a:rPr lang="en-US" dirty="0"/>
              <a:t>Summary</a:t>
            </a:r>
          </a:p>
        </p:txBody>
      </p:sp>
    </p:spTree>
  </p:cSld>
  <p:clrMapOvr>
    <a:masterClrMapping/>
  </p:clrMapOvr>
  <p:transition>
    <p:wipe dir="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4"/>
          <p:cNvSpPr>
            <a:spLocks noGrp="1"/>
          </p:cNvSpPr>
          <p:nvPr>
            <p:ph type="ctrTitle"/>
          </p:nvPr>
        </p:nvSpPr>
        <p:spPr>
          <a:xfrm>
            <a:off x="5346700" y="2730500"/>
            <a:ext cx="2882900" cy="908050"/>
          </a:xfrm>
        </p:spPr>
        <p:txBody>
          <a:bodyPr/>
          <a:lstStyle/>
          <a:p>
            <a:pPr algn="l">
              <a:lnSpc>
                <a:spcPct val="100000"/>
              </a:lnSpc>
              <a:spcBef>
                <a:spcPts val="300"/>
              </a:spcBef>
            </a:pPr>
            <a:r>
              <a:rPr lang="en-US" sz="2800" b="1" dirty="0">
                <a:latin typeface="Century Gothic" pitchFamily="34" charset="0"/>
              </a:rPr>
              <a:t>Custom Fields</a:t>
            </a:r>
            <a:r>
              <a:rPr lang="en-US" sz="2800" dirty="0">
                <a:latin typeface="Century Gothic" pitchFamily="34" charset="0"/>
              </a:rPr>
              <a:t>:</a:t>
            </a:r>
            <a:br>
              <a:rPr lang="en-US" sz="2800" dirty="0">
                <a:latin typeface="Century Gothic" pitchFamily="34" charset="0"/>
              </a:rPr>
            </a:br>
            <a:r>
              <a:rPr lang="en-US" sz="2800" dirty="0">
                <a:latin typeface="Century Gothic" pitchFamily="34" charset="0"/>
              </a:rPr>
              <a:t>Advanced</a:t>
            </a:r>
          </a:p>
        </p:txBody>
      </p:sp>
      <p:sp>
        <p:nvSpPr>
          <p:cNvPr id="4" name="Subtitle 3"/>
          <p:cNvSpPr>
            <a:spLocks noGrp="1"/>
          </p:cNvSpPr>
          <p:nvPr>
            <p:ph type="subTitle" idx="1"/>
          </p:nvPr>
        </p:nvSpPr>
        <p:spPr>
          <a:xfrm>
            <a:off x="1371600" y="3810000"/>
            <a:ext cx="6400800" cy="1803400"/>
          </a:xfrm>
        </p:spPr>
        <p:txBody>
          <a:bodyPr/>
          <a:lstStyle/>
          <a:p>
            <a:endParaRPr lang="en-US" dirty="0">
              <a:solidFill>
                <a:schemeClr val="accent4"/>
              </a:solidFill>
            </a:endParaRPr>
          </a:p>
          <a:p>
            <a:r>
              <a:rPr lang="en-US" dirty="0">
                <a:solidFill>
                  <a:schemeClr val="accent4"/>
                </a:solidFill>
              </a:rPr>
              <a:t>Part 2 – Advanced Custom Fields</a:t>
            </a:r>
            <a:endParaRPr lang="en-US" dirty="0"/>
          </a:p>
        </p:txBody>
      </p:sp>
      <p:pic>
        <p:nvPicPr>
          <p:cNvPr id="160770" name="Picture 2" descr="Image result for empower 3 logo"/>
          <p:cNvPicPr>
            <a:picLocks noChangeAspect="1" noChangeArrowheads="1"/>
          </p:cNvPicPr>
          <p:nvPr/>
        </p:nvPicPr>
        <p:blipFill>
          <a:blip r:embed="rId3" cstate="print"/>
          <a:srcRect/>
          <a:stretch>
            <a:fillRect/>
          </a:stretch>
        </p:blipFill>
        <p:spPr bwMode="auto">
          <a:xfrm>
            <a:off x="1075879" y="2098023"/>
            <a:ext cx="4080321" cy="1626723"/>
          </a:xfrm>
          <a:prstGeom prst="rect">
            <a:avLst/>
          </a:prstGeom>
          <a:noFill/>
        </p:spPr>
      </p:pic>
    </p:spTree>
    <p:extLst>
      <p:ext uri="{BB962C8B-B14F-4D97-AF65-F5344CB8AC3E}">
        <p14:creationId xmlns:p14="http://schemas.microsoft.com/office/powerpoint/2010/main" val="1681984448"/>
      </p:ext>
    </p:extLst>
  </p:cSld>
  <p:clrMapOvr>
    <a:masterClrMapping/>
  </p:clrMapOvr>
  <p:transition>
    <p:wipe dir="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71" name="Rectangle 7"/>
          <p:cNvSpPr>
            <a:spLocks noGrp="1" noChangeArrowheads="1"/>
          </p:cNvSpPr>
          <p:nvPr>
            <p:ph idx="1"/>
          </p:nvPr>
        </p:nvSpPr>
        <p:spPr/>
        <p:txBody>
          <a:bodyPr/>
          <a:lstStyle/>
          <a:p>
            <a:r>
              <a:rPr lang="en-US" dirty="0"/>
              <a:t>Boolean Custom Fields</a:t>
            </a:r>
          </a:p>
          <a:p>
            <a:pPr lvl="1"/>
            <a:r>
              <a:rPr lang="en-US" dirty="0"/>
              <a:t>Using </a:t>
            </a:r>
            <a:r>
              <a:rPr lang="en-US" dirty="0" err="1"/>
              <a:t>CCompRef</a:t>
            </a:r>
            <a:r>
              <a:rPr lang="en-US" dirty="0"/>
              <a:t> and </a:t>
            </a:r>
            <a:r>
              <a:rPr lang="en-US" dirty="0" err="1"/>
              <a:t>CConst</a:t>
            </a:r>
            <a:r>
              <a:rPr lang="en-US" dirty="0"/>
              <a:t> </a:t>
            </a:r>
          </a:p>
          <a:p>
            <a:r>
              <a:rPr lang="en-US" dirty="0"/>
              <a:t>Enumerated Custom Fields</a:t>
            </a:r>
          </a:p>
          <a:p>
            <a:pPr lvl="1"/>
            <a:r>
              <a:rPr lang="en-US" dirty="0"/>
              <a:t>Using CCalRef1</a:t>
            </a:r>
          </a:p>
          <a:p>
            <a:pPr lvl="1"/>
            <a:r>
              <a:rPr lang="en-US" dirty="0"/>
              <a:t>Using the “Use As” function</a:t>
            </a:r>
          </a:p>
          <a:p>
            <a:pPr lvl="1"/>
            <a:r>
              <a:rPr lang="en-US" dirty="0"/>
              <a:t>The Round and Replace functions</a:t>
            </a:r>
          </a:p>
          <a:p>
            <a:r>
              <a:rPr lang="en-US" dirty="0"/>
              <a:t>Custom Fields Calculations Special Values</a:t>
            </a:r>
          </a:p>
          <a:p>
            <a:r>
              <a:rPr lang="en-US" dirty="0"/>
              <a:t>Intersample and Intersample Summary Calculations</a:t>
            </a:r>
          </a:p>
          <a:p>
            <a:pPr lvl="1"/>
            <a:r>
              <a:rPr lang="en-US" dirty="0"/>
              <a:t>Syntax and rules</a:t>
            </a:r>
          </a:p>
          <a:p>
            <a:pPr lvl="1"/>
            <a:r>
              <a:rPr lang="en-US" dirty="0"/>
              <a:t>The “Search Order” function</a:t>
            </a:r>
          </a:p>
          <a:p>
            <a:pPr lvl="1"/>
            <a:r>
              <a:rPr lang="en-US" dirty="0"/>
              <a:t>The “All or Nothing” function</a:t>
            </a:r>
          </a:p>
        </p:txBody>
      </p:sp>
      <p:sp>
        <p:nvSpPr>
          <p:cNvPr id="932870" name="Rectangle 6"/>
          <p:cNvSpPr>
            <a:spLocks noGrp="1" noChangeArrowheads="1"/>
          </p:cNvSpPr>
          <p:nvPr>
            <p:ph type="title"/>
          </p:nvPr>
        </p:nvSpPr>
        <p:spPr/>
        <p:txBody>
          <a:bodyPr/>
          <a:lstStyle/>
          <a:p>
            <a:r>
              <a:rPr lang="en-US" dirty="0"/>
              <a:t>Content</a:t>
            </a:r>
          </a:p>
        </p:txBody>
      </p:sp>
    </p:spTree>
    <p:extLst>
      <p:ext uri="{BB962C8B-B14F-4D97-AF65-F5344CB8AC3E}">
        <p14:creationId xmlns:p14="http://schemas.microsoft.com/office/powerpoint/2010/main" val="145372161"/>
      </p:ext>
    </p:extLst>
  </p:cSld>
  <p:clrMapOvr>
    <a:masterClrMapping/>
  </p:clrMapOvr>
  <p:transition>
    <p:wipe dir="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idx="1"/>
          </p:nvPr>
        </p:nvSpPr>
        <p:spPr/>
        <p:txBody>
          <a:bodyPr/>
          <a:lstStyle/>
          <a:p>
            <a:pPr eaLnBrk="1" hangingPunct="1"/>
            <a:r>
              <a:rPr lang="en-US" dirty="0"/>
              <a:t>Determination of </a:t>
            </a:r>
            <a:r>
              <a:rPr lang="en-US" dirty="0">
                <a:solidFill>
                  <a:srgbClr val="C00000"/>
                </a:solidFill>
              </a:rPr>
              <a:t>Theobromine (</a:t>
            </a:r>
            <a:r>
              <a:rPr lang="en-US" dirty="0" err="1">
                <a:solidFill>
                  <a:srgbClr val="C00000"/>
                </a:solidFill>
              </a:rPr>
              <a:t>ThBr</a:t>
            </a:r>
            <a:r>
              <a:rPr lang="en-US" dirty="0">
                <a:solidFill>
                  <a:srgbClr val="C00000"/>
                </a:solidFill>
              </a:rPr>
              <a:t>) </a:t>
            </a:r>
            <a:r>
              <a:rPr lang="en-US" dirty="0"/>
              <a:t>and </a:t>
            </a:r>
            <a:r>
              <a:rPr lang="en-US" dirty="0">
                <a:solidFill>
                  <a:srgbClr val="C00000"/>
                </a:solidFill>
              </a:rPr>
              <a:t>Caffeine (</a:t>
            </a:r>
            <a:r>
              <a:rPr lang="en-US" dirty="0" err="1">
                <a:solidFill>
                  <a:srgbClr val="C00000"/>
                </a:solidFill>
              </a:rPr>
              <a:t>Caf</a:t>
            </a:r>
            <a:r>
              <a:rPr lang="en-US" dirty="0">
                <a:solidFill>
                  <a:srgbClr val="C00000"/>
                </a:solidFill>
              </a:rPr>
              <a:t>)</a:t>
            </a:r>
            <a:r>
              <a:rPr lang="en-US" dirty="0"/>
              <a:t> in tea is used in the Custom Field examples</a:t>
            </a:r>
          </a:p>
          <a:p>
            <a:pPr eaLnBrk="1" hangingPunct="1"/>
            <a:endParaRPr lang="en-US" dirty="0"/>
          </a:p>
        </p:txBody>
      </p:sp>
      <p:sp>
        <p:nvSpPr>
          <p:cNvPr id="36866" name="Rectangle 2"/>
          <p:cNvSpPr>
            <a:spLocks noGrp="1" noChangeArrowheads="1"/>
          </p:cNvSpPr>
          <p:nvPr>
            <p:ph type="title"/>
          </p:nvPr>
        </p:nvSpPr>
        <p:spPr/>
        <p:txBody>
          <a:bodyPr/>
          <a:lstStyle/>
          <a:p>
            <a:pPr eaLnBrk="1" hangingPunct="1">
              <a:defRPr/>
            </a:pPr>
            <a:r>
              <a:rPr lang="en-US" dirty="0"/>
              <a:t>Custom Field (Examples</a:t>
            </a:r>
            <a:r>
              <a:rPr lang="en-US" dirty="0">
                <a:solidFill>
                  <a:schemeClr val="accent5">
                    <a:lumMod val="50000"/>
                  </a:schemeClr>
                </a:solidFill>
              </a:rPr>
              <a:t>)</a:t>
            </a:r>
          </a:p>
        </p:txBody>
      </p:sp>
      <p:pic>
        <p:nvPicPr>
          <p:cNvPr id="6148" name="Picture 6"/>
          <p:cNvPicPr>
            <a:picLocks noChangeAspect="1" noChangeArrowheads="1"/>
          </p:cNvPicPr>
          <p:nvPr/>
        </p:nvPicPr>
        <p:blipFill>
          <a:blip r:embed="rId3" cstate="print">
            <a:lum bright="-10000" contrast="30000"/>
          </a:blip>
          <a:srcRect/>
          <a:stretch>
            <a:fillRect/>
          </a:stretch>
        </p:blipFill>
        <p:spPr bwMode="auto">
          <a:xfrm>
            <a:off x="1380960" y="2101755"/>
            <a:ext cx="6360266" cy="4421282"/>
          </a:xfrm>
          <a:prstGeom prst="rect">
            <a:avLst/>
          </a:prstGeom>
          <a:noFill/>
          <a:ln w="25400">
            <a:noFill/>
            <a:miter lim="800000"/>
            <a:headEnd/>
            <a:tailEnd/>
          </a:ln>
        </p:spPr>
      </p:pic>
    </p:spTree>
    <p:extLst>
      <p:ext uri="{BB962C8B-B14F-4D97-AF65-F5344CB8AC3E}">
        <p14:creationId xmlns:p14="http://schemas.microsoft.com/office/powerpoint/2010/main" val="705017118"/>
      </p:ext>
    </p:extLst>
  </p:cSld>
  <p:clrMapOvr>
    <a:masterClrMapping/>
  </p:clrMapOvr>
  <p:transition>
    <p:wipe dir="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Boolean Custom Field</a:t>
            </a:r>
          </a:p>
        </p:txBody>
      </p:sp>
    </p:spTree>
    <p:extLst>
      <p:ext uri="{BB962C8B-B14F-4D97-AF65-F5344CB8AC3E}">
        <p14:creationId xmlns:p14="http://schemas.microsoft.com/office/powerpoint/2010/main" val="4280393041"/>
      </p:ext>
    </p:extLst>
  </p:cSld>
  <p:clrMapOvr>
    <a:masterClrMapping/>
  </p:clrMapOvr>
  <p:transition>
    <p:wipe dir="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p:txBody>
          <a:bodyPr/>
          <a:lstStyle/>
          <a:p>
            <a:pPr eaLnBrk="1" hangingPunct="1">
              <a:lnSpc>
                <a:spcPct val="100000"/>
              </a:lnSpc>
            </a:pPr>
            <a:r>
              <a:rPr lang="en-US" dirty="0">
                <a:solidFill>
                  <a:schemeClr val="accent2"/>
                </a:solidFill>
              </a:rPr>
              <a:t>Boolean</a:t>
            </a:r>
            <a:r>
              <a:rPr lang="en-US" dirty="0"/>
              <a:t>: Boolean fields allow you to translate a mathematical formula into a specific value, or answer upon processing.</a:t>
            </a:r>
          </a:p>
          <a:p>
            <a:pPr lvl="1" eaLnBrk="1" hangingPunct="1">
              <a:lnSpc>
                <a:spcPct val="150000"/>
              </a:lnSpc>
              <a:buFont typeface="Verdana" pitchFamily="34" charset="0"/>
              <a:buNone/>
            </a:pPr>
            <a:r>
              <a:rPr lang="en-US" dirty="0"/>
              <a:t>				Operator(</a:t>
            </a:r>
            <a:r>
              <a:rPr lang="en-US" dirty="0" err="1"/>
              <a:t>Field,Value</a:t>
            </a:r>
            <a:r>
              <a:rPr lang="en-US" dirty="0"/>
              <a:t>)</a:t>
            </a:r>
          </a:p>
          <a:p>
            <a:pPr lvl="1" eaLnBrk="1" hangingPunct="1">
              <a:lnSpc>
                <a:spcPct val="150000"/>
              </a:lnSpc>
              <a:buFont typeface="Verdana" pitchFamily="34" charset="0"/>
              <a:buNone/>
            </a:pPr>
            <a:endParaRPr lang="en-US" dirty="0"/>
          </a:p>
          <a:p>
            <a:pPr lvl="1" eaLnBrk="1" hangingPunct="1">
              <a:lnSpc>
                <a:spcPct val="100000"/>
              </a:lnSpc>
            </a:pPr>
            <a:r>
              <a:rPr lang="en-US" dirty="0"/>
              <a:t>Two possible answers.</a:t>
            </a:r>
          </a:p>
          <a:p>
            <a:pPr marL="1257300" lvl="2" indent="-342900">
              <a:lnSpc>
                <a:spcPct val="100000"/>
              </a:lnSpc>
              <a:buFont typeface="Verdana" pitchFamily="34" charset="0"/>
              <a:buAutoNum type="arabicPeriod"/>
            </a:pPr>
            <a:r>
              <a:rPr lang="en-US" dirty="0"/>
              <a:t>1 or 0</a:t>
            </a:r>
          </a:p>
          <a:p>
            <a:pPr marL="1257300" lvl="2" indent="-342900" eaLnBrk="1" hangingPunct="1">
              <a:lnSpc>
                <a:spcPct val="100000"/>
              </a:lnSpc>
              <a:buFont typeface="Verdana" pitchFamily="34" charset="0"/>
              <a:buAutoNum type="arabicPeriod"/>
            </a:pPr>
            <a:r>
              <a:rPr lang="en-US" dirty="0"/>
              <a:t>Yes or No</a:t>
            </a:r>
          </a:p>
          <a:p>
            <a:pPr marL="1257300" lvl="2" indent="-342900" eaLnBrk="1" hangingPunct="1">
              <a:lnSpc>
                <a:spcPct val="100000"/>
              </a:lnSpc>
              <a:buFont typeface="Verdana" pitchFamily="34" charset="0"/>
              <a:buAutoNum type="arabicPeriod"/>
            </a:pPr>
            <a:r>
              <a:rPr lang="en-US" dirty="0"/>
              <a:t>Pass or Fail</a:t>
            </a:r>
          </a:p>
          <a:p>
            <a:pPr marL="1257300" lvl="2" indent="-342900" eaLnBrk="1" hangingPunct="1">
              <a:lnSpc>
                <a:spcPct val="100000"/>
              </a:lnSpc>
              <a:buFont typeface="Verdana" pitchFamily="34" charset="0"/>
              <a:buAutoNum type="arabicPeriod"/>
            </a:pPr>
            <a:r>
              <a:rPr lang="en-US" dirty="0"/>
              <a:t>User defined choice.</a:t>
            </a:r>
          </a:p>
          <a:p>
            <a:pPr marL="1714500" lvl="3" indent="-342900">
              <a:lnSpc>
                <a:spcPct val="100000"/>
              </a:lnSpc>
              <a:buFont typeface="+mj-lt"/>
              <a:buAutoNum type="alphaLcPeriod"/>
            </a:pPr>
            <a:r>
              <a:rPr lang="en-US" dirty="0"/>
              <a:t>example 0 – out of range, 1 – within range</a:t>
            </a:r>
          </a:p>
          <a:p>
            <a:pPr lvl="1" eaLnBrk="1" hangingPunct="1">
              <a:lnSpc>
                <a:spcPct val="150000"/>
              </a:lnSpc>
            </a:pPr>
            <a:r>
              <a:rPr lang="en-US" dirty="0"/>
              <a:t>May translate into a field.</a:t>
            </a:r>
          </a:p>
          <a:p>
            <a:pPr eaLnBrk="1" hangingPunct="1">
              <a:lnSpc>
                <a:spcPct val="90000"/>
              </a:lnSpc>
              <a:buFontTx/>
              <a:buNone/>
            </a:pPr>
            <a:r>
              <a:rPr lang="en-US" sz="2300" dirty="0"/>
              <a:t>		</a:t>
            </a:r>
          </a:p>
        </p:txBody>
      </p:sp>
      <p:sp>
        <p:nvSpPr>
          <p:cNvPr id="701442" name="Rectangle 2" descr="25%"/>
          <p:cNvSpPr>
            <a:spLocks noGrp="1" noChangeArrowheads="1"/>
          </p:cNvSpPr>
          <p:nvPr>
            <p:ph type="title"/>
          </p:nvPr>
        </p:nvSpPr>
        <p:spPr/>
        <p:txBody>
          <a:bodyPr/>
          <a:lstStyle/>
          <a:p>
            <a:pPr>
              <a:defRPr/>
            </a:pPr>
            <a:br>
              <a:rPr lang="en-US" dirty="0"/>
            </a:br>
            <a:r>
              <a:rPr lang="en-US" dirty="0"/>
              <a:t>Boolean Custom Fields</a:t>
            </a:r>
          </a:p>
        </p:txBody>
      </p:sp>
    </p:spTree>
    <p:extLst>
      <p:ext uri="{BB962C8B-B14F-4D97-AF65-F5344CB8AC3E}">
        <p14:creationId xmlns:p14="http://schemas.microsoft.com/office/powerpoint/2010/main" val="779097273"/>
      </p:ext>
    </p:extLst>
  </p:cSld>
  <p:clrMapOvr>
    <a:masterClrMapping/>
  </p:clrMapOvr>
  <p:transition>
    <p:wipe dir="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1311275"/>
          <a:ext cx="8360524" cy="5306253"/>
        </p:xfrm>
        <a:graphic>
          <a:graphicData uri="http://schemas.openxmlformats.org/drawingml/2006/table">
            <a:tbl>
              <a:tblPr>
                <a:tableStyleId>{BC89EF96-8CEA-46FF-86C4-4CE0E7609802}</a:tableStyleId>
              </a:tblPr>
              <a:tblGrid>
                <a:gridCol w="2927267">
                  <a:extLst>
                    <a:ext uri="{9D8B030D-6E8A-4147-A177-3AD203B41FA5}">
                      <a16:colId xmlns:a16="http://schemas.microsoft.com/office/drawing/2014/main" val="20000"/>
                    </a:ext>
                  </a:extLst>
                </a:gridCol>
                <a:gridCol w="5433257">
                  <a:extLst>
                    <a:ext uri="{9D8B030D-6E8A-4147-A177-3AD203B41FA5}">
                      <a16:colId xmlns:a16="http://schemas.microsoft.com/office/drawing/2014/main" val="20001"/>
                    </a:ext>
                  </a:extLst>
                </a:gridCol>
              </a:tblGrid>
              <a:tr h="367361">
                <a:tc gridSpan="2">
                  <a:txBody>
                    <a:bodyPr/>
                    <a:lstStyle/>
                    <a:p>
                      <a:pPr algn="ctr" fontAlgn="b"/>
                      <a:r>
                        <a:rPr lang="en-US" sz="1800" u="none" strike="noStrike" dirty="0">
                          <a:latin typeface="Arial" pitchFamily="34" charset="0"/>
                          <a:cs typeface="Arial" pitchFamily="34" charset="0"/>
                        </a:rPr>
                        <a:t>Boolean Operators / Functions</a:t>
                      </a:r>
                      <a:endParaRPr lang="en-US" sz="1800" b="1" i="0" u="none" strike="noStrike" dirty="0">
                        <a:solidFill>
                          <a:srgbClr val="000000"/>
                        </a:solidFill>
                        <a:latin typeface="Arial" pitchFamily="34" charset="0"/>
                        <a:cs typeface="Arial" pitchFamily="34" charset="0"/>
                      </a:endParaRPr>
                    </a:p>
                  </a:txBody>
                  <a:tcPr marL="10796" marR="10796" marT="7620" marB="0" anchor="ctr"/>
                </a:tc>
                <a:tc hMerge="1">
                  <a:txBody>
                    <a:bodyPr/>
                    <a:lstStyle/>
                    <a:p>
                      <a:endParaRPr lang="en-US"/>
                    </a:p>
                  </a:txBody>
                  <a:tcPr/>
                </a:tc>
                <a:extLst>
                  <a:ext uri="{0D108BD9-81ED-4DB2-BD59-A6C34878D82A}">
                    <a16:rowId xmlns:a16="http://schemas.microsoft.com/office/drawing/2014/main" val="10000"/>
                  </a:ext>
                </a:extLst>
              </a:tr>
              <a:tr h="35277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GT(</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Greater than</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01"/>
                  </a:ext>
                </a:extLst>
              </a:tr>
              <a:tr h="35277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GTE(</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Greater than or equal</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02"/>
                  </a:ext>
                </a:extLst>
              </a:tr>
              <a:tr h="35277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LT(</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Less than</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03"/>
                  </a:ext>
                </a:extLst>
              </a:tr>
              <a:tr h="35277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LTE(</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Less than or equal</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04"/>
                  </a:ext>
                </a:extLst>
              </a:tr>
              <a:tr h="35277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EQ(</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Equal</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05"/>
                  </a:ext>
                </a:extLst>
              </a:tr>
              <a:tr h="352778">
                <a:tc>
                  <a:txBody>
                    <a:bodyPr/>
                    <a:lstStyle/>
                    <a:p>
                      <a:pPr algn="ctr" fontAlgn="t"/>
                      <a:r>
                        <a:rPr lang="en-US" sz="1800" u="none" strike="noStrike" dirty="0">
                          <a:latin typeface="Arial" pitchFamily="34" charset="0"/>
                          <a:cs typeface="Arial" pitchFamily="34" charset="0"/>
                        </a:rPr>
                        <a:t>NEQ(</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Not equal</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06"/>
                  </a:ext>
                </a:extLst>
              </a:tr>
              <a:tr h="35277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EQI (</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Equal, case insensitive</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07"/>
                  </a:ext>
                </a:extLst>
              </a:tr>
              <a:tr h="35277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NEQI(</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Not equal, case insensitive</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08"/>
                  </a:ext>
                </a:extLst>
              </a:tr>
              <a:tr h="35277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RANGE(</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Range</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09"/>
                  </a:ext>
                </a:extLst>
              </a:tr>
              <a:tr h="35277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kern="1200" dirty="0">
                          <a:latin typeface="Arial" pitchFamily="34" charset="0"/>
                          <a:cs typeface="Arial" pitchFamily="34" charset="0"/>
                        </a:rPr>
                        <a:t>ENUM(</a:t>
                      </a:r>
                      <a:endParaRPr lang="en-US" sz="1800" b="0" kern="1200" dirty="0">
                        <a:solidFill>
                          <a:schemeClr val="tx1"/>
                        </a:solidFill>
                        <a:latin typeface="Arial" pitchFamily="34" charset="0"/>
                        <a:ea typeface="+mn-ea"/>
                        <a:cs typeface="Arial" pitchFamily="34" charset="0"/>
                      </a:endParaRPr>
                    </a:p>
                  </a:txBody>
                  <a:tcPr marL="10796" marR="10796"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kern="1200" dirty="0">
                          <a:latin typeface="Arial" pitchFamily="34" charset="0"/>
                          <a:cs typeface="Arial" pitchFamily="34" charset="0"/>
                        </a:rPr>
                        <a:t> Enumerated</a:t>
                      </a:r>
                      <a:endParaRPr lang="en-US" sz="1800" b="0" kern="1200" dirty="0">
                        <a:solidFill>
                          <a:schemeClr val="tx1"/>
                        </a:solidFill>
                        <a:latin typeface="Arial" pitchFamily="34" charset="0"/>
                        <a:ea typeface="+mn-ea"/>
                        <a:cs typeface="Arial" pitchFamily="34" charset="0"/>
                      </a:endParaRPr>
                    </a:p>
                  </a:txBody>
                  <a:tcPr marL="10796" marR="10796" marT="7620" marB="0" anchor="ctr"/>
                </a:tc>
                <a:extLst>
                  <a:ext uri="{0D108BD9-81ED-4DB2-BD59-A6C34878D82A}">
                    <a16:rowId xmlns:a16="http://schemas.microsoft.com/office/drawing/2014/main" val="10010"/>
                  </a:ext>
                </a:extLst>
              </a:tr>
              <a:tr h="352778">
                <a:tc gridSpan="2">
                  <a:txBody>
                    <a:bodyPr/>
                    <a:lstStyle/>
                    <a:p>
                      <a:pPr algn="ctr" fontAlgn="b"/>
                      <a:r>
                        <a:rPr lang="en-US" sz="1800" u="none" strike="noStrike" dirty="0">
                          <a:latin typeface="Arial" pitchFamily="34" charset="0"/>
                          <a:cs typeface="Arial" pitchFamily="34" charset="0"/>
                        </a:rPr>
                        <a:t>Boolean Operators</a:t>
                      </a:r>
                      <a:endParaRPr lang="en-US" sz="1800" b="1" i="0" u="none" strike="noStrike" dirty="0">
                        <a:solidFill>
                          <a:srgbClr val="000000"/>
                        </a:solidFill>
                        <a:latin typeface="Arial" pitchFamily="34" charset="0"/>
                        <a:cs typeface="Arial" pitchFamily="34" charset="0"/>
                      </a:endParaRPr>
                    </a:p>
                  </a:txBody>
                  <a:tcPr marL="10796" marR="10796" marT="7620" marB="0" anchor="ctr"/>
                </a:tc>
                <a:tc hMerge="1">
                  <a:txBody>
                    <a:bodyPr/>
                    <a:lstStyle/>
                    <a:p>
                      <a:endParaRPr lang="en-US"/>
                    </a:p>
                  </a:txBody>
                  <a:tcPr/>
                </a:tc>
                <a:extLst>
                  <a:ext uri="{0D108BD9-81ED-4DB2-BD59-A6C34878D82A}">
                    <a16:rowId xmlns:a16="http://schemas.microsoft.com/office/drawing/2014/main" val="10011"/>
                  </a:ext>
                </a:extLst>
              </a:tr>
              <a:tr h="352778">
                <a:tc>
                  <a:txBody>
                    <a:bodyPr/>
                    <a:lstStyle/>
                    <a:p>
                      <a:pPr algn="ctr" fontAlgn="t"/>
                      <a:r>
                        <a:rPr lang="en-US" sz="1800" u="none" strike="noStrike" dirty="0">
                          <a:latin typeface="Arial" pitchFamily="34" charset="0"/>
                          <a:cs typeface="Arial" pitchFamily="34" charset="0"/>
                        </a:rPr>
                        <a:t>&amp;</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algn="ctr" fontAlgn="t"/>
                      <a:r>
                        <a:rPr lang="en-US" sz="1800" u="none" strike="noStrike" dirty="0">
                          <a:latin typeface="Arial" pitchFamily="34" charset="0"/>
                          <a:cs typeface="Arial" pitchFamily="34" charset="0"/>
                        </a:rPr>
                        <a:t> AND</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12"/>
                  </a:ext>
                </a:extLst>
              </a:tr>
              <a:tr h="352778">
                <a:tc>
                  <a:txBody>
                    <a:bodyPr/>
                    <a:lstStyle/>
                    <a:p>
                      <a:pPr algn="ctr" fontAlgn="t"/>
                      <a:r>
                        <a:rPr lang="en-US" sz="1800" u="none" strike="noStrike" dirty="0">
                          <a:latin typeface="Arial" pitchFamily="34" charset="0"/>
                          <a:cs typeface="Arial" pitchFamily="34" charset="0"/>
                        </a:rPr>
                        <a:t>|</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algn="ctr" fontAlgn="t"/>
                      <a:r>
                        <a:rPr lang="en-US" sz="1800" u="none" strike="noStrike" dirty="0">
                          <a:latin typeface="Arial" pitchFamily="34" charset="0"/>
                          <a:cs typeface="Arial" pitchFamily="34" charset="0"/>
                        </a:rPr>
                        <a:t> OR</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13"/>
                  </a:ext>
                </a:extLst>
              </a:tr>
              <a:tr h="352778">
                <a:tc>
                  <a:txBody>
                    <a:bodyPr/>
                    <a:lstStyle/>
                    <a:p>
                      <a:pPr algn="ctr" fontAlgn="t"/>
                      <a:r>
                        <a:rPr lang="en-US" sz="1800" u="none" strike="noStrike" dirty="0">
                          <a:latin typeface="Arial" pitchFamily="34" charset="0"/>
                          <a:cs typeface="Arial" pitchFamily="34" charset="0"/>
                        </a:rPr>
                        <a:t>,</a:t>
                      </a:r>
                      <a:endParaRPr lang="en-US" sz="1800" b="0" i="0" u="none" strike="noStrike" dirty="0">
                        <a:solidFill>
                          <a:srgbClr val="000000"/>
                        </a:solidFill>
                        <a:latin typeface="Arial" pitchFamily="34" charset="0"/>
                        <a:cs typeface="Arial" pitchFamily="34" charset="0"/>
                      </a:endParaRPr>
                    </a:p>
                  </a:txBody>
                  <a:tcPr marL="10796" marR="10796" marT="7620" marB="0" anchor="ctr"/>
                </a:tc>
                <a:tc>
                  <a:txBody>
                    <a:bodyPr/>
                    <a:lstStyle/>
                    <a:p>
                      <a:pPr algn="ctr" fontAlgn="t"/>
                      <a:r>
                        <a:rPr lang="en-US" sz="1800" u="none" strike="noStrike" dirty="0">
                          <a:latin typeface="Arial" pitchFamily="34" charset="0"/>
                          <a:cs typeface="Arial" pitchFamily="34" charset="0"/>
                        </a:rPr>
                        <a:t> Comma separator</a:t>
                      </a:r>
                      <a:endParaRPr lang="en-US" sz="1800" b="0" i="0" u="none" strike="noStrike" dirty="0">
                        <a:solidFill>
                          <a:srgbClr val="000000"/>
                        </a:solidFill>
                        <a:latin typeface="Arial" pitchFamily="34" charset="0"/>
                        <a:cs typeface="Arial" pitchFamily="34" charset="0"/>
                      </a:endParaRPr>
                    </a:p>
                  </a:txBody>
                  <a:tcPr marL="10796" marR="10796" marT="7620" marB="0" anchor="ctr"/>
                </a:tc>
                <a:extLst>
                  <a:ext uri="{0D108BD9-81ED-4DB2-BD59-A6C34878D82A}">
                    <a16:rowId xmlns:a16="http://schemas.microsoft.com/office/drawing/2014/main" val="10014"/>
                  </a:ext>
                </a:extLst>
              </a:tr>
            </a:tbl>
          </a:graphicData>
        </a:graphic>
      </p:graphicFrame>
      <p:sp>
        <p:nvSpPr>
          <p:cNvPr id="5" name="Title 1"/>
          <p:cNvSpPr>
            <a:spLocks noGrp="1"/>
          </p:cNvSpPr>
          <p:nvPr>
            <p:ph type="title"/>
          </p:nvPr>
        </p:nvSpPr>
        <p:spPr/>
        <p:txBody>
          <a:bodyPr/>
          <a:lstStyle/>
          <a:p>
            <a:pPr>
              <a:defRPr/>
            </a:pPr>
            <a:r>
              <a:rPr lang="en-US" dirty="0"/>
              <a:t>Boolean Custom Fields</a:t>
            </a:r>
            <a:endParaRPr lang="nl-NL" dirty="0"/>
          </a:p>
        </p:txBody>
      </p:sp>
      <p:sp>
        <p:nvSpPr>
          <p:cNvPr id="6" name="Content Placeholder 2"/>
          <p:cNvSpPr txBox="1">
            <a:spLocks/>
          </p:cNvSpPr>
          <p:nvPr/>
        </p:nvSpPr>
        <p:spPr bwMode="gray">
          <a:xfrm>
            <a:off x="0" y="514350"/>
            <a:ext cx="9144000" cy="868363"/>
          </a:xfrm>
          <a:prstGeom prst="rect">
            <a:avLst/>
          </a:prstGeom>
          <a:noFill/>
          <a:ln w="9525">
            <a:noFill/>
            <a:miter lim="800000"/>
            <a:headEnd/>
            <a:tailEnd/>
          </a:ln>
        </p:spPr>
        <p:txBody>
          <a:bodyPr/>
          <a:lstStyle/>
          <a:p>
            <a:pPr marL="342900" indent="-342900" eaLnBrk="0" hangingPunct="0">
              <a:lnSpc>
                <a:spcPct val="110000"/>
              </a:lnSpc>
              <a:spcBef>
                <a:spcPct val="20000"/>
              </a:spcBef>
              <a:buClr>
                <a:srgbClr val="3374D4"/>
              </a:buClr>
              <a:buFont typeface="Wingdings 2" pitchFamily="18" charset="2"/>
              <a:buNone/>
              <a:defRPr/>
            </a:pPr>
            <a:endParaRPr lang="en-US" sz="2000" kern="0" dirty="0">
              <a:solidFill>
                <a:srgbClr val="FF0000"/>
              </a:solidFill>
              <a:latin typeface="+mn-lt"/>
            </a:endParaRPr>
          </a:p>
        </p:txBody>
      </p:sp>
    </p:spTree>
    <p:extLst>
      <p:ext uri="{BB962C8B-B14F-4D97-AF65-F5344CB8AC3E}">
        <p14:creationId xmlns:p14="http://schemas.microsoft.com/office/powerpoint/2010/main" val="3468081739"/>
      </p:ext>
    </p:extLst>
  </p:cSld>
  <p:clrMapOvr>
    <a:masterClrMapping/>
  </p:clrMapOvr>
  <p:transition>
    <p:wipe dir="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10836677"/>
              </p:ext>
            </p:extLst>
          </p:nvPr>
        </p:nvGraphicFramePr>
        <p:xfrm>
          <a:off x="457200" y="1311275"/>
          <a:ext cx="8172450" cy="4952821"/>
        </p:xfrm>
        <a:graphic>
          <a:graphicData uri="http://schemas.openxmlformats.org/drawingml/2006/table">
            <a:tbl>
              <a:tblPr>
                <a:tableStyleId>{BC89EF96-8CEA-46FF-86C4-4CE0E7609802}</a:tableStyleId>
              </a:tblPr>
              <a:tblGrid>
                <a:gridCol w="2998008">
                  <a:extLst>
                    <a:ext uri="{9D8B030D-6E8A-4147-A177-3AD203B41FA5}">
                      <a16:colId xmlns:a16="http://schemas.microsoft.com/office/drawing/2014/main" val="20000"/>
                    </a:ext>
                  </a:extLst>
                </a:gridCol>
                <a:gridCol w="5174442">
                  <a:extLst>
                    <a:ext uri="{9D8B030D-6E8A-4147-A177-3AD203B41FA5}">
                      <a16:colId xmlns:a16="http://schemas.microsoft.com/office/drawing/2014/main" val="20001"/>
                    </a:ext>
                  </a:extLst>
                </a:gridCol>
              </a:tblGrid>
              <a:tr h="388474">
                <a:tc gridSpan="2">
                  <a:txBody>
                    <a:bodyPr/>
                    <a:lstStyle/>
                    <a:p>
                      <a:pPr algn="ctr" fontAlgn="b"/>
                      <a:r>
                        <a:rPr lang="en-US" sz="2000" u="none" strike="noStrike" dirty="0">
                          <a:latin typeface="Arial" pitchFamily="34" charset="0"/>
                          <a:cs typeface="Arial" pitchFamily="34" charset="0"/>
                        </a:rPr>
                        <a:t>Boolean Operators / Functions</a:t>
                      </a:r>
                      <a:endParaRPr lang="en-US" sz="2000" b="1" i="0" u="none" strike="noStrike" dirty="0">
                        <a:solidFill>
                          <a:srgbClr val="000000"/>
                        </a:solidFill>
                        <a:latin typeface="Arial" pitchFamily="34" charset="0"/>
                        <a:cs typeface="Arial" pitchFamily="34" charset="0"/>
                      </a:endParaRPr>
                    </a:p>
                  </a:txBody>
                  <a:tcPr marL="7905" marR="7905" marT="7620" marB="0" anchor="ctr"/>
                </a:tc>
                <a:tc hMerge="1">
                  <a:txBody>
                    <a:bodyPr/>
                    <a:lstStyle/>
                    <a:p>
                      <a:endParaRPr lang="en-US"/>
                    </a:p>
                  </a:txBody>
                  <a:tcPr/>
                </a:tc>
                <a:extLst>
                  <a:ext uri="{0D108BD9-81ED-4DB2-BD59-A6C34878D82A}">
                    <a16:rowId xmlns:a16="http://schemas.microsoft.com/office/drawing/2014/main" val="10000"/>
                  </a:ext>
                </a:extLst>
              </a:tr>
              <a:tr h="387510">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GT(%Area,15)</a:t>
                      </a:r>
                      <a:endParaRPr lang="en-US" sz="1800" b="0" i="0" u="none" strike="noStrike" dirty="0">
                        <a:solidFill>
                          <a:srgbClr val="000000"/>
                        </a:solidFill>
                        <a:latin typeface="Arial" pitchFamily="34" charset="0"/>
                        <a:cs typeface="Arial" pitchFamily="34" charset="0"/>
                      </a:endParaRPr>
                    </a:p>
                  </a:txBody>
                  <a:tcPr marL="7905" marR="7905"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If %Area is &gt; 15 returns a 1, if not returns a 0</a:t>
                      </a:r>
                      <a:endParaRPr lang="en-US" sz="1800" b="0" i="0" u="none" strike="noStrike" dirty="0">
                        <a:solidFill>
                          <a:srgbClr val="000000"/>
                        </a:solidFill>
                        <a:latin typeface="Arial" pitchFamily="34" charset="0"/>
                        <a:cs typeface="Arial" pitchFamily="34" charset="0"/>
                      </a:endParaRPr>
                    </a:p>
                  </a:txBody>
                  <a:tcPr marL="7905" marR="7905" marT="7620" marB="0" anchor="ctr"/>
                </a:tc>
                <a:extLst>
                  <a:ext uri="{0D108BD9-81ED-4DB2-BD59-A6C34878D82A}">
                    <a16:rowId xmlns:a16="http://schemas.microsoft.com/office/drawing/2014/main" val="10001"/>
                  </a:ext>
                </a:extLst>
              </a:tr>
              <a:tr h="351670">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GTE(%Area,15)</a:t>
                      </a:r>
                      <a:endParaRPr lang="en-US" sz="1800" b="0" i="0" u="none" strike="noStrike" dirty="0">
                        <a:solidFill>
                          <a:srgbClr val="000000"/>
                        </a:solidFill>
                        <a:latin typeface="Arial" pitchFamily="34" charset="0"/>
                        <a:cs typeface="Arial" pitchFamily="34" charset="0"/>
                      </a:endParaRPr>
                    </a:p>
                  </a:txBody>
                  <a:tcPr marL="7905" marR="7905"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If %Area is ≥ 15 returns a 1, if not returns a 0</a:t>
                      </a:r>
                      <a:endParaRPr lang="en-US" sz="1800" b="0" i="0" u="none" strike="noStrike" dirty="0">
                        <a:solidFill>
                          <a:srgbClr val="000000"/>
                        </a:solidFill>
                        <a:latin typeface="Arial" pitchFamily="34" charset="0"/>
                        <a:cs typeface="Arial" pitchFamily="34" charset="0"/>
                      </a:endParaRPr>
                    </a:p>
                  </a:txBody>
                  <a:tcPr marL="7905" marR="7905" marT="7620" marB="0" anchor="ctr"/>
                </a:tc>
                <a:extLst>
                  <a:ext uri="{0D108BD9-81ED-4DB2-BD59-A6C34878D82A}">
                    <a16:rowId xmlns:a16="http://schemas.microsoft.com/office/drawing/2014/main" val="10002"/>
                  </a:ext>
                </a:extLst>
              </a:tr>
              <a:tr h="351670">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LT(%Area,15)</a:t>
                      </a:r>
                      <a:endParaRPr lang="en-US" sz="1800" b="0" i="0" u="none" strike="noStrike" dirty="0">
                        <a:solidFill>
                          <a:srgbClr val="000000"/>
                        </a:solidFill>
                        <a:latin typeface="Arial" pitchFamily="34" charset="0"/>
                        <a:cs typeface="Arial" pitchFamily="34" charset="0"/>
                      </a:endParaRPr>
                    </a:p>
                  </a:txBody>
                  <a:tcPr marL="7905" marR="7905"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If %Area is &lt; 15 returns a 1, if not returns a 0</a:t>
                      </a:r>
                      <a:endParaRPr lang="en-US" sz="1800" b="0" i="0" u="none" strike="noStrike" dirty="0">
                        <a:solidFill>
                          <a:srgbClr val="000000"/>
                        </a:solidFill>
                        <a:latin typeface="Arial" pitchFamily="34" charset="0"/>
                        <a:cs typeface="Arial" pitchFamily="34" charset="0"/>
                      </a:endParaRPr>
                    </a:p>
                  </a:txBody>
                  <a:tcPr marL="7905" marR="7905" marT="7620" marB="0" anchor="ctr"/>
                </a:tc>
                <a:extLst>
                  <a:ext uri="{0D108BD9-81ED-4DB2-BD59-A6C34878D82A}">
                    <a16:rowId xmlns:a16="http://schemas.microsoft.com/office/drawing/2014/main" val="10003"/>
                  </a:ext>
                </a:extLst>
              </a:tr>
              <a:tr h="351670">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LTE(%Area,15)</a:t>
                      </a:r>
                      <a:endParaRPr lang="en-US" sz="1800" b="0" i="0" u="none" strike="noStrike" dirty="0">
                        <a:solidFill>
                          <a:srgbClr val="000000"/>
                        </a:solidFill>
                        <a:latin typeface="Arial" pitchFamily="34" charset="0"/>
                        <a:cs typeface="Arial" pitchFamily="34" charset="0"/>
                      </a:endParaRPr>
                    </a:p>
                  </a:txBody>
                  <a:tcPr marL="7905" marR="7905"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If %Area is ≤ 15 returns a 1, if not returns a 0</a:t>
                      </a:r>
                      <a:endParaRPr lang="en-US" sz="1800" b="0" i="0" u="none" strike="noStrike" dirty="0">
                        <a:solidFill>
                          <a:srgbClr val="000000"/>
                        </a:solidFill>
                        <a:latin typeface="Arial" pitchFamily="34" charset="0"/>
                        <a:cs typeface="Arial" pitchFamily="34" charset="0"/>
                      </a:endParaRPr>
                    </a:p>
                  </a:txBody>
                  <a:tcPr marL="7905" marR="7905" marT="7620" marB="0" anchor="ctr"/>
                </a:tc>
                <a:extLst>
                  <a:ext uri="{0D108BD9-81ED-4DB2-BD59-A6C34878D82A}">
                    <a16:rowId xmlns:a16="http://schemas.microsoft.com/office/drawing/2014/main" val="10004"/>
                  </a:ext>
                </a:extLst>
              </a:tr>
              <a:tr h="610639">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EQ(</a:t>
                      </a:r>
                      <a:r>
                        <a:rPr lang="en-US" sz="1800" u="none" strike="noStrike" dirty="0" err="1">
                          <a:latin typeface="Arial" pitchFamily="34" charset="0"/>
                          <a:cs typeface="Arial" pitchFamily="34" charset="0"/>
                        </a:rPr>
                        <a:t>Name,”Acetone</a:t>
                      </a:r>
                      <a:r>
                        <a:rPr lang="en-US" sz="1800" u="none" strike="noStrike" dirty="0">
                          <a:latin typeface="Arial" pitchFamily="34" charset="0"/>
                          <a:cs typeface="Arial" pitchFamily="34" charset="0"/>
                        </a:rPr>
                        <a:t>”)</a:t>
                      </a:r>
                      <a:endParaRPr lang="en-US" sz="1800" b="0" i="0" u="none" strike="noStrike" dirty="0">
                        <a:solidFill>
                          <a:srgbClr val="000000"/>
                        </a:solidFill>
                        <a:latin typeface="Arial" pitchFamily="34" charset="0"/>
                        <a:cs typeface="Arial" pitchFamily="34" charset="0"/>
                      </a:endParaRPr>
                    </a:p>
                  </a:txBody>
                  <a:tcPr marL="7905" marR="7905"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If Name = Acetone (spelled with capital A) returns a 1, if not returns a 0</a:t>
                      </a:r>
                      <a:endParaRPr lang="en-US" sz="1800" b="0" i="0" u="none" strike="noStrike" dirty="0">
                        <a:solidFill>
                          <a:srgbClr val="000000"/>
                        </a:solidFill>
                        <a:latin typeface="Arial" pitchFamily="34" charset="0"/>
                        <a:cs typeface="Arial" pitchFamily="34" charset="0"/>
                      </a:endParaRPr>
                    </a:p>
                  </a:txBody>
                  <a:tcPr marL="7905" marR="7905" marT="7620" marB="0" anchor="ctr"/>
                </a:tc>
                <a:extLst>
                  <a:ext uri="{0D108BD9-81ED-4DB2-BD59-A6C34878D82A}">
                    <a16:rowId xmlns:a16="http://schemas.microsoft.com/office/drawing/2014/main" val="10005"/>
                  </a:ext>
                </a:extLst>
              </a:tr>
              <a:tr h="61393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NEQ(</a:t>
                      </a:r>
                      <a:r>
                        <a:rPr lang="en-US" sz="1800" u="none" strike="noStrike" dirty="0" err="1">
                          <a:latin typeface="Arial" pitchFamily="34" charset="0"/>
                          <a:cs typeface="Arial" pitchFamily="34" charset="0"/>
                        </a:rPr>
                        <a:t>Name,”Acetone</a:t>
                      </a:r>
                      <a:r>
                        <a:rPr lang="en-US" sz="1800" u="none" strike="noStrike" dirty="0">
                          <a:latin typeface="Arial" pitchFamily="34" charset="0"/>
                          <a:cs typeface="Arial" pitchFamily="34" charset="0"/>
                        </a:rPr>
                        <a:t>”)</a:t>
                      </a:r>
                      <a:endParaRPr lang="en-US" sz="1800" b="0" i="0" u="none" strike="noStrike" dirty="0">
                        <a:solidFill>
                          <a:srgbClr val="000000"/>
                        </a:solidFill>
                        <a:latin typeface="Arial" pitchFamily="34" charset="0"/>
                        <a:cs typeface="Arial" pitchFamily="34" charset="0"/>
                      </a:endParaRPr>
                    </a:p>
                  </a:txBody>
                  <a:tcPr marL="7905" marR="7905"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If Name ≠ Acetone (spelled with capital A) returns a 1, if not returns a 0</a:t>
                      </a:r>
                      <a:endParaRPr lang="en-US" sz="1800" b="0" i="0" u="none" strike="noStrike" dirty="0">
                        <a:solidFill>
                          <a:srgbClr val="000000"/>
                        </a:solidFill>
                        <a:latin typeface="Arial" pitchFamily="34" charset="0"/>
                        <a:cs typeface="Arial" pitchFamily="34" charset="0"/>
                      </a:endParaRPr>
                    </a:p>
                  </a:txBody>
                  <a:tcPr marL="7905" marR="7905" marT="7620" marB="0" anchor="ctr"/>
                </a:tc>
                <a:extLst>
                  <a:ext uri="{0D108BD9-81ED-4DB2-BD59-A6C34878D82A}">
                    <a16:rowId xmlns:a16="http://schemas.microsoft.com/office/drawing/2014/main" val="10006"/>
                  </a:ext>
                </a:extLst>
              </a:tr>
              <a:tr h="617236">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EQI(</a:t>
                      </a:r>
                      <a:r>
                        <a:rPr lang="en-US" sz="1800" u="none" strike="noStrike" dirty="0" err="1">
                          <a:latin typeface="Arial" pitchFamily="34" charset="0"/>
                          <a:cs typeface="Arial" pitchFamily="34" charset="0"/>
                        </a:rPr>
                        <a:t>Name,”acetone</a:t>
                      </a:r>
                      <a:r>
                        <a:rPr lang="en-US" sz="1800" u="none" strike="noStrike" dirty="0">
                          <a:latin typeface="Arial" pitchFamily="34" charset="0"/>
                          <a:cs typeface="Arial" pitchFamily="34" charset="0"/>
                        </a:rPr>
                        <a:t>”)</a:t>
                      </a:r>
                      <a:endParaRPr lang="en-US" sz="1800" b="0" i="0" u="none" strike="noStrike" dirty="0">
                        <a:solidFill>
                          <a:srgbClr val="000000"/>
                        </a:solidFill>
                        <a:latin typeface="Arial" pitchFamily="34" charset="0"/>
                        <a:cs typeface="Arial" pitchFamily="34" charset="0"/>
                      </a:endParaRPr>
                    </a:p>
                  </a:txBody>
                  <a:tcPr marL="7905" marR="7905"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If Name = Acetone (spelling case does not matter)</a:t>
                      </a:r>
                      <a:r>
                        <a:rPr lang="en-US" sz="1800" u="none" strike="noStrike" baseline="0" dirty="0">
                          <a:latin typeface="Arial" pitchFamily="34" charset="0"/>
                          <a:cs typeface="Arial" pitchFamily="34" charset="0"/>
                        </a:rPr>
                        <a:t>  </a:t>
                      </a:r>
                      <a:br>
                        <a:rPr lang="en-US" sz="1800" u="none" strike="noStrike" baseline="0" dirty="0">
                          <a:latin typeface="Arial" pitchFamily="34" charset="0"/>
                          <a:cs typeface="Arial" pitchFamily="34" charset="0"/>
                        </a:rPr>
                      </a:br>
                      <a:r>
                        <a:rPr lang="en-US" sz="1800" u="none" strike="noStrike" baseline="0" dirty="0">
                          <a:latin typeface="Arial" pitchFamily="34" charset="0"/>
                          <a:cs typeface="Arial" pitchFamily="34" charset="0"/>
                        </a:rPr>
                        <a:t> </a:t>
                      </a:r>
                      <a:r>
                        <a:rPr lang="en-US" sz="1800" u="none" strike="noStrike" dirty="0">
                          <a:latin typeface="Arial" pitchFamily="34" charset="0"/>
                          <a:cs typeface="Arial" pitchFamily="34" charset="0"/>
                        </a:rPr>
                        <a:t>returns a 1, if not returns a 0</a:t>
                      </a:r>
                      <a:endParaRPr lang="en-US" sz="1800" b="0" i="0" u="none" strike="noStrike" dirty="0">
                        <a:solidFill>
                          <a:srgbClr val="000000"/>
                        </a:solidFill>
                        <a:latin typeface="Arial" pitchFamily="34" charset="0"/>
                        <a:cs typeface="Arial" pitchFamily="34" charset="0"/>
                      </a:endParaRPr>
                    </a:p>
                  </a:txBody>
                  <a:tcPr marL="7905" marR="7905" marT="7620" marB="0" anchor="ctr"/>
                </a:tc>
                <a:extLst>
                  <a:ext uri="{0D108BD9-81ED-4DB2-BD59-A6C34878D82A}">
                    <a16:rowId xmlns:a16="http://schemas.microsoft.com/office/drawing/2014/main" val="10007"/>
                  </a:ext>
                </a:extLst>
              </a:tr>
              <a:tr h="606886">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NEQI (</a:t>
                      </a:r>
                      <a:r>
                        <a:rPr lang="en-US" sz="1800" u="none" strike="noStrike" dirty="0" err="1">
                          <a:latin typeface="Arial" pitchFamily="34" charset="0"/>
                          <a:cs typeface="Arial" pitchFamily="34" charset="0"/>
                        </a:rPr>
                        <a:t>Name,”acetone</a:t>
                      </a:r>
                      <a:r>
                        <a:rPr lang="en-US" sz="1800" u="none" strike="noStrike" dirty="0">
                          <a:latin typeface="Arial" pitchFamily="34" charset="0"/>
                          <a:cs typeface="Arial" pitchFamily="34" charset="0"/>
                        </a:rPr>
                        <a:t>”)</a:t>
                      </a:r>
                      <a:endParaRPr lang="en-US" sz="1800" b="0" i="0" u="none" strike="noStrike" dirty="0">
                        <a:solidFill>
                          <a:srgbClr val="000000"/>
                        </a:solidFill>
                        <a:latin typeface="Arial" pitchFamily="34" charset="0"/>
                        <a:cs typeface="Arial" pitchFamily="34" charset="0"/>
                      </a:endParaRPr>
                    </a:p>
                  </a:txBody>
                  <a:tcPr marL="7905" marR="7905"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If Name ≠ Acetone (spelling case does not matter) </a:t>
                      </a:r>
                      <a:br>
                        <a:rPr lang="en-US" sz="1800" u="none" strike="noStrike" dirty="0">
                          <a:latin typeface="Arial" pitchFamily="34" charset="0"/>
                          <a:cs typeface="Arial" pitchFamily="34" charset="0"/>
                        </a:rPr>
                      </a:br>
                      <a:r>
                        <a:rPr lang="en-US" sz="1800" u="none" strike="noStrike" dirty="0">
                          <a:latin typeface="Arial" pitchFamily="34" charset="0"/>
                          <a:cs typeface="Arial" pitchFamily="34" charset="0"/>
                        </a:rPr>
                        <a:t> returns a 1, if not returns a 0</a:t>
                      </a:r>
                      <a:endParaRPr lang="en-US" sz="1800" b="0" i="0" u="none" strike="noStrike" dirty="0">
                        <a:solidFill>
                          <a:srgbClr val="000000"/>
                        </a:solidFill>
                        <a:latin typeface="Arial" pitchFamily="34" charset="0"/>
                        <a:cs typeface="Arial" pitchFamily="34" charset="0"/>
                      </a:endParaRPr>
                    </a:p>
                  </a:txBody>
                  <a:tcPr marL="7905" marR="7905" marT="7620" marB="0" anchor="ctr"/>
                </a:tc>
                <a:extLst>
                  <a:ext uri="{0D108BD9-81ED-4DB2-BD59-A6C34878D82A}">
                    <a16:rowId xmlns:a16="http://schemas.microsoft.com/office/drawing/2014/main" val="10008"/>
                  </a:ext>
                </a:extLst>
              </a:tr>
              <a:tr h="673128">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RANGE(%Area,15,20)</a:t>
                      </a:r>
                      <a:endParaRPr lang="en-US" sz="1800" b="0" i="0" u="none" strike="noStrike" dirty="0">
                        <a:solidFill>
                          <a:srgbClr val="000000"/>
                        </a:solidFill>
                        <a:latin typeface="Arial" pitchFamily="34" charset="0"/>
                        <a:cs typeface="Arial" pitchFamily="34" charset="0"/>
                      </a:endParaRPr>
                    </a:p>
                  </a:txBody>
                  <a:tcPr marL="7905" marR="7905" marT="7620" marB="0" anchor="ctr"/>
                </a:tc>
                <a:tc>
                  <a:txBody>
                    <a:bodyPr/>
                    <a:lstStyle/>
                    <a:p>
                      <a:pPr marL="0" marR="0" indent="0" algn="ctr" defTabSz="914400" rtl="0" eaLnBrk="1" fontAlgn="t" latinLnBrk="0" hangingPunct="1">
                        <a:lnSpc>
                          <a:spcPct val="100000"/>
                        </a:lnSpc>
                        <a:spcBef>
                          <a:spcPts val="0"/>
                        </a:spcBef>
                        <a:spcAft>
                          <a:spcPts val="0"/>
                        </a:spcAft>
                        <a:buClrTx/>
                        <a:buSzTx/>
                        <a:buFontTx/>
                        <a:buNone/>
                        <a:tabLst/>
                        <a:defRPr/>
                      </a:pPr>
                      <a:r>
                        <a:rPr lang="en-US" sz="1800" u="none" strike="noStrike" dirty="0">
                          <a:latin typeface="Arial" pitchFamily="34" charset="0"/>
                          <a:cs typeface="Arial" pitchFamily="34" charset="0"/>
                        </a:rPr>
                        <a:t> If %Area is &gt; 15 and ≤ 20 (15 is not included but 20 is included) returns a 1,</a:t>
                      </a:r>
                      <a:r>
                        <a:rPr lang="en-US" sz="1800" u="none" strike="noStrike" baseline="0" dirty="0">
                          <a:latin typeface="Arial" pitchFamily="34" charset="0"/>
                          <a:cs typeface="Arial" pitchFamily="34" charset="0"/>
                        </a:rPr>
                        <a:t> if not return a 0</a:t>
                      </a:r>
                      <a:endParaRPr lang="en-US" sz="1800" b="0" i="0" u="none" strike="noStrike" dirty="0">
                        <a:solidFill>
                          <a:srgbClr val="000000"/>
                        </a:solidFill>
                        <a:latin typeface="Arial" pitchFamily="34" charset="0"/>
                        <a:cs typeface="Arial" pitchFamily="34" charset="0"/>
                      </a:endParaRPr>
                    </a:p>
                  </a:txBody>
                  <a:tcPr marL="7905" marR="7905" marT="7620" marB="0" anchor="ctr"/>
                </a:tc>
                <a:extLst>
                  <a:ext uri="{0D108BD9-81ED-4DB2-BD59-A6C34878D82A}">
                    <a16:rowId xmlns:a16="http://schemas.microsoft.com/office/drawing/2014/main" val="10009"/>
                  </a:ext>
                </a:extLst>
              </a:tr>
            </a:tbl>
          </a:graphicData>
        </a:graphic>
      </p:graphicFrame>
      <p:sp>
        <p:nvSpPr>
          <p:cNvPr id="5" name="Title 1"/>
          <p:cNvSpPr>
            <a:spLocks noGrp="1"/>
          </p:cNvSpPr>
          <p:nvPr>
            <p:ph type="title"/>
          </p:nvPr>
        </p:nvSpPr>
        <p:spPr/>
        <p:txBody>
          <a:bodyPr/>
          <a:lstStyle/>
          <a:p>
            <a:pPr>
              <a:defRPr/>
            </a:pPr>
            <a:r>
              <a:rPr lang="en-US" dirty="0"/>
              <a:t>Boolean Custom Fields – </a:t>
            </a:r>
            <a:r>
              <a:rPr lang="en-US" dirty="0">
                <a:solidFill>
                  <a:schemeClr val="accent2"/>
                </a:solidFill>
              </a:rPr>
              <a:t>Examples</a:t>
            </a:r>
            <a:r>
              <a:rPr lang="en-US" dirty="0"/>
              <a:t> </a:t>
            </a:r>
            <a:endParaRPr lang="nl-NL" dirty="0"/>
          </a:p>
        </p:txBody>
      </p:sp>
      <p:sp>
        <p:nvSpPr>
          <p:cNvPr id="6" name="Content Placeholder 2"/>
          <p:cNvSpPr txBox="1">
            <a:spLocks/>
          </p:cNvSpPr>
          <p:nvPr/>
        </p:nvSpPr>
        <p:spPr bwMode="gray">
          <a:xfrm>
            <a:off x="0" y="514350"/>
            <a:ext cx="9144000" cy="868363"/>
          </a:xfrm>
          <a:prstGeom prst="rect">
            <a:avLst/>
          </a:prstGeom>
          <a:noFill/>
          <a:ln w="9525">
            <a:noFill/>
            <a:miter lim="800000"/>
            <a:headEnd/>
            <a:tailEnd/>
          </a:ln>
        </p:spPr>
        <p:txBody>
          <a:bodyPr/>
          <a:lstStyle/>
          <a:p>
            <a:pPr marL="342900" indent="-342900" eaLnBrk="0" hangingPunct="0">
              <a:lnSpc>
                <a:spcPct val="110000"/>
              </a:lnSpc>
              <a:spcBef>
                <a:spcPct val="20000"/>
              </a:spcBef>
              <a:buClr>
                <a:srgbClr val="3374D4"/>
              </a:buClr>
              <a:buFont typeface="Wingdings 2" pitchFamily="18" charset="2"/>
              <a:buNone/>
              <a:defRPr/>
            </a:pPr>
            <a:endParaRPr lang="en-US" sz="2000" kern="0" dirty="0">
              <a:solidFill>
                <a:srgbClr val="FF0000"/>
              </a:solidFill>
              <a:latin typeface="+mn-lt"/>
            </a:endParaRPr>
          </a:p>
        </p:txBody>
      </p:sp>
    </p:spTree>
    <p:extLst>
      <p:ext uri="{BB962C8B-B14F-4D97-AF65-F5344CB8AC3E}">
        <p14:creationId xmlns:p14="http://schemas.microsoft.com/office/powerpoint/2010/main" val="3987211537"/>
      </p:ext>
    </p:extLst>
  </p:cSld>
  <p:clrMapOvr>
    <a:masterClrMapping/>
  </p:clrMapOvr>
  <p:transition>
    <p:wipe dir="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r>
              <a:rPr lang="en-US" dirty="0"/>
              <a:t>GT(Area,20000)   </a:t>
            </a:r>
          </a:p>
          <a:p>
            <a:pPr lvl="1"/>
            <a:r>
              <a:rPr lang="en-US" dirty="0"/>
              <a:t>Any Area above 20000 is true</a:t>
            </a:r>
          </a:p>
          <a:p>
            <a:r>
              <a:rPr lang="en-US" dirty="0"/>
              <a:t>GT(</a:t>
            </a:r>
            <a:r>
              <a:rPr lang="en-US" dirty="0" err="1">
                <a:solidFill>
                  <a:srgbClr val="C00000"/>
                </a:solidFill>
              </a:rPr>
              <a:t>ThBr</a:t>
            </a:r>
            <a:r>
              <a:rPr lang="en-US" dirty="0">
                <a:solidFill>
                  <a:srgbClr val="C00000"/>
                </a:solidFill>
              </a:rPr>
              <a:t>[Area]</a:t>
            </a:r>
            <a:r>
              <a:rPr lang="en-US" dirty="0"/>
              <a:t>,20000)</a:t>
            </a:r>
          </a:p>
          <a:p>
            <a:pPr lvl="1"/>
            <a:r>
              <a:rPr lang="en-US" dirty="0"/>
              <a:t>The Area of </a:t>
            </a:r>
            <a:r>
              <a:rPr lang="en-US" dirty="0" err="1"/>
              <a:t>ThBr</a:t>
            </a:r>
            <a:r>
              <a:rPr lang="en-US" dirty="0"/>
              <a:t> above 20000 is true</a:t>
            </a:r>
          </a:p>
          <a:p>
            <a:r>
              <a:rPr lang="en-US" dirty="0"/>
              <a:t>GT(</a:t>
            </a:r>
            <a:r>
              <a:rPr lang="en-US" dirty="0" err="1">
                <a:solidFill>
                  <a:srgbClr val="C00000"/>
                </a:solidFill>
              </a:rPr>
              <a:t>ThBr</a:t>
            </a:r>
            <a:r>
              <a:rPr lang="en-US" dirty="0">
                <a:solidFill>
                  <a:srgbClr val="C00000"/>
                </a:solidFill>
              </a:rPr>
              <a:t>[Area]</a:t>
            </a:r>
            <a:r>
              <a:rPr lang="en-US" dirty="0"/>
              <a:t>,20000)</a:t>
            </a:r>
            <a:r>
              <a:rPr lang="en-US" dirty="0">
                <a:solidFill>
                  <a:srgbClr val="3366FF"/>
                </a:solidFill>
              </a:rPr>
              <a:t>&amp;</a:t>
            </a:r>
            <a:r>
              <a:rPr lang="en-US" dirty="0"/>
              <a:t>GT(</a:t>
            </a:r>
            <a:r>
              <a:rPr lang="en-US" dirty="0" err="1">
                <a:solidFill>
                  <a:srgbClr val="C00000"/>
                </a:solidFill>
              </a:rPr>
              <a:t>Caf</a:t>
            </a:r>
            <a:r>
              <a:rPr lang="en-US" dirty="0">
                <a:solidFill>
                  <a:srgbClr val="C00000"/>
                </a:solidFill>
              </a:rPr>
              <a:t>[Area]</a:t>
            </a:r>
            <a:r>
              <a:rPr lang="en-US" dirty="0"/>
              <a:t>,400000)</a:t>
            </a:r>
          </a:p>
          <a:p>
            <a:pPr lvl="1"/>
            <a:r>
              <a:rPr lang="en-US" dirty="0"/>
              <a:t>The Area of </a:t>
            </a:r>
            <a:r>
              <a:rPr lang="en-US" dirty="0" err="1"/>
              <a:t>ThBr</a:t>
            </a:r>
            <a:r>
              <a:rPr lang="en-US" dirty="0"/>
              <a:t> above 20000 </a:t>
            </a:r>
            <a:r>
              <a:rPr lang="en-US" dirty="0">
                <a:solidFill>
                  <a:srgbClr val="3366FF"/>
                </a:solidFill>
              </a:rPr>
              <a:t>and</a:t>
            </a:r>
            <a:r>
              <a:rPr lang="en-US" dirty="0"/>
              <a:t> the Area of </a:t>
            </a:r>
            <a:r>
              <a:rPr lang="en-US" dirty="0" err="1"/>
              <a:t>Caf</a:t>
            </a:r>
            <a:r>
              <a:rPr lang="en-US" dirty="0"/>
              <a:t> above 400000 is true</a:t>
            </a:r>
          </a:p>
          <a:p>
            <a:r>
              <a:rPr lang="en-US" dirty="0"/>
              <a:t>GT(</a:t>
            </a:r>
            <a:r>
              <a:rPr lang="en-US" dirty="0" err="1">
                <a:solidFill>
                  <a:srgbClr val="C00000"/>
                </a:solidFill>
              </a:rPr>
              <a:t>ThBr</a:t>
            </a:r>
            <a:r>
              <a:rPr lang="en-US" dirty="0">
                <a:solidFill>
                  <a:srgbClr val="C00000"/>
                </a:solidFill>
              </a:rPr>
              <a:t>[Area]</a:t>
            </a:r>
            <a:r>
              <a:rPr lang="en-US" dirty="0"/>
              <a:t>,20000)</a:t>
            </a:r>
            <a:r>
              <a:rPr lang="en-US" dirty="0">
                <a:solidFill>
                  <a:srgbClr val="3366FF"/>
                </a:solidFill>
              </a:rPr>
              <a:t>|</a:t>
            </a:r>
            <a:r>
              <a:rPr lang="en-US" dirty="0"/>
              <a:t>GT(</a:t>
            </a:r>
            <a:r>
              <a:rPr lang="en-US" dirty="0" err="1">
                <a:solidFill>
                  <a:srgbClr val="C00000"/>
                </a:solidFill>
              </a:rPr>
              <a:t>Caf</a:t>
            </a:r>
            <a:r>
              <a:rPr lang="en-US" dirty="0">
                <a:solidFill>
                  <a:srgbClr val="C00000"/>
                </a:solidFill>
              </a:rPr>
              <a:t>[Area]</a:t>
            </a:r>
            <a:r>
              <a:rPr lang="en-US" dirty="0"/>
              <a:t>,400000)</a:t>
            </a:r>
          </a:p>
          <a:p>
            <a:pPr lvl="1"/>
            <a:r>
              <a:rPr lang="en-US" dirty="0"/>
              <a:t>The Area of </a:t>
            </a:r>
            <a:r>
              <a:rPr lang="en-US" dirty="0" err="1"/>
              <a:t>ThBr</a:t>
            </a:r>
            <a:r>
              <a:rPr lang="en-US" dirty="0"/>
              <a:t> above 20000 </a:t>
            </a:r>
            <a:r>
              <a:rPr lang="en-US" dirty="0">
                <a:solidFill>
                  <a:srgbClr val="3366FF"/>
                </a:solidFill>
              </a:rPr>
              <a:t>or</a:t>
            </a:r>
            <a:r>
              <a:rPr lang="en-US" dirty="0"/>
              <a:t> the Area of </a:t>
            </a:r>
            <a:r>
              <a:rPr lang="en-US" dirty="0" err="1"/>
              <a:t>Caf</a:t>
            </a:r>
            <a:r>
              <a:rPr lang="en-US" dirty="0"/>
              <a:t> above 400000 is true</a:t>
            </a:r>
          </a:p>
          <a:p>
            <a:endParaRPr lang="en-US" dirty="0"/>
          </a:p>
        </p:txBody>
      </p:sp>
      <p:sp>
        <p:nvSpPr>
          <p:cNvPr id="2" name="Title 1"/>
          <p:cNvSpPr>
            <a:spLocks noGrp="1"/>
          </p:cNvSpPr>
          <p:nvPr>
            <p:ph type="title"/>
          </p:nvPr>
        </p:nvSpPr>
        <p:spPr/>
        <p:txBody>
          <a:bodyPr/>
          <a:lstStyle/>
          <a:p>
            <a:pPr>
              <a:defRPr/>
            </a:pPr>
            <a:r>
              <a:rPr lang="en-US" dirty="0"/>
              <a:t>Example 1 Boolean CF</a:t>
            </a:r>
          </a:p>
        </p:txBody>
      </p:sp>
      <p:pic>
        <p:nvPicPr>
          <p:cNvPr id="12292" name="Picture 4"/>
          <p:cNvPicPr>
            <a:picLocks noChangeAspect="1" noChangeArrowheads="1"/>
          </p:cNvPicPr>
          <p:nvPr/>
        </p:nvPicPr>
        <p:blipFill>
          <a:blip r:embed="rId3" cstate="print"/>
          <a:srcRect/>
          <a:stretch>
            <a:fillRect/>
          </a:stretch>
        </p:blipFill>
        <p:spPr bwMode="auto">
          <a:xfrm>
            <a:off x="6240256" y="1265801"/>
            <a:ext cx="2238725" cy="1775955"/>
          </a:xfrm>
          <a:prstGeom prst="rect">
            <a:avLst/>
          </a:prstGeom>
          <a:noFill/>
          <a:ln w="38100" algn="ctr">
            <a:noFill/>
            <a:miter lim="800000"/>
            <a:headEnd/>
            <a:tailEnd/>
          </a:ln>
        </p:spPr>
      </p:pic>
    </p:spTree>
    <p:extLst>
      <p:ext uri="{BB962C8B-B14F-4D97-AF65-F5344CB8AC3E}">
        <p14:creationId xmlns:p14="http://schemas.microsoft.com/office/powerpoint/2010/main" val="2341402738"/>
      </p:ext>
    </p:extLst>
  </p:cSld>
  <p:clrMapOvr>
    <a:masterClrMapping/>
  </p:clrMapOvr>
  <p:transition>
    <p:wipe dir="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r>
              <a:rPr lang="en-US" dirty="0"/>
              <a:t>GT(CCompRef1[Area],CConst1)</a:t>
            </a:r>
          </a:p>
          <a:p>
            <a:pPr lvl="1"/>
            <a:r>
              <a:rPr lang="en-US" dirty="0"/>
              <a:t>CCompRef1 and CConst1 are specified in the Processing Method</a:t>
            </a:r>
          </a:p>
          <a:p>
            <a:endParaRPr lang="en-US" dirty="0"/>
          </a:p>
        </p:txBody>
      </p:sp>
      <p:sp>
        <p:nvSpPr>
          <p:cNvPr id="2" name="Title 1"/>
          <p:cNvSpPr>
            <a:spLocks noGrp="1"/>
          </p:cNvSpPr>
          <p:nvPr>
            <p:ph type="title"/>
          </p:nvPr>
        </p:nvSpPr>
        <p:spPr/>
        <p:txBody>
          <a:bodyPr/>
          <a:lstStyle/>
          <a:p>
            <a:pPr>
              <a:defRPr/>
            </a:pPr>
            <a:r>
              <a:rPr lang="en-US" dirty="0"/>
              <a:t>Example 1 Boolean CF</a:t>
            </a:r>
          </a:p>
        </p:txBody>
      </p:sp>
      <p:pic>
        <p:nvPicPr>
          <p:cNvPr id="12293" name="Picture 6"/>
          <p:cNvPicPr>
            <a:picLocks noChangeAspect="1" noChangeArrowheads="1"/>
          </p:cNvPicPr>
          <p:nvPr/>
        </p:nvPicPr>
        <p:blipFill>
          <a:blip r:embed="rId3" cstate="print">
            <a:lum bright="-10000" contrast="20000"/>
          </a:blip>
          <a:srcRect r="34735"/>
          <a:stretch>
            <a:fillRect/>
          </a:stretch>
        </p:blipFill>
        <p:spPr bwMode="auto">
          <a:xfrm>
            <a:off x="973776" y="2455074"/>
            <a:ext cx="7169402" cy="2508812"/>
          </a:xfrm>
          <a:prstGeom prst="rect">
            <a:avLst/>
          </a:prstGeom>
          <a:noFill/>
          <a:ln w="38100" algn="ctr">
            <a:noFill/>
            <a:miter lim="800000"/>
            <a:headEnd/>
            <a:tailEnd/>
          </a:ln>
        </p:spPr>
      </p:pic>
      <p:sp>
        <p:nvSpPr>
          <p:cNvPr id="12294" name="TextBox 6"/>
          <p:cNvSpPr txBox="1">
            <a:spLocks noChangeArrowheads="1"/>
          </p:cNvSpPr>
          <p:nvPr/>
        </p:nvSpPr>
        <p:spPr bwMode="auto">
          <a:xfrm>
            <a:off x="7305681" y="4422096"/>
            <a:ext cx="816453" cy="244082"/>
          </a:xfrm>
          <a:prstGeom prst="rect">
            <a:avLst/>
          </a:prstGeom>
          <a:noFill/>
          <a:ln w="38100">
            <a:noFill/>
            <a:miter lim="800000"/>
            <a:headEnd/>
            <a:tailEnd/>
          </a:ln>
        </p:spPr>
        <p:txBody>
          <a:bodyPr wrap="square">
            <a:spAutoFit/>
          </a:bodyPr>
          <a:lstStyle/>
          <a:p>
            <a:pPr algn="l"/>
            <a:r>
              <a:rPr lang="en-US" sz="1000" dirty="0"/>
              <a:t>20000</a:t>
            </a:r>
          </a:p>
        </p:txBody>
      </p:sp>
      <p:sp>
        <p:nvSpPr>
          <p:cNvPr id="12295" name="TextBox 7"/>
          <p:cNvSpPr txBox="1">
            <a:spLocks noChangeArrowheads="1"/>
          </p:cNvSpPr>
          <p:nvPr/>
        </p:nvSpPr>
        <p:spPr bwMode="auto">
          <a:xfrm>
            <a:off x="7307281" y="4667003"/>
            <a:ext cx="815440" cy="244082"/>
          </a:xfrm>
          <a:prstGeom prst="rect">
            <a:avLst/>
          </a:prstGeom>
          <a:noFill/>
          <a:ln w="38100">
            <a:noFill/>
            <a:miter lim="800000"/>
            <a:headEnd/>
            <a:tailEnd/>
          </a:ln>
        </p:spPr>
        <p:txBody>
          <a:bodyPr wrap="square">
            <a:spAutoFit/>
          </a:bodyPr>
          <a:lstStyle/>
          <a:p>
            <a:pPr algn="l"/>
            <a:r>
              <a:rPr lang="en-US" sz="1000" dirty="0"/>
              <a:t>400000</a:t>
            </a:r>
          </a:p>
        </p:txBody>
      </p:sp>
      <p:sp>
        <p:nvSpPr>
          <p:cNvPr id="8" name="Rectangle 7"/>
          <p:cNvSpPr/>
          <p:nvPr/>
        </p:nvSpPr>
        <p:spPr bwMode="auto">
          <a:xfrm>
            <a:off x="4637314" y="3982147"/>
            <a:ext cx="3373211" cy="43912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275877479"/>
      </p:ext>
    </p:extLst>
  </p:cSld>
  <p:clrMapOvr>
    <a:masterClrMapping/>
  </p:clrMapOvr>
  <p:transition>
    <p:wipe dir="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Example 1 Boolean CF</a:t>
            </a:r>
          </a:p>
        </p:txBody>
      </p:sp>
      <p:grpSp>
        <p:nvGrpSpPr>
          <p:cNvPr id="10" name="Group 9"/>
          <p:cNvGrpSpPr/>
          <p:nvPr/>
        </p:nvGrpSpPr>
        <p:grpSpPr>
          <a:xfrm>
            <a:off x="1800233" y="1289101"/>
            <a:ext cx="5511114" cy="5194812"/>
            <a:chOff x="1705233" y="778476"/>
            <a:chExt cx="5511114" cy="5194812"/>
          </a:xfrm>
        </p:grpSpPr>
        <p:grpSp>
          <p:nvGrpSpPr>
            <p:cNvPr id="2" name="Group 9"/>
            <p:cNvGrpSpPr>
              <a:grpSpLocks/>
            </p:cNvGrpSpPr>
            <p:nvPr/>
          </p:nvGrpSpPr>
          <p:grpSpPr bwMode="auto">
            <a:xfrm>
              <a:off x="1705233" y="778476"/>
              <a:ext cx="5511114" cy="5194812"/>
              <a:chOff x="1281113" y="233363"/>
              <a:chExt cx="5853112" cy="5340420"/>
            </a:xfrm>
          </p:grpSpPr>
          <p:pic>
            <p:nvPicPr>
              <p:cNvPr id="13321" name="Snagit_PPTF9E" descr="PPTF9E.png"/>
              <p:cNvPicPr>
                <a:picLocks noChangeAspect="1"/>
              </p:cNvPicPr>
              <p:nvPr/>
            </p:nvPicPr>
            <p:blipFill>
              <a:blip r:embed="rId3" cstate="print"/>
              <a:srcRect b="10148"/>
              <a:stretch>
                <a:fillRect/>
              </a:stretch>
            </p:blipFill>
            <p:spPr bwMode="auto">
              <a:xfrm>
                <a:off x="1281113" y="233363"/>
                <a:ext cx="5853112" cy="5340420"/>
              </a:xfrm>
              <a:prstGeom prst="rect">
                <a:avLst/>
              </a:prstGeom>
              <a:solidFill>
                <a:schemeClr val="bg1"/>
              </a:solidFill>
              <a:ln w="38100">
                <a:noFill/>
                <a:miter lim="800000"/>
                <a:headEnd/>
                <a:tailEnd/>
              </a:ln>
            </p:spPr>
          </p:pic>
          <p:sp>
            <p:nvSpPr>
              <p:cNvPr id="13322" name="Rectangle 2"/>
              <p:cNvSpPr>
                <a:spLocks noChangeArrowheads="1"/>
              </p:cNvSpPr>
              <p:nvPr/>
            </p:nvSpPr>
            <p:spPr bwMode="auto">
              <a:xfrm>
                <a:off x="2873561" y="4666265"/>
                <a:ext cx="3676337" cy="348044"/>
              </a:xfrm>
              <a:prstGeom prst="rect">
                <a:avLst/>
              </a:prstGeom>
              <a:solidFill>
                <a:schemeClr val="bg1"/>
              </a:solidFill>
              <a:ln w="9525">
                <a:noFill/>
                <a:miter lim="800000"/>
                <a:headEnd/>
                <a:tailEnd/>
              </a:ln>
            </p:spPr>
            <p:txBody>
              <a:bodyPr wrap="square">
                <a:spAutoFit/>
              </a:bodyPr>
              <a:lstStyle/>
              <a:p>
                <a:r>
                  <a:rPr lang="nl-NL" dirty="0">
                    <a:latin typeface="Arial" panose="020B0604020202020204" pitchFamily="34" charset="0"/>
                    <a:cs typeface="Arial" panose="020B0604020202020204" pitchFamily="34" charset="0"/>
                  </a:rPr>
                  <a:t>GT(</a:t>
                </a:r>
                <a:r>
                  <a:rPr lang="nl-NL" dirty="0">
                    <a:solidFill>
                      <a:srgbClr val="C00000"/>
                    </a:solidFill>
                    <a:latin typeface="Arial" panose="020B0604020202020204" pitchFamily="34" charset="0"/>
                    <a:cs typeface="Arial" panose="020B0604020202020204" pitchFamily="34" charset="0"/>
                  </a:rPr>
                  <a:t>CCompRef1</a:t>
                </a:r>
                <a:r>
                  <a:rPr lang="nl-NL" dirty="0">
                    <a:latin typeface="Arial" panose="020B0604020202020204" pitchFamily="34" charset="0"/>
                    <a:cs typeface="Arial" panose="020B0604020202020204" pitchFamily="34" charset="0"/>
                  </a:rPr>
                  <a:t>[Area],</a:t>
                </a:r>
                <a:r>
                  <a:rPr lang="nl-NL" dirty="0">
                    <a:solidFill>
                      <a:srgbClr val="C00000"/>
                    </a:solidFill>
                    <a:latin typeface="Arial" panose="020B0604020202020204" pitchFamily="34" charset="0"/>
                    <a:cs typeface="Arial" panose="020B0604020202020204" pitchFamily="34" charset="0"/>
                  </a:rPr>
                  <a:t>CConst1</a:t>
                </a:r>
                <a:r>
                  <a:rPr lang="nl-NL" dirty="0">
                    <a:latin typeface="Arial" panose="020B0604020202020204" pitchFamily="34" charset="0"/>
                    <a:cs typeface="Arial" panose="020B0604020202020204" pitchFamily="34" charset="0"/>
                  </a:rPr>
                  <a:t>)</a:t>
                </a:r>
              </a:p>
            </p:txBody>
          </p:sp>
        </p:grpSp>
        <p:sp>
          <p:nvSpPr>
            <p:cNvPr id="12" name="Rectangle 11"/>
            <p:cNvSpPr/>
            <p:nvPr/>
          </p:nvSpPr>
          <p:spPr bwMode="auto">
            <a:xfrm>
              <a:off x="3090634" y="1260388"/>
              <a:ext cx="1410118" cy="28341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7" name="Rectangle 6"/>
            <p:cNvSpPr/>
            <p:nvPr/>
          </p:nvSpPr>
          <p:spPr bwMode="auto">
            <a:xfrm>
              <a:off x="4826000" y="1564640"/>
              <a:ext cx="1310640" cy="92456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8" name="Rectangle 7"/>
            <p:cNvSpPr/>
            <p:nvPr/>
          </p:nvSpPr>
          <p:spPr bwMode="auto">
            <a:xfrm>
              <a:off x="1869440" y="1767840"/>
              <a:ext cx="680720" cy="28448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9" name="Rectangle 8"/>
            <p:cNvSpPr/>
            <p:nvPr/>
          </p:nvSpPr>
          <p:spPr bwMode="auto">
            <a:xfrm>
              <a:off x="1828803" y="4144502"/>
              <a:ext cx="795645" cy="28500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grpSp>
    </p:spTree>
    <p:extLst>
      <p:ext uri="{BB962C8B-B14F-4D97-AF65-F5344CB8AC3E}">
        <p14:creationId xmlns:p14="http://schemas.microsoft.com/office/powerpoint/2010/main" val="981435256"/>
      </p:ext>
    </p:extLst>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Snagit_PPT181E" descr="PPT181E.png"/>
          <p:cNvPicPr>
            <a:picLocks noChangeAspect="1"/>
          </p:cNvPicPr>
          <p:nvPr/>
        </p:nvPicPr>
        <p:blipFill>
          <a:blip r:embed="rId3" cstate="print"/>
          <a:srcRect l="45369" t="30011" r="4060" b="58459"/>
          <a:stretch>
            <a:fillRect/>
          </a:stretch>
        </p:blipFill>
        <p:spPr bwMode="auto">
          <a:xfrm>
            <a:off x="463135" y="5070771"/>
            <a:ext cx="8204391" cy="1167633"/>
          </a:xfrm>
          <a:prstGeom prst="rect">
            <a:avLst/>
          </a:prstGeom>
          <a:noFill/>
          <a:ln w="9525">
            <a:noFill/>
            <a:miter lim="800000"/>
            <a:headEnd/>
            <a:tailEnd/>
          </a:ln>
        </p:spPr>
      </p:pic>
      <p:pic>
        <p:nvPicPr>
          <p:cNvPr id="15362" name="Snagit_PPT181E" descr="PPT181E.png"/>
          <p:cNvPicPr>
            <a:picLocks noChangeAspect="1"/>
          </p:cNvPicPr>
          <p:nvPr/>
        </p:nvPicPr>
        <p:blipFill>
          <a:blip r:embed="rId3" cstate="print"/>
          <a:srcRect l="12922" t="22326" r="55331" b="23029"/>
          <a:stretch>
            <a:fillRect/>
          </a:stretch>
        </p:blipFill>
        <p:spPr bwMode="auto">
          <a:xfrm>
            <a:off x="4809516" y="463140"/>
            <a:ext cx="3800104" cy="4087620"/>
          </a:xfrm>
          <a:prstGeom prst="rect">
            <a:avLst/>
          </a:prstGeom>
          <a:noFill/>
          <a:ln w="9525">
            <a:noFill/>
            <a:miter lim="800000"/>
            <a:headEnd/>
            <a:tailEnd/>
          </a:ln>
        </p:spPr>
      </p:pic>
      <p:sp>
        <p:nvSpPr>
          <p:cNvPr id="15363" name="Rectangle 2"/>
          <p:cNvSpPr>
            <a:spLocks noChangeArrowheads="1"/>
          </p:cNvSpPr>
          <p:nvPr/>
        </p:nvSpPr>
        <p:spPr bwMode="auto">
          <a:xfrm>
            <a:off x="890510" y="4171922"/>
            <a:ext cx="3506088" cy="369332"/>
          </a:xfrm>
          <a:prstGeom prst="rect">
            <a:avLst/>
          </a:prstGeom>
          <a:solidFill>
            <a:schemeClr val="bg1"/>
          </a:solidFill>
          <a:ln w="38100">
            <a:solidFill>
              <a:srgbClr val="3374D4"/>
            </a:solidFill>
            <a:miter lim="800000"/>
            <a:headEnd/>
            <a:tailEnd/>
          </a:ln>
        </p:spPr>
        <p:txBody>
          <a:bodyPr wrap="none">
            <a:spAutoFit/>
          </a:bodyPr>
          <a:lstStyle/>
          <a:p>
            <a:r>
              <a:rPr lang="nl-NL" sz="1800" dirty="0">
                <a:latin typeface="Arial" pitchFamily="34" charset="0"/>
                <a:cs typeface="Arial" pitchFamily="34" charset="0"/>
              </a:rPr>
              <a:t>GT(CCompRef1[Area],CConst1)</a:t>
            </a:r>
          </a:p>
        </p:txBody>
      </p:sp>
      <p:sp>
        <p:nvSpPr>
          <p:cNvPr id="15367" name="Rectangle 7"/>
          <p:cNvSpPr>
            <a:spLocks noChangeArrowheads="1"/>
          </p:cNvSpPr>
          <p:nvPr/>
        </p:nvSpPr>
        <p:spPr bwMode="auto">
          <a:xfrm>
            <a:off x="7811203" y="5114283"/>
            <a:ext cx="810440" cy="1025267"/>
          </a:xfrm>
          <a:prstGeom prst="rect">
            <a:avLst/>
          </a:prstGeom>
          <a:noFill/>
          <a:ln w="38100" algn="ctr">
            <a:solidFill>
              <a:srgbClr val="FF0000"/>
            </a:solidFill>
            <a:round/>
            <a:headEnd/>
            <a:tailEnd/>
          </a:ln>
        </p:spPr>
        <p:txBody>
          <a:bodyPr/>
          <a:lstStyle/>
          <a:p>
            <a:pPr algn="l"/>
            <a:endParaRPr lang="en-US"/>
          </a:p>
        </p:txBody>
      </p:sp>
      <p:sp>
        <p:nvSpPr>
          <p:cNvPr id="15374" name="Rectangle 13"/>
          <p:cNvSpPr>
            <a:spLocks noChangeArrowheads="1"/>
          </p:cNvSpPr>
          <p:nvPr/>
        </p:nvSpPr>
        <p:spPr bwMode="auto">
          <a:xfrm>
            <a:off x="4842534" y="5080988"/>
            <a:ext cx="1011196" cy="1046205"/>
          </a:xfrm>
          <a:prstGeom prst="rect">
            <a:avLst/>
          </a:prstGeom>
          <a:noFill/>
          <a:ln w="38100" algn="ctr">
            <a:solidFill>
              <a:srgbClr val="FF0000"/>
            </a:solidFill>
            <a:round/>
            <a:headEnd/>
            <a:tailEnd/>
          </a:ln>
        </p:spPr>
        <p:txBody>
          <a:bodyPr/>
          <a:lstStyle/>
          <a:p>
            <a:pPr algn="l"/>
            <a:endParaRPr lang="en-US"/>
          </a:p>
        </p:txBody>
      </p:sp>
      <p:sp>
        <p:nvSpPr>
          <p:cNvPr id="15" name="Title 14"/>
          <p:cNvSpPr>
            <a:spLocks noGrp="1"/>
          </p:cNvSpPr>
          <p:nvPr>
            <p:ph type="title"/>
          </p:nvPr>
        </p:nvSpPr>
        <p:spPr/>
        <p:txBody>
          <a:bodyPr/>
          <a:lstStyle/>
          <a:p>
            <a:r>
              <a:rPr lang="en-US" dirty="0"/>
              <a:t>Example 1 Boolean CF</a:t>
            </a:r>
          </a:p>
        </p:txBody>
      </p:sp>
      <p:sp>
        <p:nvSpPr>
          <p:cNvPr id="17" name="Rectangle 16"/>
          <p:cNvSpPr/>
          <p:nvPr/>
        </p:nvSpPr>
        <p:spPr bwMode="auto">
          <a:xfrm>
            <a:off x="7476008" y="3599509"/>
            <a:ext cx="679621" cy="9144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21" name="Straight Arrow Connector 20"/>
          <p:cNvCxnSpPr/>
          <p:nvPr/>
        </p:nvCxnSpPr>
        <p:spPr bwMode="auto">
          <a:xfrm>
            <a:off x="2196944" y="4595751"/>
            <a:ext cx="2576937" cy="748145"/>
          </a:xfrm>
          <a:prstGeom prst="straightConnector1">
            <a:avLst/>
          </a:prstGeom>
          <a:noFill/>
          <a:ln w="38100" cap="flat" cmpd="sng" algn="ctr">
            <a:solidFill>
              <a:srgbClr val="FF0000"/>
            </a:solidFill>
            <a:prstDash val="solid"/>
            <a:round/>
            <a:headEnd type="none" w="med" len="med"/>
            <a:tailEnd type="arrow"/>
          </a:ln>
          <a:effectLst/>
        </p:spPr>
      </p:cxnSp>
      <p:cxnSp>
        <p:nvCxnSpPr>
          <p:cNvPr id="23" name="Straight Arrow Connector 22"/>
          <p:cNvCxnSpPr/>
          <p:nvPr/>
        </p:nvCxnSpPr>
        <p:spPr bwMode="auto">
          <a:xfrm>
            <a:off x="4120747" y="4595751"/>
            <a:ext cx="3610089" cy="558140"/>
          </a:xfrm>
          <a:prstGeom prst="straightConnector1">
            <a:avLst/>
          </a:prstGeom>
          <a:noFill/>
          <a:ln w="38100" cap="flat" cmpd="sng" algn="ctr">
            <a:solidFill>
              <a:srgbClr val="FF0000"/>
            </a:solidFill>
            <a:prstDash val="solid"/>
            <a:round/>
            <a:headEnd type="none" w="med" len="med"/>
            <a:tailEnd type="arrow"/>
          </a:ln>
          <a:effectLst/>
        </p:spPr>
      </p:cxnSp>
      <p:cxnSp>
        <p:nvCxnSpPr>
          <p:cNvPr id="29" name="Straight Arrow Connector 28"/>
          <p:cNvCxnSpPr/>
          <p:nvPr/>
        </p:nvCxnSpPr>
        <p:spPr bwMode="auto">
          <a:xfrm>
            <a:off x="4463152" y="4344390"/>
            <a:ext cx="2923309" cy="13854"/>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1262236163"/>
      </p:ext>
    </p:extLst>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SG" dirty="0"/>
              <a:t>Change CF existing to meet criteria: </a:t>
            </a:r>
            <a:r>
              <a:rPr lang="en-SG" dirty="0" err="1"/>
              <a:t>ThBr</a:t>
            </a:r>
            <a:r>
              <a:rPr lang="en-SG" dirty="0"/>
              <a:t> &gt; 20000 and </a:t>
            </a:r>
            <a:r>
              <a:rPr lang="en-SG" dirty="0" err="1"/>
              <a:t>Caf</a:t>
            </a:r>
            <a:r>
              <a:rPr lang="en-SG" dirty="0"/>
              <a:t> &gt; 400000</a:t>
            </a:r>
          </a:p>
          <a:p>
            <a:endParaRPr lang="en-SG" dirty="0"/>
          </a:p>
        </p:txBody>
      </p:sp>
      <p:pic>
        <p:nvPicPr>
          <p:cNvPr id="7" name="Snagit_PPTF2CE" descr="PPTF2CE.png"/>
          <p:cNvPicPr>
            <a:picLocks noChangeAspect="1"/>
          </p:cNvPicPr>
          <p:nvPr/>
        </p:nvPicPr>
        <p:blipFill>
          <a:blip r:embed="rId3" cstate="print"/>
          <a:srcRect l="39433" t="14663" r="6771" b="8925"/>
          <a:stretch>
            <a:fillRect/>
          </a:stretch>
        </p:blipFill>
        <p:spPr bwMode="auto">
          <a:xfrm>
            <a:off x="1946766" y="1866344"/>
            <a:ext cx="5269517" cy="4677331"/>
          </a:xfrm>
          <a:prstGeom prst="rect">
            <a:avLst/>
          </a:prstGeom>
          <a:noFill/>
          <a:ln w="9525">
            <a:noFill/>
            <a:miter lim="800000"/>
            <a:headEnd/>
            <a:tailEnd/>
          </a:ln>
        </p:spPr>
      </p:pic>
      <p:sp>
        <p:nvSpPr>
          <p:cNvPr id="16386" name="TextBox 10"/>
          <p:cNvSpPr txBox="1">
            <a:spLocks noChangeArrowheads="1"/>
          </p:cNvSpPr>
          <p:nvPr/>
        </p:nvSpPr>
        <p:spPr bwMode="auto">
          <a:xfrm>
            <a:off x="1481138" y="373063"/>
            <a:ext cx="185737" cy="338137"/>
          </a:xfrm>
          <a:prstGeom prst="rect">
            <a:avLst/>
          </a:prstGeom>
          <a:noFill/>
          <a:ln w="38100">
            <a:noFill/>
            <a:miter lim="800000"/>
            <a:headEnd/>
            <a:tailEnd/>
          </a:ln>
        </p:spPr>
        <p:txBody>
          <a:bodyPr wrap="none">
            <a:spAutoFit/>
          </a:bodyPr>
          <a:lstStyle/>
          <a:p>
            <a:pPr algn="l"/>
            <a:endParaRPr lang="en-US"/>
          </a:p>
        </p:txBody>
      </p:sp>
      <p:sp>
        <p:nvSpPr>
          <p:cNvPr id="16389" name="Rectangle 16"/>
          <p:cNvSpPr>
            <a:spLocks noChangeArrowheads="1"/>
          </p:cNvSpPr>
          <p:nvPr/>
        </p:nvSpPr>
        <p:spPr bwMode="auto">
          <a:xfrm>
            <a:off x="3012003" y="5726544"/>
            <a:ext cx="719738" cy="219374"/>
          </a:xfrm>
          <a:prstGeom prst="rect">
            <a:avLst/>
          </a:prstGeom>
          <a:noFill/>
          <a:ln w="38100" algn="ctr">
            <a:solidFill>
              <a:srgbClr val="FF0000"/>
            </a:solidFill>
            <a:round/>
            <a:headEnd/>
            <a:tailEnd/>
          </a:ln>
        </p:spPr>
        <p:txBody>
          <a:bodyPr/>
          <a:lstStyle/>
          <a:p>
            <a:pPr algn="l"/>
            <a:endParaRPr lang="en-US"/>
          </a:p>
        </p:txBody>
      </p:sp>
      <p:sp>
        <p:nvSpPr>
          <p:cNvPr id="6" name="Title 5"/>
          <p:cNvSpPr>
            <a:spLocks noGrp="1"/>
          </p:cNvSpPr>
          <p:nvPr>
            <p:ph type="title"/>
          </p:nvPr>
        </p:nvSpPr>
        <p:spPr/>
        <p:txBody>
          <a:bodyPr/>
          <a:lstStyle/>
          <a:p>
            <a:r>
              <a:rPr lang="en-US" dirty="0"/>
              <a:t>Example 1 Boolean CF</a:t>
            </a:r>
          </a:p>
        </p:txBody>
      </p:sp>
    </p:spTree>
    <p:extLst>
      <p:ext uri="{BB962C8B-B14F-4D97-AF65-F5344CB8AC3E}">
        <p14:creationId xmlns:p14="http://schemas.microsoft.com/office/powerpoint/2010/main" val="4192050309"/>
      </p:ext>
    </p:extLst>
  </p:cSld>
  <p:clrMapOvr>
    <a:masterClrMapping/>
  </p:clrMapOvr>
  <p:transition>
    <p:wipe dir="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Snagit_PPT2B71" descr="PPT2B71.png"/>
          <p:cNvPicPr>
            <a:picLocks noChangeAspect="1"/>
          </p:cNvPicPr>
          <p:nvPr/>
        </p:nvPicPr>
        <p:blipFill>
          <a:blip r:embed="rId3" cstate="print"/>
          <a:srcRect/>
          <a:stretch>
            <a:fillRect/>
          </a:stretch>
        </p:blipFill>
        <p:spPr bwMode="auto">
          <a:xfrm>
            <a:off x="468085" y="1182687"/>
            <a:ext cx="4800600" cy="4492625"/>
          </a:xfrm>
          <a:prstGeom prst="rect">
            <a:avLst/>
          </a:prstGeom>
          <a:noFill/>
          <a:ln w="9525">
            <a:noFill/>
            <a:miter lim="800000"/>
            <a:headEnd/>
            <a:tailEnd/>
          </a:ln>
        </p:spPr>
      </p:pic>
      <p:sp>
        <p:nvSpPr>
          <p:cNvPr id="17411" name="Rectangle 3"/>
          <p:cNvSpPr>
            <a:spLocks noChangeArrowheads="1"/>
          </p:cNvSpPr>
          <p:nvPr/>
        </p:nvSpPr>
        <p:spPr bwMode="auto">
          <a:xfrm>
            <a:off x="913843" y="5915710"/>
            <a:ext cx="7323137" cy="369332"/>
          </a:xfrm>
          <a:prstGeom prst="rect">
            <a:avLst/>
          </a:prstGeom>
          <a:noFill/>
          <a:ln w="9525">
            <a:noFill/>
            <a:miter lim="800000"/>
            <a:headEnd/>
            <a:tailEnd/>
          </a:ln>
        </p:spPr>
        <p:txBody>
          <a:bodyPr>
            <a:spAutoFit/>
          </a:bodyPr>
          <a:lstStyle/>
          <a:p>
            <a:r>
              <a:rPr lang="en-US" sz="1800" dirty="0">
                <a:latin typeface="Arial" panose="020B0604020202020204" pitchFamily="34" charset="0"/>
                <a:cs typeface="Arial" panose="020B0604020202020204" pitchFamily="34" charset="0"/>
              </a:rPr>
              <a:t>GT(</a:t>
            </a:r>
            <a:r>
              <a:rPr lang="en-US" sz="1800" dirty="0">
                <a:solidFill>
                  <a:srgbClr val="C00000"/>
                </a:solidFill>
                <a:latin typeface="Arial" panose="020B0604020202020204" pitchFamily="34" charset="0"/>
                <a:cs typeface="Arial" panose="020B0604020202020204" pitchFamily="34" charset="0"/>
              </a:rPr>
              <a:t>CCompRef1</a:t>
            </a:r>
            <a:r>
              <a:rPr lang="en-US" sz="1800" dirty="0">
                <a:latin typeface="Arial" panose="020B0604020202020204" pitchFamily="34" charset="0"/>
                <a:cs typeface="Arial" panose="020B0604020202020204" pitchFamily="34" charset="0"/>
              </a:rPr>
              <a:t>[Area],</a:t>
            </a:r>
            <a:r>
              <a:rPr lang="en-US" sz="1800" dirty="0">
                <a:solidFill>
                  <a:srgbClr val="C00000"/>
                </a:solidFill>
                <a:latin typeface="Arial" panose="020B0604020202020204" pitchFamily="34" charset="0"/>
                <a:cs typeface="Arial" panose="020B0604020202020204" pitchFamily="34" charset="0"/>
              </a:rPr>
              <a:t>CConst1</a:t>
            </a:r>
            <a:r>
              <a:rPr lang="en-US" sz="1800" dirty="0">
                <a:latin typeface="Arial" panose="020B0604020202020204" pitchFamily="34" charset="0"/>
                <a:cs typeface="Arial" panose="020B0604020202020204" pitchFamily="34" charset="0"/>
              </a:rPr>
              <a:t>)&amp;GT(</a:t>
            </a:r>
            <a:r>
              <a:rPr lang="en-US" sz="1800" dirty="0">
                <a:solidFill>
                  <a:srgbClr val="C00000"/>
                </a:solidFill>
                <a:latin typeface="Arial" panose="020B0604020202020204" pitchFamily="34" charset="0"/>
                <a:cs typeface="Arial" panose="020B0604020202020204" pitchFamily="34" charset="0"/>
              </a:rPr>
              <a:t>CCompRef2</a:t>
            </a:r>
            <a:r>
              <a:rPr lang="en-US" sz="1800" dirty="0">
                <a:latin typeface="Arial" panose="020B0604020202020204" pitchFamily="34" charset="0"/>
                <a:cs typeface="Arial" panose="020B0604020202020204" pitchFamily="34" charset="0"/>
              </a:rPr>
              <a:t>[Area],</a:t>
            </a:r>
            <a:r>
              <a:rPr lang="en-US" sz="1800" dirty="0">
                <a:solidFill>
                  <a:srgbClr val="C00000"/>
                </a:solidFill>
                <a:latin typeface="Arial" panose="020B0604020202020204" pitchFamily="34" charset="0"/>
                <a:cs typeface="Arial" panose="020B0604020202020204" pitchFamily="34" charset="0"/>
              </a:rPr>
              <a:t>CConst2</a:t>
            </a:r>
            <a:r>
              <a:rPr lang="en-US" sz="1800" dirty="0">
                <a:latin typeface="Arial" panose="020B0604020202020204" pitchFamily="34" charset="0"/>
                <a:cs typeface="Arial" panose="020B0604020202020204" pitchFamily="34" charset="0"/>
              </a:rPr>
              <a:t>)</a:t>
            </a:r>
          </a:p>
        </p:txBody>
      </p:sp>
      <p:pic>
        <p:nvPicPr>
          <p:cNvPr id="17412" name="Snagit_PPTF287" descr="PPTF287.png"/>
          <p:cNvPicPr>
            <a:picLocks noChangeAspect="1"/>
          </p:cNvPicPr>
          <p:nvPr/>
        </p:nvPicPr>
        <p:blipFill>
          <a:blip r:embed="rId4" cstate="print"/>
          <a:srcRect/>
          <a:stretch>
            <a:fillRect/>
          </a:stretch>
        </p:blipFill>
        <p:spPr bwMode="auto">
          <a:xfrm>
            <a:off x="4068806" y="1194936"/>
            <a:ext cx="4787900" cy="3436938"/>
          </a:xfrm>
          <a:prstGeom prst="rect">
            <a:avLst/>
          </a:prstGeom>
          <a:noFill/>
          <a:ln w="9525">
            <a:noFill/>
            <a:miter lim="800000"/>
            <a:headEnd/>
            <a:tailEnd/>
          </a:ln>
        </p:spPr>
      </p:pic>
      <p:sp>
        <p:nvSpPr>
          <p:cNvPr id="17413" name="Rectangle 5"/>
          <p:cNvSpPr>
            <a:spLocks noChangeArrowheads="1"/>
          </p:cNvSpPr>
          <p:nvPr/>
        </p:nvSpPr>
        <p:spPr bwMode="auto">
          <a:xfrm>
            <a:off x="4245435" y="4967287"/>
            <a:ext cx="752475" cy="211138"/>
          </a:xfrm>
          <a:prstGeom prst="rect">
            <a:avLst/>
          </a:prstGeom>
          <a:noFill/>
          <a:ln w="38100" algn="ctr">
            <a:solidFill>
              <a:srgbClr val="FF0000"/>
            </a:solidFill>
            <a:round/>
            <a:headEnd/>
            <a:tailEnd/>
          </a:ln>
        </p:spPr>
        <p:txBody>
          <a:bodyPr/>
          <a:lstStyle/>
          <a:p>
            <a:pPr algn="l"/>
            <a:endParaRPr lang="en-US"/>
          </a:p>
        </p:txBody>
      </p:sp>
      <p:sp>
        <p:nvSpPr>
          <p:cNvPr id="17414" name="Rectangle 6"/>
          <p:cNvSpPr>
            <a:spLocks noChangeArrowheads="1"/>
          </p:cNvSpPr>
          <p:nvPr/>
        </p:nvSpPr>
        <p:spPr bwMode="auto">
          <a:xfrm>
            <a:off x="6443706" y="4263574"/>
            <a:ext cx="677863" cy="220662"/>
          </a:xfrm>
          <a:prstGeom prst="rect">
            <a:avLst/>
          </a:prstGeom>
          <a:noFill/>
          <a:ln w="38100" algn="ctr">
            <a:solidFill>
              <a:srgbClr val="FF0000"/>
            </a:solidFill>
            <a:round/>
            <a:headEnd/>
            <a:tailEnd/>
          </a:ln>
        </p:spPr>
        <p:txBody>
          <a:bodyPr/>
          <a:lstStyle/>
          <a:p>
            <a:pPr algn="l"/>
            <a:endParaRPr lang="en-US"/>
          </a:p>
        </p:txBody>
      </p:sp>
      <p:sp>
        <p:nvSpPr>
          <p:cNvPr id="7" name="Title 6"/>
          <p:cNvSpPr>
            <a:spLocks noGrp="1"/>
          </p:cNvSpPr>
          <p:nvPr>
            <p:ph type="title"/>
          </p:nvPr>
        </p:nvSpPr>
        <p:spPr/>
        <p:txBody>
          <a:bodyPr/>
          <a:lstStyle/>
          <a:p>
            <a:r>
              <a:rPr lang="en-US" dirty="0"/>
              <a:t>Example 1 Boolean CF</a:t>
            </a:r>
          </a:p>
        </p:txBody>
      </p:sp>
      <p:cxnSp>
        <p:nvCxnSpPr>
          <p:cNvPr id="10" name="Straight Arrow Connector 9"/>
          <p:cNvCxnSpPr>
            <a:cxnSpLocks/>
          </p:cNvCxnSpPr>
          <p:nvPr/>
        </p:nvCxnSpPr>
        <p:spPr bwMode="auto">
          <a:xfrm flipH="1">
            <a:off x="5572126" y="1800225"/>
            <a:ext cx="1085849" cy="4115485"/>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429013792"/>
      </p:ext>
    </p:extLst>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Snagit_PPTAB0" descr="PPTAB0.png"/>
          <p:cNvPicPr>
            <a:picLocks noChangeAspect="1"/>
          </p:cNvPicPr>
          <p:nvPr/>
        </p:nvPicPr>
        <p:blipFill>
          <a:blip r:embed="rId3" cstate="print"/>
          <a:srcRect/>
          <a:stretch>
            <a:fillRect/>
          </a:stretch>
        </p:blipFill>
        <p:spPr bwMode="auto">
          <a:xfrm>
            <a:off x="1893862" y="1347212"/>
            <a:ext cx="5369038" cy="5025014"/>
          </a:xfrm>
          <a:prstGeom prst="rect">
            <a:avLst/>
          </a:prstGeom>
          <a:noFill/>
          <a:ln w="9525">
            <a:noFill/>
            <a:miter lim="800000"/>
            <a:headEnd/>
            <a:tailEnd/>
          </a:ln>
        </p:spPr>
      </p:pic>
      <p:sp>
        <p:nvSpPr>
          <p:cNvPr id="18439" name="Rectangle 9"/>
          <p:cNvSpPr>
            <a:spLocks noChangeArrowheads="1"/>
          </p:cNvSpPr>
          <p:nvPr/>
        </p:nvSpPr>
        <p:spPr bwMode="auto">
          <a:xfrm>
            <a:off x="3282289" y="1805365"/>
            <a:ext cx="1280185" cy="261560"/>
          </a:xfrm>
          <a:prstGeom prst="rect">
            <a:avLst/>
          </a:prstGeom>
          <a:noFill/>
          <a:ln w="38100" algn="ctr">
            <a:solidFill>
              <a:srgbClr val="FF0000"/>
            </a:solidFill>
            <a:round/>
            <a:headEnd/>
            <a:tailEnd/>
          </a:ln>
        </p:spPr>
        <p:txBody>
          <a:bodyPr/>
          <a:lstStyle/>
          <a:p>
            <a:pPr algn="l"/>
            <a:endParaRPr lang="en-US"/>
          </a:p>
        </p:txBody>
      </p:sp>
      <p:sp>
        <p:nvSpPr>
          <p:cNvPr id="10" name="Title 9"/>
          <p:cNvSpPr>
            <a:spLocks noGrp="1"/>
          </p:cNvSpPr>
          <p:nvPr>
            <p:ph type="title"/>
          </p:nvPr>
        </p:nvSpPr>
        <p:spPr/>
        <p:txBody>
          <a:bodyPr/>
          <a:lstStyle/>
          <a:p>
            <a:r>
              <a:rPr lang="en-US" dirty="0"/>
              <a:t>Example 1 Boolean CF</a:t>
            </a:r>
          </a:p>
        </p:txBody>
      </p:sp>
    </p:spTree>
    <p:extLst>
      <p:ext uri="{BB962C8B-B14F-4D97-AF65-F5344CB8AC3E}">
        <p14:creationId xmlns:p14="http://schemas.microsoft.com/office/powerpoint/2010/main" val="447984100"/>
      </p:ext>
    </p:extLst>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Snagit_PPT8B0B" descr="PPT8B0B.png"/>
          <p:cNvPicPr>
            <a:picLocks noChangeAspect="1"/>
          </p:cNvPicPr>
          <p:nvPr/>
        </p:nvPicPr>
        <p:blipFill rotWithShape="1">
          <a:blip r:embed="rId3" cstate="print"/>
          <a:srcRect l="17346" t="25651" r="47974" b="38299"/>
          <a:stretch/>
        </p:blipFill>
        <p:spPr bwMode="auto">
          <a:xfrm>
            <a:off x="3416643" y="3044870"/>
            <a:ext cx="5403326" cy="3509616"/>
          </a:xfrm>
          <a:prstGeom prst="rect">
            <a:avLst/>
          </a:prstGeom>
          <a:noFill/>
          <a:ln w="9525">
            <a:noFill/>
            <a:miter lim="800000"/>
            <a:headEnd/>
            <a:tailEnd/>
          </a:ln>
        </p:spPr>
      </p:pic>
      <p:pic>
        <p:nvPicPr>
          <p:cNvPr id="21506" name="Snagit_PPT8B0B" descr="PPT8B0B.png"/>
          <p:cNvPicPr>
            <a:picLocks noChangeAspect="1"/>
          </p:cNvPicPr>
          <p:nvPr/>
        </p:nvPicPr>
        <p:blipFill>
          <a:blip r:embed="rId3" cstate="print"/>
          <a:srcRect l="53070" t="42477" r="2814" b="48270"/>
          <a:stretch>
            <a:fillRect/>
          </a:stretch>
        </p:blipFill>
        <p:spPr bwMode="auto">
          <a:xfrm>
            <a:off x="866775" y="2028576"/>
            <a:ext cx="6889746" cy="902971"/>
          </a:xfrm>
          <a:prstGeom prst="rect">
            <a:avLst/>
          </a:prstGeom>
          <a:noFill/>
          <a:ln w="9525">
            <a:noFill/>
            <a:miter lim="800000"/>
            <a:headEnd/>
            <a:tailEnd/>
          </a:ln>
        </p:spPr>
      </p:pic>
      <p:sp>
        <p:nvSpPr>
          <p:cNvPr id="21507" name="Rectangle 2"/>
          <p:cNvSpPr>
            <a:spLocks noChangeArrowheads="1"/>
          </p:cNvSpPr>
          <p:nvPr/>
        </p:nvSpPr>
        <p:spPr bwMode="auto">
          <a:xfrm>
            <a:off x="4142023" y="2021875"/>
            <a:ext cx="3618019" cy="897501"/>
          </a:xfrm>
          <a:prstGeom prst="rect">
            <a:avLst/>
          </a:prstGeom>
          <a:noFill/>
          <a:ln w="38100" algn="ctr">
            <a:solidFill>
              <a:srgbClr val="FF0000"/>
            </a:solidFill>
            <a:round/>
            <a:headEnd/>
            <a:tailEnd/>
          </a:ln>
        </p:spPr>
        <p:txBody>
          <a:bodyPr/>
          <a:lstStyle/>
          <a:p>
            <a:pPr algn="l"/>
            <a:endParaRPr lang="en-US"/>
          </a:p>
        </p:txBody>
      </p:sp>
      <p:sp>
        <p:nvSpPr>
          <p:cNvPr id="21508" name="Rectangle 3"/>
          <p:cNvSpPr>
            <a:spLocks noChangeArrowheads="1"/>
          </p:cNvSpPr>
          <p:nvPr/>
        </p:nvSpPr>
        <p:spPr bwMode="auto">
          <a:xfrm>
            <a:off x="5940568" y="5305427"/>
            <a:ext cx="826228" cy="1232242"/>
          </a:xfrm>
          <a:prstGeom prst="rect">
            <a:avLst/>
          </a:prstGeom>
          <a:noFill/>
          <a:ln w="38100" algn="ctr">
            <a:solidFill>
              <a:srgbClr val="FF0000"/>
            </a:solidFill>
            <a:round/>
            <a:headEnd/>
            <a:tailEnd/>
          </a:ln>
        </p:spPr>
        <p:txBody>
          <a:bodyPr/>
          <a:lstStyle/>
          <a:p>
            <a:pPr algn="l"/>
            <a:endParaRPr lang="en-US"/>
          </a:p>
        </p:txBody>
      </p:sp>
      <p:sp>
        <p:nvSpPr>
          <p:cNvPr id="21510" name="Rectangle 5"/>
          <p:cNvSpPr>
            <a:spLocks noChangeArrowheads="1"/>
          </p:cNvSpPr>
          <p:nvPr/>
        </p:nvSpPr>
        <p:spPr bwMode="auto">
          <a:xfrm>
            <a:off x="677047" y="1171103"/>
            <a:ext cx="7799173" cy="369332"/>
          </a:xfrm>
          <a:prstGeom prst="rect">
            <a:avLst/>
          </a:prstGeom>
          <a:noFill/>
          <a:ln w="9525">
            <a:noFill/>
            <a:miter lim="800000"/>
            <a:headEnd/>
            <a:tailEnd/>
          </a:ln>
        </p:spPr>
        <p:txBody>
          <a:bodyPr wrap="square">
            <a:spAutoFit/>
          </a:bodyPr>
          <a:lstStyle/>
          <a:p>
            <a:pPr algn="ctr"/>
            <a:r>
              <a:rPr lang="en-US" sz="1800" dirty="0">
                <a:latin typeface="Arial" panose="020B0604020202020204" pitchFamily="34" charset="0"/>
                <a:cs typeface="Arial" panose="020B0604020202020204" pitchFamily="34" charset="0"/>
              </a:rPr>
              <a:t>GT(</a:t>
            </a:r>
            <a:r>
              <a:rPr lang="en-US" sz="1800" dirty="0">
                <a:solidFill>
                  <a:srgbClr val="C00000"/>
                </a:solidFill>
                <a:latin typeface="Arial" panose="020B0604020202020204" pitchFamily="34" charset="0"/>
                <a:cs typeface="Arial" panose="020B0604020202020204" pitchFamily="34" charset="0"/>
              </a:rPr>
              <a:t>CCompRef1</a:t>
            </a:r>
            <a:r>
              <a:rPr lang="en-US" sz="1800" dirty="0">
                <a:latin typeface="Arial" panose="020B0604020202020204" pitchFamily="34" charset="0"/>
                <a:cs typeface="Arial" panose="020B0604020202020204" pitchFamily="34" charset="0"/>
              </a:rPr>
              <a:t>[Area],CConst1)&amp;GT(CCompRef2[Area],CConst2)</a:t>
            </a:r>
          </a:p>
        </p:txBody>
      </p:sp>
      <p:sp>
        <p:nvSpPr>
          <p:cNvPr id="9" name="TextBox 8"/>
          <p:cNvSpPr txBox="1"/>
          <p:nvPr/>
        </p:nvSpPr>
        <p:spPr>
          <a:xfrm>
            <a:off x="631127" y="2989310"/>
            <a:ext cx="1988750" cy="369332"/>
          </a:xfrm>
          <a:prstGeom prst="rect">
            <a:avLst/>
          </a:prstGeom>
          <a:noFill/>
        </p:spPr>
        <p:txBody>
          <a:bodyPr wrap="none" rtlCol="0">
            <a:spAutoFit/>
          </a:bodyPr>
          <a:lstStyle/>
          <a:p>
            <a:r>
              <a:rPr lang="en-US" sz="1800" dirty="0">
                <a:solidFill>
                  <a:srgbClr val="C00000"/>
                </a:solidFill>
                <a:latin typeface="Arial" panose="020B0604020202020204" pitchFamily="34" charset="0"/>
                <a:cs typeface="Arial" panose="020B0604020202020204" pitchFamily="34" charset="0"/>
              </a:rPr>
              <a:t>Component Table</a:t>
            </a:r>
          </a:p>
        </p:txBody>
      </p:sp>
      <p:cxnSp>
        <p:nvCxnSpPr>
          <p:cNvPr id="11" name="Straight Arrow Connector 10"/>
          <p:cNvCxnSpPr>
            <a:cxnSpLocks/>
          </p:cNvCxnSpPr>
          <p:nvPr/>
        </p:nvCxnSpPr>
        <p:spPr bwMode="auto">
          <a:xfrm>
            <a:off x="7333993" y="1462517"/>
            <a:ext cx="0" cy="471058"/>
          </a:xfrm>
          <a:prstGeom prst="straightConnector1">
            <a:avLst/>
          </a:prstGeom>
          <a:noFill/>
          <a:ln w="38100" cap="flat" cmpd="sng" algn="ctr">
            <a:solidFill>
              <a:srgbClr val="FF0000"/>
            </a:solidFill>
            <a:prstDash val="solid"/>
            <a:round/>
            <a:headEnd type="none" w="med" len="med"/>
            <a:tailEnd type="arrow"/>
          </a:ln>
          <a:effectLst/>
        </p:spPr>
      </p:cxnSp>
      <p:cxnSp>
        <p:nvCxnSpPr>
          <p:cNvPr id="13" name="Straight Arrow Connector 12"/>
          <p:cNvCxnSpPr>
            <a:cxnSpLocks/>
          </p:cNvCxnSpPr>
          <p:nvPr/>
        </p:nvCxnSpPr>
        <p:spPr bwMode="auto">
          <a:xfrm>
            <a:off x="4019765" y="1521246"/>
            <a:ext cx="2333917" cy="405463"/>
          </a:xfrm>
          <a:prstGeom prst="straightConnector1">
            <a:avLst/>
          </a:prstGeom>
          <a:noFill/>
          <a:ln w="38100" cap="flat" cmpd="sng" algn="ctr">
            <a:solidFill>
              <a:srgbClr val="FF0000"/>
            </a:solidFill>
            <a:prstDash val="solid"/>
            <a:round/>
            <a:headEnd type="none" w="med" len="med"/>
            <a:tailEnd type="arrow"/>
          </a:ln>
          <a:effectLst/>
        </p:spPr>
      </p:cxnSp>
      <p:cxnSp>
        <p:nvCxnSpPr>
          <p:cNvPr id="15" name="Straight Arrow Connector 14"/>
          <p:cNvCxnSpPr>
            <a:cxnSpLocks/>
          </p:cNvCxnSpPr>
          <p:nvPr/>
        </p:nvCxnSpPr>
        <p:spPr bwMode="auto">
          <a:xfrm>
            <a:off x="5758248" y="1510126"/>
            <a:ext cx="0" cy="423449"/>
          </a:xfrm>
          <a:prstGeom prst="straightConnector1">
            <a:avLst/>
          </a:prstGeom>
          <a:noFill/>
          <a:ln w="38100" cap="flat" cmpd="sng" algn="ctr">
            <a:solidFill>
              <a:srgbClr val="FF0000"/>
            </a:solidFill>
            <a:prstDash val="solid"/>
            <a:round/>
            <a:headEnd type="none" w="med" len="med"/>
            <a:tailEnd type="arrow"/>
          </a:ln>
          <a:effectLst/>
        </p:spPr>
      </p:cxnSp>
      <p:cxnSp>
        <p:nvCxnSpPr>
          <p:cNvPr id="17" name="Straight Arrow Connector 16"/>
          <p:cNvCxnSpPr>
            <a:cxnSpLocks/>
          </p:cNvCxnSpPr>
          <p:nvPr/>
        </p:nvCxnSpPr>
        <p:spPr bwMode="auto">
          <a:xfrm>
            <a:off x="2619877" y="1510126"/>
            <a:ext cx="1457852" cy="690149"/>
          </a:xfrm>
          <a:prstGeom prst="straightConnector1">
            <a:avLst/>
          </a:prstGeom>
          <a:noFill/>
          <a:ln w="38100" cap="flat" cmpd="sng" algn="ctr">
            <a:solidFill>
              <a:srgbClr val="FF0000"/>
            </a:solidFill>
            <a:prstDash val="solid"/>
            <a:round/>
            <a:headEnd type="none" w="med" len="med"/>
            <a:tailEnd type="arrow"/>
          </a:ln>
          <a:effectLst/>
        </p:spPr>
      </p:cxnSp>
      <p:sp>
        <p:nvSpPr>
          <p:cNvPr id="20" name="Title 19"/>
          <p:cNvSpPr>
            <a:spLocks noGrp="1"/>
          </p:cNvSpPr>
          <p:nvPr>
            <p:ph type="title"/>
          </p:nvPr>
        </p:nvSpPr>
        <p:spPr/>
        <p:txBody>
          <a:bodyPr/>
          <a:lstStyle/>
          <a:p>
            <a:r>
              <a:rPr lang="en-US" dirty="0"/>
              <a:t>Example 1 Boolean CF</a:t>
            </a:r>
          </a:p>
        </p:txBody>
      </p:sp>
    </p:spTree>
    <p:extLst>
      <p:ext uri="{BB962C8B-B14F-4D97-AF65-F5344CB8AC3E}">
        <p14:creationId xmlns:p14="http://schemas.microsoft.com/office/powerpoint/2010/main" val="608667926"/>
      </p:ext>
    </p:extLst>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Enumerated Custom Fields</a:t>
            </a:r>
          </a:p>
        </p:txBody>
      </p:sp>
    </p:spTree>
    <p:extLst>
      <p:ext uri="{BB962C8B-B14F-4D97-AF65-F5344CB8AC3E}">
        <p14:creationId xmlns:p14="http://schemas.microsoft.com/office/powerpoint/2010/main" val="2458855499"/>
      </p:ext>
    </p:extLst>
  </p:cSld>
  <p:clrMapOvr>
    <a:masterClrMapping/>
  </p:clrMapOvr>
  <p:transition>
    <p:wipe dir="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ChangeArrowheads="1"/>
          </p:cNvSpPr>
          <p:nvPr/>
        </p:nvSpPr>
        <p:spPr bwMode="auto">
          <a:xfrm>
            <a:off x="0" y="858838"/>
            <a:ext cx="9144000" cy="400050"/>
          </a:xfrm>
          <a:prstGeom prst="rect">
            <a:avLst/>
          </a:prstGeom>
          <a:noFill/>
          <a:ln w="9525">
            <a:noFill/>
            <a:miter lim="800000"/>
            <a:headEnd/>
            <a:tailEnd/>
          </a:ln>
        </p:spPr>
        <p:txBody>
          <a:bodyPr>
            <a:spAutoFit/>
          </a:bodyPr>
          <a:lstStyle/>
          <a:p>
            <a:pPr algn="l" eaLnBrk="0" hangingPunct="0">
              <a:spcBef>
                <a:spcPct val="30000"/>
              </a:spcBef>
            </a:pPr>
            <a:endParaRPr lang="nl-NL" sz="2000"/>
          </a:p>
        </p:txBody>
      </p:sp>
      <p:sp>
        <p:nvSpPr>
          <p:cNvPr id="22531" name="TextBox 2"/>
          <p:cNvSpPr txBox="1">
            <a:spLocks noChangeArrowheads="1"/>
          </p:cNvSpPr>
          <p:nvPr/>
        </p:nvSpPr>
        <p:spPr bwMode="auto">
          <a:xfrm>
            <a:off x="3054350" y="311150"/>
            <a:ext cx="184150" cy="461963"/>
          </a:xfrm>
          <a:prstGeom prst="rect">
            <a:avLst/>
          </a:prstGeom>
          <a:solidFill>
            <a:schemeClr val="bg1"/>
          </a:solidFill>
          <a:ln w="9525">
            <a:noFill/>
            <a:miter lim="800000"/>
            <a:headEnd/>
            <a:tailEnd/>
          </a:ln>
        </p:spPr>
        <p:txBody>
          <a:bodyPr wrap="none">
            <a:spAutoFit/>
          </a:bodyPr>
          <a:lstStyle/>
          <a:p>
            <a:endParaRPr lang="nl-NL" sz="2400" b="1"/>
          </a:p>
        </p:txBody>
      </p:sp>
      <p:sp>
        <p:nvSpPr>
          <p:cNvPr id="6" name="Content Placeholder 5"/>
          <p:cNvSpPr>
            <a:spLocks noGrp="1"/>
          </p:cNvSpPr>
          <p:nvPr>
            <p:ph idx="1"/>
          </p:nvPr>
        </p:nvSpPr>
        <p:spPr>
          <a:xfrm>
            <a:off x="457200" y="1312000"/>
            <a:ext cx="8360228" cy="5231304"/>
          </a:xfrm>
        </p:spPr>
        <p:txBody>
          <a:bodyPr>
            <a:normAutofit lnSpcReduction="10000"/>
          </a:bodyPr>
          <a:lstStyle/>
          <a:p>
            <a:pPr>
              <a:defRPr/>
            </a:pPr>
            <a:r>
              <a:rPr lang="en-US" dirty="0"/>
              <a:t>Enumerated Custom field with is a data type with one or more Boolean expressions</a:t>
            </a:r>
          </a:p>
          <a:p>
            <a:pPr>
              <a:buNone/>
              <a:defRPr/>
            </a:pPr>
            <a:endParaRPr lang="en-US" sz="1500" dirty="0"/>
          </a:p>
          <a:p>
            <a:pPr>
              <a:lnSpc>
                <a:spcPct val="85000"/>
              </a:lnSpc>
              <a:defRPr/>
            </a:pPr>
            <a:r>
              <a:rPr lang="en-US" dirty="0">
                <a:solidFill>
                  <a:srgbClr val="C00000"/>
                </a:solidFill>
              </a:rPr>
              <a:t>Boolean:</a:t>
            </a:r>
            <a:r>
              <a:rPr lang="en-US" dirty="0"/>
              <a:t> Only two possible outcomes/answers</a:t>
            </a:r>
            <a:br>
              <a:rPr lang="en-US" dirty="0"/>
            </a:br>
            <a:endParaRPr lang="en-US" dirty="0"/>
          </a:p>
          <a:p>
            <a:pPr algn="ctr">
              <a:lnSpc>
                <a:spcPct val="85000"/>
              </a:lnSpc>
              <a:buNone/>
              <a:defRPr/>
            </a:pPr>
            <a:r>
              <a:rPr lang="en-US" dirty="0"/>
              <a:t>Fail/Pass</a:t>
            </a:r>
          </a:p>
          <a:p>
            <a:pPr algn="ctr">
              <a:lnSpc>
                <a:spcPct val="85000"/>
              </a:lnSpc>
              <a:buNone/>
              <a:defRPr/>
            </a:pPr>
            <a:r>
              <a:rPr lang="en-US" dirty="0"/>
              <a:t>GT(CCompRef1[Area],CConst1)</a:t>
            </a:r>
          </a:p>
          <a:p>
            <a:pPr algn="ctr">
              <a:lnSpc>
                <a:spcPct val="85000"/>
              </a:lnSpc>
              <a:buNone/>
              <a:defRPr/>
            </a:pPr>
            <a:endParaRPr lang="en-US" sz="1900" dirty="0"/>
          </a:p>
          <a:p>
            <a:pPr>
              <a:lnSpc>
                <a:spcPct val="85000"/>
              </a:lnSpc>
              <a:defRPr/>
            </a:pPr>
            <a:r>
              <a:rPr lang="en-US" dirty="0">
                <a:solidFill>
                  <a:srgbClr val="C00000"/>
                </a:solidFill>
              </a:rPr>
              <a:t>Enumerated:</a:t>
            </a:r>
            <a:r>
              <a:rPr lang="en-US" dirty="0"/>
              <a:t> More than two possible answers: </a:t>
            </a:r>
            <a:r>
              <a:rPr lang="en-US" dirty="0">
                <a:solidFill>
                  <a:schemeClr val="accent2"/>
                </a:solidFill>
              </a:rPr>
              <a:t>Low/Good/High</a:t>
            </a:r>
          </a:p>
          <a:p>
            <a:pPr algn="ctr">
              <a:lnSpc>
                <a:spcPct val="85000"/>
              </a:lnSpc>
              <a:buNone/>
              <a:defRPr/>
            </a:pPr>
            <a:endParaRPr lang="en-US" b="1" dirty="0"/>
          </a:p>
          <a:p>
            <a:pPr algn="ctr">
              <a:lnSpc>
                <a:spcPct val="120000"/>
              </a:lnSpc>
              <a:spcBef>
                <a:spcPts val="0"/>
              </a:spcBef>
              <a:spcAft>
                <a:spcPts val="200"/>
              </a:spcAft>
              <a:buNone/>
              <a:defRPr/>
            </a:pPr>
            <a:r>
              <a:rPr lang="en-US" b="1" dirty="0">
                <a:solidFill>
                  <a:srgbClr val="C00000"/>
                </a:solidFill>
              </a:rPr>
              <a:t>ENUM</a:t>
            </a:r>
            <a:r>
              <a:rPr lang="en-US" dirty="0"/>
              <a:t>(LT(CCompRef1[Area],CConst1),</a:t>
            </a:r>
            <a:br>
              <a:rPr lang="en-US" b="1" dirty="0">
                <a:solidFill>
                  <a:srgbClr val="FF3300"/>
                </a:solidFill>
              </a:rPr>
            </a:br>
            <a:r>
              <a:rPr lang="en-US" b="1" dirty="0">
                <a:solidFill>
                  <a:srgbClr val="006600"/>
                </a:solidFill>
              </a:rPr>
              <a:t>RANGE</a:t>
            </a:r>
            <a:r>
              <a:rPr lang="en-US" dirty="0"/>
              <a:t>(CCompRef1[Area],CConst1,CConst2),</a:t>
            </a:r>
            <a:br>
              <a:rPr lang="en-US" b="1" dirty="0">
                <a:solidFill>
                  <a:srgbClr val="006600"/>
                </a:solidFill>
              </a:rPr>
            </a:br>
            <a:r>
              <a:rPr lang="en-US" b="1" dirty="0">
                <a:solidFill>
                  <a:schemeClr val="tx2">
                    <a:lumMod val="75000"/>
                  </a:schemeClr>
                </a:solidFill>
              </a:rPr>
              <a:t>GT</a:t>
            </a:r>
            <a:r>
              <a:rPr lang="en-US" dirty="0"/>
              <a:t>(CCompRef1[Area],CConst2))</a:t>
            </a:r>
          </a:p>
          <a:p>
            <a:pPr algn="ctr">
              <a:lnSpc>
                <a:spcPct val="85000"/>
              </a:lnSpc>
              <a:buNone/>
              <a:defRPr/>
            </a:pPr>
            <a:endParaRPr lang="en-US" dirty="0"/>
          </a:p>
          <a:p>
            <a:pPr>
              <a:lnSpc>
                <a:spcPct val="85000"/>
              </a:lnSpc>
              <a:defRPr/>
            </a:pPr>
            <a:r>
              <a:rPr lang="en-US" dirty="0"/>
              <a:t>The same functions and operators apply as in Boolean</a:t>
            </a:r>
          </a:p>
          <a:p>
            <a:pPr>
              <a:defRPr/>
            </a:pPr>
            <a:r>
              <a:rPr lang="en-US" dirty="0"/>
              <a:t>An Enumerated CF always starts with: </a:t>
            </a:r>
            <a:r>
              <a:rPr lang="en-US" b="1" dirty="0">
                <a:solidFill>
                  <a:srgbClr val="C00000"/>
                </a:solidFill>
              </a:rPr>
              <a:t>ENUM</a:t>
            </a:r>
            <a:endParaRPr lang="nl-NL" b="1" dirty="0">
              <a:solidFill>
                <a:srgbClr val="C00000"/>
              </a:solidFill>
            </a:endParaRPr>
          </a:p>
        </p:txBody>
      </p:sp>
      <p:sp>
        <p:nvSpPr>
          <p:cNvPr id="4" name="Title 3"/>
          <p:cNvSpPr>
            <a:spLocks noGrp="1"/>
          </p:cNvSpPr>
          <p:nvPr>
            <p:ph type="title"/>
          </p:nvPr>
        </p:nvSpPr>
        <p:spPr/>
        <p:txBody>
          <a:bodyPr/>
          <a:lstStyle/>
          <a:p>
            <a:pPr>
              <a:defRPr/>
            </a:pPr>
            <a:r>
              <a:rPr lang="en-US" dirty="0"/>
              <a:t>Example 2: Enumerated Custom Field</a:t>
            </a:r>
            <a:endParaRPr lang="nl-NL" dirty="0"/>
          </a:p>
        </p:txBody>
      </p:sp>
    </p:spTree>
    <p:extLst>
      <p:ext uri="{BB962C8B-B14F-4D97-AF65-F5344CB8AC3E}">
        <p14:creationId xmlns:p14="http://schemas.microsoft.com/office/powerpoint/2010/main" val="1997164865"/>
      </p:ext>
    </p:extLst>
  </p:cSld>
  <p:clrMapOvr>
    <a:masterClrMapping/>
  </p:clrMapOvr>
  <p:transition>
    <p:wipe dir="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Snagit_PPT6B6C" descr="PPT6B6C.png"/>
          <p:cNvPicPr>
            <a:picLocks noGrp="1" noChangeAspect="1"/>
          </p:cNvPicPr>
          <p:nvPr>
            <p:ph idx="1"/>
          </p:nvPr>
        </p:nvPicPr>
        <p:blipFill>
          <a:blip r:embed="rId3" cstate="print"/>
          <a:stretch>
            <a:fillRect/>
          </a:stretch>
        </p:blipFill>
        <p:spPr>
          <a:xfrm>
            <a:off x="963386" y="1350100"/>
            <a:ext cx="7217227" cy="4784000"/>
          </a:xfrm>
          <a:ln w="38100">
            <a:noFill/>
          </a:ln>
        </p:spPr>
      </p:pic>
      <p:sp>
        <p:nvSpPr>
          <p:cNvPr id="5" name="Title 4"/>
          <p:cNvSpPr>
            <a:spLocks noGrp="1"/>
          </p:cNvSpPr>
          <p:nvPr>
            <p:ph type="title"/>
          </p:nvPr>
        </p:nvSpPr>
        <p:spPr/>
        <p:txBody>
          <a:bodyPr/>
          <a:lstStyle/>
          <a:p>
            <a:r>
              <a:rPr lang="en-US" dirty="0"/>
              <a:t>Example 2: Enumerated Custom Field</a:t>
            </a:r>
          </a:p>
        </p:txBody>
      </p:sp>
      <p:pic>
        <p:nvPicPr>
          <p:cNvPr id="23555" name="Snagit_PPTC917" descr="PPTC917.png"/>
          <p:cNvPicPr>
            <a:picLocks noChangeAspect="1"/>
          </p:cNvPicPr>
          <p:nvPr/>
        </p:nvPicPr>
        <p:blipFill>
          <a:blip r:embed="rId4" cstate="print"/>
          <a:srcRect/>
          <a:stretch>
            <a:fillRect/>
          </a:stretch>
        </p:blipFill>
        <p:spPr bwMode="auto">
          <a:xfrm>
            <a:off x="4454170" y="2560839"/>
            <a:ext cx="3322423" cy="1679074"/>
          </a:xfrm>
          <a:prstGeom prst="rect">
            <a:avLst/>
          </a:prstGeom>
          <a:noFill/>
          <a:ln w="38100">
            <a:solidFill>
              <a:srgbClr val="FF0000"/>
            </a:solidFill>
            <a:miter lim="800000"/>
            <a:headEnd/>
            <a:tailEnd/>
          </a:ln>
        </p:spPr>
      </p:pic>
      <p:sp>
        <p:nvSpPr>
          <p:cNvPr id="23556" name="TextBox 5"/>
          <p:cNvSpPr txBox="1">
            <a:spLocks noChangeArrowheads="1"/>
          </p:cNvSpPr>
          <p:nvPr/>
        </p:nvSpPr>
        <p:spPr bwMode="auto">
          <a:xfrm>
            <a:off x="778306" y="5370615"/>
            <a:ext cx="6475427" cy="830997"/>
          </a:xfrm>
          <a:prstGeom prst="rect">
            <a:avLst/>
          </a:prstGeom>
          <a:solidFill>
            <a:schemeClr val="bg1"/>
          </a:solidFill>
          <a:ln w="38100">
            <a:solidFill>
              <a:srgbClr val="3374D4"/>
            </a:solidFill>
            <a:miter lim="800000"/>
            <a:headEnd/>
            <a:tailEnd/>
          </a:ln>
        </p:spPr>
        <p:txBody>
          <a:bodyPr wrap="none">
            <a:spAutoFit/>
          </a:bodyPr>
          <a:lstStyle/>
          <a:p>
            <a:pPr algn="l"/>
            <a:r>
              <a:rPr lang="en-US" dirty="0">
                <a:latin typeface="Arial" panose="020B0604020202020204" pitchFamily="34" charset="0"/>
                <a:cs typeface="Arial" panose="020B0604020202020204" pitchFamily="34" charset="0"/>
              </a:rPr>
              <a:t>Sometimes a Field is too big and does not fit the window.</a:t>
            </a:r>
          </a:p>
          <a:p>
            <a:pPr algn="l"/>
            <a:r>
              <a:rPr lang="en-US" dirty="0">
                <a:latin typeface="Arial" panose="020B0604020202020204" pitchFamily="34" charset="0"/>
                <a:cs typeface="Arial" panose="020B0604020202020204" pitchFamily="34" charset="0"/>
              </a:rPr>
              <a:t>When you get an error message:</a:t>
            </a:r>
          </a:p>
          <a:p>
            <a:pPr algn="l"/>
            <a:r>
              <a:rPr lang="en-US" dirty="0">
                <a:latin typeface="Arial" panose="020B0604020202020204" pitchFamily="34" charset="0"/>
                <a:cs typeface="Arial" panose="020B0604020202020204" pitchFamily="34" charset="0"/>
              </a:rPr>
              <a:t>Copy the Field to Word or </a:t>
            </a:r>
            <a:r>
              <a:rPr lang="en-US" dirty="0" err="1">
                <a:latin typeface="Arial" panose="020B0604020202020204" pitchFamily="34" charset="0"/>
                <a:cs typeface="Arial" panose="020B0604020202020204" pitchFamily="34" charset="0"/>
              </a:rPr>
              <a:t>Wordpad</a:t>
            </a:r>
            <a:r>
              <a:rPr lang="en-US" dirty="0">
                <a:latin typeface="Arial" panose="020B0604020202020204" pitchFamily="34" charset="0"/>
                <a:cs typeface="Arial" panose="020B0604020202020204" pitchFamily="34" charset="0"/>
              </a:rPr>
              <a:t> where it is easier to troubleshoot.</a:t>
            </a:r>
          </a:p>
        </p:txBody>
      </p:sp>
      <p:sp>
        <p:nvSpPr>
          <p:cNvPr id="6" name="Rectangle 5"/>
          <p:cNvSpPr/>
          <p:nvPr/>
        </p:nvSpPr>
        <p:spPr bwMode="auto">
          <a:xfrm>
            <a:off x="4016020" y="4816300"/>
            <a:ext cx="438150" cy="27005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8" name="Straight Arrow Connector 7"/>
          <p:cNvCxnSpPr>
            <a:cxnSpLocks/>
            <a:stCxn id="6" idx="3"/>
          </p:cNvCxnSpPr>
          <p:nvPr/>
        </p:nvCxnSpPr>
        <p:spPr bwMode="auto">
          <a:xfrm flipV="1">
            <a:off x="4454170" y="3638550"/>
            <a:ext cx="1366966" cy="1312775"/>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896354426"/>
      </p:ext>
    </p:extLst>
  </p:cSld>
  <p:clrMapOvr>
    <a:masterClrMapping/>
  </p:clrMapOvr>
  <p:transition>
    <p:wipe dir="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3"/>
          <p:cNvPicPr>
            <a:picLocks noChangeAspect="1" noChangeArrowheads="1"/>
          </p:cNvPicPr>
          <p:nvPr/>
        </p:nvPicPr>
        <p:blipFill rotWithShape="1">
          <a:blip r:embed="rId3" cstate="print"/>
          <a:srcRect t="-1" r="24485" b="960"/>
          <a:stretch/>
        </p:blipFill>
        <p:spPr bwMode="auto">
          <a:xfrm>
            <a:off x="630194" y="2289201"/>
            <a:ext cx="7883611" cy="2475450"/>
          </a:xfrm>
          <a:prstGeom prst="rect">
            <a:avLst/>
          </a:prstGeom>
          <a:noFill/>
          <a:ln w="38100" algn="ctr">
            <a:solidFill>
              <a:srgbClr val="3374D4"/>
            </a:solidFill>
            <a:miter lim="800000"/>
            <a:headEnd/>
            <a:tailEnd/>
          </a:ln>
        </p:spPr>
      </p:pic>
      <p:sp>
        <p:nvSpPr>
          <p:cNvPr id="4" name="Rectangle 3"/>
          <p:cNvSpPr/>
          <p:nvPr/>
        </p:nvSpPr>
        <p:spPr>
          <a:xfrm>
            <a:off x="545349" y="5003574"/>
            <a:ext cx="8046201" cy="563231"/>
          </a:xfrm>
          <a:prstGeom prst="rect">
            <a:avLst/>
          </a:prstGeom>
        </p:spPr>
        <p:txBody>
          <a:bodyPr wrap="square">
            <a:spAutoFit/>
          </a:bodyPr>
          <a:lstStyle/>
          <a:p>
            <a:pPr>
              <a:lnSpc>
                <a:spcPct val="85000"/>
              </a:lnSpc>
              <a:defRPr/>
            </a:pPr>
            <a:r>
              <a:rPr lang="en-US" sz="1800" dirty="0">
                <a:latin typeface="Arial" panose="020B0604020202020204" pitchFamily="34" charset="0"/>
                <a:cs typeface="Arial" panose="020B0604020202020204" pitchFamily="34" charset="0"/>
              </a:rPr>
              <a:t>ENUM(</a:t>
            </a:r>
            <a:r>
              <a:rPr lang="en-US" sz="1800" dirty="0">
                <a:solidFill>
                  <a:srgbClr val="FF3300"/>
                </a:solidFill>
                <a:latin typeface="Arial" panose="020B0604020202020204" pitchFamily="34" charset="0"/>
                <a:cs typeface="Arial" panose="020B0604020202020204" pitchFamily="34" charset="0"/>
              </a:rPr>
              <a:t>LT(CCompRef1[Area],CConst1),</a:t>
            </a:r>
            <a:r>
              <a:rPr lang="en-US" sz="1800" dirty="0">
                <a:solidFill>
                  <a:srgbClr val="006600"/>
                </a:solidFill>
                <a:latin typeface="Arial" panose="020B0604020202020204" pitchFamily="34" charset="0"/>
                <a:cs typeface="Arial" panose="020B0604020202020204" pitchFamily="34" charset="0"/>
              </a:rPr>
              <a:t>RANGE(CCompRef1[Area],CConst1,CConst2),</a:t>
            </a:r>
            <a:r>
              <a:rPr lang="en-US" sz="1800" dirty="0">
                <a:solidFill>
                  <a:schemeClr val="tx2">
                    <a:lumMod val="75000"/>
                  </a:schemeClr>
                </a:solidFill>
                <a:latin typeface="Arial" panose="020B0604020202020204" pitchFamily="34" charset="0"/>
                <a:cs typeface="Arial" panose="020B0604020202020204" pitchFamily="34" charset="0"/>
              </a:rPr>
              <a:t>GT(CCompRef1[Area],CConst2)</a:t>
            </a:r>
            <a:r>
              <a:rPr lang="en-US" sz="1800" b="1" dirty="0">
                <a:solidFill>
                  <a:schemeClr val="accent2"/>
                </a:solidFill>
                <a:latin typeface="Arial" panose="020B0604020202020204" pitchFamily="34" charset="0"/>
                <a:cs typeface="Arial" panose="020B0604020202020204" pitchFamily="34" charset="0"/>
              </a:rPr>
              <a:t>)</a:t>
            </a:r>
          </a:p>
        </p:txBody>
      </p:sp>
      <p:pic>
        <p:nvPicPr>
          <p:cNvPr id="24580" name="Picture 2"/>
          <p:cNvPicPr>
            <a:picLocks noChangeAspect="1" noChangeArrowheads="1"/>
          </p:cNvPicPr>
          <p:nvPr/>
        </p:nvPicPr>
        <p:blipFill rotWithShape="1">
          <a:blip r:embed="rId4" cstate="print"/>
          <a:srcRect b="36447"/>
          <a:stretch/>
        </p:blipFill>
        <p:spPr bwMode="auto">
          <a:xfrm>
            <a:off x="1401762" y="1271706"/>
            <a:ext cx="6340475" cy="751629"/>
          </a:xfrm>
          <a:prstGeom prst="rect">
            <a:avLst/>
          </a:prstGeom>
          <a:noFill/>
          <a:ln w="38100" algn="ctr">
            <a:noFill/>
            <a:miter lim="800000"/>
            <a:headEnd/>
            <a:tailEnd/>
          </a:ln>
        </p:spPr>
      </p:pic>
      <p:sp>
        <p:nvSpPr>
          <p:cNvPr id="24581" name="TextBox 5"/>
          <p:cNvSpPr txBox="1">
            <a:spLocks noChangeArrowheads="1"/>
          </p:cNvSpPr>
          <p:nvPr/>
        </p:nvSpPr>
        <p:spPr bwMode="auto">
          <a:xfrm>
            <a:off x="1003944" y="2463227"/>
            <a:ext cx="1544012" cy="369332"/>
          </a:xfrm>
          <a:prstGeom prst="rect">
            <a:avLst/>
          </a:prstGeom>
          <a:solidFill>
            <a:schemeClr val="bg1"/>
          </a:solidFill>
          <a:ln w="38100">
            <a:solidFill>
              <a:srgbClr val="3374D4"/>
            </a:solidFill>
            <a:miter lim="800000"/>
            <a:headEnd/>
            <a:tailEnd/>
          </a:ln>
        </p:spPr>
        <p:txBody>
          <a:bodyPr wrap="none">
            <a:spAutoFit/>
          </a:bodyPr>
          <a:lstStyle/>
          <a:p>
            <a:pPr algn="l"/>
            <a:r>
              <a:rPr lang="en-US" sz="1800" dirty="0">
                <a:latin typeface="Arial" panose="020B0604020202020204" pitchFamily="34" charset="0"/>
                <a:cs typeface="Arial" panose="020B0604020202020204" pitchFamily="34" charset="0"/>
              </a:rPr>
              <a:t>Copy to word</a:t>
            </a:r>
          </a:p>
        </p:txBody>
      </p:sp>
      <p:sp>
        <p:nvSpPr>
          <p:cNvPr id="24582" name="TextBox 6"/>
          <p:cNvSpPr txBox="1">
            <a:spLocks noChangeArrowheads="1"/>
          </p:cNvSpPr>
          <p:nvPr/>
        </p:nvSpPr>
        <p:spPr bwMode="auto">
          <a:xfrm>
            <a:off x="2895900" y="5945370"/>
            <a:ext cx="3352200" cy="369332"/>
          </a:xfrm>
          <a:prstGeom prst="rect">
            <a:avLst/>
          </a:prstGeom>
          <a:solidFill>
            <a:schemeClr val="bg1"/>
          </a:solidFill>
          <a:ln w="38100">
            <a:solidFill>
              <a:srgbClr val="3374D4"/>
            </a:solidFill>
            <a:miter lim="800000"/>
            <a:headEnd/>
            <a:tailEnd/>
          </a:ln>
        </p:spPr>
        <p:txBody>
          <a:bodyPr wrap="none">
            <a:spAutoFit/>
          </a:bodyPr>
          <a:lstStyle/>
          <a:p>
            <a:pPr algn="l"/>
            <a:r>
              <a:rPr lang="en-US" sz="1800" dirty="0">
                <a:latin typeface="Arial" panose="020B0604020202020204" pitchFamily="34" charset="0"/>
                <a:cs typeface="Arial" panose="020B0604020202020204" pitchFamily="34" charset="0"/>
              </a:rPr>
              <a:t>Copy this back to Formula field</a:t>
            </a:r>
          </a:p>
        </p:txBody>
      </p:sp>
      <p:sp>
        <p:nvSpPr>
          <p:cNvPr id="8" name="Title 7"/>
          <p:cNvSpPr>
            <a:spLocks noGrp="1"/>
          </p:cNvSpPr>
          <p:nvPr>
            <p:ph type="title"/>
          </p:nvPr>
        </p:nvSpPr>
        <p:spPr/>
        <p:txBody>
          <a:bodyPr/>
          <a:lstStyle/>
          <a:p>
            <a:r>
              <a:rPr lang="en-US" dirty="0"/>
              <a:t>Example 2: Enumerated Custom Field</a:t>
            </a:r>
          </a:p>
        </p:txBody>
      </p:sp>
      <p:sp>
        <p:nvSpPr>
          <p:cNvPr id="11" name="TextBox 10"/>
          <p:cNvSpPr txBox="1"/>
          <p:nvPr/>
        </p:nvSpPr>
        <p:spPr>
          <a:xfrm>
            <a:off x="5615766" y="5462193"/>
            <a:ext cx="1582484" cy="369332"/>
          </a:xfrm>
          <a:prstGeom prst="rect">
            <a:avLst/>
          </a:prstGeom>
          <a:noFill/>
        </p:spPr>
        <p:txBody>
          <a:bodyPr wrap="none" rtlCol="0">
            <a:spAutoFit/>
          </a:bodyPr>
          <a:lstStyle/>
          <a:p>
            <a:r>
              <a:rPr lang="en-US" sz="1800" b="1" dirty="0">
                <a:solidFill>
                  <a:schemeClr val="accent2"/>
                </a:solidFill>
                <a:latin typeface="Arial" panose="020B0604020202020204" pitchFamily="34" charset="0"/>
                <a:cs typeface="Arial" panose="020B0604020202020204" pitchFamily="34" charset="0"/>
              </a:rPr>
              <a:t>)</a:t>
            </a:r>
            <a:r>
              <a:rPr lang="en-US" sz="1800" dirty="0">
                <a:latin typeface="Arial" panose="020B0604020202020204" pitchFamily="34" charset="0"/>
                <a:cs typeface="Arial" panose="020B0604020202020204" pitchFamily="34" charset="0"/>
              </a:rPr>
              <a:t> was missing</a:t>
            </a:r>
          </a:p>
        </p:txBody>
      </p:sp>
      <p:cxnSp>
        <p:nvCxnSpPr>
          <p:cNvPr id="13" name="Straight Arrow Connector 12"/>
          <p:cNvCxnSpPr>
            <a:cxnSpLocks/>
          </p:cNvCxnSpPr>
          <p:nvPr/>
        </p:nvCxnSpPr>
        <p:spPr bwMode="auto">
          <a:xfrm flipH="1" flipV="1">
            <a:off x="5061530" y="5459971"/>
            <a:ext cx="554236" cy="213668"/>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565702793"/>
      </p:ext>
    </p:extLst>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Snagit_PPT10F0" descr="PPT10F0.png"/>
          <p:cNvPicPr>
            <a:picLocks noChangeAspect="1"/>
          </p:cNvPicPr>
          <p:nvPr/>
        </p:nvPicPr>
        <p:blipFill rotWithShape="1">
          <a:blip r:embed="rId3" cstate="print"/>
          <a:srcRect b="9006"/>
          <a:stretch/>
        </p:blipFill>
        <p:spPr bwMode="auto">
          <a:xfrm>
            <a:off x="584538" y="1190400"/>
            <a:ext cx="5096060" cy="4673071"/>
          </a:xfrm>
          <a:prstGeom prst="rect">
            <a:avLst/>
          </a:prstGeom>
          <a:noFill/>
          <a:ln w="38100">
            <a:noFill/>
            <a:miter lim="800000"/>
            <a:headEnd/>
            <a:tailEnd/>
          </a:ln>
        </p:spPr>
      </p:pic>
      <p:sp>
        <p:nvSpPr>
          <p:cNvPr id="5" name="Rectangle 4"/>
          <p:cNvSpPr/>
          <p:nvPr/>
        </p:nvSpPr>
        <p:spPr>
          <a:xfrm>
            <a:off x="468085" y="5928834"/>
            <a:ext cx="8190433" cy="584775"/>
          </a:xfrm>
          <a:prstGeom prst="rect">
            <a:avLst/>
          </a:prstGeom>
        </p:spPr>
        <p:txBody>
          <a:bodyPr wrap="square">
            <a:spAutoFit/>
          </a:bodyPr>
          <a:lstStyle/>
          <a:p>
            <a:pPr algn="l" eaLnBrk="0" hangingPunct="0">
              <a:defRPr/>
            </a:pPr>
            <a:r>
              <a:rPr lang="en-US" dirty="0">
                <a:latin typeface="Arial" panose="020B0604020202020204" pitchFamily="34" charset="0"/>
                <a:cs typeface="Arial" panose="020B0604020202020204" pitchFamily="34" charset="0"/>
              </a:rPr>
              <a:t>ENUM(</a:t>
            </a:r>
            <a:r>
              <a:rPr lang="en-US" dirty="0">
                <a:solidFill>
                  <a:srgbClr val="FF3300"/>
                </a:solidFill>
                <a:latin typeface="Arial" panose="020B0604020202020204" pitchFamily="34" charset="0"/>
                <a:cs typeface="Arial" panose="020B0604020202020204" pitchFamily="34" charset="0"/>
              </a:rPr>
              <a:t>LT(CCompRef1[Area],CConst1),</a:t>
            </a:r>
            <a:r>
              <a:rPr lang="en-US" dirty="0">
                <a:solidFill>
                  <a:srgbClr val="006600"/>
                </a:solidFill>
                <a:latin typeface="Arial" panose="020B0604020202020204" pitchFamily="34" charset="0"/>
                <a:cs typeface="Arial" panose="020B0604020202020204" pitchFamily="34" charset="0"/>
              </a:rPr>
              <a:t>RANGE(CCompRef1[Area],CConst1,CConst2),</a:t>
            </a:r>
            <a:r>
              <a:rPr lang="en-US" dirty="0">
                <a:solidFill>
                  <a:schemeClr val="tx2">
                    <a:lumMod val="75000"/>
                  </a:schemeClr>
                </a:solidFill>
                <a:latin typeface="Arial" panose="020B0604020202020204" pitchFamily="34" charset="0"/>
                <a:cs typeface="Arial" panose="020B0604020202020204" pitchFamily="34" charset="0"/>
              </a:rPr>
              <a:t>GT(CCompRef1[Area],CConst2)</a:t>
            </a:r>
            <a:r>
              <a:rPr lang="en-US" dirty="0">
                <a:latin typeface="Arial" panose="020B0604020202020204" pitchFamily="34" charset="0"/>
                <a:cs typeface="Arial" panose="020B0604020202020204" pitchFamily="34" charset="0"/>
              </a:rPr>
              <a:t>)</a:t>
            </a:r>
          </a:p>
        </p:txBody>
      </p:sp>
      <p:sp>
        <p:nvSpPr>
          <p:cNvPr id="6" name="Title 5"/>
          <p:cNvSpPr>
            <a:spLocks noGrp="1"/>
          </p:cNvSpPr>
          <p:nvPr>
            <p:ph type="title"/>
          </p:nvPr>
        </p:nvSpPr>
        <p:spPr/>
        <p:txBody>
          <a:bodyPr/>
          <a:lstStyle/>
          <a:p>
            <a:r>
              <a:rPr lang="en-US" dirty="0"/>
              <a:t>Example 2: Enumerated Custom Field</a:t>
            </a:r>
          </a:p>
        </p:txBody>
      </p:sp>
      <p:pic>
        <p:nvPicPr>
          <p:cNvPr id="7" name="Picture 6"/>
          <p:cNvPicPr>
            <a:picLocks noChangeAspect="1" noChangeArrowheads="1"/>
          </p:cNvPicPr>
          <p:nvPr/>
        </p:nvPicPr>
        <p:blipFill>
          <a:blip r:embed="rId4" cstate="print"/>
          <a:srcRect/>
          <a:stretch>
            <a:fillRect/>
          </a:stretch>
        </p:blipFill>
        <p:spPr bwMode="auto">
          <a:xfrm>
            <a:off x="5977801" y="2444268"/>
            <a:ext cx="2181225" cy="1466850"/>
          </a:xfrm>
          <a:prstGeom prst="rect">
            <a:avLst/>
          </a:prstGeom>
          <a:noFill/>
          <a:ln w="38100" algn="ctr">
            <a:solidFill>
              <a:srgbClr val="FF0000"/>
            </a:solidFill>
            <a:miter lim="800000"/>
            <a:headEnd/>
            <a:tailEnd/>
          </a:ln>
        </p:spPr>
      </p:pic>
      <p:sp>
        <p:nvSpPr>
          <p:cNvPr id="8" name="Rectangle 7"/>
          <p:cNvSpPr/>
          <p:nvPr/>
        </p:nvSpPr>
        <p:spPr bwMode="auto">
          <a:xfrm>
            <a:off x="3429771" y="1840538"/>
            <a:ext cx="1285103" cy="120746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10" name="Straight Arrow Connector 9"/>
          <p:cNvCxnSpPr>
            <a:cxnSpLocks/>
            <a:stCxn id="8" idx="3"/>
          </p:cNvCxnSpPr>
          <p:nvPr/>
        </p:nvCxnSpPr>
        <p:spPr bwMode="auto">
          <a:xfrm>
            <a:off x="4714874" y="2444269"/>
            <a:ext cx="1128566" cy="715955"/>
          </a:xfrm>
          <a:prstGeom prst="straightConnector1">
            <a:avLst/>
          </a:prstGeom>
          <a:noFill/>
          <a:ln w="38100" cap="flat" cmpd="sng" algn="ctr">
            <a:solidFill>
              <a:srgbClr val="FF0000"/>
            </a:solidFill>
            <a:prstDash val="solid"/>
            <a:round/>
            <a:headEnd type="none" w="med" len="med"/>
            <a:tailEnd type="arrow"/>
          </a:ln>
          <a:effectLst/>
        </p:spPr>
      </p:cxnSp>
      <p:sp>
        <p:nvSpPr>
          <p:cNvPr id="12" name="TextBox 11"/>
          <p:cNvSpPr txBox="1"/>
          <p:nvPr/>
        </p:nvSpPr>
        <p:spPr>
          <a:xfrm>
            <a:off x="7033016" y="2870833"/>
            <a:ext cx="585417" cy="353943"/>
          </a:xfrm>
          <a:prstGeom prst="rect">
            <a:avLst/>
          </a:prstGeom>
          <a:solidFill>
            <a:schemeClr val="bg1"/>
          </a:solidFill>
        </p:spPr>
        <p:txBody>
          <a:bodyPr wrap="none" rtlCol="0">
            <a:spAutoFit/>
          </a:bodyPr>
          <a:lstStyle/>
          <a:p>
            <a:r>
              <a:rPr lang="en-US" sz="1700" dirty="0">
                <a:solidFill>
                  <a:srgbClr val="FF0000"/>
                </a:solidFill>
                <a:latin typeface="Arial" panose="020B0604020202020204" pitchFamily="34" charset="0"/>
                <a:cs typeface="Arial" panose="020B0604020202020204" pitchFamily="34" charset="0"/>
              </a:rPr>
              <a:t>Low</a:t>
            </a:r>
          </a:p>
        </p:txBody>
      </p:sp>
      <p:sp>
        <p:nvSpPr>
          <p:cNvPr id="13" name="TextBox 12"/>
          <p:cNvSpPr txBox="1"/>
          <p:nvPr/>
        </p:nvSpPr>
        <p:spPr>
          <a:xfrm>
            <a:off x="7020917" y="3591643"/>
            <a:ext cx="633507" cy="353943"/>
          </a:xfrm>
          <a:prstGeom prst="rect">
            <a:avLst/>
          </a:prstGeom>
          <a:solidFill>
            <a:schemeClr val="bg1"/>
          </a:solidFill>
        </p:spPr>
        <p:txBody>
          <a:bodyPr wrap="none" rtlCol="0">
            <a:spAutoFit/>
          </a:bodyPr>
          <a:lstStyle/>
          <a:p>
            <a:r>
              <a:rPr lang="en-US" sz="1700" dirty="0">
                <a:solidFill>
                  <a:schemeClr val="tx2">
                    <a:lumMod val="75000"/>
                  </a:schemeClr>
                </a:solidFill>
                <a:latin typeface="Arial" panose="020B0604020202020204" pitchFamily="34" charset="0"/>
                <a:cs typeface="Arial" panose="020B0604020202020204" pitchFamily="34" charset="0"/>
              </a:rPr>
              <a:t>High</a:t>
            </a:r>
          </a:p>
        </p:txBody>
      </p:sp>
      <p:sp>
        <p:nvSpPr>
          <p:cNvPr id="14" name="TextBox 13"/>
          <p:cNvSpPr txBox="1"/>
          <p:nvPr/>
        </p:nvSpPr>
        <p:spPr>
          <a:xfrm>
            <a:off x="7012680" y="3225060"/>
            <a:ext cx="720069" cy="353943"/>
          </a:xfrm>
          <a:prstGeom prst="rect">
            <a:avLst/>
          </a:prstGeom>
          <a:solidFill>
            <a:schemeClr val="bg1"/>
          </a:solidFill>
        </p:spPr>
        <p:txBody>
          <a:bodyPr wrap="none" rtlCol="0">
            <a:spAutoFit/>
          </a:bodyPr>
          <a:lstStyle/>
          <a:p>
            <a:r>
              <a:rPr lang="en-US" sz="1700" dirty="0">
                <a:solidFill>
                  <a:srgbClr val="008000"/>
                </a:solidFill>
                <a:latin typeface="Arial" panose="020B0604020202020204" pitchFamily="34" charset="0"/>
                <a:cs typeface="Arial" panose="020B0604020202020204" pitchFamily="34" charset="0"/>
              </a:rPr>
              <a:t>Good</a:t>
            </a:r>
          </a:p>
        </p:txBody>
      </p:sp>
      <p:cxnSp>
        <p:nvCxnSpPr>
          <p:cNvPr id="16" name="Straight Connector 15"/>
          <p:cNvCxnSpPr/>
          <p:nvPr/>
        </p:nvCxnSpPr>
        <p:spPr bwMode="auto">
          <a:xfrm>
            <a:off x="7002511" y="2844059"/>
            <a:ext cx="864973" cy="0"/>
          </a:xfrm>
          <a:prstGeom prst="line">
            <a:avLst/>
          </a:prstGeom>
          <a:noFill/>
          <a:ln w="28575" cap="flat" cmpd="sng" algn="ctr">
            <a:solidFill>
              <a:schemeClr val="tx1"/>
            </a:solidFill>
            <a:prstDash val="solid"/>
            <a:round/>
            <a:headEnd type="none" w="med" len="med"/>
            <a:tailEnd type="none"/>
          </a:ln>
          <a:effectLst/>
        </p:spPr>
      </p:cxnSp>
      <p:cxnSp>
        <p:nvCxnSpPr>
          <p:cNvPr id="17" name="Straight Connector 16"/>
          <p:cNvCxnSpPr/>
          <p:nvPr/>
        </p:nvCxnSpPr>
        <p:spPr bwMode="auto">
          <a:xfrm>
            <a:off x="6996848" y="3220298"/>
            <a:ext cx="864973" cy="0"/>
          </a:xfrm>
          <a:prstGeom prst="line">
            <a:avLst/>
          </a:prstGeom>
          <a:noFill/>
          <a:ln w="28575" cap="flat" cmpd="sng" algn="ctr">
            <a:solidFill>
              <a:schemeClr val="tx1"/>
            </a:solidFill>
            <a:prstDash val="solid"/>
            <a:round/>
            <a:headEnd type="none" w="med" len="med"/>
            <a:tailEnd type="none"/>
          </a:ln>
          <a:effectLst/>
        </p:spPr>
      </p:cxnSp>
      <p:cxnSp>
        <p:nvCxnSpPr>
          <p:cNvPr id="18" name="Straight Connector 17"/>
          <p:cNvCxnSpPr/>
          <p:nvPr/>
        </p:nvCxnSpPr>
        <p:spPr bwMode="auto">
          <a:xfrm>
            <a:off x="7018730" y="3596535"/>
            <a:ext cx="864973" cy="0"/>
          </a:xfrm>
          <a:prstGeom prst="line">
            <a:avLst/>
          </a:prstGeom>
          <a:noFill/>
          <a:ln w="28575" cap="flat" cmpd="sng" algn="ctr">
            <a:solidFill>
              <a:schemeClr val="tx1"/>
            </a:solidFill>
            <a:prstDash val="solid"/>
            <a:round/>
            <a:headEnd type="none" w="med" len="med"/>
            <a:tailEnd type="none"/>
          </a:ln>
          <a:effectLst/>
        </p:spPr>
      </p:cxnSp>
      <p:cxnSp>
        <p:nvCxnSpPr>
          <p:cNvPr id="20" name="Straight Connector 19"/>
          <p:cNvCxnSpPr/>
          <p:nvPr/>
        </p:nvCxnSpPr>
        <p:spPr bwMode="auto">
          <a:xfrm>
            <a:off x="7037780" y="3924247"/>
            <a:ext cx="864973" cy="0"/>
          </a:xfrm>
          <a:prstGeom prst="line">
            <a:avLst/>
          </a:prstGeom>
          <a:noFill/>
          <a:ln w="28575" cap="flat" cmpd="sng" algn="ctr">
            <a:solidFill>
              <a:srgbClr val="FF0000"/>
            </a:solidFill>
            <a:prstDash val="solid"/>
            <a:round/>
            <a:headEnd type="none" w="med" len="med"/>
            <a:tailEnd type="none"/>
          </a:ln>
          <a:effectLst/>
        </p:spPr>
      </p:cxnSp>
      <p:sp>
        <p:nvSpPr>
          <p:cNvPr id="21" name="Rectangle 20"/>
          <p:cNvSpPr/>
          <p:nvPr/>
        </p:nvSpPr>
        <p:spPr bwMode="auto">
          <a:xfrm>
            <a:off x="1847465" y="1543977"/>
            <a:ext cx="1285103" cy="29656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552510895"/>
      </p:ext>
    </p:extLst>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520271" y="4526805"/>
            <a:ext cx="8103458" cy="584775"/>
          </a:xfrm>
          <a:prstGeom prst="rect">
            <a:avLst/>
          </a:prstGeom>
          <a:solidFill>
            <a:schemeClr val="bg1"/>
          </a:solidFill>
          <a:ln w="25400">
            <a:solidFill>
              <a:srgbClr val="3374D4"/>
            </a:solidFill>
          </a:ln>
        </p:spPr>
        <p:txBody>
          <a:bodyPr wrap="square">
            <a:spAutoFit/>
          </a:bodyPr>
          <a:lstStyle/>
          <a:p>
            <a:pPr algn="l" eaLnBrk="0" hangingPunct="0">
              <a:defRPr/>
            </a:pPr>
            <a:r>
              <a:rPr lang="en-US" dirty="0">
                <a:latin typeface="Arial" panose="020B0604020202020204" pitchFamily="34" charset="0"/>
                <a:cs typeface="Arial" panose="020B0604020202020204" pitchFamily="34" charset="0"/>
              </a:rPr>
              <a:t>ENUM(</a:t>
            </a:r>
            <a:r>
              <a:rPr lang="en-US" dirty="0">
                <a:solidFill>
                  <a:srgbClr val="FF3300"/>
                </a:solidFill>
                <a:latin typeface="Arial" panose="020B0604020202020204" pitchFamily="34" charset="0"/>
                <a:cs typeface="Arial" panose="020B0604020202020204" pitchFamily="34" charset="0"/>
              </a:rPr>
              <a:t>LT(CCompRef1[Area],CConst1),</a:t>
            </a:r>
            <a:r>
              <a:rPr lang="en-US" dirty="0">
                <a:solidFill>
                  <a:srgbClr val="006600"/>
                </a:solidFill>
                <a:latin typeface="Arial" panose="020B0604020202020204" pitchFamily="34" charset="0"/>
                <a:cs typeface="Arial" panose="020B0604020202020204" pitchFamily="34" charset="0"/>
              </a:rPr>
              <a:t>RANGE(CCompRef1[Area],CConst1,CConst2),</a:t>
            </a:r>
            <a:r>
              <a:rPr lang="en-US" dirty="0">
                <a:solidFill>
                  <a:schemeClr val="tx2">
                    <a:lumMod val="75000"/>
                  </a:schemeClr>
                </a:solidFill>
                <a:latin typeface="Arial" panose="020B0604020202020204" pitchFamily="34" charset="0"/>
                <a:cs typeface="Arial" panose="020B0604020202020204" pitchFamily="34" charset="0"/>
              </a:rPr>
              <a:t>GT(CCompRef1[Area],CConst2)</a:t>
            </a:r>
            <a:r>
              <a:rPr lang="en-US" dirty="0">
                <a:latin typeface="Arial" panose="020B0604020202020204" pitchFamily="34" charset="0"/>
                <a:cs typeface="Arial" panose="020B0604020202020204" pitchFamily="34" charset="0"/>
              </a:rPr>
              <a:t>)</a:t>
            </a:r>
          </a:p>
        </p:txBody>
      </p:sp>
      <p:sp>
        <p:nvSpPr>
          <p:cNvPr id="16" name="Title 15"/>
          <p:cNvSpPr>
            <a:spLocks noGrp="1"/>
          </p:cNvSpPr>
          <p:nvPr>
            <p:ph type="title"/>
          </p:nvPr>
        </p:nvSpPr>
        <p:spPr/>
        <p:txBody>
          <a:bodyPr/>
          <a:lstStyle/>
          <a:p>
            <a:r>
              <a:rPr lang="en-US" dirty="0"/>
              <a:t>Example 2: Enumerated Custom Field</a:t>
            </a:r>
          </a:p>
        </p:txBody>
      </p:sp>
      <p:pic>
        <p:nvPicPr>
          <p:cNvPr id="17" name="Snagit_PPTC60F" descr="PPTC60F.png"/>
          <p:cNvPicPr>
            <a:picLocks noChangeAspect="1"/>
          </p:cNvPicPr>
          <p:nvPr/>
        </p:nvPicPr>
        <p:blipFill>
          <a:blip r:embed="rId3" cstate="print"/>
          <a:srcRect l="12988" t="23833" r="47129" b="9363"/>
          <a:stretch>
            <a:fillRect/>
          </a:stretch>
        </p:blipFill>
        <p:spPr bwMode="auto">
          <a:xfrm>
            <a:off x="520271" y="1137929"/>
            <a:ext cx="4451144" cy="3251016"/>
          </a:xfrm>
          <a:prstGeom prst="rect">
            <a:avLst/>
          </a:prstGeom>
          <a:solidFill>
            <a:schemeClr val="bg1"/>
          </a:solidFill>
          <a:ln w="25400">
            <a:noFill/>
            <a:miter lim="800000"/>
            <a:headEnd/>
            <a:tailEnd/>
          </a:ln>
        </p:spPr>
      </p:pic>
      <p:sp>
        <p:nvSpPr>
          <p:cNvPr id="18" name="Rectangle 14"/>
          <p:cNvSpPr>
            <a:spLocks noChangeArrowheads="1"/>
          </p:cNvSpPr>
          <p:nvPr/>
        </p:nvSpPr>
        <p:spPr bwMode="auto">
          <a:xfrm>
            <a:off x="3694680" y="3485850"/>
            <a:ext cx="751005" cy="924853"/>
          </a:xfrm>
          <a:prstGeom prst="rect">
            <a:avLst/>
          </a:prstGeom>
          <a:noFill/>
          <a:ln w="38100" algn="ctr">
            <a:solidFill>
              <a:srgbClr val="FF0000"/>
            </a:solidFill>
            <a:round/>
            <a:headEnd/>
            <a:tailEnd/>
          </a:ln>
        </p:spPr>
        <p:txBody>
          <a:bodyPr/>
          <a:lstStyle/>
          <a:p>
            <a:pPr algn="l"/>
            <a:endParaRPr lang="en-US"/>
          </a:p>
        </p:txBody>
      </p:sp>
      <p:pic>
        <p:nvPicPr>
          <p:cNvPr id="19" name="Snagit_PPTC60F" descr="PPTC60F.png"/>
          <p:cNvPicPr>
            <a:picLocks noChangeAspect="1"/>
          </p:cNvPicPr>
          <p:nvPr/>
        </p:nvPicPr>
        <p:blipFill>
          <a:blip r:embed="rId3" cstate="print"/>
          <a:srcRect l="52695" t="43410" r="2598" b="40005"/>
          <a:stretch>
            <a:fillRect/>
          </a:stretch>
        </p:blipFill>
        <p:spPr bwMode="auto">
          <a:xfrm>
            <a:off x="883474" y="5239265"/>
            <a:ext cx="7124422" cy="1152476"/>
          </a:xfrm>
          <a:prstGeom prst="rect">
            <a:avLst/>
          </a:prstGeom>
          <a:solidFill>
            <a:schemeClr val="bg1"/>
          </a:solidFill>
          <a:ln w="25400">
            <a:noFill/>
            <a:miter lim="800000"/>
            <a:headEnd/>
            <a:tailEnd/>
          </a:ln>
        </p:spPr>
      </p:pic>
      <p:sp>
        <p:nvSpPr>
          <p:cNvPr id="20" name="Rectangle 19"/>
          <p:cNvSpPr/>
          <p:nvPr/>
        </p:nvSpPr>
        <p:spPr bwMode="auto">
          <a:xfrm>
            <a:off x="3430545" y="5239266"/>
            <a:ext cx="1072290" cy="115247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21" name="Rectangle 20"/>
          <p:cNvSpPr/>
          <p:nvPr/>
        </p:nvSpPr>
        <p:spPr bwMode="auto">
          <a:xfrm>
            <a:off x="6368621" y="5197665"/>
            <a:ext cx="1754659" cy="123567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460666184"/>
      </p:ext>
    </p:extLst>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marL="0" indent="0">
              <a:buNone/>
            </a:pPr>
            <a:r>
              <a:rPr lang="en-US" dirty="0"/>
              <a:t>Example 3:</a:t>
            </a:r>
          </a:p>
          <a:p>
            <a:r>
              <a:rPr lang="en-US" dirty="0"/>
              <a:t>  Calculate the % Area above 0.5% of the Main Component </a:t>
            </a:r>
            <a:r>
              <a:rPr lang="en-US" dirty="0" err="1"/>
              <a:t>Caf</a:t>
            </a:r>
            <a:r>
              <a:rPr lang="en-US" dirty="0"/>
              <a:t>.</a:t>
            </a:r>
          </a:p>
          <a:p>
            <a:r>
              <a:rPr lang="en-US" dirty="0"/>
              <a:t>  First Custom Field:           </a:t>
            </a:r>
            <a:r>
              <a:rPr lang="en-US" dirty="0" err="1"/>
              <a:t>Area_Limit</a:t>
            </a:r>
            <a:r>
              <a:rPr lang="en-US" dirty="0"/>
              <a:t>=</a:t>
            </a:r>
            <a:r>
              <a:rPr lang="nl-NL" dirty="0">
                <a:solidFill>
                  <a:srgbClr val="3374D4"/>
                </a:solidFill>
              </a:rPr>
              <a:t>GT</a:t>
            </a:r>
            <a:r>
              <a:rPr lang="nl-NL" dirty="0">
                <a:solidFill>
                  <a:srgbClr val="3366FF"/>
                </a:solidFill>
              </a:rPr>
              <a:t>(Ar</a:t>
            </a:r>
            <a:r>
              <a:rPr lang="nl-NL" dirty="0">
                <a:solidFill>
                  <a:srgbClr val="3374D4"/>
                </a:solidFill>
              </a:rPr>
              <a:t>ea,(Caf[Area]*0.005))</a:t>
            </a:r>
          </a:p>
          <a:p>
            <a:endParaRPr lang="en-SG" dirty="0"/>
          </a:p>
        </p:txBody>
      </p:sp>
      <p:sp>
        <p:nvSpPr>
          <p:cNvPr id="2" name="Title 1"/>
          <p:cNvSpPr txBox="1">
            <a:spLocks/>
          </p:cNvSpPr>
          <p:nvPr/>
        </p:nvSpPr>
        <p:spPr>
          <a:xfrm>
            <a:off x="152400" y="76200"/>
            <a:ext cx="8686800" cy="1644650"/>
          </a:xfrm>
          <a:prstGeom prst="rect">
            <a:avLst/>
          </a:prstGeom>
        </p:spPr>
        <p:txBody>
          <a:bodyPr/>
          <a:lstStyle/>
          <a:p>
            <a:pPr algn="l" eaLnBrk="0" hangingPunct="0">
              <a:defRPr/>
            </a:pPr>
            <a:endParaRPr lang="en-US" sz="1800" b="1" kern="0" dirty="0">
              <a:effectLst>
                <a:outerShdw blurRad="38100" dist="38100" dir="2700000" algn="tl">
                  <a:srgbClr val="C0C0C0"/>
                </a:outerShdw>
              </a:effectLst>
              <a:latin typeface="+mj-lt"/>
              <a:ea typeface="+mj-ea"/>
              <a:cs typeface="+mj-cs"/>
            </a:endParaRPr>
          </a:p>
        </p:txBody>
      </p:sp>
      <p:sp>
        <p:nvSpPr>
          <p:cNvPr id="27651" name="TextBox 2"/>
          <p:cNvSpPr txBox="1">
            <a:spLocks noChangeArrowheads="1"/>
          </p:cNvSpPr>
          <p:nvPr/>
        </p:nvSpPr>
        <p:spPr bwMode="auto">
          <a:xfrm>
            <a:off x="271848" y="864158"/>
            <a:ext cx="8662087" cy="369332"/>
          </a:xfrm>
          <a:prstGeom prst="rect">
            <a:avLst/>
          </a:prstGeom>
          <a:solidFill>
            <a:schemeClr val="bg1"/>
          </a:solidFill>
          <a:ln w="38100">
            <a:noFill/>
            <a:miter lim="800000"/>
            <a:headEnd/>
            <a:tailEnd/>
          </a:ln>
        </p:spPr>
        <p:txBody>
          <a:bodyPr wrap="square">
            <a:spAutoFit/>
          </a:bodyPr>
          <a:lstStyle/>
          <a:p>
            <a:pPr algn="l">
              <a:buFont typeface="Arial" pitchFamily="34" charset="0"/>
              <a:buChar char="•"/>
            </a:pPr>
            <a:endParaRPr lang="nl-NL" sz="1800" dirty="0">
              <a:solidFill>
                <a:srgbClr val="3374D4"/>
              </a:solidFill>
            </a:endParaRPr>
          </a:p>
        </p:txBody>
      </p:sp>
      <p:sp>
        <p:nvSpPr>
          <p:cNvPr id="27652" name="Rectangle 6"/>
          <p:cNvSpPr>
            <a:spLocks noChangeArrowheads="1"/>
          </p:cNvSpPr>
          <p:nvPr/>
        </p:nvSpPr>
        <p:spPr bwMode="auto">
          <a:xfrm>
            <a:off x="4411663" y="5410200"/>
            <a:ext cx="185737" cy="369888"/>
          </a:xfrm>
          <a:prstGeom prst="rect">
            <a:avLst/>
          </a:prstGeom>
          <a:solidFill>
            <a:schemeClr val="bg1"/>
          </a:solidFill>
          <a:ln w="9525">
            <a:noFill/>
            <a:miter lim="800000"/>
            <a:headEnd/>
            <a:tailEnd/>
          </a:ln>
        </p:spPr>
        <p:txBody>
          <a:bodyPr wrap="none">
            <a:spAutoFit/>
          </a:bodyPr>
          <a:lstStyle/>
          <a:p>
            <a:endParaRPr lang="nl-NL" sz="1800">
              <a:solidFill>
                <a:srgbClr val="3374D4"/>
              </a:solidFill>
            </a:endParaRPr>
          </a:p>
        </p:txBody>
      </p:sp>
      <p:pic>
        <p:nvPicPr>
          <p:cNvPr id="12" name="Snagit_PPT4F59" descr="PPT4F59.png"/>
          <p:cNvPicPr>
            <a:picLocks noChangeAspect="1"/>
          </p:cNvPicPr>
          <p:nvPr/>
        </p:nvPicPr>
        <p:blipFill rotWithShape="1">
          <a:blip r:embed="rId3" cstate="print"/>
          <a:srcRect l="2007" t="2637" r="1992" b="3480"/>
          <a:stretch/>
        </p:blipFill>
        <p:spPr bwMode="auto">
          <a:xfrm>
            <a:off x="681037" y="2931250"/>
            <a:ext cx="7781925" cy="3581400"/>
          </a:xfrm>
          <a:prstGeom prst="rect">
            <a:avLst/>
          </a:prstGeom>
          <a:noFill/>
          <a:ln w="9525">
            <a:noFill/>
            <a:miter lim="800000"/>
            <a:headEnd/>
            <a:tailEnd/>
          </a:ln>
        </p:spPr>
      </p:pic>
      <p:sp>
        <p:nvSpPr>
          <p:cNvPr id="3" name="Title 2"/>
          <p:cNvSpPr>
            <a:spLocks noGrp="1"/>
          </p:cNvSpPr>
          <p:nvPr>
            <p:ph type="title"/>
          </p:nvPr>
        </p:nvSpPr>
        <p:spPr>
          <a:xfrm>
            <a:off x="457199" y="31468"/>
            <a:ext cx="6810375" cy="1005840"/>
          </a:xfrm>
        </p:spPr>
        <p:txBody>
          <a:bodyPr/>
          <a:lstStyle/>
          <a:p>
            <a:r>
              <a:rPr lang="en-SG" dirty="0"/>
              <a:t>Example 3 Boolean CF </a:t>
            </a:r>
            <a:r>
              <a:rPr lang="en-SG" dirty="0" err="1">
                <a:solidFill>
                  <a:schemeClr val="accent2"/>
                </a:solidFill>
              </a:rPr>
              <a:t>Area_Limit</a:t>
            </a:r>
            <a:r>
              <a:rPr lang="en-SG" dirty="0">
                <a:solidFill>
                  <a:schemeClr val="accent2"/>
                </a:solidFill>
              </a:rPr>
              <a:t>/Area_GT05</a:t>
            </a:r>
            <a:br>
              <a:rPr lang="en-SG" dirty="0"/>
            </a:br>
            <a:r>
              <a:rPr lang="en-SG" dirty="0"/>
              <a:t>(Explanation of Use As)</a:t>
            </a:r>
          </a:p>
        </p:txBody>
      </p:sp>
    </p:spTree>
    <p:extLst>
      <p:ext uri="{BB962C8B-B14F-4D97-AF65-F5344CB8AC3E}">
        <p14:creationId xmlns:p14="http://schemas.microsoft.com/office/powerpoint/2010/main" val="1789821417"/>
      </p:ext>
    </p:extLst>
  </p:cSld>
  <p:clrMapOvr>
    <a:masterClrMapping/>
  </p:clrMapOvr>
  <p:transition>
    <p:wipe dir="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ChangeArrowheads="1"/>
          </p:cNvSpPr>
          <p:nvPr/>
        </p:nvSpPr>
        <p:spPr bwMode="auto">
          <a:xfrm>
            <a:off x="3130550" y="4748213"/>
            <a:ext cx="3116263" cy="338137"/>
          </a:xfrm>
          <a:prstGeom prst="rect">
            <a:avLst/>
          </a:prstGeom>
          <a:noFill/>
          <a:ln w="9525">
            <a:noFill/>
            <a:miter lim="800000"/>
            <a:headEnd/>
            <a:tailEnd/>
          </a:ln>
        </p:spPr>
        <p:txBody>
          <a:bodyPr wrap="none">
            <a:spAutoFit/>
          </a:bodyPr>
          <a:lstStyle/>
          <a:p>
            <a:r>
              <a:rPr lang="nl-NL">
                <a:solidFill>
                  <a:srgbClr val="000000"/>
                </a:solidFill>
              </a:rPr>
              <a:t>GT(Area,(Caf[Area]*0.005))</a:t>
            </a:r>
          </a:p>
        </p:txBody>
      </p:sp>
      <p:sp>
        <p:nvSpPr>
          <p:cNvPr id="29702" name="Rectangle 11"/>
          <p:cNvSpPr>
            <a:spLocks noChangeArrowheads="1"/>
          </p:cNvSpPr>
          <p:nvPr/>
        </p:nvSpPr>
        <p:spPr bwMode="auto">
          <a:xfrm>
            <a:off x="3151188" y="4729163"/>
            <a:ext cx="3114675" cy="338137"/>
          </a:xfrm>
          <a:prstGeom prst="rect">
            <a:avLst/>
          </a:prstGeom>
          <a:noFill/>
          <a:ln w="9525">
            <a:noFill/>
            <a:miter lim="800000"/>
            <a:headEnd/>
            <a:tailEnd/>
          </a:ln>
        </p:spPr>
        <p:txBody>
          <a:bodyPr wrap="none">
            <a:spAutoFit/>
          </a:bodyPr>
          <a:lstStyle/>
          <a:p>
            <a:r>
              <a:rPr lang="nl-NL">
                <a:solidFill>
                  <a:srgbClr val="000000"/>
                </a:solidFill>
              </a:rPr>
              <a:t>GT(Area,(Caf[Area]*0.005))</a:t>
            </a:r>
          </a:p>
        </p:txBody>
      </p:sp>
      <p:pic>
        <p:nvPicPr>
          <p:cNvPr id="29703" name="Snagit_PPTB1AB" descr="PPTB1AB.png"/>
          <p:cNvPicPr>
            <a:picLocks noChangeAspect="1"/>
          </p:cNvPicPr>
          <p:nvPr/>
        </p:nvPicPr>
        <p:blipFill>
          <a:blip r:embed="rId3" cstate="print"/>
          <a:srcRect/>
          <a:stretch>
            <a:fillRect/>
          </a:stretch>
        </p:blipFill>
        <p:spPr bwMode="auto">
          <a:xfrm>
            <a:off x="1765974" y="1285103"/>
            <a:ext cx="5068353" cy="5117841"/>
          </a:xfrm>
          <a:prstGeom prst="rect">
            <a:avLst/>
          </a:prstGeom>
          <a:noFill/>
          <a:ln w="38100">
            <a:solidFill>
              <a:srgbClr val="3374D4"/>
            </a:solidFill>
            <a:miter lim="800000"/>
            <a:headEnd/>
            <a:tailEnd/>
          </a:ln>
        </p:spPr>
      </p:pic>
      <p:sp>
        <p:nvSpPr>
          <p:cNvPr id="29704" name="Rectangle 13"/>
          <p:cNvSpPr>
            <a:spLocks noChangeArrowheads="1"/>
          </p:cNvSpPr>
          <p:nvPr/>
        </p:nvSpPr>
        <p:spPr bwMode="auto">
          <a:xfrm>
            <a:off x="3068806" y="5048250"/>
            <a:ext cx="2558714" cy="338554"/>
          </a:xfrm>
          <a:prstGeom prst="rect">
            <a:avLst/>
          </a:prstGeom>
          <a:noFill/>
          <a:ln w="9525">
            <a:noFill/>
            <a:miter lim="800000"/>
            <a:headEnd/>
            <a:tailEnd/>
          </a:ln>
        </p:spPr>
        <p:txBody>
          <a:bodyPr wrap="none">
            <a:spAutoFit/>
          </a:bodyPr>
          <a:lstStyle/>
          <a:p>
            <a:r>
              <a:rPr lang="en-US" dirty="0">
                <a:latin typeface="Arial" panose="020B0604020202020204" pitchFamily="34" charset="0"/>
                <a:cs typeface="Arial" panose="020B0604020202020204" pitchFamily="34" charset="0"/>
              </a:rPr>
              <a:t>GT(</a:t>
            </a:r>
            <a:r>
              <a:rPr lang="en-US" dirty="0" err="1">
                <a:latin typeface="Arial" panose="020B0604020202020204" pitchFamily="34" charset="0"/>
                <a:cs typeface="Arial" panose="020B0604020202020204" pitchFamily="34" charset="0"/>
              </a:rPr>
              <a:t>Area,Caf</a:t>
            </a:r>
            <a:r>
              <a:rPr lang="en-US" dirty="0">
                <a:latin typeface="Arial" panose="020B0604020202020204" pitchFamily="34" charset="0"/>
                <a:cs typeface="Arial" panose="020B0604020202020204" pitchFamily="34" charset="0"/>
              </a:rPr>
              <a:t>[Area]*0.005)</a:t>
            </a:r>
          </a:p>
        </p:txBody>
      </p:sp>
      <p:sp>
        <p:nvSpPr>
          <p:cNvPr id="11" name="Title 10"/>
          <p:cNvSpPr>
            <a:spLocks noGrp="1"/>
          </p:cNvSpPr>
          <p:nvPr>
            <p:ph type="title"/>
          </p:nvPr>
        </p:nvSpPr>
        <p:spPr>
          <a:xfrm>
            <a:off x="457199" y="31468"/>
            <a:ext cx="7096125"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sp>
        <p:nvSpPr>
          <p:cNvPr id="12" name="Rectangle 11"/>
          <p:cNvSpPr/>
          <p:nvPr/>
        </p:nvSpPr>
        <p:spPr bwMode="auto">
          <a:xfrm>
            <a:off x="2975919" y="1679747"/>
            <a:ext cx="1248032" cy="29656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13" name="Rectangle 12"/>
          <p:cNvSpPr/>
          <p:nvPr/>
        </p:nvSpPr>
        <p:spPr bwMode="auto">
          <a:xfrm>
            <a:off x="4572000" y="1934542"/>
            <a:ext cx="1383957" cy="93911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9" name="Rectangle 8"/>
          <p:cNvSpPr/>
          <p:nvPr/>
        </p:nvSpPr>
        <p:spPr bwMode="auto">
          <a:xfrm>
            <a:off x="5480994" y="3844022"/>
            <a:ext cx="1186506" cy="40412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919645574"/>
      </p:ext>
    </p:extLst>
  </p:cSld>
  <p:clrMapOvr>
    <a:masterClrMapping/>
  </p:clrMapOvr>
  <p:transition>
    <p:wipe dir="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5" name="Snagit_PPTFEF" descr="PPTFEF.png"/>
          <p:cNvPicPr>
            <a:picLocks noChangeAspect="1"/>
          </p:cNvPicPr>
          <p:nvPr/>
        </p:nvPicPr>
        <p:blipFill rotWithShape="1">
          <a:blip r:embed="rId3" cstate="print"/>
          <a:srcRect l="13488" t="16534" r="43180" b="8267"/>
          <a:stretch/>
        </p:blipFill>
        <p:spPr bwMode="auto">
          <a:xfrm>
            <a:off x="2101318" y="1212576"/>
            <a:ext cx="4937657" cy="5355554"/>
          </a:xfrm>
          <a:prstGeom prst="rect">
            <a:avLst/>
          </a:prstGeom>
          <a:noFill/>
          <a:ln w="38100">
            <a:noFill/>
            <a:miter lim="800000"/>
            <a:headEnd/>
            <a:tailEnd/>
          </a:ln>
        </p:spPr>
      </p:pic>
      <p:sp>
        <p:nvSpPr>
          <p:cNvPr id="30726" name="Rectangle 7"/>
          <p:cNvSpPr>
            <a:spLocks noChangeArrowheads="1"/>
          </p:cNvSpPr>
          <p:nvPr/>
        </p:nvSpPr>
        <p:spPr bwMode="auto">
          <a:xfrm>
            <a:off x="3895631" y="3026247"/>
            <a:ext cx="674516" cy="3465683"/>
          </a:xfrm>
          <a:prstGeom prst="rect">
            <a:avLst/>
          </a:prstGeom>
          <a:noFill/>
          <a:ln w="38100" algn="ctr">
            <a:solidFill>
              <a:srgbClr val="FF0000"/>
            </a:solidFill>
            <a:round/>
            <a:headEnd/>
            <a:tailEnd/>
          </a:ln>
        </p:spPr>
        <p:txBody>
          <a:bodyPr/>
          <a:lstStyle/>
          <a:p>
            <a:pPr algn="l"/>
            <a:endParaRPr lang="en-US"/>
          </a:p>
        </p:txBody>
      </p:sp>
      <p:sp>
        <p:nvSpPr>
          <p:cNvPr id="7" name="Title 6"/>
          <p:cNvSpPr>
            <a:spLocks noGrp="1"/>
          </p:cNvSpPr>
          <p:nvPr>
            <p:ph type="title"/>
          </p:nvPr>
        </p:nvSpPr>
        <p:spPr>
          <a:xfrm>
            <a:off x="457200" y="31468"/>
            <a:ext cx="6705600"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spTree>
    <p:extLst>
      <p:ext uri="{BB962C8B-B14F-4D97-AF65-F5344CB8AC3E}">
        <p14:creationId xmlns:p14="http://schemas.microsoft.com/office/powerpoint/2010/main" val="4031438543"/>
      </p:ext>
    </p:extLst>
  </p:cSld>
  <p:clrMapOvr>
    <a:masterClrMapping/>
  </p:clrMapOvr>
  <p:transition>
    <p:wipe dir="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199" y="31468"/>
            <a:ext cx="7267575" cy="1005840"/>
          </a:xfrm>
        </p:spPr>
        <p:txBody>
          <a:bodyPr/>
          <a:lstStyle/>
          <a:p>
            <a:r>
              <a:rPr lang="en-SG" dirty="0"/>
              <a:t>Example 3 Boolean CF </a:t>
            </a:r>
            <a:r>
              <a:rPr lang="en-SG" dirty="0" err="1">
                <a:solidFill>
                  <a:schemeClr val="accent2"/>
                </a:solidFill>
              </a:rPr>
              <a:t>Area_Limit</a:t>
            </a:r>
            <a:r>
              <a:rPr lang="en-SG" dirty="0">
                <a:solidFill>
                  <a:schemeClr val="accent2"/>
                </a:solidFill>
              </a:rPr>
              <a:t>/Area_GT05</a:t>
            </a:r>
          </a:p>
        </p:txBody>
      </p:sp>
      <p:pic>
        <p:nvPicPr>
          <p:cNvPr id="7" name="Snagit_PPTACCD" descr="PPTACCD.png"/>
          <p:cNvPicPr>
            <a:picLocks noChangeAspect="1"/>
          </p:cNvPicPr>
          <p:nvPr/>
        </p:nvPicPr>
        <p:blipFill>
          <a:blip r:embed="rId3" cstate="print"/>
          <a:srcRect/>
          <a:stretch>
            <a:fillRect/>
          </a:stretch>
        </p:blipFill>
        <p:spPr bwMode="auto">
          <a:xfrm>
            <a:off x="2067225" y="1399561"/>
            <a:ext cx="5009550" cy="5049038"/>
          </a:xfrm>
          <a:prstGeom prst="rect">
            <a:avLst/>
          </a:prstGeom>
          <a:noFill/>
          <a:ln w="38100">
            <a:noFill/>
            <a:miter lim="800000"/>
            <a:headEnd/>
            <a:tailEnd/>
          </a:ln>
        </p:spPr>
      </p:pic>
      <p:sp>
        <p:nvSpPr>
          <p:cNvPr id="2" name="Title 1"/>
          <p:cNvSpPr txBox="1">
            <a:spLocks/>
          </p:cNvSpPr>
          <p:nvPr/>
        </p:nvSpPr>
        <p:spPr>
          <a:xfrm>
            <a:off x="247135" y="148281"/>
            <a:ext cx="8686800" cy="441325"/>
          </a:xfrm>
          <a:prstGeom prst="rect">
            <a:avLst/>
          </a:prstGeom>
        </p:spPr>
        <p:txBody>
          <a:bodyPr/>
          <a:lstStyle/>
          <a:p>
            <a:pPr eaLnBrk="0" hangingPunct="0">
              <a:defRPr/>
            </a:pPr>
            <a:endParaRPr lang="en-US" sz="2400" b="1" kern="0" dirty="0">
              <a:effectLst>
                <a:outerShdw blurRad="38100" dist="38100" dir="2700000" algn="tl">
                  <a:srgbClr val="C0C0C0"/>
                </a:outerShdw>
              </a:effectLst>
            </a:endParaRPr>
          </a:p>
        </p:txBody>
      </p:sp>
      <p:sp>
        <p:nvSpPr>
          <p:cNvPr id="31747" name="TextBox 2"/>
          <p:cNvSpPr txBox="1">
            <a:spLocks noChangeArrowheads="1"/>
          </p:cNvSpPr>
          <p:nvPr/>
        </p:nvSpPr>
        <p:spPr bwMode="auto">
          <a:xfrm>
            <a:off x="1651269" y="6079267"/>
            <a:ext cx="5878532" cy="369332"/>
          </a:xfrm>
          <a:prstGeom prst="rect">
            <a:avLst/>
          </a:prstGeom>
          <a:solidFill>
            <a:schemeClr val="bg1"/>
          </a:solidFill>
          <a:ln w="38100">
            <a:solidFill>
              <a:srgbClr val="3374D4"/>
            </a:solidFill>
            <a:miter lim="800000"/>
            <a:headEnd/>
            <a:tailEnd/>
          </a:ln>
        </p:spPr>
        <p:txBody>
          <a:bodyPr wrap="none">
            <a:spAutoFit/>
          </a:bodyPr>
          <a:lstStyle/>
          <a:p>
            <a:pPr algn="l"/>
            <a:r>
              <a:rPr lang="en-US" sz="1800" dirty="0">
                <a:latin typeface="Arial" panose="020B0604020202020204" pitchFamily="34" charset="0"/>
                <a:cs typeface="Arial" panose="020B0604020202020204" pitchFamily="34" charset="0"/>
              </a:rPr>
              <a:t>Change the </a:t>
            </a:r>
            <a:r>
              <a:rPr lang="en-US" sz="1800" dirty="0" err="1">
                <a:solidFill>
                  <a:schemeClr val="accent2"/>
                </a:solidFill>
                <a:latin typeface="Arial" panose="020B0604020202020204" pitchFamily="34" charset="0"/>
                <a:cs typeface="Arial" panose="020B0604020202020204" pitchFamily="34" charset="0"/>
              </a:rPr>
              <a:t>Caf</a:t>
            </a:r>
            <a:r>
              <a:rPr lang="en-US" sz="1800" dirty="0">
                <a:latin typeface="Arial" panose="020B0604020202020204" pitchFamily="34" charset="0"/>
                <a:cs typeface="Arial" panose="020B0604020202020204" pitchFamily="34" charset="0"/>
              </a:rPr>
              <a:t> to </a:t>
            </a:r>
            <a:r>
              <a:rPr lang="en-US" sz="1800" dirty="0">
                <a:solidFill>
                  <a:schemeClr val="accent2"/>
                </a:solidFill>
                <a:latin typeface="Arial" panose="020B0604020202020204" pitchFamily="34" charset="0"/>
                <a:cs typeface="Arial" panose="020B0604020202020204" pitchFamily="34" charset="0"/>
              </a:rPr>
              <a:t>CCompRef1</a:t>
            </a:r>
            <a:r>
              <a:rPr lang="en-US" sz="1800" dirty="0">
                <a:latin typeface="Arial" panose="020B0604020202020204" pitchFamily="34" charset="0"/>
                <a:cs typeface="Arial" panose="020B0604020202020204" pitchFamily="34" charset="0"/>
              </a:rPr>
              <a:t> to make it more general</a:t>
            </a:r>
          </a:p>
        </p:txBody>
      </p:sp>
      <p:sp>
        <p:nvSpPr>
          <p:cNvPr id="8" name="Rectangle 2"/>
          <p:cNvSpPr>
            <a:spLocks noChangeArrowheads="1"/>
          </p:cNvSpPr>
          <p:nvPr/>
        </p:nvSpPr>
        <p:spPr bwMode="auto">
          <a:xfrm>
            <a:off x="3365799" y="5122254"/>
            <a:ext cx="3539235" cy="338554"/>
          </a:xfrm>
          <a:prstGeom prst="rect">
            <a:avLst/>
          </a:prstGeom>
          <a:noFill/>
          <a:ln w="9525">
            <a:noFill/>
            <a:miter lim="800000"/>
            <a:headEnd/>
            <a:tailEnd/>
          </a:ln>
        </p:spPr>
        <p:txBody>
          <a:bodyPr wrap="square">
            <a:spAutoFit/>
          </a:bodyPr>
          <a:lstStyle/>
          <a:p>
            <a:r>
              <a:rPr lang="en-US" dirty="0">
                <a:latin typeface="Arial" panose="020B0604020202020204" pitchFamily="34" charset="0"/>
                <a:cs typeface="Arial" panose="020B0604020202020204" pitchFamily="34" charset="0"/>
              </a:rPr>
              <a:t>GT(Area,</a:t>
            </a:r>
            <a:r>
              <a:rPr lang="en-US" dirty="0">
                <a:solidFill>
                  <a:schemeClr val="accent2"/>
                </a:solidFill>
                <a:latin typeface="Arial" panose="020B0604020202020204" pitchFamily="34" charset="0"/>
                <a:cs typeface="Arial" panose="020B0604020202020204" pitchFamily="34" charset="0"/>
              </a:rPr>
              <a:t>CCompRef1</a:t>
            </a:r>
            <a:r>
              <a:rPr lang="en-US" dirty="0">
                <a:latin typeface="Arial" panose="020B0604020202020204" pitchFamily="34" charset="0"/>
                <a:cs typeface="Arial" panose="020B0604020202020204" pitchFamily="34" charset="0"/>
              </a:rPr>
              <a:t>[Area]*0.005)</a:t>
            </a:r>
          </a:p>
        </p:txBody>
      </p:sp>
    </p:spTree>
    <p:extLst>
      <p:ext uri="{BB962C8B-B14F-4D97-AF65-F5344CB8AC3E}">
        <p14:creationId xmlns:p14="http://schemas.microsoft.com/office/powerpoint/2010/main" val="2891037373"/>
      </p:ext>
    </p:extLst>
  </p:cSld>
  <p:clrMapOvr>
    <a:masterClrMapping/>
  </p:clrMapOvr>
  <p:transition>
    <p:wipe dir="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21" name="Snagit_PPT4ED7" descr="PPT4ED7.png"/>
          <p:cNvPicPr>
            <a:picLocks noChangeAspect="1"/>
          </p:cNvPicPr>
          <p:nvPr/>
        </p:nvPicPr>
        <p:blipFill rotWithShape="1">
          <a:blip r:embed="rId3" cstate="print"/>
          <a:srcRect l="20801" t="17124" r="36423" b="11241"/>
          <a:stretch/>
        </p:blipFill>
        <p:spPr bwMode="auto">
          <a:xfrm>
            <a:off x="676403" y="2020670"/>
            <a:ext cx="4257676" cy="4456073"/>
          </a:xfrm>
          <a:prstGeom prst="rect">
            <a:avLst/>
          </a:prstGeom>
          <a:noFill/>
          <a:ln w="38100">
            <a:noFill/>
            <a:miter lim="800000"/>
            <a:headEnd/>
            <a:tailEnd/>
          </a:ln>
        </p:spPr>
      </p:pic>
      <p:sp>
        <p:nvSpPr>
          <p:cNvPr id="34823" name="Rectangle 10"/>
          <p:cNvSpPr>
            <a:spLocks noChangeArrowheads="1"/>
          </p:cNvSpPr>
          <p:nvPr/>
        </p:nvSpPr>
        <p:spPr bwMode="auto">
          <a:xfrm>
            <a:off x="875913" y="6259384"/>
            <a:ext cx="1940011" cy="217359"/>
          </a:xfrm>
          <a:prstGeom prst="rect">
            <a:avLst/>
          </a:prstGeom>
          <a:noFill/>
          <a:ln w="38100" algn="ctr">
            <a:solidFill>
              <a:srgbClr val="FF0000"/>
            </a:solidFill>
            <a:round/>
            <a:headEnd/>
            <a:tailEnd/>
          </a:ln>
        </p:spPr>
        <p:txBody>
          <a:bodyPr/>
          <a:lstStyle/>
          <a:p>
            <a:pPr algn="l"/>
            <a:endParaRPr lang="en-US"/>
          </a:p>
        </p:txBody>
      </p:sp>
      <p:sp>
        <p:nvSpPr>
          <p:cNvPr id="34825" name="Rectangle 8"/>
          <p:cNvSpPr>
            <a:spLocks noChangeArrowheads="1"/>
          </p:cNvSpPr>
          <p:nvPr/>
        </p:nvSpPr>
        <p:spPr bwMode="auto">
          <a:xfrm>
            <a:off x="4605073" y="2776153"/>
            <a:ext cx="3916457" cy="369332"/>
          </a:xfrm>
          <a:prstGeom prst="rect">
            <a:avLst/>
          </a:prstGeom>
          <a:solidFill>
            <a:schemeClr val="bg1"/>
          </a:solidFill>
          <a:ln w="38100">
            <a:solidFill>
              <a:srgbClr val="3374D4"/>
            </a:solidFill>
            <a:miter lim="800000"/>
            <a:headEnd/>
            <a:tailEnd/>
          </a:ln>
        </p:spPr>
        <p:txBody>
          <a:bodyPr wrap="none">
            <a:spAutoFit/>
          </a:bodyPr>
          <a:lstStyle/>
          <a:p>
            <a:r>
              <a:rPr lang="nl-NL" sz="1800" dirty="0">
                <a:solidFill>
                  <a:srgbClr val="3374D4"/>
                </a:solidFill>
                <a:latin typeface="Arial" panose="020B0604020202020204" pitchFamily="34" charset="0"/>
                <a:cs typeface="Arial" panose="020B0604020202020204" pitchFamily="34" charset="0"/>
              </a:rPr>
              <a:t>GT(Area,(CCompRef1[Area]*0.005))</a:t>
            </a:r>
          </a:p>
        </p:txBody>
      </p:sp>
      <p:sp>
        <p:nvSpPr>
          <p:cNvPr id="10" name="Title 9"/>
          <p:cNvSpPr>
            <a:spLocks noGrp="1"/>
          </p:cNvSpPr>
          <p:nvPr>
            <p:ph type="title"/>
          </p:nvPr>
        </p:nvSpPr>
        <p:spPr>
          <a:xfrm>
            <a:off x="457199" y="31468"/>
            <a:ext cx="7267575"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sp>
        <p:nvSpPr>
          <p:cNvPr id="12" name="TextBox 11"/>
          <p:cNvSpPr txBox="1"/>
          <p:nvPr/>
        </p:nvSpPr>
        <p:spPr>
          <a:xfrm>
            <a:off x="5277235" y="5025063"/>
            <a:ext cx="3244295" cy="923330"/>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Problem : CF only calculated for the </a:t>
            </a:r>
            <a:r>
              <a:rPr lang="en-US" sz="1800" dirty="0" err="1">
                <a:latin typeface="Arial" panose="020B0604020202020204" pitchFamily="34" charset="0"/>
                <a:cs typeface="Arial" panose="020B0604020202020204" pitchFamily="34" charset="0"/>
              </a:rPr>
              <a:t>Caf</a:t>
            </a:r>
            <a:r>
              <a:rPr lang="en-US" sz="1800" dirty="0">
                <a:latin typeface="Arial" panose="020B0604020202020204" pitchFamily="34" charset="0"/>
                <a:cs typeface="Arial" panose="020B0604020202020204" pitchFamily="34" charset="0"/>
              </a:rPr>
              <a:t> peak. Unknown peaks cannot be included !!</a:t>
            </a:r>
          </a:p>
        </p:txBody>
      </p:sp>
      <p:cxnSp>
        <p:nvCxnSpPr>
          <p:cNvPr id="14" name="Straight Arrow Connector 13"/>
          <p:cNvCxnSpPr>
            <a:cxnSpLocks/>
          </p:cNvCxnSpPr>
          <p:nvPr/>
        </p:nvCxnSpPr>
        <p:spPr bwMode="auto">
          <a:xfrm flipH="1">
            <a:off x="2904737" y="5746346"/>
            <a:ext cx="2372498" cy="601016"/>
          </a:xfrm>
          <a:prstGeom prst="straightConnector1">
            <a:avLst/>
          </a:prstGeom>
          <a:noFill/>
          <a:ln w="38100" cap="flat" cmpd="sng" algn="ctr">
            <a:solidFill>
              <a:srgbClr val="FF0000"/>
            </a:solidFill>
            <a:prstDash val="solid"/>
            <a:round/>
            <a:headEnd type="none" w="med" len="med"/>
            <a:tailEnd type="arrow"/>
          </a:ln>
          <a:effectLst/>
        </p:spPr>
      </p:cxnSp>
      <p:pic>
        <p:nvPicPr>
          <p:cNvPr id="11" name="Snagit_PPT4ED7" descr="PPT4ED7.png"/>
          <p:cNvPicPr>
            <a:picLocks noChangeAspect="1"/>
          </p:cNvPicPr>
          <p:nvPr/>
        </p:nvPicPr>
        <p:blipFill>
          <a:blip r:embed="rId3" cstate="print"/>
          <a:srcRect l="64217" t="29525" r="1107" b="59050"/>
          <a:stretch>
            <a:fillRect/>
          </a:stretch>
        </p:blipFill>
        <p:spPr bwMode="auto">
          <a:xfrm>
            <a:off x="1477568" y="1272116"/>
            <a:ext cx="6188863" cy="1272812"/>
          </a:xfrm>
          <a:prstGeom prst="rect">
            <a:avLst/>
          </a:prstGeom>
          <a:noFill/>
          <a:ln w="38100">
            <a:noFill/>
            <a:miter lim="800000"/>
            <a:headEnd/>
            <a:tailEnd/>
          </a:ln>
        </p:spPr>
      </p:pic>
      <p:sp>
        <p:nvSpPr>
          <p:cNvPr id="34822" name="Rectangle 9"/>
          <p:cNvSpPr>
            <a:spLocks noChangeArrowheads="1"/>
          </p:cNvSpPr>
          <p:nvPr/>
        </p:nvSpPr>
        <p:spPr bwMode="auto">
          <a:xfrm>
            <a:off x="6463707" y="1334351"/>
            <a:ext cx="1128584" cy="1185863"/>
          </a:xfrm>
          <a:prstGeom prst="rect">
            <a:avLst/>
          </a:prstGeom>
          <a:noFill/>
          <a:ln w="38100" algn="ctr">
            <a:solidFill>
              <a:srgbClr val="FF0000"/>
            </a:solidFill>
            <a:round/>
            <a:headEnd/>
            <a:tailEnd/>
          </a:ln>
        </p:spPr>
        <p:txBody>
          <a:bodyPr/>
          <a:lstStyle/>
          <a:p>
            <a:pPr algn="l"/>
            <a:endParaRPr lang="en-US"/>
          </a:p>
        </p:txBody>
      </p:sp>
    </p:spTree>
    <p:extLst>
      <p:ext uri="{BB962C8B-B14F-4D97-AF65-F5344CB8AC3E}">
        <p14:creationId xmlns:p14="http://schemas.microsoft.com/office/powerpoint/2010/main" val="530817662"/>
      </p:ext>
    </p:extLst>
  </p:cSld>
  <p:clrMapOvr>
    <a:masterClrMapping/>
  </p:clrMapOvr>
  <p:transition>
    <p:wipe dir="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11999"/>
            <a:ext cx="8360228" cy="5441225"/>
          </a:xfrm>
        </p:spPr>
        <p:txBody>
          <a:bodyPr>
            <a:normAutofit lnSpcReduction="10000"/>
          </a:bodyPr>
          <a:lstStyle/>
          <a:p>
            <a:r>
              <a:rPr lang="en-SG" dirty="0" err="1"/>
              <a:t>CCompRef</a:t>
            </a:r>
            <a:endParaRPr lang="en-SG" dirty="0"/>
          </a:p>
          <a:p>
            <a:pPr lvl="1"/>
            <a:r>
              <a:rPr lang="en-SG" dirty="0">
                <a:solidFill>
                  <a:schemeClr val="accent2"/>
                </a:solidFill>
              </a:rPr>
              <a:t>Custom </a:t>
            </a:r>
            <a:r>
              <a:rPr lang="en-SG" dirty="0">
                <a:solidFill>
                  <a:srgbClr val="C00000"/>
                </a:solidFill>
              </a:rPr>
              <a:t>Component </a:t>
            </a:r>
            <a:r>
              <a:rPr lang="en-SG" dirty="0">
                <a:solidFill>
                  <a:schemeClr val="accent2"/>
                </a:solidFill>
              </a:rPr>
              <a:t>Reference</a:t>
            </a:r>
            <a:r>
              <a:rPr lang="en-SG" dirty="0"/>
              <a:t>, the field in the Components table that identifies one or more peaks to be referenced when custom results are to be calculated based on the </a:t>
            </a:r>
            <a:r>
              <a:rPr lang="en-SG" b="1" dirty="0"/>
              <a:t>specified peaks</a:t>
            </a:r>
            <a:r>
              <a:rPr lang="en-SG" dirty="0"/>
              <a:t>. Use CCompRef1 to CCompRef3 where average ratios and other interpeak calculations are needed for calculation.</a:t>
            </a:r>
          </a:p>
          <a:p>
            <a:pPr lvl="1"/>
            <a:r>
              <a:rPr lang="en-SG" dirty="0"/>
              <a:t>The field in the Processing Method window that specifies a peak to be used in a custom calculation formula applied to all components in a result.</a:t>
            </a:r>
          </a:p>
          <a:p>
            <a:endParaRPr lang="en-SG" dirty="0"/>
          </a:p>
          <a:p>
            <a:r>
              <a:rPr lang="en-SG" dirty="0" err="1"/>
              <a:t>CCalRef</a:t>
            </a:r>
            <a:endParaRPr lang="en-SG" dirty="0"/>
          </a:p>
          <a:p>
            <a:pPr lvl="1"/>
            <a:r>
              <a:rPr lang="en-SG" dirty="0">
                <a:solidFill>
                  <a:schemeClr val="accent2"/>
                </a:solidFill>
              </a:rPr>
              <a:t>Custom </a:t>
            </a:r>
            <a:r>
              <a:rPr lang="en-SG" dirty="0">
                <a:solidFill>
                  <a:srgbClr val="C00000"/>
                </a:solidFill>
              </a:rPr>
              <a:t>Calculation</a:t>
            </a:r>
            <a:r>
              <a:rPr lang="en-SG" dirty="0">
                <a:solidFill>
                  <a:schemeClr val="accent2"/>
                </a:solidFill>
              </a:rPr>
              <a:t> Reference</a:t>
            </a:r>
            <a:r>
              <a:rPr lang="en-SG" dirty="0"/>
              <a:t>, the field in the Processing Method window that specifies a reference peak to be used in a custom calculation that is applied to </a:t>
            </a:r>
            <a:r>
              <a:rPr lang="en-SG" b="1" dirty="0"/>
              <a:t>all</a:t>
            </a:r>
            <a:r>
              <a:rPr lang="en-SG" dirty="0"/>
              <a:t> components in a result. </a:t>
            </a:r>
          </a:p>
          <a:p>
            <a:pPr lvl="1"/>
            <a:r>
              <a:rPr lang="en-SG" dirty="0" err="1"/>
              <a:t>CCalRef</a:t>
            </a:r>
            <a:r>
              <a:rPr lang="en-SG" dirty="0"/>
              <a:t> is used for calculating interpeak custom results for </a:t>
            </a:r>
            <a:r>
              <a:rPr lang="en-SG" dirty="0">
                <a:solidFill>
                  <a:srgbClr val="C00000"/>
                </a:solidFill>
              </a:rPr>
              <a:t>all peaks in the Components table</a:t>
            </a:r>
            <a:r>
              <a:rPr lang="en-SG" dirty="0"/>
              <a:t> (in the Processing Method window).</a:t>
            </a:r>
          </a:p>
          <a:p>
            <a:pPr marL="0" indent="0" algn="ctr">
              <a:buNone/>
            </a:pPr>
            <a:endParaRPr lang="en-SG" dirty="0">
              <a:solidFill>
                <a:srgbClr val="C00000"/>
              </a:solidFill>
            </a:endParaRPr>
          </a:p>
          <a:p>
            <a:pPr marL="0" indent="0" algn="ctr">
              <a:buNone/>
            </a:pPr>
            <a:r>
              <a:rPr lang="en-SG" dirty="0"/>
              <a:t>So, We will</a:t>
            </a:r>
            <a:r>
              <a:rPr lang="en-SG" dirty="0">
                <a:solidFill>
                  <a:srgbClr val="C00000"/>
                </a:solidFill>
              </a:rPr>
              <a:t> Change CCompRef1</a:t>
            </a:r>
            <a:r>
              <a:rPr lang="en-SG" dirty="0"/>
              <a:t> to </a:t>
            </a:r>
            <a:r>
              <a:rPr lang="en-SG" dirty="0">
                <a:solidFill>
                  <a:srgbClr val="C00000"/>
                </a:solidFill>
              </a:rPr>
              <a:t>CCalRef1</a:t>
            </a:r>
          </a:p>
        </p:txBody>
      </p:sp>
      <p:sp>
        <p:nvSpPr>
          <p:cNvPr id="4" name="Title 3"/>
          <p:cNvSpPr>
            <a:spLocks noGrp="1"/>
          </p:cNvSpPr>
          <p:nvPr>
            <p:ph type="title"/>
          </p:nvPr>
        </p:nvSpPr>
        <p:spPr>
          <a:xfrm>
            <a:off x="457199" y="31468"/>
            <a:ext cx="7058025"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endParaRPr lang="en-US" b="0" dirty="0"/>
          </a:p>
        </p:txBody>
      </p:sp>
    </p:spTree>
    <p:extLst>
      <p:ext uri="{BB962C8B-B14F-4D97-AF65-F5344CB8AC3E}">
        <p14:creationId xmlns:p14="http://schemas.microsoft.com/office/powerpoint/2010/main" val="3831881116"/>
      </p:ext>
    </p:extLst>
  </p:cSld>
  <p:clrMapOvr>
    <a:masterClrMapping/>
  </p:clrMapOvr>
  <p:transition>
    <p:wipe dir="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Snagit_PPT9CBA" descr="PPT9CBA.png"/>
          <p:cNvPicPr>
            <a:picLocks noChangeAspect="1"/>
          </p:cNvPicPr>
          <p:nvPr/>
        </p:nvPicPr>
        <p:blipFill>
          <a:blip r:embed="rId3" cstate="print"/>
          <a:srcRect/>
          <a:stretch>
            <a:fillRect/>
          </a:stretch>
        </p:blipFill>
        <p:spPr bwMode="auto">
          <a:xfrm>
            <a:off x="1995926" y="1167844"/>
            <a:ext cx="5152147" cy="5223432"/>
          </a:xfrm>
          <a:prstGeom prst="rect">
            <a:avLst/>
          </a:prstGeom>
          <a:noFill/>
          <a:ln w="38100">
            <a:noFill/>
            <a:miter lim="800000"/>
            <a:headEnd/>
            <a:tailEnd/>
          </a:ln>
        </p:spPr>
      </p:pic>
      <p:sp>
        <p:nvSpPr>
          <p:cNvPr id="37891" name="Rectangle 4"/>
          <p:cNvSpPr>
            <a:spLocks noChangeArrowheads="1"/>
          </p:cNvSpPr>
          <p:nvPr/>
        </p:nvSpPr>
        <p:spPr bwMode="auto">
          <a:xfrm>
            <a:off x="3319901" y="5033405"/>
            <a:ext cx="3096045" cy="338554"/>
          </a:xfrm>
          <a:prstGeom prst="rect">
            <a:avLst/>
          </a:prstGeom>
          <a:noFill/>
          <a:ln w="9525">
            <a:noFill/>
            <a:miter lim="800000"/>
            <a:headEnd/>
            <a:tailEnd/>
          </a:ln>
        </p:spPr>
        <p:txBody>
          <a:bodyPr wrap="square">
            <a:spAutoFit/>
          </a:bodyPr>
          <a:lstStyle/>
          <a:p>
            <a:r>
              <a:rPr lang="en-US" dirty="0">
                <a:latin typeface="Arial" panose="020B0604020202020204" pitchFamily="34" charset="0"/>
                <a:cs typeface="Arial" panose="020B0604020202020204" pitchFamily="34" charset="0"/>
              </a:rPr>
              <a:t>GT(Area,</a:t>
            </a:r>
            <a:r>
              <a:rPr lang="en-US" dirty="0">
                <a:solidFill>
                  <a:srgbClr val="FF0000"/>
                </a:solidFill>
                <a:latin typeface="Arial" panose="020B0604020202020204" pitchFamily="34" charset="0"/>
                <a:cs typeface="Arial" panose="020B0604020202020204" pitchFamily="34" charset="0"/>
              </a:rPr>
              <a:t>CCalRef1</a:t>
            </a:r>
            <a:r>
              <a:rPr lang="en-US" dirty="0">
                <a:latin typeface="Arial" panose="020B0604020202020204" pitchFamily="34" charset="0"/>
                <a:cs typeface="Arial" panose="020B0604020202020204" pitchFamily="34" charset="0"/>
              </a:rPr>
              <a:t>[Area]*0.005)</a:t>
            </a:r>
          </a:p>
        </p:txBody>
      </p:sp>
      <p:sp>
        <p:nvSpPr>
          <p:cNvPr id="5" name="Title 4"/>
          <p:cNvSpPr>
            <a:spLocks noGrp="1"/>
          </p:cNvSpPr>
          <p:nvPr>
            <p:ph type="title"/>
          </p:nvPr>
        </p:nvSpPr>
        <p:spPr>
          <a:xfrm>
            <a:off x="457200" y="31468"/>
            <a:ext cx="7181850"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endParaRPr lang="en-US" b="0" dirty="0">
              <a:solidFill>
                <a:schemeClr val="accent2"/>
              </a:solidFill>
            </a:endParaRPr>
          </a:p>
        </p:txBody>
      </p:sp>
    </p:spTree>
    <p:extLst>
      <p:ext uri="{BB962C8B-B14F-4D97-AF65-F5344CB8AC3E}">
        <p14:creationId xmlns:p14="http://schemas.microsoft.com/office/powerpoint/2010/main" val="670918763"/>
      </p:ext>
    </p:extLst>
  </p:cSld>
  <p:clrMapOvr>
    <a:masterClrMapping/>
  </p:clrMapOvr>
  <p:transition>
    <p:wipe dir="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7" name="Snagit_PPT6F2F" descr="PPT6F2F.png"/>
          <p:cNvPicPr>
            <a:picLocks noChangeAspect="1"/>
          </p:cNvPicPr>
          <p:nvPr/>
        </p:nvPicPr>
        <p:blipFill>
          <a:blip r:embed="rId3" cstate="print"/>
          <a:srcRect l="13286" t="15944" r="43180" b="8267"/>
          <a:stretch>
            <a:fillRect/>
          </a:stretch>
        </p:blipFill>
        <p:spPr bwMode="auto">
          <a:xfrm>
            <a:off x="457200" y="1223388"/>
            <a:ext cx="4565200" cy="4967277"/>
          </a:xfrm>
          <a:prstGeom prst="rect">
            <a:avLst/>
          </a:prstGeom>
          <a:noFill/>
          <a:ln w="38100">
            <a:noFill/>
            <a:miter lim="800000"/>
            <a:headEnd/>
            <a:tailEnd/>
          </a:ln>
        </p:spPr>
      </p:pic>
      <p:sp>
        <p:nvSpPr>
          <p:cNvPr id="38918" name="Rectangle 10"/>
          <p:cNvSpPr>
            <a:spLocks noChangeArrowheads="1"/>
          </p:cNvSpPr>
          <p:nvPr/>
        </p:nvSpPr>
        <p:spPr bwMode="auto">
          <a:xfrm>
            <a:off x="2168535" y="2985160"/>
            <a:ext cx="600376" cy="3057223"/>
          </a:xfrm>
          <a:prstGeom prst="rect">
            <a:avLst/>
          </a:prstGeom>
          <a:noFill/>
          <a:ln w="38100" algn="ctr">
            <a:solidFill>
              <a:srgbClr val="FF0000"/>
            </a:solidFill>
            <a:round/>
            <a:headEnd/>
            <a:tailEnd/>
          </a:ln>
        </p:spPr>
        <p:txBody>
          <a:bodyPr/>
          <a:lstStyle/>
          <a:p>
            <a:pPr algn="l"/>
            <a:endParaRPr lang="en-US"/>
          </a:p>
        </p:txBody>
      </p:sp>
      <p:sp>
        <p:nvSpPr>
          <p:cNvPr id="10" name="Title 9"/>
          <p:cNvSpPr>
            <a:spLocks noGrp="1"/>
          </p:cNvSpPr>
          <p:nvPr>
            <p:ph type="title"/>
          </p:nvPr>
        </p:nvSpPr>
        <p:spPr>
          <a:xfrm>
            <a:off x="457200" y="31468"/>
            <a:ext cx="7162800"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pic>
        <p:nvPicPr>
          <p:cNvPr id="11" name="Snagit_PPT6F2F" descr="PPT6F2F.png"/>
          <p:cNvPicPr>
            <a:picLocks noChangeAspect="1"/>
          </p:cNvPicPr>
          <p:nvPr/>
        </p:nvPicPr>
        <p:blipFill>
          <a:blip r:embed="rId3" cstate="print"/>
          <a:srcRect l="57205" t="8857" b="56410"/>
          <a:stretch>
            <a:fillRect/>
          </a:stretch>
        </p:blipFill>
        <p:spPr bwMode="auto">
          <a:xfrm>
            <a:off x="3021813" y="3078377"/>
            <a:ext cx="5802108" cy="2941423"/>
          </a:xfrm>
          <a:prstGeom prst="rect">
            <a:avLst/>
          </a:prstGeom>
          <a:noFill/>
          <a:ln w="38100">
            <a:noFill/>
            <a:miter lim="800000"/>
            <a:headEnd/>
            <a:tailEnd/>
          </a:ln>
        </p:spPr>
      </p:pic>
      <p:sp>
        <p:nvSpPr>
          <p:cNvPr id="38919" name="Rectangle 11"/>
          <p:cNvSpPr>
            <a:spLocks noChangeArrowheads="1"/>
          </p:cNvSpPr>
          <p:nvPr/>
        </p:nvSpPr>
        <p:spPr bwMode="auto">
          <a:xfrm>
            <a:off x="5479578" y="3956094"/>
            <a:ext cx="3158825" cy="320631"/>
          </a:xfrm>
          <a:prstGeom prst="rect">
            <a:avLst/>
          </a:prstGeom>
          <a:noFill/>
          <a:ln w="38100" algn="ctr">
            <a:solidFill>
              <a:srgbClr val="FF0000"/>
            </a:solidFill>
            <a:round/>
            <a:headEnd/>
            <a:tailEnd/>
          </a:ln>
        </p:spPr>
        <p:txBody>
          <a:bodyPr/>
          <a:lstStyle/>
          <a:p>
            <a:pPr algn="l"/>
            <a:endParaRPr lang="en-US"/>
          </a:p>
        </p:txBody>
      </p:sp>
    </p:spTree>
    <p:extLst>
      <p:ext uri="{BB962C8B-B14F-4D97-AF65-F5344CB8AC3E}">
        <p14:creationId xmlns:p14="http://schemas.microsoft.com/office/powerpoint/2010/main" val="2314932477"/>
      </p:ext>
    </p:extLst>
  </p:cSld>
  <p:clrMapOvr>
    <a:masterClrMapping/>
  </p:clrMapOvr>
  <p:transition>
    <p:wipe dir="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Box 1"/>
          <p:cNvSpPr txBox="1">
            <a:spLocks noChangeArrowheads="1"/>
          </p:cNvSpPr>
          <p:nvPr/>
        </p:nvSpPr>
        <p:spPr bwMode="auto">
          <a:xfrm>
            <a:off x="432487" y="864974"/>
            <a:ext cx="264816" cy="369332"/>
          </a:xfrm>
          <a:prstGeom prst="rect">
            <a:avLst/>
          </a:prstGeom>
          <a:solidFill>
            <a:schemeClr val="bg1"/>
          </a:solidFill>
          <a:ln w="38100">
            <a:noFill/>
            <a:miter lim="800000"/>
            <a:headEnd/>
            <a:tailEnd/>
          </a:ln>
        </p:spPr>
        <p:txBody>
          <a:bodyPr wrap="none">
            <a:spAutoFit/>
          </a:bodyPr>
          <a:lstStyle/>
          <a:p>
            <a:pPr algn="l">
              <a:buFont typeface="Arial" pitchFamily="34" charset="0"/>
              <a:buChar char="•"/>
            </a:pPr>
            <a:endParaRPr lang="en-US" sz="1800" dirty="0"/>
          </a:p>
        </p:txBody>
      </p:sp>
      <p:sp>
        <p:nvSpPr>
          <p:cNvPr id="7" name="Title 6"/>
          <p:cNvSpPr>
            <a:spLocks noGrp="1"/>
          </p:cNvSpPr>
          <p:nvPr>
            <p:ph type="title"/>
          </p:nvPr>
        </p:nvSpPr>
        <p:spPr>
          <a:xfrm>
            <a:off x="457200" y="31468"/>
            <a:ext cx="6610350"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pic>
        <p:nvPicPr>
          <p:cNvPr id="8" name="Snagit_PPT7052" descr="PPT7052.png"/>
          <p:cNvPicPr>
            <a:picLocks noChangeAspect="1"/>
          </p:cNvPicPr>
          <p:nvPr/>
        </p:nvPicPr>
        <p:blipFill>
          <a:blip r:embed="rId3" cstate="print"/>
          <a:srcRect/>
          <a:stretch>
            <a:fillRect/>
          </a:stretch>
        </p:blipFill>
        <p:spPr bwMode="auto">
          <a:xfrm>
            <a:off x="2146472" y="1719109"/>
            <a:ext cx="4863928" cy="4920653"/>
          </a:xfrm>
          <a:prstGeom prst="rect">
            <a:avLst/>
          </a:prstGeom>
          <a:noFill/>
          <a:ln w="38100">
            <a:noFill/>
            <a:miter lim="800000"/>
            <a:headEnd/>
            <a:tailEnd/>
          </a:ln>
        </p:spPr>
      </p:pic>
      <p:sp>
        <p:nvSpPr>
          <p:cNvPr id="9" name="Rectangle 8"/>
          <p:cNvSpPr/>
          <p:nvPr/>
        </p:nvSpPr>
        <p:spPr bwMode="auto">
          <a:xfrm>
            <a:off x="3408920" y="2124075"/>
            <a:ext cx="1149179" cy="271849"/>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10" name="Rectangle 2"/>
          <p:cNvSpPr>
            <a:spLocks noChangeArrowheads="1"/>
          </p:cNvSpPr>
          <p:nvPr/>
        </p:nvSpPr>
        <p:spPr bwMode="auto">
          <a:xfrm>
            <a:off x="3463925" y="5332327"/>
            <a:ext cx="1677062" cy="338554"/>
          </a:xfrm>
          <a:prstGeom prst="rect">
            <a:avLst/>
          </a:prstGeom>
          <a:noFill/>
          <a:ln w="9525">
            <a:noFill/>
            <a:miter lim="800000"/>
            <a:headEnd/>
            <a:tailEnd/>
          </a:ln>
        </p:spPr>
        <p:txBody>
          <a:bodyPr wrap="none">
            <a:spAutoFit/>
          </a:bodyPr>
          <a:lstStyle/>
          <a:p>
            <a:r>
              <a:rPr lang="en-US" dirty="0">
                <a:latin typeface="Arial" panose="020B0604020202020204" pitchFamily="34" charset="0"/>
                <a:cs typeface="Arial" panose="020B0604020202020204" pitchFamily="34" charset="0"/>
              </a:rPr>
              <a:t>Area*</a:t>
            </a:r>
            <a:r>
              <a:rPr lang="en-US" dirty="0" err="1">
                <a:latin typeface="Arial" panose="020B0604020202020204" pitchFamily="34" charset="0"/>
                <a:cs typeface="Arial" panose="020B0604020202020204" pitchFamily="34" charset="0"/>
              </a:rPr>
              <a:t>Area_Limit</a:t>
            </a:r>
            <a:endParaRPr lang="en-US" dirty="0">
              <a:latin typeface="Arial" panose="020B0604020202020204" pitchFamily="34" charset="0"/>
              <a:cs typeface="Arial" panose="020B0604020202020204" pitchFamily="34" charset="0"/>
            </a:endParaRPr>
          </a:p>
        </p:txBody>
      </p:sp>
      <p:sp>
        <p:nvSpPr>
          <p:cNvPr id="11" name="Rectangle 10"/>
          <p:cNvSpPr/>
          <p:nvPr/>
        </p:nvSpPr>
        <p:spPr bwMode="auto">
          <a:xfrm>
            <a:off x="2321526" y="3952875"/>
            <a:ext cx="815546" cy="247135"/>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2" name="Content Placeholder 1"/>
          <p:cNvSpPr>
            <a:spLocks noGrp="1"/>
          </p:cNvSpPr>
          <p:nvPr>
            <p:ph idx="1"/>
          </p:nvPr>
        </p:nvSpPr>
        <p:spPr>
          <a:xfrm>
            <a:off x="457200" y="1312000"/>
            <a:ext cx="8360228" cy="2640875"/>
          </a:xfrm>
          <a:noFill/>
        </p:spPr>
        <p:txBody>
          <a:bodyPr/>
          <a:lstStyle/>
          <a:p>
            <a:r>
              <a:rPr lang="en-SG" dirty="0"/>
              <a:t> Next step is to multiply the Area with </a:t>
            </a:r>
            <a:r>
              <a:rPr lang="en-SG" dirty="0" err="1"/>
              <a:t>Area_Limit</a:t>
            </a:r>
            <a:r>
              <a:rPr lang="en-SG" dirty="0"/>
              <a:t>.</a:t>
            </a:r>
          </a:p>
          <a:p>
            <a:pPr marL="0" indent="0">
              <a:buNone/>
            </a:pPr>
            <a:endParaRPr lang="en-SG" dirty="0"/>
          </a:p>
          <a:p>
            <a:endParaRPr lang="en-SG" dirty="0"/>
          </a:p>
          <a:p>
            <a:endParaRPr lang="en-SG" dirty="0"/>
          </a:p>
          <a:p>
            <a:endParaRPr lang="en-SG" dirty="0"/>
          </a:p>
          <a:p>
            <a:endParaRPr lang="en-SG" dirty="0"/>
          </a:p>
          <a:p>
            <a:endParaRPr lang="en-SG" dirty="0"/>
          </a:p>
          <a:p>
            <a:endParaRPr lang="en-SG" dirty="0"/>
          </a:p>
          <a:p>
            <a:endParaRPr lang="en-SG" dirty="0"/>
          </a:p>
        </p:txBody>
      </p:sp>
      <p:sp>
        <p:nvSpPr>
          <p:cNvPr id="3" name="TextBox 2"/>
          <p:cNvSpPr txBox="1"/>
          <p:nvPr/>
        </p:nvSpPr>
        <p:spPr>
          <a:xfrm>
            <a:off x="2630078" y="2700929"/>
            <a:ext cx="3896716" cy="769441"/>
          </a:xfrm>
          <a:prstGeom prst="rect">
            <a:avLst/>
          </a:prstGeom>
          <a:solidFill>
            <a:schemeClr val="bg1"/>
          </a:solidFill>
          <a:ln w="28575">
            <a:solidFill>
              <a:schemeClr val="accent1"/>
            </a:solidFill>
          </a:ln>
        </p:spPr>
        <p:txBody>
          <a:bodyPr wrap="square" rtlCol="0">
            <a:spAutoFit/>
          </a:bodyPr>
          <a:lstStyle/>
          <a:p>
            <a:pPr lvl="0" algn="ctr">
              <a:lnSpc>
                <a:spcPct val="110000"/>
              </a:lnSpc>
              <a:spcBef>
                <a:spcPct val="20000"/>
              </a:spcBef>
              <a:buClr>
                <a:srgbClr val="4F81BD"/>
              </a:buClr>
            </a:pPr>
            <a:r>
              <a:rPr lang="en-SG" sz="2000" kern="0" dirty="0">
                <a:solidFill>
                  <a:srgbClr val="000000"/>
                </a:solidFill>
                <a:latin typeface="Arial"/>
                <a:ea typeface="MS PGothic" pitchFamily="34" charset="-128"/>
                <a:cs typeface="Arial"/>
              </a:rPr>
              <a:t>Second Custom Field: </a:t>
            </a:r>
            <a:r>
              <a:rPr lang="en-SG" sz="2000" kern="0" dirty="0">
                <a:solidFill>
                  <a:srgbClr val="C00000"/>
                </a:solidFill>
                <a:latin typeface="Arial"/>
                <a:ea typeface="MS PGothic" pitchFamily="34" charset="-128"/>
                <a:cs typeface="Arial"/>
              </a:rPr>
              <a:t>Area_GT_05=Area*</a:t>
            </a:r>
            <a:r>
              <a:rPr lang="en-SG" sz="2000" kern="0" dirty="0" err="1">
                <a:solidFill>
                  <a:srgbClr val="C00000"/>
                </a:solidFill>
                <a:latin typeface="Arial"/>
                <a:ea typeface="MS PGothic" pitchFamily="34" charset="-128"/>
                <a:cs typeface="Arial"/>
              </a:rPr>
              <a:t>Area_Limit</a:t>
            </a:r>
            <a:endParaRPr lang="en-SG" sz="2000" kern="0" dirty="0">
              <a:solidFill>
                <a:srgbClr val="C00000"/>
              </a:solidFill>
              <a:latin typeface="Arial"/>
              <a:ea typeface="MS PGothic" pitchFamily="34" charset="-128"/>
              <a:cs typeface="Arial"/>
            </a:endParaRPr>
          </a:p>
        </p:txBody>
      </p:sp>
    </p:spTree>
    <p:extLst>
      <p:ext uri="{BB962C8B-B14F-4D97-AF65-F5344CB8AC3E}">
        <p14:creationId xmlns:p14="http://schemas.microsoft.com/office/powerpoint/2010/main" val="2893038644"/>
      </p:ext>
    </p:extLst>
  </p:cSld>
  <p:clrMapOvr>
    <a:masterClrMapping/>
  </p:clrMapOvr>
  <p:transition>
    <p:wipe dir="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Snagit_PPT262F" descr="PPT262F.png"/>
          <p:cNvPicPr>
            <a:picLocks noChangeAspect="1"/>
          </p:cNvPicPr>
          <p:nvPr/>
        </p:nvPicPr>
        <p:blipFill>
          <a:blip r:embed="rId3" cstate="print"/>
          <a:srcRect l="12179" t="15943" r="43918" b="8267"/>
          <a:stretch>
            <a:fillRect/>
          </a:stretch>
        </p:blipFill>
        <p:spPr bwMode="auto">
          <a:xfrm>
            <a:off x="638175" y="1258388"/>
            <a:ext cx="4769769" cy="5145967"/>
          </a:xfrm>
          <a:prstGeom prst="rect">
            <a:avLst/>
          </a:prstGeom>
          <a:noFill/>
          <a:ln w="38100">
            <a:noFill/>
            <a:miter lim="800000"/>
            <a:headEnd/>
            <a:tailEnd/>
          </a:ln>
        </p:spPr>
      </p:pic>
      <p:sp>
        <p:nvSpPr>
          <p:cNvPr id="41989" name="Rectangle 4"/>
          <p:cNvSpPr>
            <a:spLocks noChangeArrowheads="1"/>
          </p:cNvSpPr>
          <p:nvPr/>
        </p:nvSpPr>
        <p:spPr bwMode="auto">
          <a:xfrm>
            <a:off x="3023058" y="3030195"/>
            <a:ext cx="820277" cy="3273790"/>
          </a:xfrm>
          <a:prstGeom prst="rect">
            <a:avLst/>
          </a:prstGeom>
          <a:noFill/>
          <a:ln w="38100" algn="ctr">
            <a:solidFill>
              <a:srgbClr val="FF0000"/>
            </a:solidFill>
            <a:round/>
            <a:headEnd/>
            <a:tailEnd/>
          </a:ln>
        </p:spPr>
        <p:txBody>
          <a:bodyPr/>
          <a:lstStyle/>
          <a:p>
            <a:pPr algn="l"/>
            <a:endParaRPr lang="en-US"/>
          </a:p>
        </p:txBody>
      </p:sp>
      <p:sp>
        <p:nvSpPr>
          <p:cNvPr id="7" name="Title 6"/>
          <p:cNvSpPr>
            <a:spLocks noGrp="1"/>
          </p:cNvSpPr>
          <p:nvPr>
            <p:ph type="title"/>
          </p:nvPr>
        </p:nvSpPr>
        <p:spPr>
          <a:xfrm>
            <a:off x="457199" y="31468"/>
            <a:ext cx="6772275"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sp>
        <p:nvSpPr>
          <p:cNvPr id="9" name="TextBox 8"/>
          <p:cNvSpPr txBox="1"/>
          <p:nvPr/>
        </p:nvSpPr>
        <p:spPr>
          <a:xfrm>
            <a:off x="5570912" y="4343924"/>
            <a:ext cx="2896947" cy="646331"/>
          </a:xfrm>
          <a:prstGeom prst="rect">
            <a:avLst/>
          </a:prstGeom>
          <a:noFill/>
        </p:spPr>
        <p:txBody>
          <a:bodyPr wrap="none" rtlCol="0">
            <a:spAutoFit/>
          </a:bodyPr>
          <a:lstStyle/>
          <a:p>
            <a:r>
              <a:rPr lang="en-US" sz="1800" dirty="0">
                <a:latin typeface="Arial" panose="020B0604020202020204" pitchFamily="34" charset="0"/>
                <a:cs typeface="Arial" panose="020B0604020202020204" pitchFamily="34" charset="0"/>
              </a:rPr>
              <a:t>Will only show areas that</a:t>
            </a:r>
          </a:p>
          <a:p>
            <a:r>
              <a:rPr lang="en-US" sz="1800" dirty="0">
                <a:latin typeface="Arial" panose="020B0604020202020204" pitchFamily="34" charset="0"/>
                <a:cs typeface="Arial" panose="020B0604020202020204" pitchFamily="34" charset="0"/>
              </a:rPr>
              <a:t>are &gt; 0.5% of the </a:t>
            </a:r>
            <a:r>
              <a:rPr lang="en-US" sz="1800" dirty="0" err="1">
                <a:latin typeface="Arial" panose="020B0604020202020204" pitchFamily="34" charset="0"/>
                <a:cs typeface="Arial" panose="020B0604020202020204" pitchFamily="34" charset="0"/>
              </a:rPr>
              <a:t>Caf</a:t>
            </a:r>
            <a:r>
              <a:rPr lang="en-US" sz="1800" dirty="0">
                <a:latin typeface="Arial" panose="020B0604020202020204" pitchFamily="34" charset="0"/>
                <a:cs typeface="Arial" panose="020B0604020202020204" pitchFamily="34" charset="0"/>
              </a:rPr>
              <a:t> area</a:t>
            </a:r>
          </a:p>
        </p:txBody>
      </p:sp>
      <p:sp>
        <p:nvSpPr>
          <p:cNvPr id="10" name="TextBox 9"/>
          <p:cNvSpPr txBox="1"/>
          <p:nvPr/>
        </p:nvSpPr>
        <p:spPr>
          <a:xfrm>
            <a:off x="4706528" y="1548404"/>
            <a:ext cx="3808822" cy="430887"/>
          </a:xfrm>
          <a:prstGeom prst="rect">
            <a:avLst/>
          </a:prstGeom>
          <a:solidFill>
            <a:schemeClr val="bg1"/>
          </a:solidFill>
          <a:ln w="28575">
            <a:solidFill>
              <a:schemeClr val="accent1"/>
            </a:solidFill>
          </a:ln>
        </p:spPr>
        <p:txBody>
          <a:bodyPr wrap="square" rtlCol="0">
            <a:spAutoFit/>
          </a:bodyPr>
          <a:lstStyle/>
          <a:p>
            <a:pPr lvl="0" algn="ctr">
              <a:lnSpc>
                <a:spcPct val="110000"/>
              </a:lnSpc>
              <a:spcBef>
                <a:spcPct val="20000"/>
              </a:spcBef>
              <a:buClr>
                <a:srgbClr val="4F81BD"/>
              </a:buClr>
            </a:pPr>
            <a:r>
              <a:rPr lang="en-SG" sz="2000" kern="0" dirty="0">
                <a:solidFill>
                  <a:srgbClr val="C00000"/>
                </a:solidFill>
                <a:latin typeface="Arial"/>
                <a:ea typeface="MS PGothic" pitchFamily="34" charset="-128"/>
                <a:cs typeface="Arial"/>
              </a:rPr>
              <a:t>Area_GT_05=Area*</a:t>
            </a:r>
            <a:r>
              <a:rPr lang="en-SG" sz="2000" kern="0" dirty="0" err="1">
                <a:solidFill>
                  <a:srgbClr val="C00000"/>
                </a:solidFill>
                <a:latin typeface="Arial"/>
                <a:ea typeface="MS PGothic" pitchFamily="34" charset="-128"/>
                <a:cs typeface="Arial"/>
              </a:rPr>
              <a:t>Area_Limit</a:t>
            </a:r>
            <a:endParaRPr lang="en-SG" sz="2000" kern="0" dirty="0">
              <a:solidFill>
                <a:srgbClr val="C00000"/>
              </a:solidFill>
              <a:latin typeface="Arial"/>
              <a:ea typeface="MS PGothic" pitchFamily="34" charset="-128"/>
              <a:cs typeface="Arial"/>
            </a:endParaRPr>
          </a:p>
        </p:txBody>
      </p:sp>
    </p:spTree>
    <p:extLst>
      <p:ext uri="{BB962C8B-B14F-4D97-AF65-F5344CB8AC3E}">
        <p14:creationId xmlns:p14="http://schemas.microsoft.com/office/powerpoint/2010/main" val="3395876576"/>
      </p:ext>
    </p:extLst>
  </p:cSld>
  <p:clrMapOvr>
    <a:masterClrMapping/>
  </p:clrMapOvr>
  <p:transition>
    <p:wipe dir="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210065" y="197708"/>
            <a:ext cx="8686800" cy="441325"/>
          </a:xfrm>
          <a:prstGeom prst="rect">
            <a:avLst/>
          </a:prstGeom>
        </p:spPr>
        <p:txBody>
          <a:bodyPr/>
          <a:lstStyle/>
          <a:p>
            <a:pPr eaLnBrk="0" hangingPunct="0">
              <a:defRPr/>
            </a:pPr>
            <a:endParaRPr lang="en-US" sz="2400" b="1" kern="0" dirty="0">
              <a:effectLst>
                <a:outerShdw blurRad="38100" dist="38100" dir="2700000" algn="tl">
                  <a:srgbClr val="C0C0C0"/>
                </a:outerShdw>
              </a:effectLst>
            </a:endParaRPr>
          </a:p>
        </p:txBody>
      </p:sp>
      <p:grpSp>
        <p:nvGrpSpPr>
          <p:cNvPr id="2" name="Group 4"/>
          <p:cNvGrpSpPr>
            <a:grpSpLocks/>
          </p:cNvGrpSpPr>
          <p:nvPr/>
        </p:nvGrpSpPr>
        <p:grpSpPr bwMode="auto">
          <a:xfrm>
            <a:off x="3834906" y="2604659"/>
            <a:ext cx="4159916" cy="3605641"/>
            <a:chOff x="5045075" y="3679825"/>
            <a:chExt cx="3954463" cy="3017838"/>
          </a:xfrm>
        </p:grpSpPr>
        <p:pic>
          <p:nvPicPr>
            <p:cNvPr id="43016" name="Picture 2"/>
            <p:cNvPicPr>
              <a:picLocks noChangeAspect="1" noChangeArrowheads="1"/>
            </p:cNvPicPr>
            <p:nvPr/>
          </p:nvPicPr>
          <p:blipFill>
            <a:blip r:embed="rId3" cstate="print"/>
            <a:srcRect/>
            <a:stretch>
              <a:fillRect/>
            </a:stretch>
          </p:blipFill>
          <p:spPr bwMode="auto">
            <a:xfrm>
              <a:off x="5045075" y="3679825"/>
              <a:ext cx="3954463" cy="3017838"/>
            </a:xfrm>
            <a:prstGeom prst="rect">
              <a:avLst/>
            </a:prstGeom>
            <a:noFill/>
            <a:ln w="38100" algn="ctr">
              <a:noFill/>
              <a:miter lim="800000"/>
              <a:headEnd/>
              <a:tailEnd/>
            </a:ln>
          </p:spPr>
        </p:pic>
        <p:sp>
          <p:nvSpPr>
            <p:cNvPr id="43017" name="Rectangle 8"/>
            <p:cNvSpPr>
              <a:spLocks noChangeArrowheads="1"/>
            </p:cNvSpPr>
            <p:nvPr/>
          </p:nvSpPr>
          <p:spPr bwMode="auto">
            <a:xfrm>
              <a:off x="7996238" y="5418138"/>
              <a:ext cx="836612" cy="768350"/>
            </a:xfrm>
            <a:prstGeom prst="rect">
              <a:avLst/>
            </a:prstGeom>
            <a:noFill/>
            <a:ln w="38100" algn="ctr">
              <a:noFill/>
              <a:round/>
              <a:headEnd/>
              <a:tailEnd/>
            </a:ln>
          </p:spPr>
          <p:txBody>
            <a:bodyPr/>
            <a:lstStyle/>
            <a:p>
              <a:pPr algn="l"/>
              <a:endParaRPr lang="en-US"/>
            </a:p>
          </p:txBody>
        </p:sp>
      </p:grpSp>
      <p:sp>
        <p:nvSpPr>
          <p:cNvPr id="43012" name="TextBox 5"/>
          <p:cNvSpPr txBox="1">
            <a:spLocks noChangeArrowheads="1"/>
          </p:cNvSpPr>
          <p:nvPr/>
        </p:nvSpPr>
        <p:spPr bwMode="auto">
          <a:xfrm>
            <a:off x="525456" y="1452303"/>
            <a:ext cx="7500943" cy="1089529"/>
          </a:xfrm>
          <a:prstGeom prst="rect">
            <a:avLst/>
          </a:prstGeom>
          <a:solidFill>
            <a:schemeClr val="bg1"/>
          </a:solidFill>
          <a:ln w="38100">
            <a:solidFill>
              <a:srgbClr val="3374D4"/>
            </a:solidFill>
            <a:miter lim="800000"/>
            <a:headEnd/>
            <a:tailEnd/>
          </a:ln>
        </p:spPr>
        <p:txBody>
          <a:bodyPr wrap="square">
            <a:spAutoFit/>
          </a:bodyPr>
          <a:lstStyle/>
          <a:p>
            <a:pPr algn="l">
              <a:lnSpc>
                <a:spcPct val="120000"/>
              </a:lnSpc>
            </a:pPr>
            <a:r>
              <a:rPr lang="en-US" sz="1800" b="1" dirty="0">
                <a:latin typeface="Arial" panose="020B0604020202020204" pitchFamily="34" charset="0"/>
                <a:cs typeface="Arial" panose="020B0604020202020204" pitchFamily="34" charset="0"/>
              </a:rPr>
              <a:t>Use as: Position. </a:t>
            </a:r>
            <a:r>
              <a:rPr lang="en-US" sz="1800" dirty="0">
                <a:latin typeface="Arial" panose="020B0604020202020204" pitchFamily="34" charset="0"/>
                <a:cs typeface="Arial" panose="020B0604020202020204" pitchFamily="34" charset="0"/>
              </a:rPr>
              <a:t>Calculates with the value column then you can enter text in the translation column.</a:t>
            </a:r>
          </a:p>
          <a:p>
            <a:pPr algn="l">
              <a:lnSpc>
                <a:spcPct val="120000"/>
              </a:lnSpc>
            </a:pPr>
            <a:r>
              <a:rPr lang="en-US" sz="1800" dirty="0">
                <a:latin typeface="Arial" panose="020B0604020202020204" pitchFamily="34" charset="0"/>
                <a:cs typeface="Arial" panose="020B0604020202020204" pitchFamily="34" charset="0"/>
              </a:rPr>
              <a:t>With this CF it is </a:t>
            </a:r>
            <a:r>
              <a:rPr lang="en-US" sz="1800" b="1" dirty="0">
                <a:solidFill>
                  <a:srgbClr val="C00000"/>
                </a:solidFill>
                <a:latin typeface="Arial" panose="020B0604020202020204" pitchFamily="34" charset="0"/>
                <a:cs typeface="Arial" panose="020B0604020202020204" pitchFamily="34" charset="0"/>
              </a:rPr>
              <a:t>possible </a:t>
            </a:r>
            <a:r>
              <a:rPr lang="en-US" sz="1800" dirty="0">
                <a:latin typeface="Arial" panose="020B0604020202020204" pitchFamily="34" charset="0"/>
                <a:cs typeface="Arial" panose="020B0604020202020204" pitchFamily="34" charset="0"/>
              </a:rPr>
              <a:t>to use it in further calculations</a:t>
            </a:r>
          </a:p>
        </p:txBody>
      </p:sp>
      <p:pic>
        <p:nvPicPr>
          <p:cNvPr id="43013" name="Snagit_PPT114" descr="PPT114.png"/>
          <p:cNvPicPr>
            <a:picLocks noChangeAspect="1"/>
          </p:cNvPicPr>
          <p:nvPr/>
        </p:nvPicPr>
        <p:blipFill rotWithShape="1">
          <a:blip r:embed="rId4" cstate="print"/>
          <a:srcRect r="39526"/>
          <a:stretch/>
        </p:blipFill>
        <p:spPr bwMode="auto">
          <a:xfrm>
            <a:off x="553408" y="2722649"/>
            <a:ext cx="1894517" cy="1856033"/>
          </a:xfrm>
          <a:prstGeom prst="rect">
            <a:avLst/>
          </a:prstGeom>
          <a:noFill/>
          <a:ln w="38100">
            <a:noFill/>
            <a:miter lim="800000"/>
            <a:headEnd/>
            <a:tailEnd/>
          </a:ln>
        </p:spPr>
      </p:pic>
      <p:sp>
        <p:nvSpPr>
          <p:cNvPr id="43015" name="Rectangle 8"/>
          <p:cNvSpPr>
            <a:spLocks noChangeArrowheads="1"/>
          </p:cNvSpPr>
          <p:nvPr/>
        </p:nvSpPr>
        <p:spPr bwMode="auto">
          <a:xfrm>
            <a:off x="811727" y="3050231"/>
            <a:ext cx="625475" cy="998538"/>
          </a:xfrm>
          <a:prstGeom prst="rect">
            <a:avLst/>
          </a:prstGeom>
          <a:noFill/>
          <a:ln w="38100" algn="ctr">
            <a:solidFill>
              <a:srgbClr val="FF0000"/>
            </a:solidFill>
            <a:round/>
            <a:headEnd/>
            <a:tailEnd/>
          </a:ln>
        </p:spPr>
        <p:txBody>
          <a:bodyPr/>
          <a:lstStyle/>
          <a:p>
            <a:pPr algn="l"/>
            <a:endParaRPr lang="en-US"/>
          </a:p>
        </p:txBody>
      </p:sp>
      <p:sp>
        <p:nvSpPr>
          <p:cNvPr id="10" name="Rectangle 9"/>
          <p:cNvSpPr/>
          <p:nvPr/>
        </p:nvSpPr>
        <p:spPr bwMode="auto">
          <a:xfrm>
            <a:off x="6939395" y="4681553"/>
            <a:ext cx="891591" cy="942517"/>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12" name="Straight Arrow Connector 11"/>
          <p:cNvCxnSpPr>
            <a:cxnSpLocks/>
            <a:stCxn id="10" idx="1"/>
          </p:cNvCxnSpPr>
          <p:nvPr/>
        </p:nvCxnSpPr>
        <p:spPr bwMode="auto">
          <a:xfrm flipH="1" flipV="1">
            <a:off x="1543050" y="4048769"/>
            <a:ext cx="5396345" cy="1104043"/>
          </a:xfrm>
          <a:prstGeom prst="straightConnector1">
            <a:avLst/>
          </a:prstGeom>
          <a:noFill/>
          <a:ln w="38100" cap="flat" cmpd="sng" algn="ctr">
            <a:solidFill>
              <a:srgbClr val="FF0000"/>
            </a:solidFill>
            <a:prstDash val="solid"/>
            <a:round/>
            <a:headEnd type="none" w="med" len="med"/>
            <a:tailEnd type="arrow"/>
          </a:ln>
          <a:effectLst/>
        </p:spPr>
      </p:cxnSp>
      <p:sp>
        <p:nvSpPr>
          <p:cNvPr id="3" name="Title 2"/>
          <p:cNvSpPr>
            <a:spLocks noGrp="1"/>
          </p:cNvSpPr>
          <p:nvPr>
            <p:ph type="title"/>
          </p:nvPr>
        </p:nvSpPr>
        <p:spPr>
          <a:xfrm>
            <a:off x="457199" y="31468"/>
            <a:ext cx="6944497" cy="1005840"/>
          </a:xfrm>
        </p:spPr>
        <p:txBody>
          <a:bodyPr/>
          <a:lstStyle/>
          <a:p>
            <a:r>
              <a:rPr lang="en-SG" dirty="0"/>
              <a:t>Example 3 Boolean CF </a:t>
            </a:r>
            <a:r>
              <a:rPr lang="en-SG" dirty="0" err="1">
                <a:solidFill>
                  <a:schemeClr val="accent2"/>
                </a:solidFill>
              </a:rPr>
              <a:t>Area_Limit</a:t>
            </a:r>
            <a:r>
              <a:rPr lang="en-SG" dirty="0">
                <a:solidFill>
                  <a:schemeClr val="accent2"/>
                </a:solidFill>
              </a:rPr>
              <a:t>/Area_GT05</a:t>
            </a:r>
            <a:br>
              <a:rPr lang="en-SG" dirty="0"/>
            </a:br>
            <a:r>
              <a:rPr lang="en-SG" dirty="0"/>
              <a:t>Use As Position</a:t>
            </a:r>
          </a:p>
        </p:txBody>
      </p:sp>
    </p:spTree>
    <p:extLst>
      <p:ext uri="{BB962C8B-B14F-4D97-AF65-F5344CB8AC3E}">
        <p14:creationId xmlns:p14="http://schemas.microsoft.com/office/powerpoint/2010/main" val="3097690825"/>
      </p:ext>
    </p:extLst>
  </p:cSld>
  <p:clrMapOvr>
    <a:masterClrMapping/>
  </p:clrMapOvr>
  <p:transition>
    <p:wipe dir="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5" name="Snagit_PPT3B3A" descr="PPT3B3A.png"/>
          <p:cNvPicPr>
            <a:picLocks noChangeAspect="1"/>
          </p:cNvPicPr>
          <p:nvPr/>
        </p:nvPicPr>
        <p:blipFill>
          <a:blip r:embed="rId3" cstate="print"/>
          <a:srcRect t="905"/>
          <a:stretch>
            <a:fillRect/>
          </a:stretch>
        </p:blipFill>
        <p:spPr bwMode="auto">
          <a:xfrm>
            <a:off x="629739" y="1312000"/>
            <a:ext cx="4866185" cy="4936400"/>
          </a:xfrm>
          <a:prstGeom prst="rect">
            <a:avLst/>
          </a:prstGeom>
          <a:noFill/>
          <a:ln w="9525">
            <a:noFill/>
            <a:miter lim="800000"/>
            <a:headEnd/>
            <a:tailEnd/>
          </a:ln>
        </p:spPr>
      </p:pic>
      <p:sp>
        <p:nvSpPr>
          <p:cNvPr id="44036" name="Rectangle 3"/>
          <p:cNvSpPr>
            <a:spLocks noChangeArrowheads="1"/>
          </p:cNvSpPr>
          <p:nvPr/>
        </p:nvSpPr>
        <p:spPr bwMode="auto">
          <a:xfrm>
            <a:off x="1857375" y="4948189"/>
            <a:ext cx="3512190" cy="338554"/>
          </a:xfrm>
          <a:prstGeom prst="rect">
            <a:avLst/>
          </a:prstGeom>
          <a:noFill/>
          <a:ln w="9525">
            <a:noFill/>
            <a:miter lim="800000"/>
            <a:headEnd/>
            <a:tailEnd/>
          </a:ln>
        </p:spPr>
        <p:txBody>
          <a:bodyPr wrap="square">
            <a:spAutoFit/>
          </a:bodyPr>
          <a:lstStyle/>
          <a:p>
            <a:r>
              <a:rPr lang="en-US" dirty="0">
                <a:latin typeface="Arial" panose="020B0604020202020204" pitchFamily="34" charset="0"/>
                <a:cs typeface="Arial" panose="020B0604020202020204" pitchFamily="34" charset="0"/>
              </a:rPr>
              <a:t>GT(Area,CCalRef1[Area]*0.005)</a:t>
            </a:r>
          </a:p>
        </p:txBody>
      </p:sp>
      <p:sp>
        <p:nvSpPr>
          <p:cNvPr id="44038" name="Rectangle 5"/>
          <p:cNvSpPr>
            <a:spLocks noChangeArrowheads="1"/>
          </p:cNvSpPr>
          <p:nvPr/>
        </p:nvSpPr>
        <p:spPr bwMode="auto">
          <a:xfrm>
            <a:off x="4170122" y="3751998"/>
            <a:ext cx="1151356" cy="419691"/>
          </a:xfrm>
          <a:prstGeom prst="rect">
            <a:avLst/>
          </a:prstGeom>
          <a:noFill/>
          <a:ln w="38100" algn="ctr">
            <a:solidFill>
              <a:srgbClr val="FF0000"/>
            </a:solidFill>
            <a:round/>
            <a:headEnd/>
            <a:tailEnd/>
          </a:ln>
        </p:spPr>
        <p:txBody>
          <a:bodyPr/>
          <a:lstStyle/>
          <a:p>
            <a:pPr algn="l"/>
            <a:endParaRPr lang="en-US"/>
          </a:p>
        </p:txBody>
      </p:sp>
      <p:sp>
        <p:nvSpPr>
          <p:cNvPr id="44039" name="Rectangle 6"/>
          <p:cNvSpPr>
            <a:spLocks noChangeArrowheads="1"/>
          </p:cNvSpPr>
          <p:nvPr/>
        </p:nvSpPr>
        <p:spPr bwMode="auto">
          <a:xfrm>
            <a:off x="3402802" y="2147066"/>
            <a:ext cx="1169198" cy="723657"/>
          </a:xfrm>
          <a:prstGeom prst="rect">
            <a:avLst/>
          </a:prstGeom>
          <a:noFill/>
          <a:ln w="38100" algn="ctr">
            <a:solidFill>
              <a:srgbClr val="FF0000"/>
            </a:solidFill>
            <a:round/>
            <a:headEnd/>
            <a:tailEnd/>
          </a:ln>
        </p:spPr>
        <p:txBody>
          <a:bodyPr/>
          <a:lstStyle/>
          <a:p>
            <a:pPr algn="l"/>
            <a:endParaRPr lang="en-US"/>
          </a:p>
        </p:txBody>
      </p:sp>
      <p:sp>
        <p:nvSpPr>
          <p:cNvPr id="2" name="Content Placeholder 1"/>
          <p:cNvSpPr>
            <a:spLocks noGrp="1"/>
          </p:cNvSpPr>
          <p:nvPr>
            <p:ph idx="1"/>
          </p:nvPr>
        </p:nvSpPr>
        <p:spPr>
          <a:xfrm>
            <a:off x="5753100" y="1312000"/>
            <a:ext cx="3064327" cy="5029200"/>
          </a:xfrm>
        </p:spPr>
        <p:txBody>
          <a:bodyPr>
            <a:normAutofit/>
          </a:bodyPr>
          <a:lstStyle/>
          <a:p>
            <a:r>
              <a:rPr lang="en-SG" dirty="0"/>
              <a:t>In this case the result of the CF </a:t>
            </a:r>
            <a:r>
              <a:rPr lang="en-SG" dirty="0" err="1"/>
              <a:t>Area_Limit</a:t>
            </a:r>
            <a:r>
              <a:rPr lang="en-SG" dirty="0"/>
              <a:t> will be &lt;0.5% or &gt;0.5%, but in any </a:t>
            </a:r>
            <a:r>
              <a:rPr lang="en-SG" dirty="0">
                <a:solidFill>
                  <a:srgbClr val="C00000"/>
                </a:solidFill>
              </a:rPr>
              <a:t>subsequent CF calculations the value 0 or 1 will be used</a:t>
            </a:r>
            <a:r>
              <a:rPr lang="en-SG" dirty="0"/>
              <a:t>.</a:t>
            </a:r>
          </a:p>
          <a:p>
            <a:endParaRPr lang="en-SG" dirty="0"/>
          </a:p>
          <a:p>
            <a:r>
              <a:rPr lang="en-SG" dirty="0"/>
              <a:t>Since we use </a:t>
            </a:r>
            <a:r>
              <a:rPr lang="en-SG" dirty="0" err="1"/>
              <a:t>Area_Limit</a:t>
            </a:r>
            <a:r>
              <a:rPr lang="en-SG" dirty="0"/>
              <a:t> in the CF Area_GT_05, 0 and 1 will be used in this CF.</a:t>
            </a:r>
          </a:p>
          <a:p>
            <a:endParaRPr lang="en-SG" dirty="0"/>
          </a:p>
        </p:txBody>
      </p:sp>
      <p:sp>
        <p:nvSpPr>
          <p:cNvPr id="8" name="Title 7"/>
          <p:cNvSpPr>
            <a:spLocks noGrp="1"/>
          </p:cNvSpPr>
          <p:nvPr>
            <p:ph type="title"/>
          </p:nvPr>
        </p:nvSpPr>
        <p:spPr>
          <a:xfrm>
            <a:off x="457200" y="31468"/>
            <a:ext cx="6591300"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spTree>
    <p:extLst>
      <p:ext uri="{BB962C8B-B14F-4D97-AF65-F5344CB8AC3E}">
        <p14:creationId xmlns:p14="http://schemas.microsoft.com/office/powerpoint/2010/main" val="2453125038"/>
      </p:ext>
    </p:extLst>
  </p:cSld>
  <p:clrMapOvr>
    <a:masterClrMapping/>
  </p:clrMapOvr>
  <p:transition>
    <p:wipe dir="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60" name="Snagit_PPTE706" descr="PPTE706.png"/>
          <p:cNvPicPr>
            <a:picLocks noChangeAspect="1"/>
          </p:cNvPicPr>
          <p:nvPr/>
        </p:nvPicPr>
        <p:blipFill>
          <a:blip r:embed="rId3" cstate="print"/>
          <a:srcRect l="12917" t="15943" r="43549" b="8267"/>
          <a:stretch>
            <a:fillRect/>
          </a:stretch>
        </p:blipFill>
        <p:spPr bwMode="auto">
          <a:xfrm>
            <a:off x="612698" y="1208592"/>
            <a:ext cx="4868004" cy="5296984"/>
          </a:xfrm>
          <a:prstGeom prst="rect">
            <a:avLst/>
          </a:prstGeom>
          <a:noFill/>
          <a:ln w="38100">
            <a:noFill/>
            <a:miter lim="800000"/>
            <a:headEnd/>
            <a:tailEnd/>
          </a:ln>
        </p:spPr>
      </p:pic>
      <p:sp>
        <p:nvSpPr>
          <p:cNvPr id="45061" name="Rectangle 4"/>
          <p:cNvSpPr>
            <a:spLocks noChangeArrowheads="1"/>
          </p:cNvSpPr>
          <p:nvPr/>
        </p:nvSpPr>
        <p:spPr bwMode="auto">
          <a:xfrm>
            <a:off x="2359141" y="3006554"/>
            <a:ext cx="746009" cy="3394246"/>
          </a:xfrm>
          <a:prstGeom prst="rect">
            <a:avLst/>
          </a:prstGeom>
          <a:noFill/>
          <a:ln w="38100" algn="ctr">
            <a:solidFill>
              <a:srgbClr val="FF0000"/>
            </a:solidFill>
            <a:round/>
            <a:headEnd/>
            <a:tailEnd/>
          </a:ln>
        </p:spPr>
        <p:txBody>
          <a:bodyPr/>
          <a:lstStyle/>
          <a:p>
            <a:pPr algn="l"/>
            <a:endParaRPr lang="en-US"/>
          </a:p>
        </p:txBody>
      </p:sp>
      <p:sp>
        <p:nvSpPr>
          <p:cNvPr id="7" name="Title 6"/>
          <p:cNvSpPr>
            <a:spLocks noGrp="1"/>
          </p:cNvSpPr>
          <p:nvPr>
            <p:ph type="title"/>
          </p:nvPr>
        </p:nvSpPr>
        <p:spPr>
          <a:xfrm>
            <a:off x="457199" y="31468"/>
            <a:ext cx="7115175"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spTree>
    <p:extLst>
      <p:ext uri="{BB962C8B-B14F-4D97-AF65-F5344CB8AC3E}">
        <p14:creationId xmlns:p14="http://schemas.microsoft.com/office/powerpoint/2010/main" val="2123254720"/>
      </p:ext>
    </p:extLst>
  </p:cSld>
  <p:clrMapOvr>
    <a:masterClrMapping/>
  </p:clrMapOvr>
  <p:transition>
    <p:wipe dir="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SG" dirty="0"/>
              <a:t>If you specified a data type as either </a:t>
            </a:r>
            <a:r>
              <a:rPr lang="en-SG" dirty="0" err="1"/>
              <a:t>Enum</a:t>
            </a:r>
            <a:r>
              <a:rPr lang="en-SG" dirty="0"/>
              <a:t> or Bool in the Data and Type Selection page, select </a:t>
            </a:r>
            <a:r>
              <a:rPr lang="en-SG" dirty="0">
                <a:solidFill>
                  <a:srgbClr val="C00000"/>
                </a:solidFill>
              </a:rPr>
              <a:t>how you want to interpret </a:t>
            </a:r>
            <a:r>
              <a:rPr lang="en-SG" dirty="0"/>
              <a:t>or </a:t>
            </a:r>
            <a:r>
              <a:rPr lang="en-SG" dirty="0">
                <a:solidFill>
                  <a:srgbClr val="C00000"/>
                </a:solidFill>
              </a:rPr>
              <a:t>use the item you select or selected by a formula</a:t>
            </a:r>
            <a:r>
              <a:rPr lang="en-SG" dirty="0"/>
              <a:t>.</a:t>
            </a:r>
          </a:p>
          <a:p>
            <a:endParaRPr lang="en-SG" dirty="0"/>
          </a:p>
        </p:txBody>
      </p:sp>
      <p:sp>
        <p:nvSpPr>
          <p:cNvPr id="3" name="Title 2"/>
          <p:cNvSpPr>
            <a:spLocks noGrp="1"/>
          </p:cNvSpPr>
          <p:nvPr>
            <p:ph type="title"/>
          </p:nvPr>
        </p:nvSpPr>
        <p:spPr/>
        <p:txBody>
          <a:bodyPr/>
          <a:lstStyle/>
          <a:p>
            <a:r>
              <a:rPr lang="en-SG" dirty="0">
                <a:solidFill>
                  <a:schemeClr val="accent2"/>
                </a:solidFill>
              </a:rPr>
              <a:t>Use as </a:t>
            </a:r>
            <a:r>
              <a:rPr lang="en-SG" dirty="0"/>
              <a:t>function</a:t>
            </a:r>
          </a:p>
        </p:txBody>
      </p:sp>
    </p:spTree>
    <p:extLst>
      <p:ext uri="{BB962C8B-B14F-4D97-AF65-F5344CB8AC3E}">
        <p14:creationId xmlns:p14="http://schemas.microsoft.com/office/powerpoint/2010/main" val="1547243378"/>
      </p:ext>
    </p:extLst>
  </p:cSld>
  <p:clrMapOvr>
    <a:masterClrMapping/>
  </p:clrMapOvr>
  <p:transition>
    <p:wipe dir="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cstate="print"/>
          <a:srcRect/>
          <a:stretch>
            <a:fillRect/>
          </a:stretch>
        </p:blipFill>
        <p:spPr bwMode="auto">
          <a:xfrm>
            <a:off x="1232457" y="3914394"/>
            <a:ext cx="2368904" cy="1591055"/>
          </a:xfrm>
          <a:prstGeom prst="rect">
            <a:avLst/>
          </a:prstGeom>
          <a:noFill/>
          <a:ln w="9525">
            <a:noFill/>
            <a:miter lim="800000"/>
            <a:headEnd/>
            <a:tailEnd/>
          </a:ln>
        </p:spPr>
      </p:pic>
      <p:sp>
        <p:nvSpPr>
          <p:cNvPr id="26628" name="Rectangle 9"/>
          <p:cNvSpPr>
            <a:spLocks noGrp="1" noChangeArrowheads="1"/>
          </p:cNvSpPr>
          <p:nvPr>
            <p:ph idx="1"/>
          </p:nvPr>
        </p:nvSpPr>
        <p:spPr/>
        <p:txBody>
          <a:bodyPr>
            <a:normAutofit/>
          </a:bodyPr>
          <a:lstStyle/>
          <a:p>
            <a:r>
              <a:rPr lang="en-US" dirty="0"/>
              <a:t>Position</a:t>
            </a:r>
          </a:p>
          <a:p>
            <a:pPr lvl="1"/>
            <a:r>
              <a:rPr lang="en-US" dirty="0"/>
              <a:t>Uses the </a:t>
            </a:r>
            <a:r>
              <a:rPr lang="en-US" dirty="0">
                <a:solidFill>
                  <a:srgbClr val="C00000"/>
                </a:solidFill>
              </a:rPr>
              <a:t>position (index) </a:t>
            </a:r>
            <a:r>
              <a:rPr lang="en-US" dirty="0"/>
              <a:t>of the selected item in the Translation definition table. It starts at 0. The first item of the translation definition table is at position 0. The second one is at position 1 and etc. When Use As of a custom field is set to Position, the selected item gets translated to a position. Specifying this kind of custom field in a subsequent formula </a:t>
            </a:r>
            <a:r>
              <a:rPr lang="en-US" b="1" dirty="0">
                <a:solidFill>
                  <a:srgbClr val="C00000"/>
                </a:solidFill>
              </a:rPr>
              <a:t>enables</a:t>
            </a:r>
            <a:r>
              <a:rPr lang="en-US" dirty="0"/>
              <a:t> the use of position based calculations.</a:t>
            </a:r>
          </a:p>
        </p:txBody>
      </p:sp>
      <p:sp>
        <p:nvSpPr>
          <p:cNvPr id="105480" name="Rectangle 8"/>
          <p:cNvSpPr>
            <a:spLocks noGrp="1" noChangeArrowheads="1"/>
          </p:cNvSpPr>
          <p:nvPr>
            <p:ph type="title"/>
          </p:nvPr>
        </p:nvSpPr>
        <p:spPr/>
        <p:txBody>
          <a:bodyPr/>
          <a:lstStyle/>
          <a:p>
            <a:pPr eaLnBrk="1" hangingPunct="1">
              <a:defRPr/>
            </a:pPr>
            <a:r>
              <a:rPr lang="fr-FR" dirty="0">
                <a:solidFill>
                  <a:schemeClr val="accent2"/>
                </a:solidFill>
              </a:rPr>
              <a:t>Use as </a:t>
            </a:r>
            <a:r>
              <a:rPr lang="fr-FR" dirty="0" err="1"/>
              <a:t>Function</a:t>
            </a:r>
            <a:endParaRPr lang="en-US" dirty="0"/>
          </a:p>
        </p:txBody>
      </p:sp>
      <p:sp>
        <p:nvSpPr>
          <p:cNvPr id="6" name="Rectangle 5"/>
          <p:cNvSpPr/>
          <p:nvPr/>
        </p:nvSpPr>
        <p:spPr bwMode="auto">
          <a:xfrm>
            <a:off x="2181120" y="4260005"/>
            <a:ext cx="1108880" cy="110888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1600" b="0" i="0" u="none" strike="noStrike" cap="none" normalizeH="0" baseline="0">
              <a:ln>
                <a:noFill/>
              </a:ln>
              <a:solidFill>
                <a:schemeClr val="tx1"/>
              </a:solidFill>
              <a:effectLst/>
              <a:latin typeface="Verdana" pitchFamily="34" charset="0"/>
            </a:endParaRPr>
          </a:p>
        </p:txBody>
      </p:sp>
      <p:pic>
        <p:nvPicPr>
          <p:cNvPr id="7" name="Picture 2"/>
          <p:cNvPicPr>
            <a:picLocks noChangeAspect="1" noChangeArrowheads="1"/>
          </p:cNvPicPr>
          <p:nvPr/>
        </p:nvPicPr>
        <p:blipFill rotWithShape="1">
          <a:blip r:embed="rId4" cstate="print"/>
          <a:srcRect l="38930" t="51879" r="41339" b="38471"/>
          <a:stretch/>
        </p:blipFill>
        <p:spPr bwMode="auto">
          <a:xfrm>
            <a:off x="3923865" y="4081080"/>
            <a:ext cx="4571058" cy="1257681"/>
          </a:xfrm>
          <a:prstGeom prst="rect">
            <a:avLst/>
          </a:prstGeom>
          <a:noFill/>
          <a:ln w="9525">
            <a:noFill/>
            <a:miter lim="800000"/>
            <a:headEnd/>
            <a:tailEnd/>
          </a:ln>
        </p:spPr>
      </p:pic>
    </p:spTree>
    <p:extLst>
      <p:ext uri="{BB962C8B-B14F-4D97-AF65-F5344CB8AC3E}">
        <p14:creationId xmlns:p14="http://schemas.microsoft.com/office/powerpoint/2010/main" val="1214357416"/>
      </p:ext>
    </p:extLst>
  </p:cSld>
  <p:clrMapOvr>
    <a:masterClrMapping/>
  </p:clrMapOvr>
  <p:transition>
    <p:wipe dir="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cstate="print"/>
          <a:srcRect/>
          <a:stretch>
            <a:fillRect/>
          </a:stretch>
        </p:blipFill>
        <p:spPr bwMode="auto">
          <a:xfrm>
            <a:off x="3461307" y="4003121"/>
            <a:ext cx="2216160" cy="1488466"/>
          </a:xfrm>
          <a:prstGeom prst="rect">
            <a:avLst/>
          </a:prstGeom>
          <a:noFill/>
          <a:ln w="9525">
            <a:noFill/>
            <a:miter lim="800000"/>
            <a:headEnd/>
            <a:tailEnd/>
          </a:ln>
        </p:spPr>
      </p:pic>
      <p:sp>
        <p:nvSpPr>
          <p:cNvPr id="26628" name="Rectangle 9"/>
          <p:cNvSpPr>
            <a:spLocks noGrp="1" noChangeArrowheads="1"/>
          </p:cNvSpPr>
          <p:nvPr>
            <p:ph idx="1"/>
          </p:nvPr>
        </p:nvSpPr>
        <p:spPr/>
        <p:txBody>
          <a:bodyPr>
            <a:normAutofit/>
          </a:bodyPr>
          <a:lstStyle/>
          <a:p>
            <a:pPr eaLnBrk="1" hangingPunct="1"/>
            <a:r>
              <a:rPr lang="en-US" dirty="0"/>
              <a:t>Text </a:t>
            </a:r>
          </a:p>
          <a:p>
            <a:pPr lvl="1" eaLnBrk="1" hangingPunct="1"/>
            <a:r>
              <a:rPr lang="en-US" dirty="0"/>
              <a:t>Uses the selected item as a </a:t>
            </a:r>
            <a:r>
              <a:rPr lang="en-US" dirty="0">
                <a:solidFill>
                  <a:srgbClr val="C00000"/>
                </a:solidFill>
              </a:rPr>
              <a:t>text string</a:t>
            </a:r>
            <a:r>
              <a:rPr lang="en-US" dirty="0"/>
              <a:t>. This choice is useful when you need a comparison based on the selected item. The item selected is treated as text. For example, a Peak type custom field’s formula, </a:t>
            </a:r>
            <a:r>
              <a:rPr lang="en-US" dirty="0">
                <a:solidFill>
                  <a:srgbClr val="C00000"/>
                </a:solidFill>
              </a:rPr>
              <a:t>SUM(Area*EQ(</a:t>
            </a:r>
            <a:r>
              <a:rPr lang="en-US" dirty="0" err="1">
                <a:solidFill>
                  <a:schemeClr val="accent2"/>
                </a:solidFill>
              </a:rPr>
              <a:t>ThisCustom</a:t>
            </a:r>
            <a:r>
              <a:rPr lang="en-US" dirty="0">
                <a:solidFill>
                  <a:srgbClr val="C00000"/>
                </a:solidFill>
              </a:rPr>
              <a:t>, “too small”))</a:t>
            </a:r>
            <a:r>
              <a:rPr lang="en-US" dirty="0"/>
              <a:t>, would give you the summation of Area values of those peaks each of which </a:t>
            </a:r>
            <a:r>
              <a:rPr lang="en-US" dirty="0" err="1">
                <a:solidFill>
                  <a:schemeClr val="accent2"/>
                </a:solidFill>
              </a:rPr>
              <a:t>ThisCustom</a:t>
            </a:r>
            <a:r>
              <a:rPr lang="en-US" dirty="0"/>
              <a:t> value is translated to “too small”. </a:t>
            </a:r>
            <a:r>
              <a:rPr lang="en-US" dirty="0" err="1">
                <a:solidFill>
                  <a:schemeClr val="accent2"/>
                </a:solidFill>
              </a:rPr>
              <a:t>ThisCustom</a:t>
            </a:r>
            <a:r>
              <a:rPr lang="en-US" dirty="0"/>
              <a:t> may be an ENUM type custom field, one of which translation is “too small”.</a:t>
            </a:r>
          </a:p>
          <a:p>
            <a:pPr eaLnBrk="1" hangingPunct="1">
              <a:buFont typeface="Wingdings 2" pitchFamily="18" charset="2"/>
              <a:buNone/>
            </a:pPr>
            <a:endParaRPr lang="en-US" dirty="0"/>
          </a:p>
          <a:p>
            <a:pPr eaLnBrk="1" hangingPunct="1"/>
            <a:endParaRPr lang="en-US" dirty="0"/>
          </a:p>
        </p:txBody>
      </p:sp>
      <p:sp>
        <p:nvSpPr>
          <p:cNvPr id="105480" name="Rectangle 8"/>
          <p:cNvSpPr>
            <a:spLocks noGrp="1" noChangeArrowheads="1"/>
          </p:cNvSpPr>
          <p:nvPr>
            <p:ph type="title"/>
          </p:nvPr>
        </p:nvSpPr>
        <p:spPr/>
        <p:txBody>
          <a:bodyPr/>
          <a:lstStyle/>
          <a:p>
            <a:pPr eaLnBrk="1" hangingPunct="1">
              <a:defRPr/>
            </a:pPr>
            <a:r>
              <a:rPr lang="fr-FR" dirty="0">
                <a:solidFill>
                  <a:schemeClr val="accent2"/>
                </a:solidFill>
              </a:rPr>
              <a:t>Use as </a:t>
            </a:r>
            <a:r>
              <a:rPr lang="fr-FR" dirty="0" err="1"/>
              <a:t>Function</a:t>
            </a:r>
            <a:endParaRPr lang="en-US" dirty="0"/>
          </a:p>
        </p:txBody>
      </p:sp>
      <p:sp>
        <p:nvSpPr>
          <p:cNvPr id="6" name="Rectangle 5"/>
          <p:cNvSpPr/>
          <p:nvPr/>
        </p:nvSpPr>
        <p:spPr bwMode="auto">
          <a:xfrm>
            <a:off x="4333770" y="4353944"/>
            <a:ext cx="1037381" cy="103738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742703629"/>
      </p:ext>
    </p:extLst>
  </p:cSld>
  <p:clrMapOvr>
    <a:masterClrMapping/>
  </p:clrMapOvr>
  <p:transition>
    <p:wipe dir="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9"/>
          <p:cNvSpPr>
            <a:spLocks noGrp="1" noChangeArrowheads="1"/>
          </p:cNvSpPr>
          <p:nvPr>
            <p:ph idx="1"/>
          </p:nvPr>
        </p:nvSpPr>
        <p:spPr>
          <a:xfrm>
            <a:off x="457200" y="1312000"/>
            <a:ext cx="5984543" cy="5029200"/>
          </a:xfrm>
        </p:spPr>
        <p:txBody>
          <a:bodyPr>
            <a:normAutofit/>
          </a:bodyPr>
          <a:lstStyle/>
          <a:p>
            <a:pPr eaLnBrk="1" hangingPunct="1"/>
            <a:r>
              <a:rPr lang="en-US" dirty="0"/>
              <a:t>Value</a:t>
            </a:r>
          </a:p>
          <a:p>
            <a:pPr lvl="1" eaLnBrk="1" hangingPunct="1"/>
            <a:r>
              <a:rPr lang="en-US" dirty="0"/>
              <a:t>Interprets the selected item as a </a:t>
            </a:r>
            <a:r>
              <a:rPr lang="en-US" dirty="0">
                <a:solidFill>
                  <a:srgbClr val="C00000"/>
                </a:solidFill>
              </a:rPr>
              <a:t>value</a:t>
            </a:r>
            <a:r>
              <a:rPr lang="en-US" dirty="0"/>
              <a:t>. Items entered to the translation definition table </a:t>
            </a:r>
            <a:r>
              <a:rPr lang="en-US" dirty="0">
                <a:solidFill>
                  <a:srgbClr val="C00000"/>
                </a:solidFill>
              </a:rPr>
              <a:t>must be a number</a:t>
            </a:r>
            <a:r>
              <a:rPr lang="en-US" dirty="0"/>
              <a:t>. The field values generated by a custom field of this type </a:t>
            </a:r>
            <a:r>
              <a:rPr lang="en-US" b="1" dirty="0">
                <a:solidFill>
                  <a:srgbClr val="C00000"/>
                </a:solidFill>
              </a:rPr>
              <a:t>can be used </a:t>
            </a:r>
            <a:r>
              <a:rPr lang="en-US" dirty="0"/>
              <a:t>in a subsequent formula.</a:t>
            </a:r>
            <a:br>
              <a:rPr lang="en-US" dirty="0"/>
            </a:br>
            <a:endParaRPr lang="en-US" dirty="0"/>
          </a:p>
          <a:p>
            <a:pPr lvl="1" eaLnBrk="1" hangingPunct="1"/>
            <a:endParaRPr lang="en-US" dirty="0"/>
          </a:p>
          <a:p>
            <a:r>
              <a:rPr lang="en-US" dirty="0"/>
              <a:t>Field</a:t>
            </a:r>
          </a:p>
          <a:p>
            <a:pPr lvl="1"/>
            <a:r>
              <a:rPr lang="en-US" dirty="0"/>
              <a:t>Will use the value of a field if the field name is entered in the translation table followed by a space and (fc)</a:t>
            </a:r>
          </a:p>
          <a:p>
            <a:pPr eaLnBrk="1" hangingPunct="1">
              <a:buFont typeface="Wingdings 2" pitchFamily="18" charset="2"/>
              <a:buNone/>
            </a:pPr>
            <a:endParaRPr lang="en-US" dirty="0"/>
          </a:p>
          <a:p>
            <a:pPr eaLnBrk="1" hangingPunct="1"/>
            <a:endParaRPr lang="en-US" dirty="0"/>
          </a:p>
        </p:txBody>
      </p:sp>
      <p:sp>
        <p:nvSpPr>
          <p:cNvPr id="105480" name="Rectangle 8"/>
          <p:cNvSpPr>
            <a:spLocks noGrp="1" noChangeArrowheads="1"/>
          </p:cNvSpPr>
          <p:nvPr>
            <p:ph type="title"/>
          </p:nvPr>
        </p:nvSpPr>
        <p:spPr/>
        <p:txBody>
          <a:bodyPr/>
          <a:lstStyle/>
          <a:p>
            <a:pPr>
              <a:defRPr/>
            </a:pPr>
            <a:r>
              <a:rPr lang="fr-FR" dirty="0">
                <a:solidFill>
                  <a:schemeClr val="accent2"/>
                </a:solidFill>
              </a:rPr>
              <a:t>Use as </a:t>
            </a:r>
            <a:r>
              <a:rPr lang="fr-FR" dirty="0" err="1"/>
              <a:t>Function</a:t>
            </a:r>
            <a:endParaRPr lang="en-US" dirty="0"/>
          </a:p>
        </p:txBody>
      </p:sp>
      <p:pic>
        <p:nvPicPr>
          <p:cNvPr id="1026" name="Picture 2"/>
          <p:cNvPicPr>
            <a:picLocks noChangeAspect="1" noChangeArrowheads="1"/>
          </p:cNvPicPr>
          <p:nvPr/>
        </p:nvPicPr>
        <p:blipFill>
          <a:blip r:embed="rId3" cstate="print"/>
          <a:srcRect/>
          <a:stretch>
            <a:fillRect/>
          </a:stretch>
        </p:blipFill>
        <p:spPr bwMode="auto">
          <a:xfrm>
            <a:off x="6578221" y="1575712"/>
            <a:ext cx="2067799" cy="1358408"/>
          </a:xfrm>
          <a:prstGeom prst="rect">
            <a:avLst/>
          </a:prstGeom>
          <a:noFill/>
          <a:ln w="9525">
            <a:noFill/>
            <a:miter lim="800000"/>
            <a:headEnd/>
            <a:tailEnd/>
          </a:ln>
        </p:spPr>
      </p:pic>
      <p:sp>
        <p:nvSpPr>
          <p:cNvPr id="8" name="Rectangle 7"/>
          <p:cNvSpPr/>
          <p:nvPr/>
        </p:nvSpPr>
        <p:spPr bwMode="auto">
          <a:xfrm>
            <a:off x="7429051" y="1931584"/>
            <a:ext cx="961896" cy="96189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1600" b="0" i="0" u="none" strike="noStrike" cap="none" normalizeH="0" baseline="0">
              <a:ln>
                <a:noFill/>
              </a:ln>
              <a:solidFill>
                <a:schemeClr val="tx1"/>
              </a:solidFill>
              <a:effectLst/>
              <a:latin typeface="Verdana" pitchFamily="34" charset="0"/>
            </a:endParaRPr>
          </a:p>
        </p:txBody>
      </p:sp>
      <p:pic>
        <p:nvPicPr>
          <p:cNvPr id="10" name="Picture 3"/>
          <p:cNvPicPr>
            <a:picLocks noChangeAspect="1" noChangeArrowheads="1"/>
          </p:cNvPicPr>
          <p:nvPr/>
        </p:nvPicPr>
        <p:blipFill>
          <a:blip r:embed="rId4" cstate="print"/>
          <a:srcRect l="2821" b="25030"/>
          <a:stretch>
            <a:fillRect/>
          </a:stretch>
        </p:blipFill>
        <p:spPr bwMode="auto">
          <a:xfrm>
            <a:off x="6658560" y="3719344"/>
            <a:ext cx="1878420" cy="1632962"/>
          </a:xfrm>
          <a:prstGeom prst="rect">
            <a:avLst/>
          </a:prstGeom>
          <a:noFill/>
          <a:ln w="9525">
            <a:noFill/>
            <a:miter lim="800000"/>
            <a:headEnd/>
            <a:tailEnd/>
          </a:ln>
        </p:spPr>
      </p:pic>
      <p:sp>
        <p:nvSpPr>
          <p:cNvPr id="11" name="Rectangle 10"/>
          <p:cNvSpPr/>
          <p:nvPr/>
        </p:nvSpPr>
        <p:spPr bwMode="auto">
          <a:xfrm>
            <a:off x="7384429" y="4729973"/>
            <a:ext cx="1091590" cy="29181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045678716"/>
      </p:ext>
    </p:extLst>
  </p:cSld>
  <p:clrMapOvr>
    <a:masterClrMapping/>
  </p:clrMapOvr>
  <p:transition>
    <p:wipe dir="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SG" dirty="0"/>
              <a:t>Use as</a:t>
            </a:r>
          </a:p>
          <a:p>
            <a:pPr lvl="1"/>
            <a:r>
              <a:rPr lang="en-SG" dirty="0"/>
              <a:t>Position: Custom field result </a:t>
            </a:r>
            <a:r>
              <a:rPr lang="en-SG" dirty="0">
                <a:solidFill>
                  <a:srgbClr val="C00000"/>
                </a:solidFill>
              </a:rPr>
              <a:t>shows the things you put in translation</a:t>
            </a:r>
            <a:r>
              <a:rPr lang="en-SG" dirty="0"/>
              <a:t>. If this custom field is used later in another custom field calculation, it will use the </a:t>
            </a:r>
            <a:r>
              <a:rPr lang="en-SG" b="1" dirty="0">
                <a:solidFill>
                  <a:srgbClr val="C00000"/>
                </a:solidFill>
              </a:rPr>
              <a:t>value number in the calculation</a:t>
            </a:r>
            <a:r>
              <a:rPr lang="en-SG" dirty="0"/>
              <a:t>.</a:t>
            </a:r>
          </a:p>
          <a:p>
            <a:pPr lvl="1"/>
            <a:r>
              <a:rPr lang="en-SG" dirty="0"/>
              <a:t>Value: Custom field result shows the things you put in translation. If this custom field is used later in another custom field calculation, it will use the </a:t>
            </a:r>
            <a:r>
              <a:rPr lang="en-SG" b="1" dirty="0">
                <a:solidFill>
                  <a:srgbClr val="C00000"/>
                </a:solidFill>
              </a:rPr>
              <a:t>translation value in the calculation</a:t>
            </a:r>
            <a:r>
              <a:rPr lang="en-SG" dirty="0"/>
              <a:t>.</a:t>
            </a:r>
          </a:p>
          <a:p>
            <a:endParaRPr lang="en-SG" dirty="0"/>
          </a:p>
        </p:txBody>
      </p:sp>
      <p:sp>
        <p:nvSpPr>
          <p:cNvPr id="3" name="Title 2"/>
          <p:cNvSpPr>
            <a:spLocks noGrp="1"/>
          </p:cNvSpPr>
          <p:nvPr>
            <p:ph type="title"/>
          </p:nvPr>
        </p:nvSpPr>
        <p:spPr/>
        <p:txBody>
          <a:bodyPr/>
          <a:lstStyle/>
          <a:p>
            <a:r>
              <a:rPr lang="en-SG" dirty="0">
                <a:solidFill>
                  <a:schemeClr val="accent2"/>
                </a:solidFill>
              </a:rPr>
              <a:t>Use as </a:t>
            </a:r>
            <a:r>
              <a:rPr lang="en-SG" dirty="0"/>
              <a:t>Function Summary</a:t>
            </a:r>
          </a:p>
        </p:txBody>
      </p:sp>
      <p:pic>
        <p:nvPicPr>
          <p:cNvPr id="102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0878"/>
          <a:stretch/>
        </p:blipFill>
        <p:spPr bwMode="auto">
          <a:xfrm>
            <a:off x="1261503" y="3824508"/>
            <a:ext cx="6620993" cy="2516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6994861"/>
      </p:ext>
    </p:extLst>
  </p:cSld>
  <p:clrMapOvr>
    <a:masterClrMapping/>
  </p:clrMapOvr>
  <p:transition>
    <p:wipe dir="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5857875" y="1312000"/>
            <a:ext cx="2667000" cy="5029200"/>
          </a:xfrm>
        </p:spPr>
        <p:txBody>
          <a:bodyPr/>
          <a:lstStyle/>
          <a:p>
            <a:r>
              <a:rPr lang="en-SG" dirty="0"/>
              <a:t>Next we create a Custom Field to summarize the Area above 0.5%</a:t>
            </a:r>
            <a:br>
              <a:rPr lang="en-SG" dirty="0"/>
            </a:br>
            <a:endParaRPr lang="en-SG" dirty="0"/>
          </a:p>
          <a:p>
            <a:r>
              <a:rPr lang="en-SG" dirty="0"/>
              <a:t>Third Custom Field        </a:t>
            </a:r>
            <a:r>
              <a:rPr lang="en-SG" dirty="0">
                <a:solidFill>
                  <a:srgbClr val="C00000"/>
                </a:solidFill>
              </a:rPr>
              <a:t>Sum_Area_GT05=SUM(Area_GT_05) </a:t>
            </a:r>
          </a:p>
          <a:p>
            <a:endParaRPr lang="en-SG" dirty="0">
              <a:solidFill>
                <a:srgbClr val="C00000"/>
              </a:solidFill>
            </a:endParaRPr>
          </a:p>
          <a:p>
            <a:endParaRPr lang="en-SG" dirty="0"/>
          </a:p>
        </p:txBody>
      </p:sp>
      <p:sp>
        <p:nvSpPr>
          <p:cNvPr id="2" name="Title 1"/>
          <p:cNvSpPr>
            <a:spLocks noGrp="1"/>
          </p:cNvSpPr>
          <p:nvPr>
            <p:ph type="title"/>
          </p:nvPr>
        </p:nvSpPr>
        <p:spPr>
          <a:xfrm>
            <a:off x="457200" y="31468"/>
            <a:ext cx="6648450"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pic>
        <p:nvPicPr>
          <p:cNvPr id="3" name="Snagit_PPTD424" descr="PPTD424.png"/>
          <p:cNvPicPr>
            <a:picLocks noChangeAspect="1"/>
          </p:cNvPicPr>
          <p:nvPr/>
        </p:nvPicPr>
        <p:blipFill>
          <a:blip r:embed="rId3" cstate="print"/>
          <a:srcRect/>
          <a:stretch>
            <a:fillRect/>
          </a:stretch>
        </p:blipFill>
        <p:spPr bwMode="auto">
          <a:xfrm>
            <a:off x="538822" y="1338930"/>
            <a:ext cx="5052353" cy="5132309"/>
          </a:xfrm>
          <a:prstGeom prst="rect">
            <a:avLst/>
          </a:prstGeom>
          <a:noFill/>
          <a:ln w="38100">
            <a:noFill/>
            <a:miter lim="800000"/>
            <a:headEnd/>
            <a:tailEnd/>
          </a:ln>
        </p:spPr>
      </p:pic>
      <p:sp>
        <p:nvSpPr>
          <p:cNvPr id="4" name="Rectangle 3"/>
          <p:cNvSpPr>
            <a:spLocks noChangeArrowheads="1"/>
          </p:cNvSpPr>
          <p:nvPr/>
        </p:nvSpPr>
        <p:spPr bwMode="auto">
          <a:xfrm>
            <a:off x="1872175" y="5116580"/>
            <a:ext cx="2549770" cy="338554"/>
          </a:xfrm>
          <a:prstGeom prst="rect">
            <a:avLst/>
          </a:prstGeom>
          <a:noFill/>
          <a:ln w="9525">
            <a:noFill/>
            <a:miter lim="800000"/>
            <a:headEnd/>
            <a:tailEnd/>
          </a:ln>
        </p:spPr>
        <p:txBody>
          <a:bodyPr wrap="square">
            <a:spAutoFit/>
          </a:bodyPr>
          <a:lstStyle/>
          <a:p>
            <a:r>
              <a:rPr lang="en-US" dirty="0">
                <a:latin typeface="Arial" panose="020B0604020202020204" pitchFamily="34" charset="0"/>
                <a:cs typeface="Arial" panose="020B0604020202020204" pitchFamily="34" charset="0"/>
              </a:rPr>
              <a:t>SUM(Area_GT_05) </a:t>
            </a:r>
          </a:p>
        </p:txBody>
      </p:sp>
      <p:sp>
        <p:nvSpPr>
          <p:cNvPr id="5" name="Rectangle 4"/>
          <p:cNvSpPr/>
          <p:nvPr/>
        </p:nvSpPr>
        <p:spPr bwMode="auto">
          <a:xfrm>
            <a:off x="1774352" y="1744103"/>
            <a:ext cx="1654648" cy="26567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6" name="Rectangle 5"/>
          <p:cNvSpPr/>
          <p:nvPr/>
        </p:nvSpPr>
        <p:spPr bwMode="auto">
          <a:xfrm>
            <a:off x="705298" y="2000988"/>
            <a:ext cx="691978" cy="25949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942623343"/>
      </p:ext>
    </p:extLst>
  </p:cSld>
  <p:clrMapOvr>
    <a:masterClrMapping/>
  </p:clrMapOvr>
  <p:transition>
    <p:wipe dir="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1468"/>
            <a:ext cx="6829425"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pic>
        <p:nvPicPr>
          <p:cNvPr id="3074" name="Picture 2"/>
          <p:cNvPicPr>
            <a:picLocks noChangeAspect="1" noChangeArrowheads="1"/>
          </p:cNvPicPr>
          <p:nvPr/>
        </p:nvPicPr>
        <p:blipFill>
          <a:blip r:embed="rId3" cstate="print"/>
          <a:srcRect/>
          <a:stretch>
            <a:fillRect/>
          </a:stretch>
        </p:blipFill>
        <p:spPr bwMode="auto">
          <a:xfrm>
            <a:off x="576780" y="1260832"/>
            <a:ext cx="5386876" cy="5187593"/>
          </a:xfrm>
          <a:prstGeom prst="rect">
            <a:avLst/>
          </a:prstGeom>
          <a:noFill/>
          <a:ln w="9525">
            <a:noFill/>
            <a:miter lim="800000"/>
            <a:headEnd/>
            <a:tailEnd/>
          </a:ln>
        </p:spPr>
      </p:pic>
      <p:pic>
        <p:nvPicPr>
          <p:cNvPr id="3075" name="Picture 3"/>
          <p:cNvPicPr>
            <a:picLocks noChangeAspect="1" noChangeArrowheads="1"/>
          </p:cNvPicPr>
          <p:nvPr/>
        </p:nvPicPr>
        <p:blipFill>
          <a:blip r:embed="rId4" cstate="print"/>
          <a:srcRect/>
          <a:stretch>
            <a:fillRect/>
          </a:stretch>
        </p:blipFill>
        <p:spPr bwMode="auto">
          <a:xfrm>
            <a:off x="3575182" y="3636563"/>
            <a:ext cx="4776948" cy="2639198"/>
          </a:xfrm>
          <a:prstGeom prst="rect">
            <a:avLst/>
          </a:prstGeom>
          <a:noFill/>
          <a:ln w="9525">
            <a:solidFill>
              <a:srgbClr val="FF0000"/>
            </a:solidFill>
            <a:miter lim="800000"/>
            <a:headEnd/>
            <a:tailEnd/>
          </a:ln>
        </p:spPr>
      </p:pic>
      <p:sp>
        <p:nvSpPr>
          <p:cNvPr id="5" name="Rectangle 4"/>
          <p:cNvSpPr/>
          <p:nvPr/>
        </p:nvSpPr>
        <p:spPr bwMode="auto">
          <a:xfrm>
            <a:off x="5978829" y="4780593"/>
            <a:ext cx="1223319" cy="59312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6" name="TextBox 5"/>
          <p:cNvSpPr txBox="1"/>
          <p:nvPr/>
        </p:nvSpPr>
        <p:spPr>
          <a:xfrm>
            <a:off x="4979773" y="2570205"/>
            <a:ext cx="2941831" cy="923330"/>
          </a:xfrm>
          <a:prstGeom prst="rect">
            <a:avLst/>
          </a:prstGeom>
          <a:solidFill>
            <a:schemeClr val="bg1"/>
          </a:solidFill>
        </p:spPr>
        <p:txBody>
          <a:bodyPr wrap="none" rtlCol="0">
            <a:spAutoFit/>
          </a:bodyPr>
          <a:lstStyle/>
          <a:p>
            <a:r>
              <a:rPr lang="en-US" sz="1800" dirty="0">
                <a:latin typeface="Arial" panose="020B0604020202020204" pitchFamily="34" charset="0"/>
                <a:cs typeface="Arial" panose="020B0604020202020204" pitchFamily="34" charset="0"/>
              </a:rPr>
              <a:t>The result of the CF is</a:t>
            </a:r>
          </a:p>
          <a:p>
            <a:r>
              <a:rPr lang="en-US" sz="1800" dirty="0">
                <a:latin typeface="Arial" panose="020B0604020202020204" pitchFamily="34" charset="0"/>
                <a:cs typeface="Arial" panose="020B0604020202020204" pitchFamily="34" charset="0"/>
              </a:rPr>
              <a:t>found in the </a:t>
            </a:r>
            <a:r>
              <a:rPr lang="en-US" sz="1800" dirty="0">
                <a:solidFill>
                  <a:srgbClr val="C00000"/>
                </a:solidFill>
                <a:latin typeface="Arial" panose="020B0604020202020204" pitchFamily="34" charset="0"/>
                <a:cs typeface="Arial" panose="020B0604020202020204" pitchFamily="34" charset="0"/>
              </a:rPr>
              <a:t>Result window</a:t>
            </a:r>
          </a:p>
          <a:p>
            <a:r>
              <a:rPr lang="en-US" sz="1800" dirty="0">
                <a:latin typeface="Arial" panose="020B0604020202020204" pitchFamily="34" charset="0"/>
                <a:cs typeface="Arial" panose="020B0604020202020204" pitchFamily="34" charset="0"/>
              </a:rPr>
              <a:t>in review</a:t>
            </a:r>
          </a:p>
        </p:txBody>
      </p:sp>
      <p:cxnSp>
        <p:nvCxnSpPr>
          <p:cNvPr id="8" name="Straight Arrow Connector 7"/>
          <p:cNvCxnSpPr>
            <a:stCxn id="6" idx="2"/>
          </p:cNvCxnSpPr>
          <p:nvPr/>
        </p:nvCxnSpPr>
        <p:spPr bwMode="auto">
          <a:xfrm>
            <a:off x="6450689" y="3493535"/>
            <a:ext cx="419668" cy="1239103"/>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1383269006"/>
      </p:ext>
    </p:extLst>
  </p:cSld>
  <p:clrMapOvr>
    <a:masterClrMapping/>
  </p:clrMapOvr>
  <p:transition>
    <p:wipe dir="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SG" dirty="0"/>
              <a:t> Finally we need to create the custom filed that calculates the Area of the peaks over 0.5% of the </a:t>
            </a:r>
            <a:r>
              <a:rPr lang="en-SG" dirty="0" err="1"/>
              <a:t>Caf</a:t>
            </a:r>
            <a:r>
              <a:rPr lang="en-SG" dirty="0"/>
              <a:t> peak as a percentage of the total area of the peaks &gt; 0.5%.</a:t>
            </a:r>
          </a:p>
          <a:p>
            <a:endParaRPr lang="en-SG" dirty="0"/>
          </a:p>
          <a:p>
            <a:r>
              <a:rPr lang="en-SG" dirty="0"/>
              <a:t>Fourth Custom Field:   </a:t>
            </a:r>
            <a:br>
              <a:rPr lang="en-SG" dirty="0"/>
            </a:br>
            <a:r>
              <a:rPr lang="en-SG" dirty="0">
                <a:solidFill>
                  <a:srgbClr val="C00000"/>
                </a:solidFill>
              </a:rPr>
              <a:t>Custom Field Pct_Area_Gt05=Area_GT_05/Sum_Area_Gt05*100</a:t>
            </a:r>
          </a:p>
          <a:p>
            <a:endParaRPr lang="en-SG" dirty="0"/>
          </a:p>
        </p:txBody>
      </p:sp>
      <p:sp>
        <p:nvSpPr>
          <p:cNvPr id="2" name="Title 1"/>
          <p:cNvSpPr>
            <a:spLocks noGrp="1"/>
          </p:cNvSpPr>
          <p:nvPr>
            <p:ph type="title"/>
          </p:nvPr>
        </p:nvSpPr>
        <p:spPr>
          <a:xfrm>
            <a:off x="457200" y="31468"/>
            <a:ext cx="6667500"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sp>
        <p:nvSpPr>
          <p:cNvPr id="4" name="TextBox 1"/>
          <p:cNvSpPr txBox="1">
            <a:spLocks noChangeArrowheads="1"/>
          </p:cNvSpPr>
          <p:nvPr/>
        </p:nvSpPr>
        <p:spPr bwMode="auto">
          <a:xfrm>
            <a:off x="271849" y="1161535"/>
            <a:ext cx="264816" cy="369332"/>
          </a:xfrm>
          <a:prstGeom prst="rect">
            <a:avLst/>
          </a:prstGeom>
          <a:solidFill>
            <a:schemeClr val="bg1"/>
          </a:solidFill>
          <a:ln w="38100">
            <a:noFill/>
            <a:miter lim="800000"/>
            <a:headEnd/>
            <a:tailEnd/>
          </a:ln>
        </p:spPr>
        <p:txBody>
          <a:bodyPr wrap="none">
            <a:spAutoFit/>
          </a:bodyPr>
          <a:lstStyle/>
          <a:p>
            <a:pPr algn="l">
              <a:buFont typeface="Arial" pitchFamily="34" charset="0"/>
              <a:buChar char="•"/>
            </a:pPr>
            <a:endParaRPr lang="en-US" sz="1800" dirty="0">
              <a:solidFill>
                <a:srgbClr val="3374D4"/>
              </a:solidFill>
            </a:endParaRPr>
          </a:p>
        </p:txBody>
      </p:sp>
    </p:spTree>
    <p:extLst>
      <p:ext uri="{BB962C8B-B14F-4D97-AF65-F5344CB8AC3E}">
        <p14:creationId xmlns:p14="http://schemas.microsoft.com/office/powerpoint/2010/main" val="980485534"/>
      </p:ext>
    </p:extLst>
  </p:cSld>
  <p:clrMapOvr>
    <a:masterClrMapping/>
  </p:clrMapOvr>
  <p:transition>
    <p:wipe dir="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ChangeArrowheads="1"/>
          </p:cNvSpPr>
          <p:nvPr/>
        </p:nvSpPr>
        <p:spPr bwMode="auto">
          <a:xfrm>
            <a:off x="2894013" y="4597400"/>
            <a:ext cx="3898900" cy="338138"/>
          </a:xfrm>
          <a:prstGeom prst="rect">
            <a:avLst/>
          </a:prstGeom>
          <a:noFill/>
          <a:ln w="9525">
            <a:noFill/>
            <a:miter lim="800000"/>
            <a:headEnd/>
            <a:tailEnd/>
          </a:ln>
        </p:spPr>
        <p:txBody>
          <a:bodyPr wrap="none">
            <a:spAutoFit/>
          </a:bodyPr>
          <a:lstStyle/>
          <a:p>
            <a:r>
              <a:rPr lang="en-US"/>
              <a:t>Area_GT_05/Sum_Area_GT05*100 </a:t>
            </a:r>
          </a:p>
        </p:txBody>
      </p:sp>
      <p:pic>
        <p:nvPicPr>
          <p:cNvPr id="52228" name="Snagit_PPTB02C" descr="PPTB02C.png"/>
          <p:cNvPicPr>
            <a:picLocks noChangeAspect="1"/>
          </p:cNvPicPr>
          <p:nvPr/>
        </p:nvPicPr>
        <p:blipFill>
          <a:blip r:embed="rId3" cstate="print"/>
          <a:srcRect/>
          <a:stretch>
            <a:fillRect/>
          </a:stretch>
        </p:blipFill>
        <p:spPr bwMode="auto">
          <a:xfrm>
            <a:off x="2034560" y="1316644"/>
            <a:ext cx="5213964" cy="5274656"/>
          </a:xfrm>
          <a:prstGeom prst="rect">
            <a:avLst/>
          </a:prstGeom>
          <a:noFill/>
          <a:ln w="38100">
            <a:noFill/>
            <a:miter lim="800000"/>
            <a:headEnd/>
            <a:tailEnd/>
          </a:ln>
        </p:spPr>
      </p:pic>
      <p:sp>
        <p:nvSpPr>
          <p:cNvPr id="52229" name="Rectangle 4"/>
          <p:cNvSpPr>
            <a:spLocks noChangeArrowheads="1"/>
          </p:cNvSpPr>
          <p:nvPr/>
        </p:nvSpPr>
        <p:spPr bwMode="auto">
          <a:xfrm>
            <a:off x="3458946" y="5236538"/>
            <a:ext cx="3525205" cy="338554"/>
          </a:xfrm>
          <a:prstGeom prst="rect">
            <a:avLst/>
          </a:prstGeom>
          <a:solidFill>
            <a:schemeClr val="bg1"/>
          </a:solidFill>
          <a:ln w="9525">
            <a:noFill/>
            <a:miter lim="800000"/>
            <a:headEnd/>
            <a:tailEnd/>
          </a:ln>
        </p:spPr>
        <p:txBody>
          <a:bodyPr wrap="square">
            <a:spAutoFit/>
          </a:bodyPr>
          <a:lstStyle/>
          <a:p>
            <a:r>
              <a:rPr lang="en-US" dirty="0">
                <a:latin typeface="Arial" panose="020B0604020202020204" pitchFamily="34" charset="0"/>
                <a:cs typeface="Arial" panose="020B0604020202020204" pitchFamily="34" charset="0"/>
              </a:rPr>
              <a:t>Area_GT_05/Sum_Area_Gt05*100</a:t>
            </a:r>
          </a:p>
        </p:txBody>
      </p:sp>
      <p:sp>
        <p:nvSpPr>
          <p:cNvPr id="6" name="Title 5"/>
          <p:cNvSpPr>
            <a:spLocks noGrp="1"/>
          </p:cNvSpPr>
          <p:nvPr>
            <p:ph type="title"/>
          </p:nvPr>
        </p:nvSpPr>
        <p:spPr>
          <a:xfrm>
            <a:off x="457199" y="31468"/>
            <a:ext cx="6791325"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sp>
        <p:nvSpPr>
          <p:cNvPr id="7" name="Rectangle 6"/>
          <p:cNvSpPr/>
          <p:nvPr/>
        </p:nvSpPr>
        <p:spPr bwMode="auto">
          <a:xfrm>
            <a:off x="3371850" y="1733035"/>
            <a:ext cx="1442621" cy="29963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2226786994"/>
      </p:ext>
    </p:extLst>
  </p:cSld>
  <p:clrMapOvr>
    <a:masterClrMapping/>
  </p:clrMapOvr>
  <p:transition>
    <p:wipe dir="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199" y="31468"/>
            <a:ext cx="7077075" cy="1005840"/>
          </a:xfrm>
        </p:spPr>
        <p:txBody>
          <a:bodyPr/>
          <a:lstStyle/>
          <a:p>
            <a:r>
              <a:rPr lang="en-US" dirty="0"/>
              <a:t>Example 3 Boolean CF </a:t>
            </a:r>
            <a:r>
              <a:rPr lang="en-US" dirty="0" err="1">
                <a:solidFill>
                  <a:schemeClr val="accent2"/>
                </a:solidFill>
              </a:rPr>
              <a:t>Area_Limit</a:t>
            </a:r>
            <a:r>
              <a:rPr lang="en-US" dirty="0">
                <a:solidFill>
                  <a:schemeClr val="accent2"/>
                </a:solidFill>
              </a:rPr>
              <a:t>/Area_GT05</a:t>
            </a:r>
          </a:p>
        </p:txBody>
      </p:sp>
      <p:pic>
        <p:nvPicPr>
          <p:cNvPr id="2050" name="Picture 2"/>
          <p:cNvPicPr>
            <a:picLocks noChangeAspect="1" noChangeArrowheads="1"/>
          </p:cNvPicPr>
          <p:nvPr/>
        </p:nvPicPr>
        <p:blipFill rotWithShape="1">
          <a:blip r:embed="rId3" cstate="print"/>
          <a:srcRect t="7699"/>
          <a:stretch/>
        </p:blipFill>
        <p:spPr bwMode="auto">
          <a:xfrm>
            <a:off x="540952" y="1523999"/>
            <a:ext cx="5169977" cy="4918517"/>
          </a:xfrm>
          <a:prstGeom prst="rect">
            <a:avLst/>
          </a:prstGeom>
          <a:noFill/>
          <a:ln w="9525">
            <a:noFill/>
            <a:miter lim="800000"/>
            <a:headEnd/>
            <a:tailEnd/>
          </a:ln>
        </p:spPr>
      </p:pic>
      <p:pic>
        <p:nvPicPr>
          <p:cNvPr id="2051" name="Picture 3"/>
          <p:cNvPicPr>
            <a:picLocks noChangeAspect="1" noChangeArrowheads="1"/>
          </p:cNvPicPr>
          <p:nvPr/>
        </p:nvPicPr>
        <p:blipFill rotWithShape="1">
          <a:blip r:embed="rId4" cstate="print"/>
          <a:srcRect t="1725"/>
          <a:stretch/>
        </p:blipFill>
        <p:spPr bwMode="auto">
          <a:xfrm>
            <a:off x="4685785" y="1238250"/>
            <a:ext cx="3016304" cy="5170507"/>
          </a:xfrm>
          <a:prstGeom prst="rect">
            <a:avLst/>
          </a:prstGeom>
          <a:noFill/>
          <a:ln w="9525">
            <a:noFill/>
            <a:miter lim="800000"/>
            <a:headEnd/>
            <a:tailEnd/>
          </a:ln>
        </p:spPr>
      </p:pic>
      <p:sp>
        <p:nvSpPr>
          <p:cNvPr id="7" name="Rectangle 6"/>
          <p:cNvSpPr/>
          <p:nvPr/>
        </p:nvSpPr>
        <p:spPr bwMode="auto">
          <a:xfrm>
            <a:off x="1581150" y="3663320"/>
            <a:ext cx="1630061" cy="263525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9" name="Straight Arrow Connector 8"/>
          <p:cNvCxnSpPr>
            <a:cxnSpLocks/>
            <a:stCxn id="7" idx="3"/>
            <a:endCxn id="2051" idx="1"/>
          </p:cNvCxnSpPr>
          <p:nvPr/>
        </p:nvCxnSpPr>
        <p:spPr bwMode="auto">
          <a:xfrm flipV="1">
            <a:off x="3211211" y="3823504"/>
            <a:ext cx="1474574" cy="1157442"/>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248144777"/>
      </p:ext>
    </p:extLst>
  </p:cSld>
  <p:clrMapOvr>
    <a:masterClrMapping/>
  </p:clrMapOvr>
  <p:transition>
    <p:wipe dir="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SG" dirty="0"/>
              <a:t>Ways of replacing Values with Text for one criteria but present the actual value for another.</a:t>
            </a:r>
          </a:p>
          <a:p>
            <a:pPr lvl="1"/>
            <a:r>
              <a:rPr lang="en-SG" dirty="0"/>
              <a:t>i.e. LOD (Limit Of Detection)</a:t>
            </a:r>
          </a:p>
          <a:p>
            <a:pPr lvl="2"/>
            <a:r>
              <a:rPr lang="en-SG" dirty="0"/>
              <a:t>If signal to noise is less than 10, show “Below LOD”</a:t>
            </a:r>
          </a:p>
          <a:p>
            <a:pPr lvl="2"/>
            <a:r>
              <a:rPr lang="en-SG" dirty="0"/>
              <a:t>If signal to noise is Greater than or equal to 10 show the signal to noise value</a:t>
            </a:r>
          </a:p>
          <a:p>
            <a:pPr lvl="1"/>
            <a:r>
              <a:rPr lang="en-SG" dirty="0"/>
              <a:t>i.e. Reaction monitoring</a:t>
            </a:r>
          </a:p>
          <a:p>
            <a:pPr lvl="2"/>
            <a:r>
              <a:rPr lang="en-SG" dirty="0"/>
              <a:t>If Amount is too Low, show “Keep Mixing”</a:t>
            </a:r>
          </a:p>
          <a:p>
            <a:pPr lvl="2"/>
            <a:r>
              <a:rPr lang="en-SG" dirty="0"/>
              <a:t>If Amount is too High, show “over cooked”</a:t>
            </a:r>
          </a:p>
          <a:p>
            <a:pPr lvl="2"/>
            <a:r>
              <a:rPr lang="en-SG" dirty="0"/>
              <a:t>If Amount is just right then show the Concentration</a:t>
            </a:r>
          </a:p>
          <a:p>
            <a:endParaRPr lang="en-SG" dirty="0"/>
          </a:p>
          <a:p>
            <a:endParaRPr lang="en-SG" dirty="0"/>
          </a:p>
        </p:txBody>
      </p:sp>
      <p:sp>
        <p:nvSpPr>
          <p:cNvPr id="3" name="Title 2"/>
          <p:cNvSpPr>
            <a:spLocks noGrp="1"/>
          </p:cNvSpPr>
          <p:nvPr>
            <p:ph type="title"/>
          </p:nvPr>
        </p:nvSpPr>
        <p:spPr/>
        <p:txBody>
          <a:bodyPr/>
          <a:lstStyle/>
          <a:p>
            <a:r>
              <a:rPr lang="en-SG" dirty="0"/>
              <a:t>(fc) in Boolean/Enumerator Expressions</a:t>
            </a:r>
            <a:br>
              <a:rPr lang="en-SG" dirty="0"/>
            </a:br>
            <a:r>
              <a:rPr lang="en-SG" dirty="0"/>
              <a:t>Use As </a:t>
            </a:r>
            <a:r>
              <a:rPr lang="en-SG" dirty="0">
                <a:solidFill>
                  <a:schemeClr val="accent2"/>
                </a:solidFill>
              </a:rPr>
              <a:t>Field</a:t>
            </a:r>
          </a:p>
        </p:txBody>
      </p:sp>
    </p:spTree>
    <p:extLst>
      <p:ext uri="{BB962C8B-B14F-4D97-AF65-F5344CB8AC3E}">
        <p14:creationId xmlns:p14="http://schemas.microsoft.com/office/powerpoint/2010/main" val="3898877664"/>
      </p:ext>
    </p:extLst>
  </p:cSld>
  <p:clrMapOvr>
    <a:masterClrMapping/>
  </p:clrMapOvr>
  <p:transition>
    <p:wipe dir="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Content Placeholder 2"/>
          <p:cNvSpPr>
            <a:spLocks noGrp="1"/>
          </p:cNvSpPr>
          <p:nvPr>
            <p:ph idx="1"/>
          </p:nvPr>
        </p:nvSpPr>
        <p:spPr>
          <a:xfrm>
            <a:off x="457200" y="1312000"/>
            <a:ext cx="4114800" cy="5029200"/>
          </a:xfrm>
        </p:spPr>
        <p:txBody>
          <a:bodyPr/>
          <a:lstStyle/>
          <a:p>
            <a:pPr eaLnBrk="1" hangingPunct="1"/>
            <a:r>
              <a:rPr lang="en-GB" dirty="0"/>
              <a:t>Custom Field </a:t>
            </a:r>
            <a:r>
              <a:rPr lang="en-GB" dirty="0" err="1"/>
              <a:t>LODAcceptance</a:t>
            </a:r>
            <a:endParaRPr lang="en-GB" dirty="0"/>
          </a:p>
          <a:p>
            <a:pPr lvl="1" eaLnBrk="1" hangingPunct="1"/>
            <a:r>
              <a:rPr lang="en-GB" dirty="0"/>
              <a:t>GTE([s/n],10)</a:t>
            </a:r>
          </a:p>
          <a:p>
            <a:r>
              <a:rPr lang="en-SG" dirty="0"/>
              <a:t>“[s/n]” is the default Empower calculation for signal to noise as defined in the Suitability tab of the processing method.</a:t>
            </a:r>
          </a:p>
          <a:p>
            <a:r>
              <a:rPr lang="en-SG" dirty="0"/>
              <a:t>This will return the phrase “Below LOD” if s/n is less than 10 and the actual s/n if s/n is greater than or equal to 10 </a:t>
            </a:r>
          </a:p>
          <a:p>
            <a:endParaRPr lang="en-GB" dirty="0"/>
          </a:p>
          <a:p>
            <a:pPr lvl="1" eaLnBrk="1" hangingPunct="1"/>
            <a:endParaRPr lang="en-GB" dirty="0"/>
          </a:p>
        </p:txBody>
      </p:sp>
      <p:sp>
        <p:nvSpPr>
          <p:cNvPr id="2" name="Title 1"/>
          <p:cNvSpPr>
            <a:spLocks noGrp="1"/>
          </p:cNvSpPr>
          <p:nvPr>
            <p:ph type="title"/>
          </p:nvPr>
        </p:nvSpPr>
        <p:spPr/>
        <p:txBody>
          <a:bodyPr/>
          <a:lstStyle/>
          <a:p>
            <a:pPr>
              <a:defRPr/>
            </a:pPr>
            <a:r>
              <a:rPr lang="en-GB" dirty="0"/>
              <a:t>Example 4 (</a:t>
            </a:r>
            <a:r>
              <a:rPr lang="en-GB" dirty="0" err="1"/>
              <a:t>fc</a:t>
            </a:r>
            <a:r>
              <a:rPr lang="en-GB" dirty="0"/>
              <a:t>) in Boolean Expressions</a:t>
            </a:r>
            <a:br>
              <a:rPr lang="en-GB" dirty="0"/>
            </a:br>
            <a:r>
              <a:rPr lang="en-GB" dirty="0"/>
              <a:t>Use As </a:t>
            </a:r>
            <a:r>
              <a:rPr lang="en-GB" dirty="0">
                <a:solidFill>
                  <a:schemeClr val="accent2"/>
                </a:solidFill>
              </a:rPr>
              <a:t>Field</a:t>
            </a:r>
          </a:p>
        </p:txBody>
      </p:sp>
      <p:sp>
        <p:nvSpPr>
          <p:cNvPr id="5" name="Content Placeholder 2"/>
          <p:cNvSpPr txBox="1">
            <a:spLocks/>
          </p:cNvSpPr>
          <p:nvPr/>
        </p:nvSpPr>
        <p:spPr bwMode="auto">
          <a:xfrm>
            <a:off x="290212" y="2627313"/>
            <a:ext cx="4433888" cy="2136775"/>
          </a:xfrm>
          <a:prstGeom prst="rect">
            <a:avLst/>
          </a:prstGeom>
          <a:noFill/>
          <a:ln w="9525">
            <a:noFill/>
            <a:miter lim="800000"/>
            <a:headEnd/>
            <a:tailEnd/>
          </a:ln>
        </p:spPr>
        <p:txBody>
          <a:bodyPr/>
          <a:lstStyle/>
          <a:p>
            <a:pPr marL="342900" indent="-342900" algn="l">
              <a:lnSpc>
                <a:spcPct val="110000"/>
              </a:lnSpc>
              <a:spcBef>
                <a:spcPct val="20000"/>
              </a:spcBef>
              <a:buClr>
                <a:srgbClr val="3374D4"/>
              </a:buClr>
              <a:buFont typeface="Wingdings 2" pitchFamily="18" charset="2"/>
              <a:buChar char="¡"/>
              <a:defRPr/>
            </a:pPr>
            <a:endParaRPr lang="en-GB" sz="1800" kern="0" dirty="0">
              <a:latin typeface="+mn-lt"/>
            </a:endParaRPr>
          </a:p>
        </p:txBody>
      </p:sp>
      <p:pic>
        <p:nvPicPr>
          <p:cNvPr id="33797" name="Picture 2"/>
          <p:cNvPicPr>
            <a:picLocks noChangeAspect="1" noChangeArrowheads="1"/>
          </p:cNvPicPr>
          <p:nvPr/>
        </p:nvPicPr>
        <p:blipFill>
          <a:blip r:embed="rId3" cstate="print"/>
          <a:srcRect/>
          <a:stretch>
            <a:fillRect/>
          </a:stretch>
        </p:blipFill>
        <p:spPr bwMode="auto">
          <a:xfrm>
            <a:off x="4572000" y="2013675"/>
            <a:ext cx="4067175" cy="4146550"/>
          </a:xfrm>
          <a:prstGeom prst="rect">
            <a:avLst/>
          </a:prstGeom>
          <a:noFill/>
          <a:ln w="9525">
            <a:noFill/>
            <a:miter lim="800000"/>
            <a:headEnd/>
            <a:tailEnd/>
          </a:ln>
        </p:spPr>
      </p:pic>
      <p:sp>
        <p:nvSpPr>
          <p:cNvPr id="6" name="Rectangle 5"/>
          <p:cNvSpPr/>
          <p:nvPr/>
        </p:nvSpPr>
        <p:spPr bwMode="auto">
          <a:xfrm>
            <a:off x="7557770" y="4127272"/>
            <a:ext cx="914400" cy="36576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1600" b="0" i="0" u="none" strike="noStrike" cap="none" normalizeH="0" baseline="0">
              <a:ln>
                <a:noFill/>
              </a:ln>
              <a:solidFill>
                <a:schemeClr val="tx1"/>
              </a:solidFill>
              <a:effectLst/>
              <a:latin typeface="Verdana" pitchFamily="34" charset="0"/>
            </a:endParaRPr>
          </a:p>
        </p:txBody>
      </p:sp>
      <p:sp>
        <p:nvSpPr>
          <p:cNvPr id="7" name="Rectangle 6"/>
          <p:cNvSpPr/>
          <p:nvPr/>
        </p:nvSpPr>
        <p:spPr bwMode="auto">
          <a:xfrm>
            <a:off x="6836410" y="2623592"/>
            <a:ext cx="1097280" cy="7620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1600" b="0" i="0" u="none" strike="noStrike" cap="none" normalizeH="0" baseline="0">
              <a:ln>
                <a:noFill/>
              </a:ln>
              <a:solidFill>
                <a:schemeClr val="tx1"/>
              </a:solidFill>
              <a:effectLst/>
              <a:latin typeface="Verdana" pitchFamily="34" charset="0"/>
            </a:endParaRPr>
          </a:p>
        </p:txBody>
      </p:sp>
      <p:pic>
        <p:nvPicPr>
          <p:cNvPr id="8" name="Picture 7"/>
          <p:cNvPicPr>
            <a:picLocks noChangeAspect="1" noChangeArrowheads="1"/>
          </p:cNvPicPr>
          <p:nvPr/>
        </p:nvPicPr>
        <p:blipFill rotWithShape="1">
          <a:blip r:embed="rId3" cstate="print"/>
          <a:srcRect l="56182" t="13601" r="18241" b="67193"/>
          <a:stretch/>
        </p:blipFill>
        <p:spPr bwMode="auto">
          <a:xfrm>
            <a:off x="6524528" y="1080205"/>
            <a:ext cx="1721044" cy="1317555"/>
          </a:xfrm>
          <a:prstGeom prst="rect">
            <a:avLst/>
          </a:prstGeom>
          <a:noFill/>
          <a:ln w="9525">
            <a:noFill/>
            <a:miter lim="800000"/>
            <a:headEnd/>
            <a:tailEnd/>
          </a:ln>
        </p:spPr>
      </p:pic>
      <p:cxnSp>
        <p:nvCxnSpPr>
          <p:cNvPr id="10" name="Straight Arrow Connector 9"/>
          <p:cNvCxnSpPr>
            <a:cxnSpLocks/>
            <a:stCxn id="7" idx="0"/>
            <a:endCxn id="8" idx="2"/>
          </p:cNvCxnSpPr>
          <p:nvPr/>
        </p:nvCxnSpPr>
        <p:spPr bwMode="auto">
          <a:xfrm flipV="1">
            <a:off x="7385050" y="2397760"/>
            <a:ext cx="0" cy="225832"/>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94333132"/>
      </p:ext>
    </p:extLst>
  </p:cSld>
  <p:clrMapOvr>
    <a:masterClrMapping/>
  </p:clrMapOvr>
  <p:transition>
    <p:wipe dir="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cstate="print"/>
          <a:srcRect/>
          <a:stretch>
            <a:fillRect/>
          </a:stretch>
        </p:blipFill>
        <p:spPr bwMode="auto">
          <a:xfrm>
            <a:off x="530225" y="1956525"/>
            <a:ext cx="7223125" cy="4384675"/>
          </a:xfrm>
          <a:prstGeom prst="rect">
            <a:avLst/>
          </a:prstGeom>
          <a:noFill/>
          <a:ln w="9525">
            <a:noFill/>
            <a:miter lim="800000"/>
            <a:headEnd/>
            <a:tailEnd/>
          </a:ln>
        </p:spPr>
      </p:pic>
      <p:sp>
        <p:nvSpPr>
          <p:cNvPr id="35844" name="Content Placeholder 2"/>
          <p:cNvSpPr>
            <a:spLocks noGrp="1"/>
          </p:cNvSpPr>
          <p:nvPr>
            <p:ph idx="1"/>
          </p:nvPr>
        </p:nvSpPr>
        <p:spPr/>
        <p:txBody>
          <a:bodyPr/>
          <a:lstStyle/>
          <a:p>
            <a:pPr eaLnBrk="1" hangingPunct="1"/>
            <a:r>
              <a:rPr lang="en-GB" dirty="0"/>
              <a:t>Viewing Results in Peaks Table (Review)</a:t>
            </a:r>
          </a:p>
          <a:p>
            <a:pPr eaLnBrk="1" hangingPunct="1"/>
            <a:endParaRPr lang="en-GB" dirty="0"/>
          </a:p>
        </p:txBody>
      </p:sp>
      <p:sp>
        <p:nvSpPr>
          <p:cNvPr id="2" name="Title 1"/>
          <p:cNvSpPr>
            <a:spLocks noGrp="1"/>
          </p:cNvSpPr>
          <p:nvPr>
            <p:ph type="title"/>
          </p:nvPr>
        </p:nvSpPr>
        <p:spPr/>
        <p:txBody>
          <a:bodyPr/>
          <a:lstStyle/>
          <a:p>
            <a:pPr>
              <a:defRPr/>
            </a:pPr>
            <a:r>
              <a:rPr lang="en-GB" dirty="0"/>
              <a:t>Example 4 (</a:t>
            </a:r>
            <a:r>
              <a:rPr lang="en-GB" dirty="0" err="1"/>
              <a:t>fc</a:t>
            </a:r>
            <a:r>
              <a:rPr lang="en-GB" dirty="0"/>
              <a:t>) in Boolean Expressions</a:t>
            </a:r>
            <a:br>
              <a:rPr lang="en-GB" dirty="0"/>
            </a:br>
            <a:r>
              <a:rPr lang="en-GB" dirty="0"/>
              <a:t>Use As </a:t>
            </a:r>
            <a:r>
              <a:rPr lang="en-GB" dirty="0">
                <a:solidFill>
                  <a:schemeClr val="accent2"/>
                </a:solidFill>
              </a:rPr>
              <a:t>Field</a:t>
            </a:r>
          </a:p>
        </p:txBody>
      </p:sp>
      <p:sp>
        <p:nvSpPr>
          <p:cNvPr id="35845" name="Rectangle 12"/>
          <p:cNvSpPr>
            <a:spLocks noChangeArrowheads="1"/>
          </p:cNvSpPr>
          <p:nvPr/>
        </p:nvSpPr>
        <p:spPr bwMode="auto">
          <a:xfrm>
            <a:off x="3836988" y="4874350"/>
            <a:ext cx="939800" cy="608012"/>
          </a:xfrm>
          <a:prstGeom prst="rect">
            <a:avLst/>
          </a:prstGeom>
          <a:noFill/>
          <a:ln w="38100" algn="ctr">
            <a:solidFill>
              <a:srgbClr val="C00000"/>
            </a:solidFill>
            <a:round/>
            <a:headEnd/>
            <a:tailEnd/>
          </a:ln>
        </p:spPr>
        <p:txBody>
          <a:bodyPr/>
          <a:lstStyle/>
          <a:p>
            <a:endParaRPr lang="en-US"/>
          </a:p>
        </p:txBody>
      </p:sp>
      <p:cxnSp>
        <p:nvCxnSpPr>
          <p:cNvPr id="35846" name="Straight Connector 17"/>
          <p:cNvCxnSpPr>
            <a:cxnSpLocks noChangeShapeType="1"/>
          </p:cNvCxnSpPr>
          <p:nvPr/>
        </p:nvCxnSpPr>
        <p:spPr bwMode="auto">
          <a:xfrm flipV="1">
            <a:off x="3827463" y="2472101"/>
            <a:ext cx="1240857" cy="2421302"/>
          </a:xfrm>
          <a:prstGeom prst="line">
            <a:avLst/>
          </a:prstGeom>
          <a:noFill/>
          <a:ln w="38100" algn="ctr">
            <a:solidFill>
              <a:srgbClr val="FF0000"/>
            </a:solidFill>
            <a:round/>
            <a:headEnd/>
            <a:tailEnd/>
          </a:ln>
        </p:spPr>
      </p:cxnSp>
      <p:cxnSp>
        <p:nvCxnSpPr>
          <p:cNvPr id="35847" name="Straight Connector 19"/>
          <p:cNvCxnSpPr>
            <a:cxnSpLocks noChangeShapeType="1"/>
          </p:cNvCxnSpPr>
          <p:nvPr/>
        </p:nvCxnSpPr>
        <p:spPr bwMode="auto">
          <a:xfrm flipV="1">
            <a:off x="4767263" y="4586651"/>
            <a:ext cx="3464944" cy="897300"/>
          </a:xfrm>
          <a:prstGeom prst="line">
            <a:avLst/>
          </a:prstGeom>
          <a:noFill/>
          <a:ln w="38100" algn="ctr">
            <a:solidFill>
              <a:srgbClr val="FF0000"/>
            </a:solidFill>
            <a:round/>
            <a:headEnd/>
            <a:tailEnd/>
          </a:ln>
        </p:spPr>
      </p:cxnSp>
      <p:pic>
        <p:nvPicPr>
          <p:cNvPr id="35848" name="Picture 3"/>
          <p:cNvPicPr>
            <a:picLocks noChangeAspect="1" noChangeArrowheads="1"/>
          </p:cNvPicPr>
          <p:nvPr/>
        </p:nvPicPr>
        <p:blipFill>
          <a:blip r:embed="rId4" cstate="print"/>
          <a:srcRect/>
          <a:stretch>
            <a:fillRect/>
          </a:stretch>
        </p:blipFill>
        <p:spPr bwMode="auto">
          <a:xfrm>
            <a:off x="5101657" y="2494326"/>
            <a:ext cx="3167063" cy="2124075"/>
          </a:xfrm>
          <a:prstGeom prst="rect">
            <a:avLst/>
          </a:prstGeom>
          <a:noFill/>
          <a:ln w="9525">
            <a:noFill/>
            <a:miter lim="800000"/>
            <a:headEnd/>
            <a:tailEnd/>
          </a:ln>
        </p:spPr>
      </p:pic>
      <p:sp>
        <p:nvSpPr>
          <p:cNvPr id="35849" name="Rectangle 13"/>
          <p:cNvSpPr>
            <a:spLocks noChangeArrowheads="1"/>
          </p:cNvSpPr>
          <p:nvPr/>
        </p:nvSpPr>
        <p:spPr bwMode="auto">
          <a:xfrm>
            <a:off x="5068320" y="2472101"/>
            <a:ext cx="3163887" cy="2092325"/>
          </a:xfrm>
          <a:prstGeom prst="rect">
            <a:avLst/>
          </a:prstGeom>
          <a:noFill/>
          <a:ln w="38100" algn="ctr">
            <a:solidFill>
              <a:srgbClr val="C00000"/>
            </a:solidFill>
            <a:round/>
            <a:headEnd/>
            <a:tailEnd/>
          </a:ln>
        </p:spPr>
        <p:txBody>
          <a:bodyPr/>
          <a:lstStyle/>
          <a:p>
            <a:endParaRPr lang="en-US"/>
          </a:p>
        </p:txBody>
      </p:sp>
    </p:spTree>
    <p:extLst>
      <p:ext uri="{BB962C8B-B14F-4D97-AF65-F5344CB8AC3E}">
        <p14:creationId xmlns:p14="http://schemas.microsoft.com/office/powerpoint/2010/main" val="1371245754"/>
      </p:ext>
    </p:extLst>
  </p:cSld>
  <p:clrMapOvr>
    <a:masterClrMapping/>
  </p:clrMapOvr>
  <p:transition>
    <p:wipe dir="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cstate="print"/>
          <a:srcRect/>
          <a:stretch>
            <a:fillRect/>
          </a:stretch>
        </p:blipFill>
        <p:spPr bwMode="auto">
          <a:xfrm>
            <a:off x="4572000" y="2721317"/>
            <a:ext cx="3978968" cy="3701365"/>
          </a:xfrm>
          <a:prstGeom prst="rect">
            <a:avLst/>
          </a:prstGeom>
          <a:noFill/>
          <a:ln w="9525">
            <a:noFill/>
            <a:miter lim="800000"/>
            <a:headEnd/>
            <a:tailEnd/>
          </a:ln>
        </p:spPr>
      </p:pic>
      <p:sp>
        <p:nvSpPr>
          <p:cNvPr id="36867" name="Content Placeholder 2"/>
          <p:cNvSpPr>
            <a:spLocks noGrp="1"/>
          </p:cNvSpPr>
          <p:nvPr>
            <p:ph idx="1"/>
          </p:nvPr>
        </p:nvSpPr>
        <p:spPr/>
        <p:txBody>
          <a:bodyPr/>
          <a:lstStyle/>
          <a:p>
            <a:pPr eaLnBrk="1" hangingPunct="1"/>
            <a:r>
              <a:rPr lang="en-GB" dirty="0"/>
              <a:t>Custom Field </a:t>
            </a:r>
            <a:r>
              <a:rPr lang="en-GB" dirty="0" err="1"/>
              <a:t>ReactionMonitor</a:t>
            </a:r>
            <a:endParaRPr lang="en-GB" dirty="0"/>
          </a:p>
          <a:p>
            <a:pPr lvl="1" eaLnBrk="1" hangingPunct="1"/>
            <a:r>
              <a:rPr lang="fr-FR" dirty="0"/>
              <a:t>ENUM(LT(Amount,150),RANGE(Amount,150,152),GT(Amount,152))</a:t>
            </a:r>
          </a:p>
          <a:p>
            <a:pPr marL="342900" indent="-342900">
              <a:buClr>
                <a:srgbClr val="3374D4"/>
              </a:buClr>
              <a:defRPr/>
            </a:pPr>
            <a:r>
              <a:rPr lang="en-GB" dirty="0"/>
              <a:t>You must use the </a:t>
            </a:r>
            <a:r>
              <a:rPr lang="en-GB" dirty="0">
                <a:solidFill>
                  <a:srgbClr val="C00000"/>
                </a:solidFill>
              </a:rPr>
              <a:t>ENUM Operator </a:t>
            </a:r>
            <a:r>
              <a:rPr lang="en-GB" dirty="0"/>
              <a:t>at the start of Enumerator custom fields</a:t>
            </a:r>
          </a:p>
          <a:p>
            <a:pPr marL="342900" indent="-342900">
              <a:buClr>
                <a:srgbClr val="3374D4"/>
              </a:buClr>
              <a:defRPr/>
            </a:pPr>
            <a:r>
              <a:rPr lang="en-GB" dirty="0"/>
              <a:t>Observe that there is a space 			                  between the field and (fc)</a:t>
            </a:r>
          </a:p>
          <a:p>
            <a:pPr lvl="1" eaLnBrk="1" hangingPunct="1"/>
            <a:endParaRPr lang="fr-FR" dirty="0"/>
          </a:p>
          <a:p>
            <a:pPr lvl="1" eaLnBrk="1" hangingPunct="1"/>
            <a:endParaRPr lang="en-GB" dirty="0"/>
          </a:p>
          <a:p>
            <a:pPr lvl="1" eaLnBrk="1" hangingPunct="1"/>
            <a:endParaRPr lang="en-GB" dirty="0"/>
          </a:p>
        </p:txBody>
      </p:sp>
      <p:sp>
        <p:nvSpPr>
          <p:cNvPr id="2" name="Title 1"/>
          <p:cNvSpPr>
            <a:spLocks noGrp="1"/>
          </p:cNvSpPr>
          <p:nvPr>
            <p:ph type="title"/>
          </p:nvPr>
        </p:nvSpPr>
        <p:spPr/>
        <p:txBody>
          <a:bodyPr/>
          <a:lstStyle/>
          <a:p>
            <a:pPr>
              <a:defRPr/>
            </a:pPr>
            <a:r>
              <a:rPr lang="en-GB" dirty="0"/>
              <a:t>Example 5 (fc) in Enumerated Expressions</a:t>
            </a:r>
            <a:br>
              <a:rPr lang="en-GB" dirty="0"/>
            </a:br>
            <a:r>
              <a:rPr lang="en-GB" dirty="0"/>
              <a:t>Use As </a:t>
            </a:r>
            <a:r>
              <a:rPr lang="en-GB" dirty="0">
                <a:solidFill>
                  <a:schemeClr val="accent2"/>
                </a:solidFill>
              </a:rPr>
              <a:t>Field</a:t>
            </a:r>
          </a:p>
        </p:txBody>
      </p:sp>
      <p:sp>
        <p:nvSpPr>
          <p:cNvPr id="6" name="Rectangle 5"/>
          <p:cNvSpPr/>
          <p:nvPr/>
        </p:nvSpPr>
        <p:spPr bwMode="auto">
          <a:xfrm>
            <a:off x="5536057" y="2985316"/>
            <a:ext cx="1285103" cy="22602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7" name="Rectangle 6"/>
          <p:cNvSpPr/>
          <p:nvPr/>
        </p:nvSpPr>
        <p:spPr bwMode="auto">
          <a:xfrm>
            <a:off x="6711573" y="3211335"/>
            <a:ext cx="976184" cy="89394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pic>
        <p:nvPicPr>
          <p:cNvPr id="6147" name="Picture 3"/>
          <p:cNvPicPr>
            <a:picLocks noChangeAspect="1" noChangeArrowheads="1"/>
          </p:cNvPicPr>
          <p:nvPr/>
        </p:nvPicPr>
        <p:blipFill>
          <a:blip r:embed="rId4" cstate="print"/>
          <a:srcRect/>
          <a:stretch>
            <a:fillRect/>
          </a:stretch>
        </p:blipFill>
        <p:spPr bwMode="auto">
          <a:xfrm>
            <a:off x="1227694" y="3698404"/>
            <a:ext cx="2345263" cy="2642796"/>
          </a:xfrm>
          <a:prstGeom prst="rect">
            <a:avLst/>
          </a:prstGeom>
          <a:noFill/>
          <a:ln w="9525">
            <a:noFill/>
            <a:miter lim="800000"/>
            <a:headEnd/>
            <a:tailEnd/>
          </a:ln>
        </p:spPr>
      </p:pic>
      <p:cxnSp>
        <p:nvCxnSpPr>
          <p:cNvPr id="11" name="Straight Arrow Connector 10"/>
          <p:cNvCxnSpPr>
            <a:cxnSpLocks/>
            <a:stCxn id="7" idx="1"/>
            <a:endCxn id="6147" idx="3"/>
          </p:cNvCxnSpPr>
          <p:nvPr/>
        </p:nvCxnSpPr>
        <p:spPr bwMode="auto">
          <a:xfrm flipH="1">
            <a:off x="3572957" y="3658305"/>
            <a:ext cx="3138616" cy="1361497"/>
          </a:xfrm>
          <a:prstGeom prst="straightConnector1">
            <a:avLst/>
          </a:prstGeom>
          <a:noFill/>
          <a:ln w="38100" cap="flat" cmpd="sng" algn="ctr">
            <a:solidFill>
              <a:srgbClr val="FF0000"/>
            </a:solidFill>
            <a:prstDash val="solid"/>
            <a:round/>
            <a:headEnd type="none" w="med" len="med"/>
            <a:tailEnd type="arrow"/>
          </a:ln>
          <a:effectLst/>
        </p:spPr>
      </p:cxnSp>
      <p:cxnSp>
        <p:nvCxnSpPr>
          <p:cNvPr id="13" name="Straight Arrow Connector 12"/>
          <p:cNvCxnSpPr>
            <a:cxnSpLocks/>
          </p:cNvCxnSpPr>
          <p:nvPr/>
        </p:nvCxnSpPr>
        <p:spPr bwMode="auto">
          <a:xfrm>
            <a:off x="2596773" y="3533775"/>
            <a:ext cx="341573" cy="1508295"/>
          </a:xfrm>
          <a:prstGeom prst="straightConnector1">
            <a:avLst/>
          </a:prstGeom>
          <a:noFill/>
          <a:ln w="38100" cap="flat" cmpd="sng" algn="ctr">
            <a:solidFill>
              <a:srgbClr val="FF0000"/>
            </a:solidFill>
            <a:prstDash val="solid"/>
            <a:round/>
            <a:headEnd type="none" w="med" len="med"/>
            <a:tailEnd type="arrow"/>
          </a:ln>
          <a:effectLst/>
        </p:spPr>
      </p:cxnSp>
      <p:sp>
        <p:nvSpPr>
          <p:cNvPr id="14" name="Rectangle 13"/>
          <p:cNvSpPr/>
          <p:nvPr/>
        </p:nvSpPr>
        <p:spPr bwMode="auto">
          <a:xfrm>
            <a:off x="7451217" y="4571999"/>
            <a:ext cx="968883" cy="32385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2532621947"/>
      </p:ext>
    </p:extLst>
  </p:cSld>
  <p:clrMapOvr>
    <a:masterClrMapping/>
  </p:clrMapOvr>
  <p:transition>
    <p:wipe dir="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Example 5 (</a:t>
            </a:r>
            <a:r>
              <a:rPr lang="en-GB" dirty="0" err="1"/>
              <a:t>fc</a:t>
            </a:r>
            <a:r>
              <a:rPr lang="en-GB" dirty="0"/>
              <a:t>) in Enumerated Expressions</a:t>
            </a:r>
            <a:br>
              <a:rPr lang="en-GB" dirty="0"/>
            </a:br>
            <a:r>
              <a:rPr lang="en-GB" dirty="0"/>
              <a:t>Use As </a:t>
            </a:r>
            <a:r>
              <a:rPr lang="en-GB" dirty="0">
                <a:solidFill>
                  <a:schemeClr val="accent2"/>
                </a:solidFill>
              </a:rPr>
              <a:t>Field</a:t>
            </a:r>
            <a:endParaRPr lang="en-US" dirty="0">
              <a:solidFill>
                <a:schemeClr val="accent2"/>
              </a:solidFill>
            </a:endParaRPr>
          </a:p>
        </p:txBody>
      </p:sp>
      <p:pic>
        <p:nvPicPr>
          <p:cNvPr id="4098" name="Picture 2"/>
          <p:cNvPicPr>
            <a:picLocks noChangeAspect="1" noChangeArrowheads="1"/>
          </p:cNvPicPr>
          <p:nvPr/>
        </p:nvPicPr>
        <p:blipFill>
          <a:blip r:embed="rId3" cstate="print"/>
          <a:srcRect/>
          <a:stretch>
            <a:fillRect/>
          </a:stretch>
        </p:blipFill>
        <p:spPr bwMode="auto">
          <a:xfrm>
            <a:off x="2761993" y="1134247"/>
            <a:ext cx="3934138" cy="5485628"/>
          </a:xfrm>
          <a:prstGeom prst="rect">
            <a:avLst/>
          </a:prstGeom>
          <a:noFill/>
          <a:ln w="9525">
            <a:noFill/>
            <a:miter lim="800000"/>
            <a:headEnd/>
            <a:tailEnd/>
          </a:ln>
        </p:spPr>
      </p:pic>
      <p:sp>
        <p:nvSpPr>
          <p:cNvPr id="8" name="Rectangle 7"/>
          <p:cNvSpPr/>
          <p:nvPr/>
        </p:nvSpPr>
        <p:spPr bwMode="auto">
          <a:xfrm>
            <a:off x="4888384" y="4831565"/>
            <a:ext cx="813911" cy="178831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324365474"/>
      </p:ext>
    </p:extLst>
  </p:cSld>
  <p:clrMapOvr>
    <a:masterClrMapping/>
  </p:clrMapOvr>
  <p:transition>
    <p:wipe dir="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Example 5 (</a:t>
            </a:r>
            <a:r>
              <a:rPr lang="en-GB" dirty="0" err="1"/>
              <a:t>fc</a:t>
            </a:r>
            <a:r>
              <a:rPr lang="en-GB" dirty="0"/>
              <a:t>) in Enumerated Expressions</a:t>
            </a:r>
            <a:br>
              <a:rPr lang="en-GB" dirty="0"/>
            </a:br>
            <a:r>
              <a:rPr lang="en-GB" dirty="0"/>
              <a:t>Use As </a:t>
            </a:r>
            <a:r>
              <a:rPr lang="en-GB" dirty="0">
                <a:solidFill>
                  <a:schemeClr val="accent2"/>
                </a:solidFill>
              </a:rPr>
              <a:t>Field</a:t>
            </a:r>
            <a:endParaRPr lang="en-US" dirty="0">
              <a:solidFill>
                <a:schemeClr val="accent2"/>
              </a:solidFill>
            </a:endParaRPr>
          </a:p>
        </p:txBody>
      </p:sp>
      <p:pic>
        <p:nvPicPr>
          <p:cNvPr id="5122" name="Picture 2"/>
          <p:cNvPicPr>
            <a:picLocks noChangeAspect="1" noChangeArrowheads="1"/>
          </p:cNvPicPr>
          <p:nvPr/>
        </p:nvPicPr>
        <p:blipFill>
          <a:blip r:embed="rId3" cstate="print"/>
          <a:srcRect/>
          <a:stretch>
            <a:fillRect/>
          </a:stretch>
        </p:blipFill>
        <p:spPr bwMode="auto">
          <a:xfrm>
            <a:off x="4725623" y="1108376"/>
            <a:ext cx="3960785" cy="5539559"/>
          </a:xfrm>
          <a:prstGeom prst="rect">
            <a:avLst/>
          </a:prstGeom>
          <a:noFill/>
          <a:ln w="9525">
            <a:noFill/>
            <a:miter lim="800000"/>
            <a:headEnd/>
            <a:tailEnd/>
          </a:ln>
        </p:spPr>
      </p:pic>
      <p:pic>
        <p:nvPicPr>
          <p:cNvPr id="6" name="Picture 3"/>
          <p:cNvPicPr>
            <a:picLocks noChangeAspect="1" noChangeArrowheads="1"/>
          </p:cNvPicPr>
          <p:nvPr/>
        </p:nvPicPr>
        <p:blipFill>
          <a:blip r:embed="rId4" cstate="print"/>
          <a:srcRect/>
          <a:stretch>
            <a:fillRect/>
          </a:stretch>
        </p:blipFill>
        <p:spPr bwMode="auto">
          <a:xfrm>
            <a:off x="594748" y="1108376"/>
            <a:ext cx="3876773" cy="5539559"/>
          </a:xfrm>
          <a:prstGeom prst="rect">
            <a:avLst/>
          </a:prstGeom>
          <a:noFill/>
          <a:ln w="9525">
            <a:noFill/>
            <a:miter lim="800000"/>
            <a:headEnd/>
            <a:tailEnd/>
          </a:ln>
        </p:spPr>
      </p:pic>
      <p:sp>
        <p:nvSpPr>
          <p:cNvPr id="7" name="Rectangle 6"/>
          <p:cNvSpPr/>
          <p:nvPr/>
        </p:nvSpPr>
        <p:spPr bwMode="auto">
          <a:xfrm>
            <a:off x="2656960" y="4782065"/>
            <a:ext cx="852616" cy="189058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8" name="Rectangle 7"/>
          <p:cNvSpPr/>
          <p:nvPr/>
        </p:nvSpPr>
        <p:spPr bwMode="auto">
          <a:xfrm>
            <a:off x="6846416" y="4806779"/>
            <a:ext cx="778475" cy="184115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713175165"/>
      </p:ext>
    </p:extLst>
  </p:cSld>
  <p:clrMapOvr>
    <a:masterClrMapping/>
  </p:clrMapOvr>
  <p:transition>
    <p:wipe dir="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p:cNvSpPr>
            <a:spLocks noGrp="1" noChangeArrowheads="1"/>
          </p:cNvSpPr>
          <p:nvPr>
            <p:ph idx="1"/>
          </p:nvPr>
        </p:nvSpPr>
        <p:spPr/>
        <p:txBody>
          <a:bodyPr>
            <a:normAutofit/>
          </a:bodyPr>
          <a:lstStyle/>
          <a:p>
            <a:pPr eaLnBrk="1" hangingPunct="1"/>
            <a:r>
              <a:rPr lang="en-US" dirty="0"/>
              <a:t>The rounding function allows you to round large numbers in calculations. You can use the round function in the New Custom Field Wizard – Formula Entry page.</a:t>
            </a:r>
          </a:p>
          <a:p>
            <a:pPr eaLnBrk="1" hangingPunct="1"/>
            <a:endParaRPr lang="en-US" dirty="0"/>
          </a:p>
          <a:p>
            <a:pPr eaLnBrk="1" hangingPunct="1"/>
            <a:r>
              <a:rPr lang="en-US" dirty="0"/>
              <a:t>Syntax: ROUND(field,#) </a:t>
            </a:r>
          </a:p>
          <a:p>
            <a:pPr eaLnBrk="1" hangingPunct="1"/>
            <a:endParaRPr lang="en-US" dirty="0"/>
          </a:p>
          <a:p>
            <a:pPr eaLnBrk="1" hangingPunct="1"/>
            <a:r>
              <a:rPr lang="en-US" dirty="0"/>
              <a:t>For example: </a:t>
            </a:r>
          </a:p>
          <a:p>
            <a:pPr lvl="1" eaLnBrk="1" hangingPunct="1"/>
            <a:r>
              <a:rPr lang="en-US" dirty="0"/>
              <a:t>ROUND(25.678,0) will be rounded to 26</a:t>
            </a:r>
          </a:p>
          <a:p>
            <a:pPr lvl="1" eaLnBrk="1" hangingPunct="1"/>
            <a:r>
              <a:rPr lang="en-US" dirty="0"/>
              <a:t>ROUND(256575.36,3) will be rounded to 257000</a:t>
            </a:r>
          </a:p>
          <a:p>
            <a:pPr lvl="1" eaLnBrk="1" hangingPunct="1"/>
            <a:r>
              <a:rPr lang="en-US" dirty="0"/>
              <a:t>ROUND(25.657536,-3) will be rounded to 25.658</a:t>
            </a:r>
          </a:p>
          <a:p>
            <a:pPr eaLnBrk="1" hangingPunct="1">
              <a:buFont typeface="Wingdings 2" pitchFamily="18" charset="2"/>
              <a:buNone/>
            </a:pPr>
            <a:endParaRPr lang="en-US" dirty="0"/>
          </a:p>
        </p:txBody>
      </p:sp>
      <p:sp>
        <p:nvSpPr>
          <p:cNvPr id="196610" name="Rectangle 2"/>
          <p:cNvSpPr>
            <a:spLocks noGrp="1" noChangeArrowheads="1"/>
          </p:cNvSpPr>
          <p:nvPr>
            <p:ph type="title"/>
          </p:nvPr>
        </p:nvSpPr>
        <p:spPr/>
        <p:txBody>
          <a:bodyPr/>
          <a:lstStyle/>
          <a:p>
            <a:pPr eaLnBrk="1" hangingPunct="1">
              <a:defRPr/>
            </a:pPr>
            <a:r>
              <a:rPr lang="en-US"/>
              <a:t>Round Function</a:t>
            </a:r>
          </a:p>
        </p:txBody>
      </p:sp>
      <p:sp>
        <p:nvSpPr>
          <p:cNvPr id="37890" name="Slide Number Placeholder 3"/>
          <p:cNvSpPr>
            <a:spLocks noGrp="1"/>
          </p:cNvSpPr>
          <p:nvPr>
            <p:ph type="sldNum" sz="quarter" idx="4294967295"/>
          </p:nvPr>
        </p:nvSpPr>
        <p:spPr>
          <a:xfrm>
            <a:off x="7010400" y="6381750"/>
            <a:ext cx="2133600" cy="476250"/>
          </a:xfrm>
          <a:prstGeom prst="rect">
            <a:avLst/>
          </a:prstGeom>
          <a:noFill/>
        </p:spPr>
        <p:txBody>
          <a:bodyPr/>
          <a:lstStyle/>
          <a:p>
            <a:fld id="{ECD0D0B1-A6D7-4F92-A2B6-F220EF3D513C}" type="slidenum">
              <a:rPr lang="en-US" smtClean="0">
                <a:latin typeface="Arial" pitchFamily="34" charset="0"/>
              </a:rPr>
              <a:pPr/>
              <a:t>176</a:t>
            </a:fld>
            <a:endParaRPr lang="en-US">
              <a:latin typeface="Arial" pitchFamily="34" charset="0"/>
            </a:endParaRPr>
          </a:p>
        </p:txBody>
      </p:sp>
    </p:spTree>
    <p:extLst>
      <p:ext uri="{BB962C8B-B14F-4D97-AF65-F5344CB8AC3E}">
        <p14:creationId xmlns:p14="http://schemas.microsoft.com/office/powerpoint/2010/main" val="1318266953"/>
      </p:ext>
    </p:extLst>
  </p:cSld>
  <p:clrMapOvr>
    <a:masterClrMapping/>
  </p:clrMapOvr>
  <p:transition>
    <p:wipe dir="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a:defRPr/>
            </a:pPr>
            <a:r>
              <a:rPr lang="en-US" dirty="0">
                <a:solidFill>
                  <a:schemeClr val="accent2"/>
                </a:solidFill>
              </a:rPr>
              <a:t>Round</a:t>
            </a:r>
            <a:r>
              <a:rPr lang="en-US" dirty="0"/>
              <a:t> Example: </a:t>
            </a:r>
            <a:r>
              <a:rPr lang="en-US" dirty="0" err="1">
                <a:solidFill>
                  <a:schemeClr val="accent2"/>
                </a:solidFill>
              </a:rPr>
              <a:t>Plate_Count</a:t>
            </a:r>
            <a:endParaRPr lang="en-US" dirty="0"/>
          </a:p>
        </p:txBody>
      </p:sp>
      <p:pic>
        <p:nvPicPr>
          <p:cNvPr id="38917" name="Picture 4"/>
          <p:cNvPicPr>
            <a:picLocks noChangeAspect="1" noChangeArrowheads="1"/>
          </p:cNvPicPr>
          <p:nvPr/>
        </p:nvPicPr>
        <p:blipFill>
          <a:blip r:embed="rId3" cstate="print"/>
          <a:srcRect l="32593"/>
          <a:stretch>
            <a:fillRect/>
          </a:stretch>
        </p:blipFill>
        <p:spPr bwMode="auto">
          <a:xfrm>
            <a:off x="888669" y="2044535"/>
            <a:ext cx="3493326" cy="3685267"/>
          </a:xfrm>
          <a:prstGeom prst="rect">
            <a:avLst/>
          </a:prstGeom>
          <a:noFill/>
          <a:ln w="25400">
            <a:solidFill>
              <a:schemeClr val="hlink"/>
            </a:solidFill>
            <a:miter lim="800000"/>
            <a:headEnd/>
            <a:tailEnd type="none" w="lg" len="lg"/>
          </a:ln>
        </p:spPr>
      </p:pic>
      <p:pic>
        <p:nvPicPr>
          <p:cNvPr id="38918" name="Picture 5"/>
          <p:cNvPicPr>
            <a:picLocks noChangeAspect="1" noChangeArrowheads="1"/>
          </p:cNvPicPr>
          <p:nvPr/>
        </p:nvPicPr>
        <p:blipFill>
          <a:blip r:embed="rId4" cstate="print"/>
          <a:srcRect l="27704"/>
          <a:stretch>
            <a:fillRect/>
          </a:stretch>
        </p:blipFill>
        <p:spPr bwMode="auto">
          <a:xfrm>
            <a:off x="4577153" y="2057400"/>
            <a:ext cx="3723417" cy="3685032"/>
          </a:xfrm>
          <a:prstGeom prst="rect">
            <a:avLst/>
          </a:prstGeom>
          <a:noFill/>
          <a:ln w="25400">
            <a:solidFill>
              <a:schemeClr val="hlink"/>
            </a:solidFill>
            <a:miter lim="800000"/>
            <a:headEnd/>
            <a:tailEnd type="none" w="lg" len="lg"/>
          </a:ln>
        </p:spPr>
      </p:pic>
      <p:sp>
        <p:nvSpPr>
          <p:cNvPr id="38921" name="Rectangle 8"/>
          <p:cNvSpPr>
            <a:spLocks noChangeArrowheads="1"/>
          </p:cNvSpPr>
          <p:nvPr/>
        </p:nvSpPr>
        <p:spPr bwMode="auto">
          <a:xfrm>
            <a:off x="2816101" y="3153887"/>
            <a:ext cx="722746" cy="242455"/>
          </a:xfrm>
          <a:prstGeom prst="rect">
            <a:avLst/>
          </a:prstGeom>
          <a:noFill/>
          <a:ln w="25400">
            <a:solidFill>
              <a:srgbClr val="FF0000"/>
            </a:solidFill>
            <a:miter lim="800000"/>
            <a:headEnd/>
            <a:tailEnd type="none" w="lg" len="lg"/>
          </a:ln>
        </p:spPr>
        <p:txBody>
          <a:bodyPr wrap="none" anchor="ctr"/>
          <a:lstStyle/>
          <a:p>
            <a:endParaRPr lang="en-US"/>
          </a:p>
        </p:txBody>
      </p:sp>
      <p:sp>
        <p:nvSpPr>
          <p:cNvPr id="38922" name="Rectangle 9"/>
          <p:cNvSpPr>
            <a:spLocks noChangeArrowheads="1"/>
          </p:cNvSpPr>
          <p:nvPr/>
        </p:nvSpPr>
        <p:spPr bwMode="auto">
          <a:xfrm>
            <a:off x="1200395" y="4495139"/>
            <a:ext cx="830283" cy="302491"/>
          </a:xfrm>
          <a:prstGeom prst="rect">
            <a:avLst/>
          </a:prstGeom>
          <a:noFill/>
          <a:ln w="25400">
            <a:solidFill>
              <a:srgbClr val="FF0000"/>
            </a:solidFill>
            <a:miter lim="800000"/>
            <a:headEnd/>
            <a:tailEnd type="none" w="lg" len="lg"/>
          </a:ln>
        </p:spPr>
        <p:txBody>
          <a:bodyPr wrap="none" anchor="ctr"/>
          <a:lstStyle/>
          <a:p>
            <a:endParaRPr lang="en-US"/>
          </a:p>
        </p:txBody>
      </p:sp>
      <p:sp>
        <p:nvSpPr>
          <p:cNvPr id="38916" name="Rectangle 3"/>
          <p:cNvSpPr>
            <a:spLocks noGrp="1" noChangeArrowheads="1"/>
          </p:cNvSpPr>
          <p:nvPr>
            <p:ph idx="1"/>
          </p:nvPr>
        </p:nvSpPr>
        <p:spPr/>
        <p:txBody>
          <a:bodyPr/>
          <a:lstStyle/>
          <a:p>
            <a:pPr eaLnBrk="1" hangingPunct="1"/>
            <a:r>
              <a:rPr lang="en-US" dirty="0"/>
              <a:t>Round Custom Field: </a:t>
            </a:r>
            <a:r>
              <a:rPr lang="en-US" dirty="0" err="1">
                <a:solidFill>
                  <a:srgbClr val="C00000"/>
                </a:solidFill>
              </a:rPr>
              <a:t>Plate_Count</a:t>
            </a:r>
            <a:r>
              <a:rPr lang="en-US" dirty="0">
                <a:solidFill>
                  <a:srgbClr val="C00000"/>
                </a:solidFill>
              </a:rPr>
              <a:t>=ROUND(EP Plate Count,2)</a:t>
            </a:r>
          </a:p>
        </p:txBody>
      </p:sp>
    </p:spTree>
    <p:extLst>
      <p:ext uri="{BB962C8B-B14F-4D97-AF65-F5344CB8AC3E}">
        <p14:creationId xmlns:p14="http://schemas.microsoft.com/office/powerpoint/2010/main" val="3234603083"/>
      </p:ext>
    </p:extLst>
  </p:cSld>
  <p:clrMapOvr>
    <a:masterClrMapping/>
  </p:clrMapOvr>
  <p:transition>
    <p:wipe dir="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a:defRPr/>
            </a:pPr>
            <a:r>
              <a:rPr lang="en-US" dirty="0">
                <a:solidFill>
                  <a:schemeClr val="accent2"/>
                </a:solidFill>
              </a:rPr>
              <a:t>Round</a:t>
            </a:r>
            <a:r>
              <a:rPr lang="en-US" dirty="0"/>
              <a:t> Example: </a:t>
            </a:r>
            <a:r>
              <a:rPr lang="en-US" dirty="0" err="1">
                <a:solidFill>
                  <a:schemeClr val="accent2"/>
                </a:solidFill>
              </a:rPr>
              <a:t>Plate_Count</a:t>
            </a:r>
            <a:endParaRPr lang="en-US" dirty="0"/>
          </a:p>
        </p:txBody>
      </p:sp>
      <p:pic>
        <p:nvPicPr>
          <p:cNvPr id="39940" name="Picture 3"/>
          <p:cNvPicPr>
            <a:picLocks noChangeAspect="1" noChangeArrowheads="1"/>
          </p:cNvPicPr>
          <p:nvPr/>
        </p:nvPicPr>
        <p:blipFill>
          <a:blip r:embed="rId3" cstate="print"/>
          <a:srcRect l="19425" t="10278"/>
          <a:stretch>
            <a:fillRect/>
          </a:stretch>
        </p:blipFill>
        <p:spPr bwMode="auto">
          <a:xfrm>
            <a:off x="724394" y="1472540"/>
            <a:ext cx="5771408" cy="4630532"/>
          </a:xfrm>
          <a:prstGeom prst="rect">
            <a:avLst/>
          </a:prstGeom>
          <a:noFill/>
          <a:ln w="25400">
            <a:solidFill>
              <a:schemeClr val="hlink"/>
            </a:solidFill>
            <a:miter lim="800000"/>
            <a:headEnd/>
            <a:tailEnd type="none" w="lg" len="lg"/>
          </a:ln>
        </p:spPr>
      </p:pic>
      <p:pic>
        <p:nvPicPr>
          <p:cNvPr id="39941" name="Picture 4"/>
          <p:cNvPicPr>
            <a:picLocks noChangeAspect="1" noChangeArrowheads="1"/>
          </p:cNvPicPr>
          <p:nvPr/>
        </p:nvPicPr>
        <p:blipFill>
          <a:blip r:embed="rId4" cstate="print"/>
          <a:srcRect/>
          <a:stretch>
            <a:fillRect/>
          </a:stretch>
        </p:blipFill>
        <p:spPr bwMode="auto">
          <a:xfrm>
            <a:off x="5581402" y="4280622"/>
            <a:ext cx="2390775" cy="1433512"/>
          </a:xfrm>
          <a:prstGeom prst="rect">
            <a:avLst/>
          </a:prstGeom>
          <a:noFill/>
          <a:ln w="25400">
            <a:solidFill>
              <a:srgbClr val="FF0000"/>
            </a:solidFill>
            <a:miter lim="800000"/>
            <a:headEnd/>
            <a:tailEnd type="none" w="lg" len="lg"/>
          </a:ln>
        </p:spPr>
      </p:pic>
      <p:sp>
        <p:nvSpPr>
          <p:cNvPr id="39942" name="Rectangle 5"/>
          <p:cNvSpPr>
            <a:spLocks noChangeArrowheads="1"/>
          </p:cNvSpPr>
          <p:nvPr/>
        </p:nvSpPr>
        <p:spPr bwMode="auto">
          <a:xfrm>
            <a:off x="2939802" y="4599709"/>
            <a:ext cx="863600" cy="495300"/>
          </a:xfrm>
          <a:prstGeom prst="rect">
            <a:avLst/>
          </a:prstGeom>
          <a:noFill/>
          <a:ln w="25400">
            <a:solidFill>
              <a:srgbClr val="FF0000"/>
            </a:solidFill>
            <a:miter lim="800000"/>
            <a:headEnd/>
            <a:tailEnd type="none" w="lg" len="lg"/>
          </a:ln>
        </p:spPr>
        <p:txBody>
          <a:bodyPr wrap="none" anchor="ctr"/>
          <a:lstStyle/>
          <a:p>
            <a:endParaRPr lang="en-US"/>
          </a:p>
        </p:txBody>
      </p:sp>
      <p:sp>
        <p:nvSpPr>
          <p:cNvPr id="39943" name="Line 6"/>
          <p:cNvSpPr>
            <a:spLocks noChangeShapeType="1"/>
          </p:cNvSpPr>
          <p:nvPr/>
        </p:nvSpPr>
        <p:spPr bwMode="auto">
          <a:xfrm flipV="1">
            <a:off x="3803402" y="4269509"/>
            <a:ext cx="1752600" cy="330200"/>
          </a:xfrm>
          <a:prstGeom prst="line">
            <a:avLst/>
          </a:prstGeom>
          <a:noFill/>
          <a:ln w="25400">
            <a:solidFill>
              <a:srgbClr val="FF0000"/>
            </a:solidFill>
            <a:round/>
            <a:headEnd/>
            <a:tailEnd type="none" w="lg" len="lg"/>
          </a:ln>
        </p:spPr>
        <p:txBody>
          <a:bodyPr/>
          <a:lstStyle/>
          <a:p>
            <a:endParaRPr lang="en-US"/>
          </a:p>
        </p:txBody>
      </p:sp>
      <p:sp>
        <p:nvSpPr>
          <p:cNvPr id="39944" name="Line 7"/>
          <p:cNvSpPr>
            <a:spLocks noChangeShapeType="1"/>
          </p:cNvSpPr>
          <p:nvPr/>
        </p:nvSpPr>
        <p:spPr bwMode="auto">
          <a:xfrm>
            <a:off x="3803402" y="5095009"/>
            <a:ext cx="1752600" cy="635000"/>
          </a:xfrm>
          <a:prstGeom prst="line">
            <a:avLst/>
          </a:prstGeom>
          <a:noFill/>
          <a:ln w="25400">
            <a:solidFill>
              <a:srgbClr val="FF0000"/>
            </a:solidFill>
            <a:round/>
            <a:headEnd/>
            <a:tailEnd type="none" w="lg" len="lg"/>
          </a:ln>
        </p:spPr>
        <p:txBody>
          <a:bodyPr/>
          <a:lstStyle/>
          <a:p>
            <a:endParaRPr lang="en-US"/>
          </a:p>
        </p:txBody>
      </p:sp>
    </p:spTree>
    <p:extLst>
      <p:ext uri="{BB962C8B-B14F-4D97-AF65-F5344CB8AC3E}">
        <p14:creationId xmlns:p14="http://schemas.microsoft.com/office/powerpoint/2010/main" val="1514670954"/>
      </p:ext>
    </p:extLst>
  </p:cSld>
  <p:clrMapOvr>
    <a:masterClrMapping/>
  </p:clrMapOvr>
  <p:transition>
    <p:wipe dir="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31468"/>
            <a:ext cx="7010400" cy="1005840"/>
          </a:xfrm>
        </p:spPr>
        <p:txBody>
          <a:bodyPr/>
          <a:lstStyle/>
          <a:p>
            <a:r>
              <a:rPr lang="en-US" dirty="0"/>
              <a:t>Example 7: </a:t>
            </a:r>
            <a:r>
              <a:rPr lang="en-US" dirty="0">
                <a:solidFill>
                  <a:schemeClr val="accent2"/>
                </a:solidFill>
              </a:rPr>
              <a:t>Round</a:t>
            </a:r>
            <a:r>
              <a:rPr lang="en-US" dirty="0"/>
              <a:t> Used with Boolean</a:t>
            </a:r>
          </a:p>
        </p:txBody>
      </p:sp>
      <p:pic>
        <p:nvPicPr>
          <p:cNvPr id="1026" name="Picture 2"/>
          <p:cNvPicPr>
            <a:picLocks noChangeAspect="1" noChangeArrowheads="1"/>
          </p:cNvPicPr>
          <p:nvPr/>
        </p:nvPicPr>
        <p:blipFill>
          <a:blip r:embed="rId2" cstate="print"/>
          <a:srcRect/>
          <a:stretch>
            <a:fillRect/>
          </a:stretch>
        </p:blipFill>
        <p:spPr bwMode="auto">
          <a:xfrm>
            <a:off x="923260" y="1575945"/>
            <a:ext cx="3349304" cy="2103363"/>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895461" y="4174055"/>
            <a:ext cx="5876766" cy="1408481"/>
          </a:xfrm>
          <a:prstGeom prst="rect">
            <a:avLst/>
          </a:prstGeom>
          <a:noFill/>
          <a:ln w="9525">
            <a:noFill/>
            <a:miter lim="800000"/>
            <a:headEnd/>
            <a:tailEnd/>
          </a:ln>
        </p:spPr>
      </p:pic>
      <p:sp>
        <p:nvSpPr>
          <p:cNvPr id="7" name="TextBox 6"/>
          <p:cNvSpPr txBox="1"/>
          <p:nvPr/>
        </p:nvSpPr>
        <p:spPr>
          <a:xfrm>
            <a:off x="4559375" y="2233280"/>
            <a:ext cx="3704860" cy="369332"/>
          </a:xfrm>
          <a:prstGeom prst="rect">
            <a:avLst/>
          </a:prstGeom>
          <a:noFill/>
        </p:spPr>
        <p:txBody>
          <a:bodyPr wrap="none" rtlCol="0">
            <a:spAutoFit/>
          </a:bodyPr>
          <a:lstStyle/>
          <a:p>
            <a:r>
              <a:rPr lang="en-US" sz="1800" dirty="0">
                <a:latin typeface="Arial" panose="020B0604020202020204" pitchFamily="34" charset="0"/>
                <a:cs typeface="Arial" panose="020B0604020202020204" pitchFamily="34" charset="0"/>
              </a:rPr>
              <a:t>This is rounded to 0 decimals = 16</a:t>
            </a:r>
          </a:p>
        </p:txBody>
      </p:sp>
      <p:cxnSp>
        <p:nvCxnSpPr>
          <p:cNvPr id="9" name="Straight Arrow Connector 8"/>
          <p:cNvCxnSpPr>
            <a:stCxn id="7" idx="1"/>
          </p:cNvCxnSpPr>
          <p:nvPr/>
        </p:nvCxnSpPr>
        <p:spPr bwMode="auto">
          <a:xfrm flipH="1" flipV="1">
            <a:off x="4187235" y="2403401"/>
            <a:ext cx="372140" cy="14545"/>
          </a:xfrm>
          <a:prstGeom prst="straightConnector1">
            <a:avLst/>
          </a:prstGeom>
          <a:noFill/>
          <a:ln w="38100"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flipH="1">
            <a:off x="5495039" y="2626685"/>
            <a:ext cx="414670" cy="1584251"/>
          </a:xfrm>
          <a:prstGeom prst="straightConnector1">
            <a:avLst/>
          </a:prstGeom>
          <a:noFill/>
          <a:ln w="38100" cap="flat" cmpd="sng" algn="ctr">
            <a:solidFill>
              <a:srgbClr val="FF0000"/>
            </a:solidFill>
            <a:prstDash val="solid"/>
            <a:round/>
            <a:headEnd type="none" w="med" len="med"/>
            <a:tailEnd type="arrow"/>
          </a:ln>
          <a:effectLst/>
        </p:spPr>
      </p:cxnSp>
      <p:sp>
        <p:nvSpPr>
          <p:cNvPr id="12" name="Rectangle 11"/>
          <p:cNvSpPr/>
          <p:nvPr/>
        </p:nvSpPr>
        <p:spPr bwMode="auto">
          <a:xfrm>
            <a:off x="3623709" y="2552257"/>
            <a:ext cx="606056" cy="797442"/>
          </a:xfrm>
          <a:prstGeom prst="rect">
            <a:avLst/>
          </a:prstGeom>
          <a:noFill/>
          <a:ln w="381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14" name="Straight Arrow Connector 13"/>
          <p:cNvCxnSpPr/>
          <p:nvPr/>
        </p:nvCxnSpPr>
        <p:spPr bwMode="auto">
          <a:xfrm flipH="1">
            <a:off x="2666778" y="3381597"/>
            <a:ext cx="1233377" cy="818706"/>
          </a:xfrm>
          <a:prstGeom prst="straightConnector1">
            <a:avLst/>
          </a:prstGeom>
          <a:noFill/>
          <a:ln w="38100" cap="flat" cmpd="sng" algn="ctr">
            <a:solidFill>
              <a:schemeClr val="accent1"/>
            </a:solidFill>
            <a:prstDash val="solid"/>
            <a:round/>
            <a:headEnd type="none" w="med" len="med"/>
            <a:tailEnd type="arrow"/>
          </a:ln>
          <a:effectLst/>
        </p:spPr>
      </p:cxnSp>
    </p:spTree>
    <p:extLst>
      <p:ext uri="{BB962C8B-B14F-4D97-AF65-F5344CB8AC3E}">
        <p14:creationId xmlns:p14="http://schemas.microsoft.com/office/powerpoint/2010/main" val="3711704716"/>
      </p:ext>
    </p:extLst>
  </p:cSld>
  <p:clrMapOvr>
    <a:masterClrMapping/>
  </p:clrMapOvr>
  <p:transition>
    <p:wipe dir="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This function replaces an invalid / null result with another value. </a:t>
            </a:r>
          </a:p>
          <a:p>
            <a:r>
              <a:rPr lang="en-US" dirty="0"/>
              <a:t>Syntax :</a:t>
            </a:r>
          </a:p>
          <a:p>
            <a:pPr algn="ctr">
              <a:buNone/>
            </a:pPr>
            <a:r>
              <a:rPr lang="en-US" dirty="0"/>
              <a:t>REPLACE(</a:t>
            </a:r>
            <a:r>
              <a:rPr lang="en-US" dirty="0" err="1"/>
              <a:t>Field,Value</a:t>
            </a:r>
            <a:r>
              <a:rPr lang="en-US" dirty="0"/>
              <a:t>)</a:t>
            </a:r>
          </a:p>
          <a:p>
            <a:pPr>
              <a:buNone/>
            </a:pPr>
            <a:endParaRPr lang="en-US" dirty="0"/>
          </a:p>
          <a:p>
            <a:r>
              <a:rPr lang="en-US" dirty="0"/>
              <a:t>Example :   REPLACE(Amount,0)</a:t>
            </a:r>
          </a:p>
        </p:txBody>
      </p:sp>
      <p:sp>
        <p:nvSpPr>
          <p:cNvPr id="2" name="Title 1"/>
          <p:cNvSpPr>
            <a:spLocks noGrp="1"/>
          </p:cNvSpPr>
          <p:nvPr>
            <p:ph type="title"/>
          </p:nvPr>
        </p:nvSpPr>
        <p:spPr/>
        <p:txBody>
          <a:bodyPr/>
          <a:lstStyle/>
          <a:p>
            <a:r>
              <a:rPr lang="en-US" dirty="0">
                <a:solidFill>
                  <a:schemeClr val="accent2"/>
                </a:solidFill>
              </a:rPr>
              <a:t>Replace</a:t>
            </a:r>
            <a:r>
              <a:rPr lang="en-US" dirty="0"/>
              <a:t> Function</a:t>
            </a:r>
          </a:p>
        </p:txBody>
      </p:sp>
    </p:spTree>
    <p:extLst>
      <p:ext uri="{BB962C8B-B14F-4D97-AF65-F5344CB8AC3E}">
        <p14:creationId xmlns:p14="http://schemas.microsoft.com/office/powerpoint/2010/main" val="3881822116"/>
      </p:ext>
    </p:extLst>
  </p:cSld>
  <p:clrMapOvr>
    <a:masterClrMapping/>
  </p:clrMapOvr>
  <p:transition>
    <p:wipe dir="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457200" y="1312000"/>
            <a:ext cx="2845558" cy="5029200"/>
          </a:xfrm>
        </p:spPr>
        <p:txBody>
          <a:bodyPr/>
          <a:lstStyle/>
          <a:p>
            <a:r>
              <a:rPr lang="en-US" dirty="0"/>
              <a:t>Amount is not calculated for missing peaks </a:t>
            </a:r>
          </a:p>
          <a:p>
            <a:r>
              <a:rPr lang="en-US" dirty="0"/>
              <a:t>We want an Amount value of 0 for the missing peaks</a:t>
            </a:r>
          </a:p>
          <a:p>
            <a:endParaRPr lang="en-US" dirty="0"/>
          </a:p>
        </p:txBody>
      </p:sp>
      <p:sp>
        <p:nvSpPr>
          <p:cNvPr id="4" name="Title 3"/>
          <p:cNvSpPr>
            <a:spLocks noGrp="1"/>
          </p:cNvSpPr>
          <p:nvPr>
            <p:ph type="title"/>
          </p:nvPr>
        </p:nvSpPr>
        <p:spPr/>
        <p:txBody>
          <a:bodyPr/>
          <a:lstStyle/>
          <a:p>
            <a:r>
              <a:rPr lang="en-US" dirty="0"/>
              <a:t>Example 8 </a:t>
            </a:r>
            <a:r>
              <a:rPr lang="en-US" dirty="0">
                <a:solidFill>
                  <a:schemeClr val="accent2"/>
                </a:solidFill>
              </a:rPr>
              <a:t>Replace</a:t>
            </a:r>
            <a:endParaRPr lang="en-US" dirty="0"/>
          </a:p>
        </p:txBody>
      </p:sp>
      <p:pic>
        <p:nvPicPr>
          <p:cNvPr id="8194" name="Picture 2"/>
          <p:cNvPicPr>
            <a:picLocks noChangeAspect="1" noChangeArrowheads="1"/>
          </p:cNvPicPr>
          <p:nvPr/>
        </p:nvPicPr>
        <p:blipFill>
          <a:blip r:embed="rId3" cstate="print"/>
          <a:srcRect l="1218" t="1264" r="1244" b="5249"/>
          <a:stretch>
            <a:fillRect/>
          </a:stretch>
        </p:blipFill>
        <p:spPr bwMode="auto">
          <a:xfrm>
            <a:off x="3507475" y="1364776"/>
            <a:ext cx="5268035" cy="4999630"/>
          </a:xfrm>
          <a:prstGeom prst="rect">
            <a:avLst/>
          </a:prstGeom>
          <a:noFill/>
          <a:ln w="9525">
            <a:noFill/>
            <a:miter lim="800000"/>
            <a:headEnd/>
            <a:tailEnd/>
          </a:ln>
        </p:spPr>
      </p:pic>
      <p:sp>
        <p:nvSpPr>
          <p:cNvPr id="6" name="Rectangle 5"/>
          <p:cNvSpPr/>
          <p:nvPr/>
        </p:nvSpPr>
        <p:spPr bwMode="auto">
          <a:xfrm>
            <a:off x="3559488" y="5450006"/>
            <a:ext cx="4886960" cy="44704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920833336"/>
      </p:ext>
    </p:extLst>
  </p:cSld>
  <p:clrMapOvr>
    <a:masterClrMapping/>
  </p:clrMapOvr>
  <p:transition>
    <p:wipe dir="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lstStyle/>
          <a:p>
            <a:r>
              <a:rPr lang="en-US" dirty="0"/>
              <a:t>Custom Field: </a:t>
            </a:r>
            <a:r>
              <a:rPr lang="en-US" dirty="0" err="1"/>
              <a:t>Amount_Final</a:t>
            </a:r>
            <a:r>
              <a:rPr lang="en-US" dirty="0"/>
              <a:t> = REPLACE(Amount,0)</a:t>
            </a:r>
          </a:p>
          <a:p>
            <a:endParaRPr lang="en-US" dirty="0"/>
          </a:p>
        </p:txBody>
      </p:sp>
      <p:sp>
        <p:nvSpPr>
          <p:cNvPr id="2" name="Title 1"/>
          <p:cNvSpPr>
            <a:spLocks noGrp="1"/>
          </p:cNvSpPr>
          <p:nvPr>
            <p:ph type="title"/>
          </p:nvPr>
        </p:nvSpPr>
        <p:spPr/>
        <p:txBody>
          <a:bodyPr/>
          <a:lstStyle/>
          <a:p>
            <a:r>
              <a:rPr lang="en-US" dirty="0"/>
              <a:t>Example 8 </a:t>
            </a:r>
            <a:r>
              <a:rPr lang="en-US" dirty="0">
                <a:solidFill>
                  <a:schemeClr val="accent2"/>
                </a:solidFill>
              </a:rPr>
              <a:t>Replace</a:t>
            </a:r>
          </a:p>
        </p:txBody>
      </p:sp>
      <p:pic>
        <p:nvPicPr>
          <p:cNvPr id="9218" name="Picture 2"/>
          <p:cNvPicPr>
            <a:picLocks noChangeAspect="1" noChangeArrowheads="1"/>
          </p:cNvPicPr>
          <p:nvPr/>
        </p:nvPicPr>
        <p:blipFill>
          <a:blip r:embed="rId3" cstate="print"/>
          <a:srcRect b="9969"/>
          <a:stretch>
            <a:fillRect/>
          </a:stretch>
        </p:blipFill>
        <p:spPr bwMode="auto">
          <a:xfrm>
            <a:off x="1839279" y="1899230"/>
            <a:ext cx="5350594" cy="4460628"/>
          </a:xfrm>
          <a:prstGeom prst="rect">
            <a:avLst/>
          </a:prstGeom>
          <a:noFill/>
          <a:ln w="9525">
            <a:noFill/>
            <a:miter lim="800000"/>
            <a:headEnd/>
            <a:tailEnd/>
          </a:ln>
        </p:spPr>
      </p:pic>
      <p:sp>
        <p:nvSpPr>
          <p:cNvPr id="5" name="Rectangle 4"/>
          <p:cNvSpPr/>
          <p:nvPr/>
        </p:nvSpPr>
        <p:spPr bwMode="auto">
          <a:xfrm>
            <a:off x="3166281" y="2295402"/>
            <a:ext cx="1378727" cy="229434"/>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6" name="Rectangle 5"/>
          <p:cNvSpPr/>
          <p:nvPr/>
        </p:nvSpPr>
        <p:spPr bwMode="auto">
          <a:xfrm>
            <a:off x="5996372" y="5014188"/>
            <a:ext cx="975360" cy="3048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7" name="Rectangle 6"/>
          <p:cNvSpPr/>
          <p:nvPr/>
        </p:nvSpPr>
        <p:spPr bwMode="auto">
          <a:xfrm>
            <a:off x="3254081" y="4750028"/>
            <a:ext cx="2750933" cy="28599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290359475"/>
      </p:ext>
    </p:extLst>
  </p:cSld>
  <p:clrMapOvr>
    <a:masterClrMapping/>
  </p:clrMapOvr>
  <p:transition>
    <p:wipe dir="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 </a:t>
            </a:r>
            <a:r>
              <a:rPr lang="en-US" dirty="0">
                <a:solidFill>
                  <a:schemeClr val="accent2"/>
                </a:solidFill>
              </a:rPr>
              <a:t>Replace</a:t>
            </a:r>
            <a:endParaRPr lang="en-US" dirty="0"/>
          </a:p>
        </p:txBody>
      </p:sp>
      <p:pic>
        <p:nvPicPr>
          <p:cNvPr id="10242" name="Picture 2"/>
          <p:cNvPicPr>
            <a:picLocks noChangeAspect="1" noChangeArrowheads="1"/>
          </p:cNvPicPr>
          <p:nvPr/>
        </p:nvPicPr>
        <p:blipFill>
          <a:blip r:embed="rId3" cstate="print"/>
          <a:srcRect/>
          <a:stretch>
            <a:fillRect/>
          </a:stretch>
        </p:blipFill>
        <p:spPr bwMode="auto">
          <a:xfrm>
            <a:off x="1670603" y="1391475"/>
            <a:ext cx="5805307" cy="4872848"/>
          </a:xfrm>
          <a:prstGeom prst="rect">
            <a:avLst/>
          </a:prstGeom>
          <a:noFill/>
          <a:ln w="9525">
            <a:noFill/>
            <a:miter lim="800000"/>
            <a:headEnd/>
            <a:tailEnd/>
          </a:ln>
        </p:spPr>
      </p:pic>
      <p:sp>
        <p:nvSpPr>
          <p:cNvPr id="4" name="Rectangle 3"/>
          <p:cNvSpPr/>
          <p:nvPr/>
        </p:nvSpPr>
        <p:spPr bwMode="auto">
          <a:xfrm>
            <a:off x="5810911" y="5341583"/>
            <a:ext cx="1620530" cy="4064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5" name="TextBox 4"/>
          <p:cNvSpPr txBox="1"/>
          <p:nvPr/>
        </p:nvSpPr>
        <p:spPr>
          <a:xfrm>
            <a:off x="3108960" y="6268720"/>
            <a:ext cx="3851375" cy="338554"/>
          </a:xfrm>
          <a:prstGeom prst="rect">
            <a:avLst/>
          </a:prstGeom>
          <a:noFill/>
        </p:spPr>
        <p:txBody>
          <a:bodyPr wrap="none" rtlCol="0">
            <a:spAutoFit/>
          </a:bodyPr>
          <a:lstStyle/>
          <a:p>
            <a:r>
              <a:rPr lang="en-US" dirty="0"/>
              <a:t>Invalid Amount value replaced by 0</a:t>
            </a:r>
          </a:p>
        </p:txBody>
      </p:sp>
      <p:cxnSp>
        <p:nvCxnSpPr>
          <p:cNvPr id="7" name="Straight Arrow Connector 6"/>
          <p:cNvCxnSpPr/>
          <p:nvPr/>
        </p:nvCxnSpPr>
        <p:spPr bwMode="auto">
          <a:xfrm flipV="1">
            <a:off x="4927600" y="5527040"/>
            <a:ext cx="1107440" cy="873760"/>
          </a:xfrm>
          <a:prstGeom prst="straightConnector1">
            <a:avLst/>
          </a:prstGeom>
          <a:noFill/>
          <a:ln w="28575" cap="flat" cmpd="sng" algn="ctr">
            <a:solidFill>
              <a:srgbClr val="FF0000"/>
            </a:solidFill>
            <a:prstDash val="solid"/>
            <a:round/>
            <a:headEnd type="none" w="med" len="med"/>
            <a:tailEnd type="arrow"/>
          </a:ln>
          <a:effectLst/>
        </p:spPr>
      </p:cxnSp>
      <p:cxnSp>
        <p:nvCxnSpPr>
          <p:cNvPr id="8" name="Straight Arrow Connector 7"/>
          <p:cNvCxnSpPr/>
          <p:nvPr/>
        </p:nvCxnSpPr>
        <p:spPr bwMode="auto">
          <a:xfrm flipV="1">
            <a:off x="6167120" y="5527040"/>
            <a:ext cx="924560" cy="20320"/>
          </a:xfrm>
          <a:prstGeom prst="straightConnector1">
            <a:avLst/>
          </a:prstGeom>
          <a:noFill/>
          <a:ln w="28575"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1916147568"/>
      </p:ext>
    </p:extLst>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Special Values</a:t>
            </a:r>
          </a:p>
          <a:p>
            <a:endParaRPr lang="en-US" dirty="0"/>
          </a:p>
        </p:txBody>
      </p:sp>
      <p:sp>
        <p:nvSpPr>
          <p:cNvPr id="3" name="Title 2"/>
          <p:cNvSpPr>
            <a:spLocks noGrp="1"/>
          </p:cNvSpPr>
          <p:nvPr>
            <p:ph type="title"/>
          </p:nvPr>
        </p:nvSpPr>
        <p:spPr/>
        <p:txBody>
          <a:bodyPr/>
          <a:lstStyle/>
          <a:p>
            <a:r>
              <a:rPr lang="en-US" dirty="0"/>
              <a:t>Custom Field Calculations Special Values</a:t>
            </a:r>
          </a:p>
        </p:txBody>
      </p:sp>
      <p:graphicFrame>
        <p:nvGraphicFramePr>
          <p:cNvPr id="4" name="Table 3"/>
          <p:cNvGraphicFramePr>
            <a:graphicFrameLocks noGrp="1"/>
          </p:cNvGraphicFramePr>
          <p:nvPr/>
        </p:nvGraphicFramePr>
        <p:xfrm>
          <a:off x="1315788" y="1892273"/>
          <a:ext cx="6462554" cy="4475480"/>
        </p:xfrm>
        <a:graphic>
          <a:graphicData uri="http://schemas.openxmlformats.org/drawingml/2006/table">
            <a:tbl>
              <a:tblPr firstRow="1" bandRow="1">
                <a:tableStyleId>{5C22544A-7EE6-4342-B048-85BDC9FD1C3A}</a:tableStyleId>
              </a:tblPr>
              <a:tblGrid>
                <a:gridCol w="1716688">
                  <a:extLst>
                    <a:ext uri="{9D8B030D-6E8A-4147-A177-3AD203B41FA5}">
                      <a16:colId xmlns:a16="http://schemas.microsoft.com/office/drawing/2014/main" val="20000"/>
                    </a:ext>
                  </a:extLst>
                </a:gridCol>
                <a:gridCol w="4745866">
                  <a:extLst>
                    <a:ext uri="{9D8B030D-6E8A-4147-A177-3AD203B41FA5}">
                      <a16:colId xmlns:a16="http://schemas.microsoft.com/office/drawing/2014/main" val="20001"/>
                    </a:ext>
                  </a:extLst>
                </a:gridCol>
              </a:tblGrid>
              <a:tr h="370840">
                <a:tc>
                  <a:txBody>
                    <a:bodyPr/>
                    <a:lstStyle/>
                    <a:p>
                      <a:pPr algn="ctr"/>
                      <a:r>
                        <a:rPr lang="en-US" sz="2000" dirty="0">
                          <a:latin typeface="Arial" pitchFamily="34" charset="0"/>
                          <a:cs typeface="Arial" pitchFamily="34" charset="0"/>
                        </a:rPr>
                        <a:t>Value</a:t>
                      </a:r>
                    </a:p>
                  </a:txBody>
                  <a:tcPr anchor="ctr"/>
                </a:tc>
                <a:tc>
                  <a:txBody>
                    <a:bodyPr/>
                    <a:lstStyle/>
                    <a:p>
                      <a:pPr algn="ctr"/>
                      <a:r>
                        <a:rPr lang="en-US" sz="2000" dirty="0">
                          <a:latin typeface="Arial" pitchFamily="34" charset="0"/>
                          <a:cs typeface="Arial" pitchFamily="34" charset="0"/>
                        </a:rPr>
                        <a:t>Translation</a:t>
                      </a:r>
                    </a:p>
                  </a:txBody>
                  <a:tcPr anchor="ctr"/>
                </a:tc>
                <a:extLst>
                  <a:ext uri="{0D108BD9-81ED-4DB2-BD59-A6C34878D82A}">
                    <a16:rowId xmlns:a16="http://schemas.microsoft.com/office/drawing/2014/main" val="10000"/>
                  </a:ext>
                </a:extLst>
              </a:tr>
              <a:tr h="370840">
                <a:tc>
                  <a:txBody>
                    <a:bodyPr/>
                    <a:lstStyle/>
                    <a:p>
                      <a:pPr algn="ctr"/>
                      <a:r>
                        <a:rPr lang="en-US" dirty="0">
                          <a:latin typeface="Arial" pitchFamily="34" charset="0"/>
                          <a:cs typeface="Arial" pitchFamily="34" charset="0"/>
                        </a:rPr>
                        <a:t>-50000</a:t>
                      </a:r>
                    </a:p>
                  </a:txBody>
                  <a:tcPr anchor="ctr"/>
                </a:tc>
                <a:tc>
                  <a:txBody>
                    <a:bodyPr/>
                    <a:lstStyle/>
                    <a:p>
                      <a:pPr algn="ctr"/>
                      <a:r>
                        <a:rPr lang="en-US" dirty="0">
                          <a:latin typeface="Arial" pitchFamily="34" charset="0"/>
                          <a:cs typeface="Arial" pitchFamily="34" charset="0"/>
                        </a:rPr>
                        <a:t>Blank (Null)</a:t>
                      </a:r>
                    </a:p>
                  </a:txBody>
                  <a:tcPr anchor="ctr"/>
                </a:tc>
                <a:extLst>
                  <a:ext uri="{0D108BD9-81ED-4DB2-BD59-A6C34878D82A}">
                    <a16:rowId xmlns:a16="http://schemas.microsoft.com/office/drawing/2014/main" val="10001"/>
                  </a:ext>
                </a:extLst>
              </a:tr>
              <a:tr h="370840">
                <a:tc>
                  <a:txBody>
                    <a:bodyPr/>
                    <a:lstStyle/>
                    <a:p>
                      <a:pPr algn="ctr"/>
                      <a:r>
                        <a:rPr lang="en-US" dirty="0">
                          <a:latin typeface="Arial" pitchFamily="34" charset="0"/>
                          <a:cs typeface="Arial" pitchFamily="34" charset="0"/>
                        </a:rPr>
                        <a:t>-60000</a:t>
                      </a:r>
                    </a:p>
                  </a:txBody>
                  <a:tcPr anchor="ctr"/>
                </a:tc>
                <a:tc>
                  <a:txBody>
                    <a:bodyPr/>
                    <a:lstStyle/>
                    <a:p>
                      <a:pPr algn="ctr"/>
                      <a:r>
                        <a:rPr lang="en-US" dirty="0">
                          <a:latin typeface="Arial" pitchFamily="34" charset="0"/>
                          <a:cs typeface="Arial" pitchFamily="34" charset="0"/>
                        </a:rPr>
                        <a:t>ND</a:t>
                      </a:r>
                    </a:p>
                  </a:txBody>
                  <a:tcPr anchor="ctr"/>
                </a:tc>
                <a:extLst>
                  <a:ext uri="{0D108BD9-81ED-4DB2-BD59-A6C34878D82A}">
                    <a16:rowId xmlns:a16="http://schemas.microsoft.com/office/drawing/2014/main" val="10002"/>
                  </a:ext>
                </a:extLst>
              </a:tr>
              <a:tr h="370840">
                <a:tc>
                  <a:txBody>
                    <a:bodyPr/>
                    <a:lstStyle/>
                    <a:p>
                      <a:pPr algn="ctr"/>
                      <a:r>
                        <a:rPr lang="en-US" dirty="0">
                          <a:latin typeface="Arial" pitchFamily="34" charset="0"/>
                          <a:cs typeface="Arial" pitchFamily="34" charset="0"/>
                        </a:rPr>
                        <a:t>-60001</a:t>
                      </a:r>
                    </a:p>
                  </a:txBody>
                  <a:tcPr anchor="ctr"/>
                </a:tc>
                <a:tc>
                  <a:txBody>
                    <a:bodyPr/>
                    <a:lstStyle/>
                    <a:p>
                      <a:pPr algn="ctr"/>
                      <a:r>
                        <a:rPr lang="en-US" dirty="0">
                          <a:latin typeface="Arial" pitchFamily="34" charset="0"/>
                          <a:cs typeface="Arial" pitchFamily="34" charset="0"/>
                        </a:rPr>
                        <a:t>N.D.</a:t>
                      </a:r>
                    </a:p>
                  </a:txBody>
                  <a:tcPr anchor="ctr"/>
                </a:tc>
                <a:extLst>
                  <a:ext uri="{0D108BD9-81ED-4DB2-BD59-A6C34878D82A}">
                    <a16:rowId xmlns:a16="http://schemas.microsoft.com/office/drawing/2014/main" val="10003"/>
                  </a:ext>
                </a:extLst>
              </a:tr>
              <a:tr h="370840">
                <a:tc>
                  <a:txBody>
                    <a:bodyPr/>
                    <a:lstStyle/>
                    <a:p>
                      <a:pPr algn="ctr"/>
                      <a:r>
                        <a:rPr lang="en-US" dirty="0">
                          <a:latin typeface="Arial" pitchFamily="34" charset="0"/>
                          <a:cs typeface="Arial" pitchFamily="34" charset="0"/>
                        </a:rPr>
                        <a:t>-60002</a:t>
                      </a:r>
                    </a:p>
                  </a:txBody>
                  <a:tcPr anchor="ctr"/>
                </a:tc>
                <a:tc>
                  <a:txBody>
                    <a:bodyPr/>
                    <a:lstStyle/>
                    <a:p>
                      <a:pPr algn="ctr"/>
                      <a:r>
                        <a:rPr lang="en-US" dirty="0">
                          <a:latin typeface="Arial" pitchFamily="34" charset="0"/>
                          <a:cs typeface="Arial" pitchFamily="34" charset="0"/>
                        </a:rPr>
                        <a:t>Not Detected</a:t>
                      </a:r>
                    </a:p>
                  </a:txBody>
                  <a:tcPr anchor="ctr"/>
                </a:tc>
                <a:extLst>
                  <a:ext uri="{0D108BD9-81ED-4DB2-BD59-A6C34878D82A}">
                    <a16:rowId xmlns:a16="http://schemas.microsoft.com/office/drawing/2014/main" val="10004"/>
                  </a:ext>
                </a:extLst>
              </a:tr>
              <a:tr h="370840">
                <a:tc>
                  <a:txBody>
                    <a:bodyPr/>
                    <a:lstStyle/>
                    <a:p>
                      <a:pPr algn="ctr"/>
                      <a:r>
                        <a:rPr lang="en-US" dirty="0">
                          <a:latin typeface="Arial" pitchFamily="34" charset="0"/>
                          <a:cs typeface="Arial" pitchFamily="34" charset="0"/>
                        </a:rPr>
                        <a:t>-60003</a:t>
                      </a:r>
                    </a:p>
                  </a:txBody>
                  <a:tcPr anchor="ctr"/>
                </a:tc>
                <a:tc>
                  <a:txBody>
                    <a:bodyPr/>
                    <a:lstStyle/>
                    <a:p>
                      <a:pPr algn="ctr"/>
                      <a:r>
                        <a:rPr lang="en-US" dirty="0">
                          <a:latin typeface="Arial" pitchFamily="34" charset="0"/>
                          <a:cs typeface="Arial" pitchFamily="34" charset="0"/>
                        </a:rPr>
                        <a:t>N/D</a:t>
                      </a:r>
                    </a:p>
                  </a:txBody>
                  <a:tcPr anchor="ctr"/>
                </a:tc>
                <a:extLst>
                  <a:ext uri="{0D108BD9-81ED-4DB2-BD59-A6C34878D82A}">
                    <a16:rowId xmlns:a16="http://schemas.microsoft.com/office/drawing/2014/main" val="10005"/>
                  </a:ext>
                </a:extLst>
              </a:tr>
              <a:tr h="370840">
                <a:tc>
                  <a:txBody>
                    <a:bodyPr/>
                    <a:lstStyle/>
                    <a:p>
                      <a:pPr algn="ctr"/>
                      <a:r>
                        <a:rPr lang="en-US" dirty="0">
                          <a:latin typeface="Arial" pitchFamily="34" charset="0"/>
                          <a:cs typeface="Arial" pitchFamily="34" charset="0"/>
                        </a:rPr>
                        <a:t>-60004</a:t>
                      </a:r>
                    </a:p>
                  </a:txBody>
                  <a:tcPr anchor="ctr"/>
                </a:tc>
                <a:tc>
                  <a:txBody>
                    <a:bodyPr/>
                    <a:lstStyle/>
                    <a:p>
                      <a:pPr algn="ctr"/>
                      <a:r>
                        <a:rPr lang="en-US" dirty="0">
                          <a:latin typeface="Arial" pitchFamily="34" charset="0"/>
                          <a:cs typeface="Arial" pitchFamily="34" charset="0"/>
                        </a:rPr>
                        <a:t>NA</a:t>
                      </a:r>
                    </a:p>
                  </a:txBody>
                  <a:tcPr anchor="ctr"/>
                </a:tc>
                <a:extLst>
                  <a:ext uri="{0D108BD9-81ED-4DB2-BD59-A6C34878D82A}">
                    <a16:rowId xmlns:a16="http://schemas.microsoft.com/office/drawing/2014/main" val="10006"/>
                  </a:ext>
                </a:extLst>
              </a:tr>
              <a:tr h="370840">
                <a:tc>
                  <a:txBody>
                    <a:bodyPr/>
                    <a:lstStyle/>
                    <a:p>
                      <a:pPr algn="ctr"/>
                      <a:r>
                        <a:rPr lang="en-US" dirty="0">
                          <a:latin typeface="Arial" pitchFamily="34" charset="0"/>
                          <a:cs typeface="Arial" pitchFamily="34" charset="0"/>
                        </a:rPr>
                        <a:t>-60005</a:t>
                      </a:r>
                    </a:p>
                  </a:txBody>
                  <a:tcPr anchor="ctr"/>
                </a:tc>
                <a:tc>
                  <a:txBody>
                    <a:bodyPr/>
                    <a:lstStyle/>
                    <a:p>
                      <a:pPr algn="ctr"/>
                      <a:r>
                        <a:rPr lang="en-US" dirty="0">
                          <a:latin typeface="Arial" pitchFamily="34" charset="0"/>
                          <a:cs typeface="Arial" pitchFamily="34" charset="0"/>
                        </a:rPr>
                        <a:t>Not Found</a:t>
                      </a:r>
                    </a:p>
                  </a:txBody>
                  <a:tcPr anchor="ctr"/>
                </a:tc>
                <a:extLst>
                  <a:ext uri="{0D108BD9-81ED-4DB2-BD59-A6C34878D82A}">
                    <a16:rowId xmlns:a16="http://schemas.microsoft.com/office/drawing/2014/main" val="10007"/>
                  </a:ext>
                </a:extLst>
              </a:tr>
              <a:tr h="370840">
                <a:tc>
                  <a:txBody>
                    <a:bodyPr/>
                    <a:lstStyle/>
                    <a:p>
                      <a:pPr algn="ctr"/>
                      <a:r>
                        <a:rPr lang="en-US" dirty="0">
                          <a:latin typeface="Arial" pitchFamily="34" charset="0"/>
                          <a:cs typeface="Arial" pitchFamily="34" charset="0"/>
                        </a:rPr>
                        <a:t>-60006</a:t>
                      </a:r>
                    </a:p>
                  </a:txBody>
                  <a:tcPr anchor="ctr"/>
                </a:tc>
                <a:tc>
                  <a:txBody>
                    <a:bodyPr/>
                    <a:lstStyle/>
                    <a:p>
                      <a:pPr algn="ctr"/>
                      <a:r>
                        <a:rPr lang="en-US" dirty="0">
                          <a:latin typeface="Arial" pitchFamily="34" charset="0"/>
                          <a:cs typeface="Arial" pitchFamily="34" charset="0"/>
                        </a:rPr>
                        <a:t>Below Detection Limit</a:t>
                      </a:r>
                    </a:p>
                  </a:txBody>
                  <a:tcPr anchor="ctr"/>
                </a:tc>
                <a:extLst>
                  <a:ext uri="{0D108BD9-81ED-4DB2-BD59-A6C34878D82A}">
                    <a16:rowId xmlns:a16="http://schemas.microsoft.com/office/drawing/2014/main" val="10008"/>
                  </a:ext>
                </a:extLst>
              </a:tr>
              <a:tr h="370840">
                <a:tc>
                  <a:txBody>
                    <a:bodyPr/>
                    <a:lstStyle/>
                    <a:p>
                      <a:pPr algn="ctr"/>
                      <a:r>
                        <a:rPr lang="en-US" dirty="0">
                          <a:latin typeface="Arial" pitchFamily="34" charset="0"/>
                          <a:cs typeface="Arial" pitchFamily="34" charset="0"/>
                        </a:rPr>
                        <a:t>-60007</a:t>
                      </a:r>
                    </a:p>
                  </a:txBody>
                  <a:tcPr anchor="ctr"/>
                </a:tc>
                <a:tc>
                  <a:txBody>
                    <a:bodyPr/>
                    <a:lstStyle/>
                    <a:p>
                      <a:pPr algn="ctr"/>
                      <a:r>
                        <a:rPr lang="en-US" dirty="0">
                          <a:latin typeface="Arial" pitchFamily="34" charset="0"/>
                          <a:cs typeface="Arial" pitchFamily="34" charset="0"/>
                        </a:rPr>
                        <a:t>BDL</a:t>
                      </a:r>
                    </a:p>
                  </a:txBody>
                  <a:tcPr anchor="ctr"/>
                </a:tc>
                <a:extLst>
                  <a:ext uri="{0D108BD9-81ED-4DB2-BD59-A6C34878D82A}">
                    <a16:rowId xmlns:a16="http://schemas.microsoft.com/office/drawing/2014/main" val="10009"/>
                  </a:ext>
                </a:extLst>
              </a:tr>
              <a:tr h="370840">
                <a:tc>
                  <a:txBody>
                    <a:bodyPr/>
                    <a:lstStyle/>
                    <a:p>
                      <a:pPr algn="ctr"/>
                      <a:r>
                        <a:rPr lang="en-US" dirty="0">
                          <a:latin typeface="Arial" pitchFamily="34" charset="0"/>
                          <a:cs typeface="Arial" pitchFamily="34" charset="0"/>
                        </a:rPr>
                        <a:t>-60008</a:t>
                      </a:r>
                    </a:p>
                  </a:txBody>
                  <a:tcPr anchor="ctr"/>
                </a:tc>
                <a:tc>
                  <a:txBody>
                    <a:bodyPr/>
                    <a:lstStyle/>
                    <a:p>
                      <a:pPr algn="ctr"/>
                      <a:r>
                        <a:rPr lang="en-US" dirty="0">
                          <a:latin typeface="Arial" pitchFamily="34" charset="0"/>
                          <a:cs typeface="Arial" pitchFamily="34" charset="0"/>
                        </a:rPr>
                        <a:t>Below Peak </a:t>
                      </a:r>
                      <a:r>
                        <a:rPr lang="en-US" dirty="0" err="1">
                          <a:latin typeface="Arial" pitchFamily="34" charset="0"/>
                          <a:cs typeface="Arial" pitchFamily="34" charset="0"/>
                        </a:rPr>
                        <a:t>Quantitation</a:t>
                      </a:r>
                      <a:r>
                        <a:rPr lang="en-US" dirty="0">
                          <a:latin typeface="Arial" pitchFamily="34" charset="0"/>
                          <a:cs typeface="Arial" pitchFamily="34" charset="0"/>
                        </a:rPr>
                        <a:t> Limit</a:t>
                      </a:r>
                    </a:p>
                  </a:txBody>
                  <a:tcPr anchor="ctr"/>
                </a:tc>
                <a:extLst>
                  <a:ext uri="{0D108BD9-81ED-4DB2-BD59-A6C34878D82A}">
                    <a16:rowId xmlns:a16="http://schemas.microsoft.com/office/drawing/2014/main" val="10010"/>
                  </a:ext>
                </a:extLst>
              </a:tr>
              <a:tr h="370840">
                <a:tc>
                  <a:txBody>
                    <a:bodyPr/>
                    <a:lstStyle/>
                    <a:p>
                      <a:pPr algn="ctr"/>
                      <a:r>
                        <a:rPr lang="en-US" dirty="0">
                          <a:latin typeface="Arial" pitchFamily="34" charset="0"/>
                          <a:cs typeface="Arial" pitchFamily="34" charset="0"/>
                        </a:rPr>
                        <a:t>-60009</a:t>
                      </a:r>
                    </a:p>
                  </a:txBody>
                  <a:tcPr anchor="ctr"/>
                </a:tc>
                <a:tc>
                  <a:txBody>
                    <a:bodyPr/>
                    <a:lstStyle/>
                    <a:p>
                      <a:pPr algn="ctr"/>
                      <a:r>
                        <a:rPr lang="en-US" dirty="0">
                          <a:latin typeface="Arial" pitchFamily="34" charset="0"/>
                          <a:cs typeface="Arial" pitchFamily="34" charset="0"/>
                        </a:rPr>
                        <a:t>BPQL</a:t>
                      </a:r>
                    </a:p>
                  </a:txBody>
                  <a:tcPr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002875831"/>
      </p:ext>
    </p:extLst>
  </p:cSld>
  <p:clrMapOvr>
    <a:masterClrMapping/>
  </p:clrMapOvr>
  <p:transition>
    <p:wipe dir="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SG" dirty="0"/>
              <a:t>Example: Special Value Calculation</a:t>
            </a:r>
          </a:p>
          <a:p>
            <a:pPr lvl="1"/>
            <a:r>
              <a:rPr lang="en-SG" dirty="0"/>
              <a:t>LOD = 0.2, LOQ = 0.6</a:t>
            </a:r>
          </a:p>
          <a:p>
            <a:pPr lvl="1"/>
            <a:r>
              <a:rPr lang="en-SG" dirty="0"/>
              <a:t>If Amount &gt; LOQ, then return Amount</a:t>
            </a:r>
          </a:p>
          <a:p>
            <a:pPr lvl="1"/>
            <a:r>
              <a:rPr lang="en-SG" dirty="0"/>
              <a:t>If Amount &lt; LOD, then return “Below Detection Limit””</a:t>
            </a:r>
          </a:p>
          <a:p>
            <a:pPr lvl="1"/>
            <a:r>
              <a:rPr lang="en-SG" dirty="0"/>
              <a:t>If LOD ≤ Amount ≤ LOQ, then return “Below Peak Quantitation Limit”</a:t>
            </a:r>
          </a:p>
          <a:p>
            <a:endParaRPr lang="en-SG" dirty="0"/>
          </a:p>
          <a:p>
            <a:r>
              <a:rPr lang="en-SG" dirty="0"/>
              <a:t>Formula: </a:t>
            </a:r>
          </a:p>
          <a:p>
            <a:pPr marL="0" indent="0">
              <a:buNone/>
            </a:pPr>
            <a:r>
              <a:rPr lang="en-SG" dirty="0"/>
              <a:t>GT(Amount, 0.6)*Amount + LT(Amount, 0.2)*-60006 +   RANGE(Amount, 0.2, 0.6)*-60008</a:t>
            </a:r>
          </a:p>
          <a:p>
            <a:endParaRPr lang="en-SG" dirty="0"/>
          </a:p>
          <a:p>
            <a:endParaRPr lang="en-SG" dirty="0"/>
          </a:p>
        </p:txBody>
      </p:sp>
      <p:sp>
        <p:nvSpPr>
          <p:cNvPr id="3" name="Title 2"/>
          <p:cNvSpPr>
            <a:spLocks noGrp="1"/>
          </p:cNvSpPr>
          <p:nvPr>
            <p:ph type="title"/>
          </p:nvPr>
        </p:nvSpPr>
        <p:spPr>
          <a:xfrm>
            <a:off x="457199" y="31468"/>
            <a:ext cx="6543675" cy="1005840"/>
          </a:xfrm>
        </p:spPr>
        <p:txBody>
          <a:bodyPr/>
          <a:lstStyle/>
          <a:p>
            <a:r>
              <a:rPr lang="en-US" dirty="0"/>
              <a:t>Example 9 Custom Fields – </a:t>
            </a:r>
            <a:r>
              <a:rPr lang="en-US" dirty="0">
                <a:solidFill>
                  <a:schemeClr val="accent2"/>
                </a:solidFill>
              </a:rPr>
              <a:t>Special Values</a:t>
            </a:r>
            <a:endParaRPr lang="en-SG" dirty="0">
              <a:solidFill>
                <a:schemeClr val="accent2"/>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564565137"/>
              </p:ext>
            </p:extLst>
          </p:nvPr>
        </p:nvGraphicFramePr>
        <p:xfrm>
          <a:off x="1406037" y="4902173"/>
          <a:ext cx="6462554" cy="1137920"/>
        </p:xfrm>
        <a:graphic>
          <a:graphicData uri="http://schemas.openxmlformats.org/drawingml/2006/table">
            <a:tbl>
              <a:tblPr firstRow="1" bandRow="1">
                <a:tableStyleId>{5C22544A-7EE6-4342-B048-85BDC9FD1C3A}</a:tableStyleId>
              </a:tblPr>
              <a:tblGrid>
                <a:gridCol w="1716688">
                  <a:extLst>
                    <a:ext uri="{9D8B030D-6E8A-4147-A177-3AD203B41FA5}">
                      <a16:colId xmlns:a16="http://schemas.microsoft.com/office/drawing/2014/main" val="20000"/>
                    </a:ext>
                  </a:extLst>
                </a:gridCol>
                <a:gridCol w="4745866">
                  <a:extLst>
                    <a:ext uri="{9D8B030D-6E8A-4147-A177-3AD203B41FA5}">
                      <a16:colId xmlns:a16="http://schemas.microsoft.com/office/drawing/2014/main" val="20001"/>
                    </a:ext>
                  </a:extLst>
                </a:gridCol>
              </a:tblGrid>
              <a:tr h="370840">
                <a:tc>
                  <a:txBody>
                    <a:bodyPr/>
                    <a:lstStyle/>
                    <a:p>
                      <a:pPr algn="ctr"/>
                      <a:r>
                        <a:rPr lang="en-US" sz="2000" dirty="0">
                          <a:latin typeface="Arial" pitchFamily="34" charset="0"/>
                          <a:cs typeface="Arial" pitchFamily="34" charset="0"/>
                        </a:rPr>
                        <a:t>Value</a:t>
                      </a:r>
                    </a:p>
                  </a:txBody>
                  <a:tcPr anchor="ctr"/>
                </a:tc>
                <a:tc>
                  <a:txBody>
                    <a:bodyPr/>
                    <a:lstStyle/>
                    <a:p>
                      <a:pPr algn="ctr"/>
                      <a:r>
                        <a:rPr lang="en-US" sz="2000" dirty="0">
                          <a:latin typeface="Arial" pitchFamily="34" charset="0"/>
                          <a:cs typeface="Arial" pitchFamily="34" charset="0"/>
                        </a:rPr>
                        <a:t>Translation</a:t>
                      </a:r>
                    </a:p>
                  </a:txBody>
                  <a:tcPr anchor="ctr"/>
                </a:tc>
                <a:extLst>
                  <a:ext uri="{0D108BD9-81ED-4DB2-BD59-A6C34878D82A}">
                    <a16:rowId xmlns:a16="http://schemas.microsoft.com/office/drawing/2014/main" val="10000"/>
                  </a:ext>
                </a:extLst>
              </a:tr>
              <a:tr h="370840">
                <a:tc>
                  <a:txBody>
                    <a:bodyPr/>
                    <a:lstStyle/>
                    <a:p>
                      <a:pPr algn="ctr"/>
                      <a:r>
                        <a:rPr lang="en-US" dirty="0">
                          <a:latin typeface="Arial" pitchFamily="34" charset="0"/>
                          <a:cs typeface="Arial" pitchFamily="34" charset="0"/>
                        </a:rPr>
                        <a:t>-60006</a:t>
                      </a:r>
                    </a:p>
                  </a:txBody>
                  <a:tcPr anchor="ctr"/>
                </a:tc>
                <a:tc>
                  <a:txBody>
                    <a:bodyPr/>
                    <a:lstStyle/>
                    <a:p>
                      <a:pPr algn="ctr"/>
                      <a:r>
                        <a:rPr lang="en-US" dirty="0">
                          <a:latin typeface="Arial" pitchFamily="34" charset="0"/>
                          <a:cs typeface="Arial" pitchFamily="34" charset="0"/>
                        </a:rPr>
                        <a:t>Below Detection Limit</a:t>
                      </a:r>
                    </a:p>
                  </a:txBody>
                  <a:tcPr anchor="ctr"/>
                </a:tc>
                <a:extLst>
                  <a:ext uri="{0D108BD9-81ED-4DB2-BD59-A6C34878D82A}">
                    <a16:rowId xmlns:a16="http://schemas.microsoft.com/office/drawing/2014/main" val="10008"/>
                  </a:ext>
                </a:extLst>
              </a:tr>
              <a:tr h="370840">
                <a:tc>
                  <a:txBody>
                    <a:bodyPr/>
                    <a:lstStyle/>
                    <a:p>
                      <a:pPr algn="ctr"/>
                      <a:r>
                        <a:rPr lang="en-US" dirty="0">
                          <a:latin typeface="Arial" pitchFamily="34" charset="0"/>
                          <a:cs typeface="Arial" pitchFamily="34" charset="0"/>
                        </a:rPr>
                        <a:t>-60008</a:t>
                      </a:r>
                    </a:p>
                  </a:txBody>
                  <a:tcPr anchor="ctr"/>
                </a:tc>
                <a:tc>
                  <a:txBody>
                    <a:bodyPr/>
                    <a:lstStyle/>
                    <a:p>
                      <a:pPr algn="ctr"/>
                      <a:r>
                        <a:rPr lang="en-US" dirty="0">
                          <a:latin typeface="Arial" pitchFamily="34" charset="0"/>
                          <a:cs typeface="Arial" pitchFamily="34" charset="0"/>
                        </a:rPr>
                        <a:t>Below Peak </a:t>
                      </a:r>
                      <a:r>
                        <a:rPr lang="en-US" dirty="0" err="1">
                          <a:latin typeface="Arial" pitchFamily="34" charset="0"/>
                          <a:cs typeface="Arial" pitchFamily="34" charset="0"/>
                        </a:rPr>
                        <a:t>Quantitation</a:t>
                      </a:r>
                      <a:r>
                        <a:rPr lang="en-US" dirty="0">
                          <a:latin typeface="Arial" pitchFamily="34" charset="0"/>
                          <a:cs typeface="Arial" pitchFamily="34" charset="0"/>
                        </a:rPr>
                        <a:t> Limit</a:t>
                      </a:r>
                    </a:p>
                  </a:txBody>
                  <a:tcPr anchor="ct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030833227"/>
      </p:ext>
    </p:extLst>
  </p:cSld>
  <p:clrMapOvr>
    <a:masterClrMapping/>
  </p:clrMapOvr>
  <p:transition>
    <p:wipe dir="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Example 9 Custom Fields – </a:t>
            </a:r>
            <a:r>
              <a:rPr lang="en-US" dirty="0">
                <a:solidFill>
                  <a:schemeClr val="accent2"/>
                </a:solidFill>
              </a:rPr>
              <a:t>Special Values</a:t>
            </a:r>
            <a:endParaRPr lang="en-US" dirty="0"/>
          </a:p>
        </p:txBody>
      </p:sp>
      <p:pic>
        <p:nvPicPr>
          <p:cNvPr id="1027" name="Picture 3"/>
          <p:cNvPicPr>
            <a:picLocks noChangeAspect="1" noChangeArrowheads="1"/>
          </p:cNvPicPr>
          <p:nvPr/>
        </p:nvPicPr>
        <p:blipFill>
          <a:blip r:embed="rId3" cstate="print"/>
          <a:srcRect l="548" t="591" r="548"/>
          <a:stretch>
            <a:fillRect/>
          </a:stretch>
        </p:blipFill>
        <p:spPr bwMode="auto">
          <a:xfrm>
            <a:off x="723070" y="1284348"/>
            <a:ext cx="4268030" cy="3978964"/>
          </a:xfrm>
          <a:prstGeom prst="rect">
            <a:avLst/>
          </a:prstGeom>
          <a:noFill/>
          <a:ln w="9525">
            <a:noFill/>
            <a:miter lim="800000"/>
            <a:headEnd/>
            <a:tailEnd/>
          </a:ln>
        </p:spPr>
      </p:pic>
      <p:sp>
        <p:nvSpPr>
          <p:cNvPr id="8" name="Rectangle 7"/>
          <p:cNvSpPr/>
          <p:nvPr/>
        </p:nvSpPr>
        <p:spPr bwMode="auto">
          <a:xfrm>
            <a:off x="1786890" y="1570354"/>
            <a:ext cx="1001404" cy="260063"/>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9" name="Rectangle 8"/>
          <p:cNvSpPr/>
          <p:nvPr/>
        </p:nvSpPr>
        <p:spPr bwMode="auto">
          <a:xfrm>
            <a:off x="852170" y="3075305"/>
            <a:ext cx="611384" cy="20805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pic>
        <p:nvPicPr>
          <p:cNvPr id="1026" name="Picture 2"/>
          <p:cNvPicPr>
            <a:picLocks noChangeAspect="1" noChangeArrowheads="1"/>
          </p:cNvPicPr>
          <p:nvPr/>
        </p:nvPicPr>
        <p:blipFill>
          <a:blip r:embed="rId4" cstate="print"/>
          <a:srcRect/>
          <a:stretch>
            <a:fillRect/>
          </a:stretch>
        </p:blipFill>
        <p:spPr bwMode="auto">
          <a:xfrm>
            <a:off x="3853814" y="3638550"/>
            <a:ext cx="4626803" cy="2499894"/>
          </a:xfrm>
          <a:prstGeom prst="rect">
            <a:avLst/>
          </a:prstGeom>
          <a:noFill/>
          <a:ln w="9525">
            <a:noFill/>
            <a:miter lim="800000"/>
            <a:headEnd/>
            <a:tailEnd/>
          </a:ln>
        </p:spPr>
      </p:pic>
      <p:sp>
        <p:nvSpPr>
          <p:cNvPr id="7" name="TextBox 6"/>
          <p:cNvSpPr txBox="1"/>
          <p:nvPr/>
        </p:nvSpPr>
        <p:spPr>
          <a:xfrm>
            <a:off x="5907315" y="1944914"/>
            <a:ext cx="2162628" cy="726609"/>
          </a:xfrm>
          <a:prstGeom prst="rect">
            <a:avLst/>
          </a:prstGeom>
          <a:noFill/>
          <a:ln w="28575">
            <a:solidFill>
              <a:schemeClr val="tx2">
                <a:lumMod val="75000"/>
              </a:schemeClr>
            </a:solidFill>
          </a:ln>
        </p:spPr>
        <p:txBody>
          <a:bodyPr wrap="square" rtlCol="0">
            <a:spAutoFit/>
          </a:bodyPr>
          <a:lstStyle/>
          <a:p>
            <a:pPr>
              <a:lnSpc>
                <a:spcPct val="120000"/>
              </a:lnSpc>
            </a:pPr>
            <a:r>
              <a:rPr lang="en-US" sz="1800" dirty="0">
                <a:latin typeface="Arial"/>
                <a:cs typeface="Arial"/>
              </a:rPr>
              <a:t>Do not need to use Translation Table! </a:t>
            </a:r>
          </a:p>
        </p:txBody>
      </p:sp>
      <p:sp>
        <p:nvSpPr>
          <p:cNvPr id="10" name="Rectangle 9"/>
          <p:cNvSpPr/>
          <p:nvPr/>
        </p:nvSpPr>
        <p:spPr bwMode="auto">
          <a:xfrm>
            <a:off x="3120390" y="1751329"/>
            <a:ext cx="861060" cy="95377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11" name="Straight Arrow Connector 10"/>
          <p:cNvCxnSpPr/>
          <p:nvPr/>
        </p:nvCxnSpPr>
        <p:spPr bwMode="auto">
          <a:xfrm flipV="1">
            <a:off x="4041775" y="2295525"/>
            <a:ext cx="1730375" cy="9525"/>
          </a:xfrm>
          <a:prstGeom prst="straightConnector1">
            <a:avLst/>
          </a:prstGeom>
          <a:noFill/>
          <a:ln w="28575"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563245770"/>
      </p:ext>
    </p:extLst>
  </p:cSld>
  <p:clrMapOvr>
    <a:masterClrMapping/>
  </p:clrMapOvr>
  <p:transition>
    <p:wipe dir="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err="1"/>
              <a:t>Intersample</a:t>
            </a:r>
            <a:r>
              <a:rPr lang="en-US" dirty="0"/>
              <a:t> Calculations</a:t>
            </a:r>
          </a:p>
        </p:txBody>
      </p:sp>
    </p:spTree>
    <p:extLst>
      <p:ext uri="{BB962C8B-B14F-4D97-AF65-F5344CB8AC3E}">
        <p14:creationId xmlns:p14="http://schemas.microsoft.com/office/powerpoint/2010/main" val="2158548863"/>
      </p:ext>
    </p:extLst>
  </p:cSld>
  <p:clrMapOvr>
    <a:masterClrMapping/>
  </p:clrMapOvr>
  <p:transition>
    <p:wipe dir="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err="1"/>
              <a:t>Intersample</a:t>
            </a:r>
            <a:r>
              <a:rPr lang="en-US" dirty="0"/>
              <a:t> Custom Fields Calculations</a:t>
            </a:r>
          </a:p>
          <a:p>
            <a:pPr lvl="1"/>
            <a:r>
              <a:rPr lang="en-US" dirty="0"/>
              <a:t>Syntax and Rules</a:t>
            </a:r>
          </a:p>
          <a:p>
            <a:pPr lvl="1"/>
            <a:r>
              <a:rPr lang="en-US" dirty="0"/>
              <a:t>Examples</a:t>
            </a:r>
          </a:p>
          <a:p>
            <a:r>
              <a:rPr lang="en-US" dirty="0"/>
              <a:t>Summary </a:t>
            </a:r>
            <a:r>
              <a:rPr lang="en-US" dirty="0" err="1"/>
              <a:t>Intersample</a:t>
            </a:r>
            <a:r>
              <a:rPr lang="en-US" dirty="0"/>
              <a:t> Custom Fields Calculations</a:t>
            </a:r>
          </a:p>
          <a:p>
            <a:pPr lvl="1"/>
            <a:r>
              <a:rPr lang="en-US" dirty="0"/>
              <a:t>Syntax and Rules</a:t>
            </a:r>
          </a:p>
          <a:p>
            <a:pPr lvl="1"/>
            <a:r>
              <a:rPr lang="en-US" dirty="0"/>
              <a:t>Examples </a:t>
            </a:r>
          </a:p>
          <a:p>
            <a:endParaRPr lang="en-US" dirty="0"/>
          </a:p>
        </p:txBody>
      </p:sp>
      <p:sp>
        <p:nvSpPr>
          <p:cNvPr id="3" name="Title 2"/>
          <p:cNvSpPr>
            <a:spLocks noGrp="1"/>
          </p:cNvSpPr>
          <p:nvPr>
            <p:ph type="title"/>
          </p:nvPr>
        </p:nvSpPr>
        <p:spPr/>
        <p:txBody>
          <a:bodyPr/>
          <a:lstStyle/>
          <a:p>
            <a:r>
              <a:rPr lang="en-US" dirty="0"/>
              <a:t>Outline</a:t>
            </a:r>
          </a:p>
        </p:txBody>
      </p:sp>
    </p:spTree>
    <p:extLst>
      <p:ext uri="{BB962C8B-B14F-4D97-AF65-F5344CB8AC3E}">
        <p14:creationId xmlns:p14="http://schemas.microsoft.com/office/powerpoint/2010/main" val="1886045023"/>
      </p:ext>
    </p:extLst>
  </p:cSld>
  <p:clrMapOvr>
    <a:masterClrMapping/>
  </p:clrMapOvr>
  <p:transition>
    <p:wipe dir="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Content Placeholder 2"/>
          <p:cNvSpPr>
            <a:spLocks noGrp="1"/>
          </p:cNvSpPr>
          <p:nvPr>
            <p:ph idx="1"/>
          </p:nvPr>
        </p:nvSpPr>
        <p:spPr>
          <a:ln>
            <a:noFill/>
          </a:ln>
        </p:spPr>
        <p:txBody>
          <a:bodyPr>
            <a:noAutofit/>
          </a:bodyPr>
          <a:lstStyle/>
          <a:p>
            <a:pPr>
              <a:defRPr/>
            </a:pPr>
            <a:r>
              <a:rPr lang="en-US" dirty="0"/>
              <a:t>Syntax:</a:t>
            </a:r>
          </a:p>
          <a:p>
            <a:pPr algn="ctr">
              <a:buNone/>
              <a:defRPr/>
            </a:pPr>
            <a:r>
              <a:rPr lang="en-US" dirty="0" err="1"/>
              <a:t>Label.Injection.Channel</a:t>
            </a:r>
            <a:r>
              <a:rPr lang="en-US" dirty="0"/>
              <a:t>(Field)</a:t>
            </a:r>
          </a:p>
          <a:p>
            <a:pPr>
              <a:defRPr/>
            </a:pPr>
            <a:endParaRPr lang="en-US" sz="1200" dirty="0"/>
          </a:p>
          <a:p>
            <a:pPr>
              <a:defRPr/>
            </a:pPr>
            <a:endParaRPr lang="en-US" sz="1200" dirty="0"/>
          </a:p>
          <a:p>
            <a:pPr>
              <a:defRPr/>
            </a:pPr>
            <a:endParaRPr lang="en-US" sz="1200" dirty="0"/>
          </a:p>
          <a:p>
            <a:pPr algn="ctr">
              <a:buNone/>
              <a:defRPr/>
            </a:pPr>
            <a:r>
              <a:rPr lang="en-US" dirty="0"/>
              <a:t>S0101.1.ACQUITY TUV </a:t>
            </a:r>
            <a:r>
              <a:rPr lang="en-US" dirty="0" err="1"/>
              <a:t>ChA</a:t>
            </a:r>
            <a:r>
              <a:rPr lang="en-US" dirty="0"/>
              <a:t>(Area)</a:t>
            </a:r>
          </a:p>
          <a:p>
            <a:pPr>
              <a:defRPr/>
            </a:pPr>
            <a:endParaRPr lang="en-US" sz="1400" dirty="0"/>
          </a:p>
          <a:p>
            <a:pPr>
              <a:defRPr/>
            </a:pPr>
            <a:r>
              <a:rPr lang="en-US" dirty="0"/>
              <a:t>Example:</a:t>
            </a:r>
          </a:p>
          <a:p>
            <a:pPr lvl="1">
              <a:defRPr/>
            </a:pPr>
            <a:r>
              <a:rPr lang="en-US" dirty="0"/>
              <a:t>S0101.1.ACQUITY TUV </a:t>
            </a:r>
            <a:r>
              <a:rPr lang="en-US" dirty="0" err="1"/>
              <a:t>ChA</a:t>
            </a:r>
            <a:r>
              <a:rPr lang="en-US" dirty="0"/>
              <a:t>(Area)</a:t>
            </a:r>
          </a:p>
          <a:p>
            <a:pPr lvl="1">
              <a:defRPr/>
            </a:pPr>
            <a:r>
              <a:rPr lang="en-US" dirty="0"/>
              <a:t>This would take the area of this TUV channel of the first injection of the sample labeled “S0101” and plug it into the calculation.</a:t>
            </a:r>
          </a:p>
          <a:p>
            <a:pPr>
              <a:defRPr/>
            </a:pPr>
            <a:endParaRPr lang="en-US" dirty="0"/>
          </a:p>
          <a:p>
            <a:pPr>
              <a:defRPr/>
            </a:pPr>
            <a:endParaRPr lang="nl-NL" dirty="0"/>
          </a:p>
        </p:txBody>
      </p:sp>
      <p:sp>
        <p:nvSpPr>
          <p:cNvPr id="2" name="Title 1"/>
          <p:cNvSpPr>
            <a:spLocks noGrp="1"/>
          </p:cNvSpPr>
          <p:nvPr>
            <p:ph type="title"/>
          </p:nvPr>
        </p:nvSpPr>
        <p:spPr/>
        <p:txBody>
          <a:bodyPr/>
          <a:lstStyle/>
          <a:p>
            <a:pPr>
              <a:defRPr/>
            </a:pPr>
            <a:r>
              <a:rPr lang="en-US" dirty="0" err="1"/>
              <a:t>Intersample</a:t>
            </a:r>
            <a:r>
              <a:rPr lang="en-US" dirty="0"/>
              <a:t> Calculations – </a:t>
            </a:r>
            <a:r>
              <a:rPr lang="en-US" dirty="0">
                <a:solidFill>
                  <a:schemeClr val="accent2"/>
                </a:solidFill>
              </a:rPr>
              <a:t>Syntax &amp; Rules</a:t>
            </a:r>
            <a:endParaRPr lang="nl-NL" dirty="0">
              <a:solidFill>
                <a:schemeClr val="accent2"/>
              </a:solidFill>
            </a:endParaRPr>
          </a:p>
        </p:txBody>
      </p:sp>
      <p:cxnSp>
        <p:nvCxnSpPr>
          <p:cNvPr id="5" name="Straight Arrow Connector 4"/>
          <p:cNvCxnSpPr/>
          <p:nvPr/>
        </p:nvCxnSpPr>
        <p:spPr bwMode="auto">
          <a:xfrm flipH="1">
            <a:off x="3093720" y="2116712"/>
            <a:ext cx="124803" cy="702688"/>
          </a:xfrm>
          <a:prstGeom prst="straightConnector1">
            <a:avLst/>
          </a:prstGeom>
          <a:noFill/>
          <a:ln w="38100" cap="flat" cmpd="sng" algn="ctr">
            <a:solidFill>
              <a:srgbClr val="FF0000"/>
            </a:solidFill>
            <a:prstDash val="solid"/>
            <a:round/>
            <a:headEnd type="none" w="med" len="med"/>
            <a:tailEnd type="arrow"/>
          </a:ln>
          <a:effectLst/>
        </p:spPr>
      </p:cxnSp>
      <p:cxnSp>
        <p:nvCxnSpPr>
          <p:cNvPr id="7" name="Straight Arrow Connector 6"/>
          <p:cNvCxnSpPr/>
          <p:nvPr/>
        </p:nvCxnSpPr>
        <p:spPr bwMode="auto">
          <a:xfrm flipH="1">
            <a:off x="3566161" y="2118360"/>
            <a:ext cx="380999" cy="716280"/>
          </a:xfrm>
          <a:prstGeom prst="straightConnector1">
            <a:avLst/>
          </a:prstGeom>
          <a:noFill/>
          <a:ln w="38100" cap="flat" cmpd="sng" algn="ctr">
            <a:solidFill>
              <a:srgbClr val="FF0000"/>
            </a:solidFill>
            <a:prstDash val="solid"/>
            <a:round/>
            <a:headEnd type="none" w="med" len="med"/>
            <a:tailEnd type="arrow"/>
          </a:ln>
          <a:effectLst/>
        </p:spPr>
      </p:cxnSp>
      <p:cxnSp>
        <p:nvCxnSpPr>
          <p:cNvPr id="9" name="Straight Arrow Connector 8"/>
          <p:cNvCxnSpPr/>
          <p:nvPr/>
        </p:nvCxnSpPr>
        <p:spPr bwMode="auto">
          <a:xfrm>
            <a:off x="5135469" y="2076759"/>
            <a:ext cx="15651" cy="742641"/>
          </a:xfrm>
          <a:prstGeom prst="straightConnector1">
            <a:avLst/>
          </a:prstGeom>
          <a:noFill/>
          <a:ln w="38100"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a:off x="6036688" y="2076759"/>
            <a:ext cx="165992" cy="788361"/>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943827853"/>
      </p:ext>
    </p:extLst>
  </p:cSld>
  <p:clrMapOvr>
    <a:masterClrMapping/>
  </p:clrMapOvr>
  <p:transition>
    <p:wipe dir="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Content Placeholder 2"/>
          <p:cNvSpPr>
            <a:spLocks noGrp="1"/>
          </p:cNvSpPr>
          <p:nvPr>
            <p:ph idx="1"/>
          </p:nvPr>
        </p:nvSpPr>
        <p:spPr>
          <a:ln>
            <a:noFill/>
          </a:ln>
        </p:spPr>
        <p:txBody>
          <a:bodyPr>
            <a:noAutofit/>
          </a:bodyPr>
          <a:lstStyle/>
          <a:p>
            <a:pPr>
              <a:defRPr/>
            </a:pPr>
            <a:r>
              <a:rPr lang="en-US" dirty="0"/>
              <a:t>Syntax:</a:t>
            </a:r>
          </a:p>
          <a:p>
            <a:pPr algn="ctr">
              <a:buNone/>
              <a:defRPr/>
            </a:pPr>
            <a:r>
              <a:rPr lang="en-US" dirty="0" err="1"/>
              <a:t>Label.Injection.Channel</a:t>
            </a:r>
            <a:r>
              <a:rPr lang="en-US" dirty="0"/>
              <a:t>(Field)</a:t>
            </a:r>
          </a:p>
          <a:p>
            <a:pPr>
              <a:defRPr/>
            </a:pPr>
            <a:endParaRPr lang="en-US" sz="1200" dirty="0"/>
          </a:p>
          <a:p>
            <a:pPr>
              <a:defRPr/>
            </a:pPr>
            <a:endParaRPr lang="en-US" sz="1200" dirty="0"/>
          </a:p>
          <a:p>
            <a:pPr>
              <a:defRPr/>
            </a:pPr>
            <a:endParaRPr lang="en-US" sz="1200" dirty="0"/>
          </a:p>
          <a:p>
            <a:pPr algn="ctr">
              <a:buNone/>
              <a:defRPr/>
            </a:pPr>
            <a:r>
              <a:rPr lang="en-US" dirty="0"/>
              <a:t>S0101.1.ACQUITY TUV </a:t>
            </a:r>
            <a:r>
              <a:rPr lang="en-US" dirty="0" err="1"/>
              <a:t>ChA</a:t>
            </a:r>
            <a:r>
              <a:rPr lang="en-US" dirty="0"/>
              <a:t>(Area)</a:t>
            </a:r>
          </a:p>
          <a:p>
            <a:pPr>
              <a:defRPr/>
            </a:pPr>
            <a:endParaRPr lang="en-US" sz="1400" dirty="0"/>
          </a:p>
          <a:p>
            <a:pPr>
              <a:defRPr/>
            </a:pPr>
            <a:r>
              <a:rPr lang="en-US" dirty="0"/>
              <a:t>Comments:</a:t>
            </a:r>
          </a:p>
          <a:p>
            <a:pPr lvl="1">
              <a:defRPr/>
            </a:pPr>
            <a:r>
              <a:rPr lang="en-US" dirty="0"/>
              <a:t>You can omit parts of the syntax but don’t omit the periods</a:t>
            </a:r>
          </a:p>
          <a:p>
            <a:pPr lvl="1">
              <a:defRPr/>
            </a:pPr>
            <a:r>
              <a:rPr lang="en-US" dirty="0" err="1"/>
              <a:t>Label.Inj</a:t>
            </a:r>
            <a:r>
              <a:rPr lang="en-US" dirty="0"/>
              <a:t>.(Field) = No Specific Channel</a:t>
            </a:r>
          </a:p>
          <a:p>
            <a:pPr lvl="1">
              <a:defRPr/>
            </a:pPr>
            <a:r>
              <a:rPr lang="en-US" dirty="0"/>
              <a:t>Label..Channel(Field) = No Specific Injection</a:t>
            </a:r>
          </a:p>
          <a:p>
            <a:pPr lvl="1">
              <a:defRPr/>
            </a:pPr>
            <a:r>
              <a:rPr lang="en-US" dirty="0"/>
              <a:t>Label..(Field) = No Specific Injection or Channel</a:t>
            </a:r>
          </a:p>
          <a:p>
            <a:pPr lvl="1">
              <a:defRPr/>
            </a:pPr>
            <a:r>
              <a:rPr lang="en-US" dirty="0"/>
              <a:t>.Inj.(Field) = No Specific Label or Channel</a:t>
            </a:r>
          </a:p>
          <a:p>
            <a:pPr lvl="1">
              <a:defRPr/>
            </a:pPr>
            <a:r>
              <a:rPr lang="en-US" dirty="0"/>
              <a:t>..(Field) = No Specific Label or Injection or Channel</a:t>
            </a:r>
          </a:p>
          <a:p>
            <a:pPr>
              <a:defRPr/>
            </a:pPr>
            <a:endParaRPr lang="en-US" dirty="0"/>
          </a:p>
          <a:p>
            <a:pPr>
              <a:defRPr/>
            </a:pPr>
            <a:endParaRPr lang="nl-NL" dirty="0"/>
          </a:p>
        </p:txBody>
      </p:sp>
      <p:sp>
        <p:nvSpPr>
          <p:cNvPr id="2" name="Title 1"/>
          <p:cNvSpPr>
            <a:spLocks noGrp="1"/>
          </p:cNvSpPr>
          <p:nvPr>
            <p:ph type="title"/>
          </p:nvPr>
        </p:nvSpPr>
        <p:spPr/>
        <p:txBody>
          <a:bodyPr/>
          <a:lstStyle/>
          <a:p>
            <a:pPr>
              <a:defRPr/>
            </a:pPr>
            <a:r>
              <a:rPr lang="en-US" dirty="0" err="1"/>
              <a:t>Intersample</a:t>
            </a:r>
            <a:r>
              <a:rPr lang="en-US" dirty="0"/>
              <a:t> Calculations – </a:t>
            </a:r>
            <a:r>
              <a:rPr lang="en-US" dirty="0">
                <a:solidFill>
                  <a:schemeClr val="accent2"/>
                </a:solidFill>
              </a:rPr>
              <a:t>Syntax &amp; Rules</a:t>
            </a:r>
            <a:endParaRPr lang="nl-NL" dirty="0">
              <a:solidFill>
                <a:schemeClr val="accent2"/>
              </a:solidFill>
            </a:endParaRPr>
          </a:p>
        </p:txBody>
      </p:sp>
      <p:cxnSp>
        <p:nvCxnSpPr>
          <p:cNvPr id="5" name="Straight Arrow Connector 4"/>
          <p:cNvCxnSpPr/>
          <p:nvPr/>
        </p:nvCxnSpPr>
        <p:spPr bwMode="auto">
          <a:xfrm flipH="1">
            <a:off x="3093720" y="2116712"/>
            <a:ext cx="124803" cy="702688"/>
          </a:xfrm>
          <a:prstGeom prst="straightConnector1">
            <a:avLst/>
          </a:prstGeom>
          <a:noFill/>
          <a:ln w="38100" cap="flat" cmpd="sng" algn="ctr">
            <a:solidFill>
              <a:srgbClr val="FF0000"/>
            </a:solidFill>
            <a:prstDash val="solid"/>
            <a:round/>
            <a:headEnd type="none" w="med" len="med"/>
            <a:tailEnd type="arrow"/>
          </a:ln>
          <a:effectLst/>
        </p:spPr>
      </p:cxnSp>
      <p:cxnSp>
        <p:nvCxnSpPr>
          <p:cNvPr id="7" name="Straight Arrow Connector 6"/>
          <p:cNvCxnSpPr/>
          <p:nvPr/>
        </p:nvCxnSpPr>
        <p:spPr bwMode="auto">
          <a:xfrm flipH="1">
            <a:off x="3566161" y="2118360"/>
            <a:ext cx="380999" cy="716280"/>
          </a:xfrm>
          <a:prstGeom prst="straightConnector1">
            <a:avLst/>
          </a:prstGeom>
          <a:noFill/>
          <a:ln w="38100" cap="flat" cmpd="sng" algn="ctr">
            <a:solidFill>
              <a:srgbClr val="FF0000"/>
            </a:solidFill>
            <a:prstDash val="solid"/>
            <a:round/>
            <a:headEnd type="none" w="med" len="med"/>
            <a:tailEnd type="arrow"/>
          </a:ln>
          <a:effectLst/>
        </p:spPr>
      </p:cxnSp>
      <p:cxnSp>
        <p:nvCxnSpPr>
          <p:cNvPr id="9" name="Straight Arrow Connector 8"/>
          <p:cNvCxnSpPr/>
          <p:nvPr/>
        </p:nvCxnSpPr>
        <p:spPr bwMode="auto">
          <a:xfrm>
            <a:off x="5135469" y="2076759"/>
            <a:ext cx="15651" cy="742641"/>
          </a:xfrm>
          <a:prstGeom prst="straightConnector1">
            <a:avLst/>
          </a:prstGeom>
          <a:noFill/>
          <a:ln w="38100"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a:off x="6036688" y="2076759"/>
            <a:ext cx="165992" cy="788361"/>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773491760"/>
      </p:ext>
    </p:extLst>
  </p:cSld>
  <p:clrMapOvr>
    <a:masterClrMapping/>
  </p:clrMapOvr>
  <p:transition>
    <p:wipe dir="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3"/>
          <p:cNvSpPr>
            <a:spLocks noGrp="1" noChangeArrowheads="1"/>
          </p:cNvSpPr>
          <p:nvPr>
            <p:ph idx="1"/>
          </p:nvPr>
        </p:nvSpPr>
        <p:spPr/>
        <p:txBody>
          <a:bodyPr/>
          <a:lstStyle/>
          <a:p>
            <a:pPr eaLnBrk="1" hangingPunct="1"/>
            <a:r>
              <a:rPr lang="en-US" dirty="0"/>
              <a:t>Wildcard: %	</a:t>
            </a:r>
          </a:p>
          <a:p>
            <a:pPr lvl="1" eaLnBrk="1" hangingPunct="1"/>
            <a:r>
              <a:rPr lang="en-US" dirty="0"/>
              <a:t>used to replace all characters (* in DOS)</a:t>
            </a:r>
          </a:p>
          <a:p>
            <a:pPr eaLnBrk="1" hangingPunct="1"/>
            <a:r>
              <a:rPr lang="en-US" dirty="0"/>
              <a:t>Wildcard: ?		</a:t>
            </a:r>
          </a:p>
          <a:p>
            <a:pPr lvl="1" eaLnBrk="1" hangingPunct="1"/>
            <a:r>
              <a:rPr lang="en-US" dirty="0"/>
              <a:t>used to replace one character (like in DOS)</a:t>
            </a:r>
          </a:p>
          <a:p>
            <a:pPr eaLnBrk="1" hangingPunct="1"/>
            <a:r>
              <a:rPr lang="en-US" dirty="0"/>
              <a:t>SAME		</a:t>
            </a:r>
          </a:p>
          <a:p>
            <a:pPr lvl="1" eaLnBrk="1" hangingPunct="1"/>
            <a:r>
              <a:rPr lang="en-US" dirty="0"/>
              <a:t>used to create one result with the same label and/or </a:t>
            </a:r>
            <a:br>
              <a:rPr lang="en-US" dirty="0"/>
            </a:br>
            <a:r>
              <a:rPr lang="en-US" dirty="0"/>
              <a:t>injection and/or channel</a:t>
            </a:r>
          </a:p>
          <a:p>
            <a:pPr lvl="1" eaLnBrk="1" hangingPunct="1"/>
            <a:endParaRPr lang="en-US" dirty="0"/>
          </a:p>
          <a:p>
            <a:r>
              <a:rPr lang="en-US" dirty="0"/>
              <a:t>Example : SAME.1.ACQUITY TUV </a:t>
            </a:r>
            <a:r>
              <a:rPr lang="en-US" dirty="0" err="1"/>
              <a:t>ChA</a:t>
            </a:r>
            <a:r>
              <a:rPr lang="en-US" dirty="0"/>
              <a:t>(Area)</a:t>
            </a:r>
          </a:p>
          <a:p>
            <a:endParaRPr lang="en-US" dirty="0"/>
          </a:p>
          <a:p>
            <a:endParaRPr lang="en-US" dirty="0"/>
          </a:p>
        </p:txBody>
      </p:sp>
      <p:sp>
        <p:nvSpPr>
          <p:cNvPr id="236546" name="Rectangle 2"/>
          <p:cNvSpPr>
            <a:spLocks noGrp="1" noChangeArrowheads="1"/>
          </p:cNvSpPr>
          <p:nvPr>
            <p:ph type="title"/>
          </p:nvPr>
        </p:nvSpPr>
        <p:spPr/>
        <p:txBody>
          <a:bodyPr/>
          <a:lstStyle/>
          <a:p>
            <a:pPr>
              <a:defRPr/>
            </a:pPr>
            <a:r>
              <a:rPr lang="en-US" dirty="0" err="1"/>
              <a:t>Intersample</a:t>
            </a:r>
            <a:r>
              <a:rPr lang="en-US" dirty="0"/>
              <a:t> Calculations – </a:t>
            </a:r>
            <a:r>
              <a:rPr lang="en-US" dirty="0">
                <a:solidFill>
                  <a:schemeClr val="accent2"/>
                </a:solidFill>
              </a:rPr>
              <a:t>Syntax &amp; Rules</a:t>
            </a:r>
            <a:endParaRPr lang="en-US" dirty="0"/>
          </a:p>
        </p:txBody>
      </p:sp>
    </p:spTree>
    <p:extLst>
      <p:ext uri="{BB962C8B-B14F-4D97-AF65-F5344CB8AC3E}">
        <p14:creationId xmlns:p14="http://schemas.microsoft.com/office/powerpoint/2010/main" val="1069507950"/>
      </p:ext>
    </p:extLst>
  </p:cSld>
  <p:clrMapOvr>
    <a:masterClrMapping/>
  </p:clrMapOvr>
  <p:transition>
    <p:wipe dir="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idx="1"/>
          </p:nvPr>
        </p:nvSpPr>
        <p:spPr/>
        <p:txBody>
          <a:bodyPr/>
          <a:lstStyle/>
          <a:p>
            <a:r>
              <a:rPr lang="en-US" dirty="0"/>
              <a:t>In the Blank we have a peak that interferes with caffeine. To correct this we subtract the Blank area  from the Standard and Sample areas</a:t>
            </a:r>
          </a:p>
          <a:p>
            <a:endParaRPr lang="en-US" dirty="0"/>
          </a:p>
        </p:txBody>
      </p:sp>
      <p:sp>
        <p:nvSpPr>
          <p:cNvPr id="214018" name="Rectangle 2"/>
          <p:cNvSpPr>
            <a:spLocks noGrp="1" noChangeArrowheads="1"/>
          </p:cNvSpPr>
          <p:nvPr>
            <p:ph type="title"/>
          </p:nvPr>
        </p:nvSpPr>
        <p:spPr/>
        <p:txBody>
          <a:bodyPr/>
          <a:lstStyle/>
          <a:p>
            <a:pPr eaLnBrk="1" hangingPunct="1">
              <a:defRPr/>
            </a:pPr>
            <a:r>
              <a:rPr lang="en-US" dirty="0" err="1"/>
              <a:t>Intersample</a:t>
            </a:r>
            <a:r>
              <a:rPr lang="en-US" dirty="0"/>
              <a:t> Calculation</a:t>
            </a:r>
            <a:br>
              <a:rPr lang="en-US" dirty="0"/>
            </a:br>
            <a:r>
              <a:rPr lang="en-US" dirty="0">
                <a:solidFill>
                  <a:schemeClr val="accent2"/>
                </a:solidFill>
              </a:rPr>
              <a:t>Example 1 Blank Area Subtraction</a:t>
            </a:r>
          </a:p>
        </p:txBody>
      </p:sp>
      <p:pic>
        <p:nvPicPr>
          <p:cNvPr id="51204" name="Picture 3"/>
          <p:cNvPicPr>
            <a:picLocks noChangeAspect="1" noChangeArrowheads="1"/>
          </p:cNvPicPr>
          <p:nvPr/>
        </p:nvPicPr>
        <p:blipFill>
          <a:blip r:embed="rId3" cstate="print"/>
          <a:srcRect/>
          <a:stretch>
            <a:fillRect/>
          </a:stretch>
        </p:blipFill>
        <p:spPr bwMode="auto">
          <a:xfrm>
            <a:off x="971797" y="2209800"/>
            <a:ext cx="3886200" cy="2800350"/>
          </a:xfrm>
          <a:prstGeom prst="rect">
            <a:avLst/>
          </a:prstGeom>
          <a:noFill/>
          <a:ln w="25400">
            <a:solidFill>
              <a:schemeClr val="hlink"/>
            </a:solidFill>
            <a:miter lim="800000"/>
            <a:headEnd/>
            <a:tailEnd/>
          </a:ln>
        </p:spPr>
      </p:pic>
      <p:pic>
        <p:nvPicPr>
          <p:cNvPr id="51206" name="Picture 5"/>
          <p:cNvPicPr>
            <a:picLocks noChangeAspect="1" noChangeArrowheads="1"/>
          </p:cNvPicPr>
          <p:nvPr/>
        </p:nvPicPr>
        <p:blipFill>
          <a:blip r:embed="rId3" cstate="print"/>
          <a:srcRect l="64696" t="60855" r="13689" b="26540"/>
          <a:stretch>
            <a:fillRect/>
          </a:stretch>
        </p:blipFill>
        <p:spPr bwMode="auto">
          <a:xfrm>
            <a:off x="1428997" y="5091545"/>
            <a:ext cx="3048000" cy="1282700"/>
          </a:xfrm>
          <a:prstGeom prst="rect">
            <a:avLst/>
          </a:prstGeom>
          <a:noFill/>
          <a:ln w="25400">
            <a:solidFill>
              <a:srgbClr val="FF0000"/>
            </a:solidFill>
            <a:miter lim="800000"/>
            <a:headEnd/>
            <a:tailEnd/>
          </a:ln>
        </p:spPr>
      </p:pic>
      <p:sp>
        <p:nvSpPr>
          <p:cNvPr id="51207" name="Rectangle 6"/>
          <p:cNvSpPr>
            <a:spLocks noChangeArrowheads="1"/>
          </p:cNvSpPr>
          <p:nvPr/>
        </p:nvSpPr>
        <p:spPr bwMode="auto">
          <a:xfrm>
            <a:off x="3486397" y="3886200"/>
            <a:ext cx="762000" cy="381000"/>
          </a:xfrm>
          <a:prstGeom prst="rect">
            <a:avLst/>
          </a:prstGeom>
          <a:noFill/>
          <a:ln w="25400">
            <a:solidFill>
              <a:srgbClr val="FF0000"/>
            </a:solidFill>
            <a:miter lim="800000"/>
            <a:headEnd/>
            <a:tailEnd/>
          </a:ln>
        </p:spPr>
        <p:txBody>
          <a:bodyPr wrap="none" anchor="ctr"/>
          <a:lstStyle/>
          <a:p>
            <a:endParaRPr lang="en-US"/>
          </a:p>
        </p:txBody>
      </p:sp>
      <p:sp>
        <p:nvSpPr>
          <p:cNvPr id="51208" name="Line 7"/>
          <p:cNvSpPr>
            <a:spLocks noChangeShapeType="1"/>
          </p:cNvSpPr>
          <p:nvPr/>
        </p:nvSpPr>
        <p:spPr bwMode="auto">
          <a:xfrm flipH="1">
            <a:off x="1425039" y="4279900"/>
            <a:ext cx="2048658" cy="790864"/>
          </a:xfrm>
          <a:prstGeom prst="line">
            <a:avLst/>
          </a:prstGeom>
          <a:noFill/>
          <a:ln w="25400">
            <a:solidFill>
              <a:srgbClr val="FF0000"/>
            </a:solidFill>
            <a:round/>
            <a:headEnd/>
            <a:tailEnd/>
          </a:ln>
        </p:spPr>
        <p:txBody>
          <a:bodyPr/>
          <a:lstStyle/>
          <a:p>
            <a:endParaRPr lang="en-US"/>
          </a:p>
        </p:txBody>
      </p:sp>
      <p:sp>
        <p:nvSpPr>
          <p:cNvPr id="51209" name="Line 8"/>
          <p:cNvSpPr>
            <a:spLocks noChangeShapeType="1"/>
          </p:cNvSpPr>
          <p:nvPr/>
        </p:nvSpPr>
        <p:spPr bwMode="auto">
          <a:xfrm>
            <a:off x="4248397" y="4254500"/>
            <a:ext cx="216725" cy="840014"/>
          </a:xfrm>
          <a:prstGeom prst="line">
            <a:avLst/>
          </a:prstGeom>
          <a:noFill/>
          <a:ln w="25400">
            <a:solidFill>
              <a:srgbClr val="FF0000"/>
            </a:solidFill>
            <a:round/>
            <a:headEnd/>
            <a:tailEnd/>
          </a:ln>
        </p:spPr>
        <p:txBody>
          <a:bodyPr/>
          <a:lstStyle/>
          <a:p>
            <a:endParaRPr lang="en-US"/>
          </a:p>
        </p:txBody>
      </p:sp>
      <p:sp>
        <p:nvSpPr>
          <p:cNvPr id="51210" name="Text Box 9"/>
          <p:cNvSpPr txBox="1">
            <a:spLocks noChangeArrowheads="1"/>
          </p:cNvSpPr>
          <p:nvPr/>
        </p:nvSpPr>
        <p:spPr bwMode="auto">
          <a:xfrm>
            <a:off x="5177641" y="2392877"/>
            <a:ext cx="3241964" cy="2246769"/>
          </a:xfrm>
          <a:prstGeom prst="rect">
            <a:avLst/>
          </a:prstGeom>
          <a:noFill/>
          <a:ln w="25400">
            <a:noFill/>
            <a:miter lim="800000"/>
            <a:headEnd/>
            <a:tailEnd/>
          </a:ln>
        </p:spPr>
        <p:txBody>
          <a:bodyPr wrap="square">
            <a:spAutoFit/>
          </a:bodyPr>
          <a:lstStyle/>
          <a:p>
            <a:pPr algn="l" eaLnBrk="0" hangingPunct="0"/>
            <a:r>
              <a:rPr lang="en-US" sz="2000" dirty="0">
                <a:latin typeface="Arial" pitchFamily="34" charset="0"/>
              </a:rPr>
              <a:t>We create CF:</a:t>
            </a:r>
          </a:p>
          <a:p>
            <a:pPr eaLnBrk="0" hangingPunct="0"/>
            <a:r>
              <a:rPr lang="en-US" sz="2000" dirty="0" err="1">
                <a:latin typeface="Arial" pitchFamily="34" charset="0"/>
              </a:rPr>
              <a:t>Area_Subtr</a:t>
            </a:r>
            <a:r>
              <a:rPr lang="en-US" sz="2000" dirty="0">
                <a:latin typeface="Arial" pitchFamily="34" charset="0"/>
              </a:rPr>
              <a:t>=Area-(BL..(Area))</a:t>
            </a:r>
          </a:p>
          <a:p>
            <a:pPr eaLnBrk="0" hangingPunct="0"/>
            <a:endParaRPr lang="en-US" sz="2000" dirty="0">
              <a:latin typeface="Arial" pitchFamily="34" charset="0"/>
            </a:endParaRPr>
          </a:p>
          <a:p>
            <a:pPr algn="l" eaLnBrk="0" hangingPunct="0"/>
            <a:r>
              <a:rPr lang="en-US" sz="2000" dirty="0">
                <a:latin typeface="Arial" pitchFamily="34" charset="0"/>
              </a:rPr>
              <a:t>And use this in the Comp. Table as the Y-value for the Calibration Curve</a:t>
            </a:r>
          </a:p>
        </p:txBody>
      </p:sp>
    </p:spTree>
    <p:extLst>
      <p:ext uri="{BB962C8B-B14F-4D97-AF65-F5344CB8AC3E}">
        <p14:creationId xmlns:p14="http://schemas.microsoft.com/office/powerpoint/2010/main" val="2101651072"/>
      </p:ext>
    </p:extLst>
  </p:cSld>
  <p:clrMapOvr>
    <a:masterClrMapping/>
  </p:clrMapOvr>
  <p:transition>
    <p:wipe dir="r"/>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a:defRPr/>
            </a:pPr>
            <a:r>
              <a:rPr lang="en-US" dirty="0" err="1"/>
              <a:t>Intersample</a:t>
            </a:r>
            <a:r>
              <a:rPr lang="en-US" dirty="0"/>
              <a:t> Calculation</a:t>
            </a:r>
            <a:br>
              <a:rPr lang="en-US" dirty="0"/>
            </a:br>
            <a:r>
              <a:rPr lang="en-US" dirty="0">
                <a:solidFill>
                  <a:schemeClr val="accent2"/>
                </a:solidFill>
              </a:rPr>
              <a:t>Example 1 Blank Area Subtraction</a:t>
            </a:r>
            <a:endParaRPr lang="en-US" dirty="0"/>
          </a:p>
        </p:txBody>
      </p:sp>
      <p:sp>
        <p:nvSpPr>
          <p:cNvPr id="52228" name="Rectangle 3"/>
          <p:cNvSpPr>
            <a:spLocks noGrp="1" noChangeArrowheads="1"/>
          </p:cNvSpPr>
          <p:nvPr>
            <p:ph idx="4294967295"/>
          </p:nvPr>
        </p:nvSpPr>
        <p:spPr>
          <a:xfrm>
            <a:off x="784225" y="1311275"/>
            <a:ext cx="8359775" cy="5029200"/>
          </a:xfrm>
          <a:solidFill>
            <a:schemeClr val="bg1"/>
          </a:solidFill>
        </p:spPr>
        <p:txBody>
          <a:bodyPr/>
          <a:lstStyle/>
          <a:p>
            <a:pPr eaLnBrk="1" hangingPunct="1">
              <a:buNone/>
            </a:pPr>
            <a:r>
              <a:rPr lang="en-US" sz="1800" dirty="0"/>
              <a:t>Area-(BL..(Area))</a:t>
            </a:r>
          </a:p>
        </p:txBody>
      </p:sp>
      <p:pic>
        <p:nvPicPr>
          <p:cNvPr id="2050" name="Picture 2"/>
          <p:cNvPicPr>
            <a:picLocks noChangeAspect="1" noChangeArrowheads="1"/>
          </p:cNvPicPr>
          <p:nvPr/>
        </p:nvPicPr>
        <p:blipFill>
          <a:blip r:embed="rId3" cstate="print"/>
          <a:srcRect l="23667" t="5660" r="1944" b="9179"/>
          <a:stretch>
            <a:fillRect/>
          </a:stretch>
        </p:blipFill>
        <p:spPr bwMode="auto">
          <a:xfrm>
            <a:off x="4465123" y="1438460"/>
            <a:ext cx="4108862" cy="4356699"/>
          </a:xfrm>
          <a:prstGeom prst="rect">
            <a:avLst/>
          </a:prstGeom>
          <a:noFill/>
          <a:ln w="9525">
            <a:noFill/>
            <a:miter lim="800000"/>
            <a:headEnd/>
            <a:tailEnd/>
          </a:ln>
        </p:spPr>
      </p:pic>
      <p:sp>
        <p:nvSpPr>
          <p:cNvPr id="20" name="Rectangle 19"/>
          <p:cNvSpPr/>
          <p:nvPr/>
        </p:nvSpPr>
        <p:spPr bwMode="auto">
          <a:xfrm>
            <a:off x="4518151" y="1569594"/>
            <a:ext cx="1334529" cy="247135"/>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pic>
        <p:nvPicPr>
          <p:cNvPr id="8" name="Picture 2"/>
          <p:cNvPicPr>
            <a:picLocks noChangeAspect="1" noChangeArrowheads="1"/>
          </p:cNvPicPr>
          <p:nvPr/>
        </p:nvPicPr>
        <p:blipFill>
          <a:blip r:embed="rId4" cstate="print"/>
          <a:srcRect l="36417" t="49344" r="54921" b="40245"/>
          <a:stretch>
            <a:fillRect/>
          </a:stretch>
        </p:blipFill>
        <p:spPr bwMode="auto">
          <a:xfrm>
            <a:off x="906764" y="1376212"/>
            <a:ext cx="2214404" cy="1497617"/>
          </a:xfrm>
          <a:prstGeom prst="rect">
            <a:avLst/>
          </a:prstGeom>
          <a:noFill/>
          <a:ln w="9525">
            <a:noFill/>
            <a:miter lim="800000"/>
            <a:headEnd/>
            <a:tailEnd/>
          </a:ln>
        </p:spPr>
      </p:pic>
      <p:sp>
        <p:nvSpPr>
          <p:cNvPr id="9" name="Rectangle 8"/>
          <p:cNvSpPr/>
          <p:nvPr/>
        </p:nvSpPr>
        <p:spPr bwMode="auto">
          <a:xfrm>
            <a:off x="4542312" y="3586348"/>
            <a:ext cx="1361440" cy="54534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10" name="TextBox 4"/>
          <p:cNvSpPr txBox="1">
            <a:spLocks noChangeArrowheads="1"/>
          </p:cNvSpPr>
          <p:nvPr/>
        </p:nvSpPr>
        <p:spPr bwMode="auto">
          <a:xfrm>
            <a:off x="561173" y="2937689"/>
            <a:ext cx="3654566" cy="1077218"/>
          </a:xfrm>
          <a:prstGeom prst="rect">
            <a:avLst/>
          </a:prstGeom>
          <a:noFill/>
          <a:ln w="38100">
            <a:noFill/>
            <a:miter lim="800000"/>
            <a:headEnd/>
            <a:tailEnd/>
          </a:ln>
        </p:spPr>
        <p:txBody>
          <a:bodyPr wrap="square">
            <a:spAutoFit/>
          </a:bodyPr>
          <a:lstStyle/>
          <a:p>
            <a:pPr algn="l"/>
            <a:r>
              <a:rPr lang="en-US" dirty="0">
                <a:latin typeface="Arial" pitchFamily="34" charset="0"/>
                <a:cs typeface="Arial" pitchFamily="34" charset="0"/>
              </a:rPr>
              <a:t>Use </a:t>
            </a:r>
            <a:r>
              <a:rPr lang="en-US" dirty="0">
                <a:solidFill>
                  <a:schemeClr val="accent2"/>
                </a:solidFill>
                <a:latin typeface="Arial" pitchFamily="34" charset="0"/>
                <a:cs typeface="Arial" pitchFamily="34" charset="0"/>
              </a:rPr>
              <a:t>Result Set Only</a:t>
            </a:r>
            <a:r>
              <a:rPr lang="en-US" dirty="0">
                <a:latin typeface="Arial" pitchFamily="34" charset="0"/>
                <a:cs typeface="Arial" pitchFamily="34" charset="0"/>
              </a:rPr>
              <a:t> to be sure that the Blank injection comes from the same Sample Set.</a:t>
            </a:r>
          </a:p>
          <a:p>
            <a:pPr algn="l"/>
            <a:r>
              <a:rPr lang="en-US" dirty="0">
                <a:latin typeface="Arial" pitchFamily="34" charset="0"/>
                <a:cs typeface="Arial" pitchFamily="34" charset="0"/>
              </a:rPr>
              <a:t>Must process the Sample/Result Set</a:t>
            </a:r>
          </a:p>
        </p:txBody>
      </p:sp>
      <p:cxnSp>
        <p:nvCxnSpPr>
          <p:cNvPr id="12" name="Straight Arrow Connector 11"/>
          <p:cNvCxnSpPr>
            <a:stCxn id="9" idx="1"/>
            <a:endCxn id="8" idx="3"/>
          </p:cNvCxnSpPr>
          <p:nvPr/>
        </p:nvCxnSpPr>
        <p:spPr bwMode="auto">
          <a:xfrm flipH="1" flipV="1">
            <a:off x="3121168" y="2125021"/>
            <a:ext cx="1421144" cy="1733998"/>
          </a:xfrm>
          <a:prstGeom prst="straightConnector1">
            <a:avLst/>
          </a:prstGeom>
          <a:noFill/>
          <a:ln w="38100" cap="flat" cmpd="sng" algn="ctr">
            <a:solidFill>
              <a:srgbClr val="FF0000"/>
            </a:solidFill>
            <a:prstDash val="solid"/>
            <a:round/>
            <a:headEnd type="none" w="med" len="med"/>
            <a:tailEnd type="arrow"/>
          </a:ln>
          <a:effectLst/>
        </p:spPr>
      </p:cxnSp>
      <p:grpSp>
        <p:nvGrpSpPr>
          <p:cNvPr id="25" name="Group 24"/>
          <p:cNvGrpSpPr/>
          <p:nvPr/>
        </p:nvGrpSpPr>
        <p:grpSpPr>
          <a:xfrm>
            <a:off x="640109" y="4065252"/>
            <a:ext cx="3351847" cy="1996441"/>
            <a:chOff x="640109" y="4065252"/>
            <a:chExt cx="3351847" cy="1996441"/>
          </a:xfrm>
        </p:grpSpPr>
        <p:grpSp>
          <p:nvGrpSpPr>
            <p:cNvPr id="14" name="Group 4"/>
            <p:cNvGrpSpPr>
              <a:grpSpLocks/>
            </p:cNvGrpSpPr>
            <p:nvPr/>
          </p:nvGrpSpPr>
          <p:grpSpPr bwMode="auto">
            <a:xfrm>
              <a:off x="640109" y="4065252"/>
              <a:ext cx="3351847" cy="1996441"/>
              <a:chOff x="167" y="1040"/>
              <a:chExt cx="1879" cy="1016"/>
            </a:xfrm>
          </p:grpSpPr>
          <p:pic>
            <p:nvPicPr>
              <p:cNvPr id="15" name="Picture 5"/>
              <p:cNvPicPr>
                <a:picLocks noChangeAspect="1" noChangeArrowheads="1"/>
              </p:cNvPicPr>
              <p:nvPr/>
            </p:nvPicPr>
            <p:blipFill>
              <a:blip r:embed="rId5" cstate="print"/>
              <a:srcRect l="902" t="11340" r="24358" b="46305"/>
              <a:stretch>
                <a:fillRect/>
              </a:stretch>
            </p:blipFill>
            <p:spPr bwMode="auto">
              <a:xfrm>
                <a:off x="167" y="1040"/>
                <a:ext cx="1879" cy="1016"/>
              </a:xfrm>
              <a:prstGeom prst="rect">
                <a:avLst/>
              </a:prstGeom>
              <a:noFill/>
              <a:ln w="25400">
                <a:noFill/>
                <a:miter lim="800000"/>
                <a:headEnd/>
                <a:tailEnd/>
              </a:ln>
            </p:spPr>
          </p:pic>
          <p:sp>
            <p:nvSpPr>
              <p:cNvPr id="16" name="Rectangle 6"/>
              <p:cNvSpPr>
                <a:spLocks noChangeArrowheads="1"/>
              </p:cNvSpPr>
              <p:nvPr/>
            </p:nvSpPr>
            <p:spPr bwMode="auto">
              <a:xfrm>
                <a:off x="424" y="1488"/>
                <a:ext cx="184" cy="368"/>
              </a:xfrm>
              <a:prstGeom prst="rect">
                <a:avLst/>
              </a:prstGeom>
              <a:noFill/>
              <a:ln w="25400">
                <a:noFill/>
                <a:miter lim="800000"/>
                <a:headEnd/>
                <a:tailEnd/>
              </a:ln>
            </p:spPr>
            <p:txBody>
              <a:bodyPr wrap="none" anchor="ctr"/>
              <a:lstStyle/>
              <a:p>
                <a:endParaRPr lang="en-US"/>
              </a:p>
            </p:txBody>
          </p:sp>
        </p:grpSp>
        <p:sp>
          <p:nvSpPr>
            <p:cNvPr id="19" name="Rectangle 18"/>
            <p:cNvSpPr/>
            <p:nvPr/>
          </p:nvSpPr>
          <p:spPr bwMode="auto">
            <a:xfrm>
              <a:off x="1054001" y="5033818"/>
              <a:ext cx="396240" cy="28448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nl-NL" sz="1600" b="0" i="0" u="none" strike="noStrike" cap="none" normalizeH="0" baseline="0">
                <a:ln>
                  <a:noFill/>
                </a:ln>
                <a:solidFill>
                  <a:schemeClr val="tx1"/>
                </a:solidFill>
                <a:effectLst/>
                <a:latin typeface="Verdana" pitchFamily="34" charset="0"/>
              </a:endParaRPr>
            </a:p>
          </p:txBody>
        </p:sp>
      </p:grpSp>
    </p:spTree>
    <p:extLst>
      <p:ext uri="{BB962C8B-B14F-4D97-AF65-F5344CB8AC3E}">
        <p14:creationId xmlns:p14="http://schemas.microsoft.com/office/powerpoint/2010/main" val="4276887755"/>
      </p:ext>
    </p:extLst>
  </p:cSld>
  <p:clrMapOvr>
    <a:masterClrMapping/>
  </p:clrMapOvr>
  <p:transition>
    <p:wipe dir="r"/>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nagit_PPT31BE" descr="PPT31BE.png"/>
          <p:cNvPicPr>
            <a:picLocks noChangeAspect="1"/>
          </p:cNvPicPr>
          <p:nvPr/>
        </p:nvPicPr>
        <p:blipFill>
          <a:blip r:embed="rId3" cstate="print"/>
          <a:srcRect l="624" r="10004" b="3934"/>
          <a:stretch>
            <a:fillRect/>
          </a:stretch>
        </p:blipFill>
        <p:spPr bwMode="auto">
          <a:xfrm>
            <a:off x="558140" y="4075744"/>
            <a:ext cx="8112034" cy="2301305"/>
          </a:xfrm>
          <a:prstGeom prst="rect">
            <a:avLst/>
          </a:prstGeom>
          <a:noFill/>
          <a:ln w="38100">
            <a:noFill/>
            <a:miter lim="800000"/>
            <a:headEnd/>
            <a:tailEnd/>
          </a:ln>
        </p:spPr>
      </p:pic>
      <p:sp>
        <p:nvSpPr>
          <p:cNvPr id="4" name="Title 3"/>
          <p:cNvSpPr>
            <a:spLocks noGrp="1"/>
          </p:cNvSpPr>
          <p:nvPr>
            <p:ph type="title"/>
          </p:nvPr>
        </p:nvSpPr>
        <p:spPr/>
        <p:txBody>
          <a:bodyPr/>
          <a:lstStyle/>
          <a:p>
            <a:r>
              <a:rPr lang="en-US" dirty="0" err="1"/>
              <a:t>Intersample</a:t>
            </a:r>
            <a:r>
              <a:rPr lang="en-US" dirty="0"/>
              <a:t> Calculation</a:t>
            </a:r>
            <a:br>
              <a:rPr lang="en-US" dirty="0"/>
            </a:br>
            <a:r>
              <a:rPr lang="en-US" dirty="0">
                <a:solidFill>
                  <a:schemeClr val="accent2"/>
                </a:solidFill>
              </a:rPr>
              <a:t>Example 1 Blank Area Subtraction</a:t>
            </a:r>
            <a:endParaRPr lang="en-US" dirty="0"/>
          </a:p>
        </p:txBody>
      </p:sp>
      <p:pic>
        <p:nvPicPr>
          <p:cNvPr id="5" name="Snagit_PPT3823" descr="PPT3823.png"/>
          <p:cNvPicPr>
            <a:picLocks noChangeAspect="1"/>
          </p:cNvPicPr>
          <p:nvPr/>
        </p:nvPicPr>
        <p:blipFill>
          <a:blip r:embed="rId4" cstate="print"/>
          <a:srcRect r="11792"/>
          <a:stretch>
            <a:fillRect/>
          </a:stretch>
        </p:blipFill>
        <p:spPr bwMode="auto">
          <a:xfrm>
            <a:off x="589808" y="1209851"/>
            <a:ext cx="8065458" cy="2781300"/>
          </a:xfrm>
          <a:prstGeom prst="rect">
            <a:avLst/>
          </a:prstGeom>
          <a:noFill/>
          <a:ln w="38100">
            <a:noFill/>
            <a:miter lim="800000"/>
            <a:headEnd/>
            <a:tailEnd/>
          </a:ln>
        </p:spPr>
      </p:pic>
      <p:sp>
        <p:nvSpPr>
          <p:cNvPr id="7" name="Rectangle 6"/>
          <p:cNvSpPr/>
          <p:nvPr/>
        </p:nvSpPr>
        <p:spPr bwMode="auto">
          <a:xfrm>
            <a:off x="762528" y="1891475"/>
            <a:ext cx="904240" cy="26416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8" name="Rectangle 7"/>
          <p:cNvSpPr/>
          <p:nvPr/>
        </p:nvSpPr>
        <p:spPr bwMode="auto">
          <a:xfrm>
            <a:off x="684414" y="4471984"/>
            <a:ext cx="934720" cy="26416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9" name="Rectangle 8"/>
          <p:cNvSpPr/>
          <p:nvPr/>
        </p:nvSpPr>
        <p:spPr bwMode="auto">
          <a:xfrm>
            <a:off x="7244608" y="2927795"/>
            <a:ext cx="548640" cy="59944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10" name="Rectangle 9"/>
          <p:cNvSpPr/>
          <p:nvPr/>
        </p:nvSpPr>
        <p:spPr bwMode="auto">
          <a:xfrm>
            <a:off x="3607328" y="3232595"/>
            <a:ext cx="518160" cy="72136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11" name="Rectangle 10"/>
          <p:cNvSpPr/>
          <p:nvPr/>
        </p:nvSpPr>
        <p:spPr bwMode="auto">
          <a:xfrm>
            <a:off x="3468254" y="5589584"/>
            <a:ext cx="528320" cy="73152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117258671"/>
      </p:ext>
    </p:extLst>
  </p:cSld>
  <p:clrMapOvr>
    <a:masterClrMapping/>
  </p:clrMapOvr>
  <p:transition>
    <p:wipe dir="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srcRect/>
          <a:stretch>
            <a:fillRect/>
          </a:stretch>
        </p:blipFill>
        <p:spPr bwMode="auto">
          <a:xfrm>
            <a:off x="2102486" y="1305181"/>
            <a:ext cx="4724196" cy="5156580"/>
          </a:xfrm>
          <a:prstGeom prst="rect">
            <a:avLst/>
          </a:prstGeom>
          <a:noFill/>
          <a:ln w="9525">
            <a:noFill/>
            <a:miter lim="800000"/>
            <a:headEnd/>
            <a:tailEnd/>
          </a:ln>
        </p:spPr>
      </p:pic>
      <p:sp>
        <p:nvSpPr>
          <p:cNvPr id="220162" name="Rectangle 2"/>
          <p:cNvSpPr>
            <a:spLocks noGrp="1" noChangeArrowheads="1"/>
          </p:cNvSpPr>
          <p:nvPr>
            <p:ph type="title"/>
          </p:nvPr>
        </p:nvSpPr>
        <p:spPr/>
        <p:txBody>
          <a:bodyPr/>
          <a:lstStyle/>
          <a:p>
            <a:pPr>
              <a:defRPr/>
            </a:pPr>
            <a:r>
              <a:rPr lang="en-US" dirty="0" err="1"/>
              <a:t>Intersample</a:t>
            </a:r>
            <a:r>
              <a:rPr lang="en-US" dirty="0"/>
              <a:t> Calculation</a:t>
            </a:r>
            <a:br>
              <a:rPr lang="en-US" dirty="0"/>
            </a:br>
            <a:r>
              <a:rPr lang="en-US" dirty="0">
                <a:solidFill>
                  <a:schemeClr val="accent2"/>
                </a:solidFill>
              </a:rPr>
              <a:t>Example 1 Blank Area Subtraction</a:t>
            </a:r>
            <a:endParaRPr lang="en-US" dirty="0"/>
          </a:p>
        </p:txBody>
      </p:sp>
      <p:sp>
        <p:nvSpPr>
          <p:cNvPr id="54281" name="Rectangle 12"/>
          <p:cNvSpPr>
            <a:spLocks noChangeArrowheads="1"/>
          </p:cNvSpPr>
          <p:nvPr/>
        </p:nvSpPr>
        <p:spPr bwMode="auto">
          <a:xfrm>
            <a:off x="2341880" y="4048760"/>
            <a:ext cx="182880" cy="607060"/>
          </a:xfrm>
          <a:prstGeom prst="rect">
            <a:avLst/>
          </a:prstGeom>
          <a:noFill/>
          <a:ln w="25400">
            <a:solidFill>
              <a:srgbClr val="FF0000"/>
            </a:solidFill>
            <a:miter lim="800000"/>
            <a:headEnd/>
            <a:tailEnd/>
          </a:ln>
        </p:spPr>
        <p:txBody>
          <a:bodyPr wrap="none" anchor="ctr"/>
          <a:lstStyle/>
          <a:p>
            <a:endParaRPr lang="en-US"/>
          </a:p>
        </p:txBody>
      </p:sp>
      <p:sp>
        <p:nvSpPr>
          <p:cNvPr id="54282" name="Line 13"/>
          <p:cNvSpPr>
            <a:spLocks noChangeShapeType="1"/>
          </p:cNvSpPr>
          <p:nvPr/>
        </p:nvSpPr>
        <p:spPr bwMode="auto">
          <a:xfrm flipH="1">
            <a:off x="1884680" y="4668520"/>
            <a:ext cx="444500" cy="558800"/>
          </a:xfrm>
          <a:prstGeom prst="line">
            <a:avLst/>
          </a:prstGeom>
          <a:noFill/>
          <a:ln w="25400">
            <a:solidFill>
              <a:srgbClr val="FF0000"/>
            </a:solidFill>
            <a:round/>
            <a:headEnd/>
            <a:tailEnd/>
          </a:ln>
        </p:spPr>
        <p:txBody>
          <a:bodyPr/>
          <a:lstStyle/>
          <a:p>
            <a:endParaRPr lang="en-US"/>
          </a:p>
        </p:txBody>
      </p:sp>
      <p:sp>
        <p:nvSpPr>
          <p:cNvPr id="54283" name="Line 14"/>
          <p:cNvSpPr>
            <a:spLocks noChangeShapeType="1"/>
          </p:cNvSpPr>
          <p:nvPr/>
        </p:nvSpPr>
        <p:spPr bwMode="auto">
          <a:xfrm flipH="1" flipV="1">
            <a:off x="1874520" y="3317240"/>
            <a:ext cx="477520" cy="762000"/>
          </a:xfrm>
          <a:prstGeom prst="line">
            <a:avLst/>
          </a:prstGeom>
          <a:noFill/>
          <a:ln w="25400">
            <a:solidFill>
              <a:srgbClr val="FF0000"/>
            </a:solidFill>
            <a:round/>
            <a:headEnd/>
            <a:tailEnd/>
          </a:ln>
        </p:spPr>
        <p:txBody>
          <a:bodyPr/>
          <a:lstStyle/>
          <a:p>
            <a:endParaRPr lang="en-US"/>
          </a:p>
        </p:txBody>
      </p:sp>
      <p:pic>
        <p:nvPicPr>
          <p:cNvPr id="3077" name="Picture 5"/>
          <p:cNvPicPr>
            <a:picLocks noChangeAspect="1" noChangeArrowheads="1"/>
          </p:cNvPicPr>
          <p:nvPr/>
        </p:nvPicPr>
        <p:blipFill>
          <a:blip r:embed="rId4" cstate="print"/>
          <a:srcRect/>
          <a:stretch>
            <a:fillRect/>
          </a:stretch>
        </p:blipFill>
        <p:spPr bwMode="auto">
          <a:xfrm>
            <a:off x="1362074" y="3318193"/>
            <a:ext cx="502285" cy="1869616"/>
          </a:xfrm>
          <a:prstGeom prst="rect">
            <a:avLst/>
          </a:prstGeom>
          <a:noFill/>
          <a:ln w="28575">
            <a:solidFill>
              <a:srgbClr val="FF0000"/>
            </a:solidFill>
            <a:miter lim="800000"/>
            <a:headEnd/>
            <a:tailEnd/>
          </a:ln>
        </p:spPr>
      </p:pic>
    </p:spTree>
    <p:extLst>
      <p:ext uri="{BB962C8B-B14F-4D97-AF65-F5344CB8AC3E}">
        <p14:creationId xmlns:p14="http://schemas.microsoft.com/office/powerpoint/2010/main" val="904596285"/>
      </p:ext>
    </p:extLst>
  </p:cSld>
  <p:clrMapOvr>
    <a:masterClrMapping/>
  </p:clrMapOvr>
  <p:transition>
    <p:wipe dir="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Result Set First </a:t>
            </a:r>
          </a:p>
          <a:p>
            <a:pPr lvl="1"/>
            <a:r>
              <a:rPr lang="en-US" dirty="0"/>
              <a:t>Search current result set first, if target not found, then search outside </a:t>
            </a:r>
          </a:p>
          <a:p>
            <a:pPr lvl="1"/>
            <a:r>
              <a:rPr lang="en-US" dirty="0"/>
              <a:t>Must contain the label descriptor (or a ‘%’ in place of the label)</a:t>
            </a:r>
          </a:p>
          <a:p>
            <a:r>
              <a:rPr lang="en-US" dirty="0"/>
              <a:t>Result Set Only </a:t>
            </a:r>
          </a:p>
          <a:p>
            <a:pPr lvl="1"/>
            <a:r>
              <a:rPr lang="en-US" dirty="0"/>
              <a:t>Only search within the current result set</a:t>
            </a:r>
          </a:p>
          <a:p>
            <a:pPr lvl="1"/>
            <a:r>
              <a:rPr lang="en-US" dirty="0">
                <a:solidFill>
                  <a:srgbClr val="C00000"/>
                </a:solidFill>
              </a:rPr>
              <a:t>Cannot do individual processing</a:t>
            </a:r>
          </a:p>
          <a:p>
            <a:r>
              <a:rPr lang="en-US" dirty="0"/>
              <a:t>Outside First </a:t>
            </a:r>
          </a:p>
          <a:p>
            <a:pPr lvl="1"/>
            <a:r>
              <a:rPr lang="en-US" dirty="0"/>
              <a:t>Search outside of the result set first, if target not found, then search inside</a:t>
            </a:r>
          </a:p>
          <a:p>
            <a:pPr lvl="1"/>
            <a:r>
              <a:rPr lang="en-US" dirty="0"/>
              <a:t>Must contain the label descriptor (or a ‘%’ in place of the label)</a:t>
            </a:r>
          </a:p>
          <a:p>
            <a:r>
              <a:rPr lang="en-US" dirty="0"/>
              <a:t>Outside Only</a:t>
            </a:r>
          </a:p>
          <a:p>
            <a:pPr lvl="1"/>
            <a:r>
              <a:rPr lang="en-US" dirty="0"/>
              <a:t>Use outside results - results that are not part of the current result set</a:t>
            </a:r>
          </a:p>
          <a:p>
            <a:pPr lvl="1"/>
            <a:r>
              <a:rPr lang="en-US" dirty="0"/>
              <a:t>Must contain the label descriptor (or a ‘%’ in place of the label) </a:t>
            </a:r>
          </a:p>
          <a:p>
            <a:endParaRPr lang="en-US" dirty="0"/>
          </a:p>
        </p:txBody>
      </p:sp>
      <p:sp>
        <p:nvSpPr>
          <p:cNvPr id="3" name="Title 2"/>
          <p:cNvSpPr>
            <a:spLocks noGrp="1"/>
          </p:cNvSpPr>
          <p:nvPr>
            <p:ph type="title"/>
          </p:nvPr>
        </p:nvSpPr>
        <p:spPr>
          <a:xfrm>
            <a:off x="457200" y="31468"/>
            <a:ext cx="7162800" cy="1005840"/>
          </a:xfrm>
        </p:spPr>
        <p:txBody>
          <a:bodyPr/>
          <a:lstStyle/>
          <a:p>
            <a:r>
              <a:rPr lang="en-US" dirty="0" err="1"/>
              <a:t>Intersample</a:t>
            </a:r>
            <a:r>
              <a:rPr lang="en-US" dirty="0"/>
              <a:t> Custom Calculation – </a:t>
            </a:r>
            <a:r>
              <a:rPr lang="en-US" dirty="0">
                <a:solidFill>
                  <a:schemeClr val="accent2"/>
                </a:solidFill>
              </a:rPr>
              <a:t>Search Order</a:t>
            </a:r>
            <a:endParaRPr lang="en-US" dirty="0"/>
          </a:p>
        </p:txBody>
      </p:sp>
    </p:spTree>
    <p:extLst>
      <p:ext uri="{BB962C8B-B14F-4D97-AF65-F5344CB8AC3E}">
        <p14:creationId xmlns:p14="http://schemas.microsoft.com/office/powerpoint/2010/main" val="1643221346"/>
      </p:ext>
    </p:extLst>
  </p:cSld>
  <p:clrMapOvr>
    <a:masterClrMapping/>
  </p:clrMapOvr>
  <p:transition>
    <p:wipe dir="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1312000"/>
            <a:ext cx="8360228" cy="5546000"/>
          </a:xfrm>
        </p:spPr>
        <p:txBody>
          <a:bodyPr>
            <a:normAutofit/>
          </a:bodyPr>
          <a:lstStyle/>
          <a:p>
            <a:pPr marL="342900" indent="-342900" algn="ctr">
              <a:lnSpc>
                <a:spcPct val="100000"/>
              </a:lnSpc>
              <a:spcAft>
                <a:spcPts val="600"/>
              </a:spcAft>
              <a:buNone/>
            </a:pPr>
            <a:r>
              <a:rPr lang="en-US" b="1" u="sng" dirty="0">
                <a:solidFill>
                  <a:srgbClr val="FF0000"/>
                </a:solidFill>
              </a:rPr>
              <a:t>A sample set is processed in the order the samples were run. </a:t>
            </a:r>
          </a:p>
          <a:p>
            <a:pPr marL="342900" indent="-342900">
              <a:lnSpc>
                <a:spcPct val="100000"/>
              </a:lnSpc>
              <a:spcAft>
                <a:spcPts val="600"/>
              </a:spcAft>
              <a:buFont typeface="+mj-lt"/>
              <a:buAutoNum type="arabicPeriod"/>
            </a:pPr>
            <a:r>
              <a:rPr lang="en-US" altLang="zh-CN" dirty="0">
                <a:ea typeface="宋体" pitchFamily="2" charset="-122"/>
              </a:rPr>
              <a:t>If </a:t>
            </a:r>
            <a:r>
              <a:rPr lang="en-US" altLang="zh-CN" dirty="0">
                <a:solidFill>
                  <a:schemeClr val="accent2"/>
                </a:solidFill>
                <a:ea typeface="宋体" pitchFamily="2" charset="-122"/>
              </a:rPr>
              <a:t>no Summary function </a:t>
            </a:r>
            <a:r>
              <a:rPr lang="en-US" altLang="zh-CN" dirty="0">
                <a:ea typeface="宋体" pitchFamily="2" charset="-122"/>
              </a:rPr>
              <a:t>is used, results that come after the current result are never considered.</a:t>
            </a:r>
            <a:endParaRPr lang="en-US" altLang="zh-CN" sz="1600" dirty="0">
              <a:ea typeface="宋体" pitchFamily="2" charset="-122"/>
            </a:endParaRPr>
          </a:p>
          <a:p>
            <a:pPr marL="342900" indent="-342900">
              <a:lnSpc>
                <a:spcPct val="100000"/>
              </a:lnSpc>
              <a:spcAft>
                <a:spcPts val="600"/>
              </a:spcAft>
              <a:buFont typeface="+mj-lt"/>
              <a:buAutoNum type="arabicPeriod"/>
            </a:pPr>
            <a:r>
              <a:rPr lang="en-US" altLang="zh-CN" dirty="0">
                <a:ea typeface="宋体" pitchFamily="2" charset="-122"/>
              </a:rPr>
              <a:t>If </a:t>
            </a:r>
            <a:r>
              <a:rPr lang="en-US" altLang="zh-CN" dirty="0">
                <a:solidFill>
                  <a:schemeClr val="accent2"/>
                </a:solidFill>
                <a:ea typeface="宋体" pitchFamily="2" charset="-122"/>
              </a:rPr>
              <a:t>no Summary function </a:t>
            </a:r>
            <a:r>
              <a:rPr lang="en-US" altLang="zh-CN" dirty="0">
                <a:ea typeface="宋体" pitchFamily="2" charset="-122"/>
              </a:rPr>
              <a:t>is used, searching stops when the targeted result with the highest Result ID is found. If the current result matches the inter-sample syntax no search will be conducted and the current result will be used. </a:t>
            </a:r>
            <a:endParaRPr lang="en-US" altLang="zh-CN" sz="1600" dirty="0">
              <a:ea typeface="宋体" pitchFamily="2" charset="-122"/>
            </a:endParaRPr>
          </a:p>
          <a:p>
            <a:pPr marL="342900" indent="-342900">
              <a:lnSpc>
                <a:spcPct val="100000"/>
              </a:lnSpc>
              <a:spcAft>
                <a:spcPts val="600"/>
              </a:spcAft>
              <a:buFont typeface="+mj-lt"/>
              <a:buAutoNum type="arabicPeriod"/>
            </a:pPr>
            <a:r>
              <a:rPr lang="en-US" altLang="zh-CN" dirty="0">
                <a:solidFill>
                  <a:schemeClr val="accent2"/>
                </a:solidFill>
                <a:ea typeface="宋体" pitchFamily="2" charset="-122"/>
              </a:rPr>
              <a:t>No label </a:t>
            </a:r>
            <a:r>
              <a:rPr lang="en-US" altLang="zh-CN" dirty="0">
                <a:ea typeface="宋体" pitchFamily="2" charset="-122"/>
              </a:rPr>
              <a:t>assumes the current sample line of the current result set. </a:t>
            </a:r>
            <a:br>
              <a:rPr lang="en-US" altLang="zh-CN" dirty="0">
                <a:ea typeface="宋体" pitchFamily="2" charset="-122"/>
              </a:rPr>
            </a:br>
            <a:r>
              <a:rPr lang="en-US" dirty="0"/>
              <a:t>The search order has no effect if a label is not specified.</a:t>
            </a:r>
          </a:p>
          <a:p>
            <a:pPr marL="342900" indent="-342900">
              <a:lnSpc>
                <a:spcPct val="100000"/>
              </a:lnSpc>
              <a:spcAft>
                <a:spcPts val="600"/>
              </a:spcAft>
              <a:buFont typeface="+mj-lt"/>
              <a:buAutoNum type="arabicPeriod"/>
            </a:pPr>
            <a:r>
              <a:rPr lang="en-US" altLang="zh-CN" dirty="0">
                <a:solidFill>
                  <a:schemeClr val="accent2"/>
                </a:solidFill>
                <a:ea typeface="宋体" pitchFamily="2" charset="-122"/>
              </a:rPr>
              <a:t>No channel name </a:t>
            </a:r>
            <a:r>
              <a:rPr lang="en-US" altLang="zh-CN" dirty="0">
                <a:ea typeface="宋体" pitchFamily="2" charset="-122"/>
              </a:rPr>
              <a:t>always refers to the current channel name.</a:t>
            </a:r>
          </a:p>
          <a:p>
            <a:pPr marL="342900" indent="-342900">
              <a:lnSpc>
                <a:spcPct val="100000"/>
              </a:lnSpc>
              <a:spcAft>
                <a:spcPts val="600"/>
              </a:spcAft>
              <a:buFont typeface="+mj-lt"/>
              <a:buAutoNum type="arabicPeriod"/>
            </a:pPr>
            <a:r>
              <a:rPr lang="en-US" altLang="zh-CN" dirty="0">
                <a:ea typeface="宋体" pitchFamily="2" charset="-122"/>
              </a:rPr>
              <a:t>An </a:t>
            </a:r>
            <a:r>
              <a:rPr lang="en-US" altLang="zh-CN" dirty="0" err="1">
                <a:ea typeface="宋体" pitchFamily="2" charset="-122"/>
              </a:rPr>
              <a:t>intersample</a:t>
            </a:r>
            <a:r>
              <a:rPr lang="en-US" altLang="zh-CN" dirty="0">
                <a:ea typeface="宋体" pitchFamily="2" charset="-122"/>
              </a:rPr>
              <a:t> calculation with </a:t>
            </a:r>
            <a:r>
              <a:rPr lang="en-US" altLang="zh-CN" dirty="0">
                <a:solidFill>
                  <a:schemeClr val="accent2"/>
                </a:solidFill>
                <a:ea typeface="宋体" pitchFamily="2" charset="-122"/>
              </a:rPr>
              <a:t>no label portion </a:t>
            </a:r>
            <a:r>
              <a:rPr lang="en-US" altLang="zh-CN" dirty="0">
                <a:ea typeface="宋体" pitchFamily="2" charset="-122"/>
              </a:rPr>
              <a:t>of the syntax never produces a result for an individually processed channel.</a:t>
            </a:r>
            <a:endParaRPr lang="en-US" dirty="0"/>
          </a:p>
        </p:txBody>
      </p:sp>
      <p:sp>
        <p:nvSpPr>
          <p:cNvPr id="932870" name="Rectangle 6"/>
          <p:cNvSpPr>
            <a:spLocks noGrp="1" noChangeArrowheads="1"/>
          </p:cNvSpPr>
          <p:nvPr>
            <p:ph type="title"/>
          </p:nvPr>
        </p:nvSpPr>
        <p:spPr/>
        <p:txBody>
          <a:bodyPr/>
          <a:lstStyle/>
          <a:p>
            <a:r>
              <a:rPr lang="en-US" dirty="0" err="1"/>
              <a:t>Intersample</a:t>
            </a:r>
            <a:r>
              <a:rPr lang="en-US" dirty="0"/>
              <a:t> Calculation – </a:t>
            </a:r>
            <a:r>
              <a:rPr lang="en-US" dirty="0">
                <a:solidFill>
                  <a:schemeClr val="accent2"/>
                </a:solidFill>
              </a:rPr>
              <a:t>Rules of Syntax</a:t>
            </a:r>
          </a:p>
        </p:txBody>
      </p:sp>
    </p:spTree>
    <p:extLst>
      <p:ext uri="{BB962C8B-B14F-4D97-AF65-F5344CB8AC3E}">
        <p14:creationId xmlns:p14="http://schemas.microsoft.com/office/powerpoint/2010/main" val="4220392832"/>
      </p:ext>
    </p:extLst>
  </p:cSld>
  <p:clrMapOvr>
    <a:masterClrMapping/>
  </p:clrMapOvr>
  <p:transition>
    <p:wipe dir="r"/>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342900" indent="-342900">
              <a:spcAft>
                <a:spcPts val="600"/>
              </a:spcAft>
              <a:buFont typeface="+mj-lt"/>
              <a:buAutoNum type="arabicPeriod" startAt="6"/>
            </a:pPr>
            <a:r>
              <a:rPr lang="en-US" altLang="zh-CN" dirty="0">
                <a:ea typeface="宋体" pitchFamily="2" charset="-122"/>
              </a:rPr>
              <a:t>A Search order set to </a:t>
            </a:r>
            <a:r>
              <a:rPr lang="en-US" altLang="zh-CN" dirty="0">
                <a:solidFill>
                  <a:schemeClr val="accent2"/>
                </a:solidFill>
                <a:ea typeface="宋体" pitchFamily="2" charset="-122"/>
              </a:rPr>
              <a:t>Result Set Only </a:t>
            </a:r>
            <a:r>
              <a:rPr lang="en-US" altLang="zh-CN" dirty="0">
                <a:ea typeface="宋体" pitchFamily="2" charset="-122"/>
              </a:rPr>
              <a:t>never produces a result for an </a:t>
            </a:r>
            <a:br>
              <a:rPr lang="en-US" altLang="zh-CN" dirty="0">
                <a:ea typeface="宋体" pitchFamily="2" charset="-122"/>
              </a:rPr>
            </a:br>
            <a:r>
              <a:rPr lang="en-US" altLang="zh-CN" dirty="0">
                <a:ea typeface="宋体" pitchFamily="2" charset="-122"/>
              </a:rPr>
              <a:t>individually processed channel.</a:t>
            </a:r>
          </a:p>
          <a:p>
            <a:pPr marL="342900" indent="-342900">
              <a:spcAft>
                <a:spcPts val="600"/>
              </a:spcAft>
              <a:buFont typeface="+mj-lt"/>
              <a:buAutoNum type="arabicPeriod" startAt="6"/>
            </a:pPr>
            <a:r>
              <a:rPr lang="en-US" altLang="zh-CN" dirty="0">
                <a:ea typeface="宋体" pitchFamily="2" charset="-122"/>
              </a:rPr>
              <a:t>A search order set to </a:t>
            </a:r>
            <a:r>
              <a:rPr lang="en-US" altLang="zh-CN" dirty="0">
                <a:solidFill>
                  <a:schemeClr val="accent2"/>
                </a:solidFill>
                <a:ea typeface="宋体" pitchFamily="2" charset="-122"/>
              </a:rPr>
              <a:t>Result Set First, Outside First or Outside Only </a:t>
            </a:r>
            <a:r>
              <a:rPr lang="en-US" altLang="zh-CN" dirty="0">
                <a:ea typeface="宋体" pitchFamily="2" charset="-122"/>
              </a:rPr>
              <a:t>never produces a value for an inter-sample calculation if the label portion of the syntax is not present.</a:t>
            </a:r>
          </a:p>
          <a:p>
            <a:pPr marL="342900" indent="-342900">
              <a:spcAft>
                <a:spcPts val="600"/>
              </a:spcAft>
              <a:buFont typeface="+mj-lt"/>
              <a:buAutoNum type="arabicPeriod" startAt="6"/>
            </a:pPr>
            <a:r>
              <a:rPr lang="en-US" altLang="zh-CN" dirty="0">
                <a:ea typeface="宋体" pitchFamily="2" charset="-122"/>
              </a:rPr>
              <a:t>When the </a:t>
            </a:r>
            <a:r>
              <a:rPr lang="en-US" altLang="zh-CN" dirty="0">
                <a:solidFill>
                  <a:schemeClr val="accent2"/>
                </a:solidFill>
                <a:ea typeface="宋体" pitchFamily="2" charset="-122"/>
              </a:rPr>
              <a:t>injection and label portions of the inter-sample syntax are not specified</a:t>
            </a:r>
            <a:r>
              <a:rPr lang="en-US" altLang="zh-CN" dirty="0">
                <a:ea typeface="宋体" pitchFamily="2" charset="-122"/>
              </a:rPr>
              <a:t>, the current injection is used as the targeted result.</a:t>
            </a:r>
          </a:p>
          <a:p>
            <a:pPr marL="342900" indent="-342900">
              <a:spcAft>
                <a:spcPts val="600"/>
              </a:spcAft>
              <a:buFont typeface="+mj-lt"/>
              <a:buAutoNum type="arabicPeriod" startAt="6"/>
            </a:pPr>
            <a:r>
              <a:rPr lang="en-US" altLang="zh-CN" dirty="0">
                <a:ea typeface="宋体" pitchFamily="2" charset="-122"/>
              </a:rPr>
              <a:t>When the </a:t>
            </a:r>
            <a:r>
              <a:rPr lang="en-US" altLang="zh-CN" dirty="0">
                <a:solidFill>
                  <a:schemeClr val="accent2"/>
                </a:solidFill>
                <a:ea typeface="宋体" pitchFamily="2" charset="-122"/>
              </a:rPr>
              <a:t>label portion is specified, and the injection is not specified</a:t>
            </a:r>
            <a:r>
              <a:rPr lang="en-US" altLang="zh-CN" dirty="0">
                <a:ea typeface="宋体" pitchFamily="2" charset="-122"/>
              </a:rPr>
              <a:t>, in a non-summary function, the software uses the most recent result before the current result that matches the syntax.</a:t>
            </a:r>
          </a:p>
        </p:txBody>
      </p:sp>
      <p:sp>
        <p:nvSpPr>
          <p:cNvPr id="932870" name="Rectangle 6"/>
          <p:cNvSpPr>
            <a:spLocks noGrp="1" noChangeArrowheads="1"/>
          </p:cNvSpPr>
          <p:nvPr>
            <p:ph type="title"/>
          </p:nvPr>
        </p:nvSpPr>
        <p:spPr/>
        <p:txBody>
          <a:bodyPr/>
          <a:lstStyle/>
          <a:p>
            <a:r>
              <a:rPr lang="en-US" dirty="0" err="1"/>
              <a:t>Intersample</a:t>
            </a:r>
            <a:r>
              <a:rPr lang="en-US" dirty="0"/>
              <a:t> Calculation – </a:t>
            </a:r>
            <a:r>
              <a:rPr lang="en-US" dirty="0">
                <a:solidFill>
                  <a:schemeClr val="accent2"/>
                </a:solidFill>
              </a:rPr>
              <a:t>Rules of Syntax</a:t>
            </a:r>
            <a:endParaRPr lang="en-US" dirty="0"/>
          </a:p>
        </p:txBody>
      </p:sp>
    </p:spTree>
    <p:extLst>
      <p:ext uri="{BB962C8B-B14F-4D97-AF65-F5344CB8AC3E}">
        <p14:creationId xmlns:p14="http://schemas.microsoft.com/office/powerpoint/2010/main" val="2724096095"/>
      </p:ext>
    </p:extLst>
  </p:cSld>
  <p:clrMapOvr>
    <a:masterClrMapping/>
  </p:clrMapOvr>
  <p:transition>
    <p:wipe dir="r"/>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3" cstate="print"/>
          <a:srcRect t="7936" r="40918" b="41268"/>
          <a:stretch>
            <a:fillRect/>
          </a:stretch>
        </p:blipFill>
        <p:spPr bwMode="auto">
          <a:xfrm>
            <a:off x="378460" y="3842982"/>
            <a:ext cx="8315185" cy="1940303"/>
          </a:xfrm>
          <a:prstGeom prst="rect">
            <a:avLst/>
          </a:prstGeom>
          <a:noFill/>
          <a:ln w="9525">
            <a:noFill/>
            <a:miter lim="800000"/>
            <a:headEnd/>
            <a:tailEnd/>
          </a:ln>
        </p:spPr>
      </p:pic>
      <p:sp>
        <p:nvSpPr>
          <p:cNvPr id="12" name="Content Placeholder 11"/>
          <p:cNvSpPr>
            <a:spLocks noGrp="1"/>
          </p:cNvSpPr>
          <p:nvPr>
            <p:ph idx="1"/>
          </p:nvPr>
        </p:nvSpPr>
        <p:spPr/>
        <p:txBody>
          <a:bodyPr/>
          <a:lstStyle/>
          <a:p>
            <a:pPr marL="0" indent="1588">
              <a:buNone/>
            </a:pPr>
            <a:r>
              <a:rPr lang="en-US" altLang="zh-CN" dirty="0">
                <a:solidFill>
                  <a:srgbClr val="00B050"/>
                </a:solidFill>
                <a:ea typeface="宋体" pitchFamily="2" charset="-122"/>
              </a:rPr>
              <a:t>Rule 2: If no Summary function is used, searching stops when the targeted result with the highest Result ID is found. If the current result matches the inter-sample syntax no search will be conducted and the current result will be used. </a:t>
            </a:r>
          </a:p>
          <a:p>
            <a:pPr marL="0" indent="1588">
              <a:buNone/>
            </a:pPr>
            <a:r>
              <a:rPr lang="en-US" altLang="zh-CN" dirty="0">
                <a:solidFill>
                  <a:srgbClr val="0070C0"/>
                </a:solidFill>
                <a:ea typeface="宋体" pitchFamily="2" charset="-122"/>
              </a:rPr>
              <a:t>Rule 8: When the injection and label portions of the inter-sample syntax are not specified, the current injection is used as the targeted result.</a:t>
            </a:r>
          </a:p>
          <a:p>
            <a:endParaRPr lang="en-US" b="1" dirty="0">
              <a:solidFill>
                <a:srgbClr val="0070C0"/>
              </a:solidFill>
            </a:endParaRPr>
          </a:p>
          <a:p>
            <a:endParaRPr lang="en-US" b="1" dirty="0">
              <a:solidFill>
                <a:srgbClr val="00B050"/>
              </a:solidFill>
            </a:endParaRPr>
          </a:p>
          <a:p>
            <a:endParaRPr lang="en-US" dirty="0"/>
          </a:p>
        </p:txBody>
      </p:sp>
      <p:sp>
        <p:nvSpPr>
          <p:cNvPr id="2" name="Title 1"/>
          <p:cNvSpPr>
            <a:spLocks noGrp="1"/>
          </p:cNvSpPr>
          <p:nvPr>
            <p:ph type="title"/>
          </p:nvPr>
        </p:nvSpPr>
        <p:spPr/>
        <p:txBody>
          <a:bodyPr/>
          <a:lstStyle/>
          <a:p>
            <a:r>
              <a:rPr lang="en-US" dirty="0"/>
              <a:t>Rules of Syntax – </a:t>
            </a:r>
            <a:r>
              <a:rPr lang="en-US" dirty="0">
                <a:solidFill>
                  <a:schemeClr val="accent2"/>
                </a:solidFill>
              </a:rPr>
              <a:t>Examples </a:t>
            </a:r>
          </a:p>
        </p:txBody>
      </p:sp>
      <p:sp>
        <p:nvSpPr>
          <p:cNvPr id="10" name="Rectangle 9"/>
          <p:cNvSpPr/>
          <p:nvPr/>
        </p:nvSpPr>
        <p:spPr bwMode="auto">
          <a:xfrm>
            <a:off x="4493260" y="3816368"/>
            <a:ext cx="990600" cy="1990667"/>
          </a:xfrm>
          <a:prstGeom prst="rect">
            <a:avLst/>
          </a:prstGeom>
          <a:noFill/>
          <a:ln w="38100"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11" name="Rectangle 10"/>
          <p:cNvSpPr/>
          <p:nvPr/>
        </p:nvSpPr>
        <p:spPr bwMode="auto">
          <a:xfrm>
            <a:off x="7528560" y="3841768"/>
            <a:ext cx="1143000" cy="1941517"/>
          </a:xfrm>
          <a:prstGeom prst="rect">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2666672223"/>
      </p:ext>
    </p:extLst>
  </p:cSld>
  <p:clrMapOvr>
    <a:masterClrMapping/>
  </p:clrMapOvr>
  <p:transition>
    <p:wipe dir="r"/>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19"/>
          <p:cNvSpPr>
            <a:spLocks noGrp="1"/>
          </p:cNvSpPr>
          <p:nvPr>
            <p:ph idx="1"/>
          </p:nvPr>
        </p:nvSpPr>
        <p:spPr/>
        <p:txBody>
          <a:bodyPr/>
          <a:lstStyle/>
          <a:p>
            <a:pPr marL="7938" indent="-7938">
              <a:buNone/>
            </a:pPr>
            <a:r>
              <a:rPr lang="en-US" altLang="zh-CN" dirty="0">
                <a:ea typeface="宋体" pitchFamily="2" charset="-122"/>
              </a:rPr>
              <a:t>Rule 9: When the </a:t>
            </a:r>
            <a:r>
              <a:rPr lang="en-US" altLang="zh-CN" dirty="0">
                <a:solidFill>
                  <a:schemeClr val="accent2"/>
                </a:solidFill>
                <a:ea typeface="宋体" pitchFamily="2" charset="-122"/>
              </a:rPr>
              <a:t>label portion is specified</a:t>
            </a:r>
            <a:r>
              <a:rPr lang="en-US" altLang="zh-CN" dirty="0">
                <a:ea typeface="宋体" pitchFamily="2" charset="-122"/>
              </a:rPr>
              <a:t>, and the </a:t>
            </a:r>
            <a:r>
              <a:rPr lang="en-US" altLang="zh-CN" dirty="0">
                <a:solidFill>
                  <a:schemeClr val="accent2"/>
                </a:solidFill>
                <a:ea typeface="宋体" pitchFamily="2" charset="-122"/>
              </a:rPr>
              <a:t>injection is not specified</a:t>
            </a:r>
            <a:r>
              <a:rPr lang="en-US" altLang="zh-CN" dirty="0">
                <a:ea typeface="宋体" pitchFamily="2" charset="-122"/>
              </a:rPr>
              <a:t>, in a non-summary function, the software </a:t>
            </a:r>
            <a:r>
              <a:rPr lang="en-US" altLang="zh-CN" dirty="0">
                <a:solidFill>
                  <a:srgbClr val="FF0000"/>
                </a:solidFill>
                <a:ea typeface="宋体" pitchFamily="2" charset="-122"/>
              </a:rPr>
              <a:t>uses the most recent result before the current result</a:t>
            </a:r>
            <a:r>
              <a:rPr lang="en-US" altLang="zh-CN" dirty="0">
                <a:ea typeface="宋体" pitchFamily="2" charset="-122"/>
              </a:rPr>
              <a:t> that matches the syntax.</a:t>
            </a:r>
          </a:p>
          <a:p>
            <a:endParaRPr lang="en-US" dirty="0"/>
          </a:p>
        </p:txBody>
      </p:sp>
      <p:sp>
        <p:nvSpPr>
          <p:cNvPr id="2" name="Title 1"/>
          <p:cNvSpPr>
            <a:spLocks noGrp="1"/>
          </p:cNvSpPr>
          <p:nvPr>
            <p:ph type="title"/>
          </p:nvPr>
        </p:nvSpPr>
        <p:spPr/>
        <p:txBody>
          <a:bodyPr/>
          <a:lstStyle/>
          <a:p>
            <a:r>
              <a:rPr lang="en-US" dirty="0"/>
              <a:t>Rules of Syntax – </a:t>
            </a:r>
            <a:r>
              <a:rPr lang="en-US" dirty="0">
                <a:solidFill>
                  <a:schemeClr val="accent2"/>
                </a:solidFill>
              </a:rPr>
              <a:t>Examples </a:t>
            </a:r>
            <a:endParaRPr lang="en-US" dirty="0"/>
          </a:p>
        </p:txBody>
      </p:sp>
      <p:grpSp>
        <p:nvGrpSpPr>
          <p:cNvPr id="23" name="Group 22"/>
          <p:cNvGrpSpPr/>
          <p:nvPr/>
        </p:nvGrpSpPr>
        <p:grpSpPr>
          <a:xfrm>
            <a:off x="1211905" y="2713227"/>
            <a:ext cx="6794054" cy="3266123"/>
            <a:chOff x="266693" y="3356420"/>
            <a:chExt cx="6794054" cy="3266123"/>
          </a:xfrm>
        </p:grpSpPr>
        <p:grpSp>
          <p:nvGrpSpPr>
            <p:cNvPr id="5" name="Group 4"/>
            <p:cNvGrpSpPr/>
            <p:nvPr/>
          </p:nvGrpSpPr>
          <p:grpSpPr>
            <a:xfrm>
              <a:off x="266693" y="3356420"/>
              <a:ext cx="5127110" cy="3266123"/>
              <a:chOff x="165093" y="1057720"/>
              <a:chExt cx="5127110" cy="3266123"/>
            </a:xfrm>
          </p:grpSpPr>
          <p:pic>
            <p:nvPicPr>
              <p:cNvPr id="3" name="Picture 2"/>
              <p:cNvPicPr>
                <a:picLocks noChangeAspect="1" noChangeArrowheads="1"/>
              </p:cNvPicPr>
              <p:nvPr/>
            </p:nvPicPr>
            <p:blipFill>
              <a:blip r:embed="rId3" cstate="print"/>
              <a:srcRect r="70530"/>
              <a:stretch>
                <a:fillRect/>
              </a:stretch>
            </p:blipFill>
            <p:spPr bwMode="auto">
              <a:xfrm>
                <a:off x="165093" y="1057720"/>
                <a:ext cx="3546948" cy="3266123"/>
              </a:xfrm>
              <a:prstGeom prst="rect">
                <a:avLst/>
              </a:prstGeom>
              <a:noFill/>
              <a:ln w="9525">
                <a:noFill/>
                <a:miter lim="800000"/>
                <a:headEnd/>
                <a:tailEnd/>
              </a:ln>
            </p:spPr>
          </p:pic>
          <p:pic>
            <p:nvPicPr>
              <p:cNvPr id="4" name="Picture 3"/>
              <p:cNvPicPr>
                <a:picLocks noChangeAspect="1" noChangeArrowheads="1"/>
              </p:cNvPicPr>
              <p:nvPr/>
            </p:nvPicPr>
            <p:blipFill>
              <a:blip r:embed="rId3" cstate="print"/>
              <a:srcRect l="58685" t="6944" r="27997"/>
              <a:stretch>
                <a:fillRect/>
              </a:stretch>
            </p:blipFill>
            <p:spPr bwMode="auto">
              <a:xfrm>
                <a:off x="3689495" y="1284117"/>
                <a:ext cx="1602708" cy="3039323"/>
              </a:xfrm>
              <a:prstGeom prst="rect">
                <a:avLst/>
              </a:prstGeom>
              <a:noFill/>
              <a:ln w="9525">
                <a:noFill/>
                <a:miter lim="800000"/>
                <a:headEnd/>
                <a:tailEnd/>
              </a:ln>
            </p:spPr>
          </p:pic>
        </p:grpSp>
        <p:cxnSp>
          <p:nvCxnSpPr>
            <p:cNvPr id="12" name="Straight Arrow Connector 11"/>
            <p:cNvCxnSpPr/>
            <p:nvPr/>
          </p:nvCxnSpPr>
          <p:spPr bwMode="auto">
            <a:xfrm>
              <a:off x="3721100" y="4318000"/>
              <a:ext cx="368300" cy="254000"/>
            </a:xfrm>
            <a:prstGeom prst="straightConnector1">
              <a:avLst/>
            </a:prstGeom>
            <a:noFill/>
            <a:ln w="19050" cap="flat" cmpd="sng" algn="ctr">
              <a:solidFill>
                <a:srgbClr val="FF0000"/>
              </a:solidFill>
              <a:prstDash val="solid"/>
              <a:round/>
              <a:headEnd type="none" w="med" len="med"/>
              <a:tailEnd type="arrow"/>
            </a:ln>
            <a:effectLst/>
          </p:spPr>
        </p:cxnSp>
        <p:cxnSp>
          <p:nvCxnSpPr>
            <p:cNvPr id="13" name="Straight Arrow Connector 12"/>
            <p:cNvCxnSpPr/>
            <p:nvPr/>
          </p:nvCxnSpPr>
          <p:spPr bwMode="auto">
            <a:xfrm>
              <a:off x="3683000" y="4610100"/>
              <a:ext cx="368300" cy="254000"/>
            </a:xfrm>
            <a:prstGeom prst="straightConnector1">
              <a:avLst/>
            </a:prstGeom>
            <a:noFill/>
            <a:ln w="19050" cap="flat" cmpd="sng" algn="ctr">
              <a:solidFill>
                <a:srgbClr val="FF0000"/>
              </a:solidFill>
              <a:prstDash val="solid"/>
              <a:round/>
              <a:headEnd type="none" w="med" len="med"/>
              <a:tailEnd type="arrow"/>
            </a:ln>
            <a:effectLst/>
          </p:spPr>
        </p:cxnSp>
        <p:cxnSp>
          <p:nvCxnSpPr>
            <p:cNvPr id="14" name="Straight Arrow Connector 13"/>
            <p:cNvCxnSpPr/>
            <p:nvPr/>
          </p:nvCxnSpPr>
          <p:spPr bwMode="auto">
            <a:xfrm>
              <a:off x="3733800" y="4889500"/>
              <a:ext cx="368300" cy="254000"/>
            </a:xfrm>
            <a:prstGeom prst="straightConnector1">
              <a:avLst/>
            </a:prstGeom>
            <a:noFill/>
            <a:ln w="19050" cap="flat" cmpd="sng" algn="ctr">
              <a:solidFill>
                <a:srgbClr val="FF0000"/>
              </a:solidFill>
              <a:prstDash val="solid"/>
              <a:round/>
              <a:headEnd type="none" w="med" len="med"/>
              <a:tailEnd type="arrow"/>
            </a:ln>
            <a:effectLst/>
          </p:spPr>
        </p:cxnSp>
        <p:cxnSp>
          <p:nvCxnSpPr>
            <p:cNvPr id="15" name="Straight Arrow Connector 14"/>
            <p:cNvCxnSpPr/>
            <p:nvPr/>
          </p:nvCxnSpPr>
          <p:spPr bwMode="auto">
            <a:xfrm>
              <a:off x="3708400" y="5181600"/>
              <a:ext cx="368300" cy="254000"/>
            </a:xfrm>
            <a:prstGeom prst="straightConnector1">
              <a:avLst/>
            </a:prstGeom>
            <a:noFill/>
            <a:ln w="19050" cap="flat" cmpd="sng" algn="ctr">
              <a:solidFill>
                <a:srgbClr val="FF0000"/>
              </a:solidFill>
              <a:prstDash val="solid"/>
              <a:round/>
              <a:headEnd type="none" w="med" len="med"/>
              <a:tailEnd type="arrow"/>
            </a:ln>
            <a:effectLst/>
          </p:spPr>
        </p:cxnSp>
        <p:cxnSp>
          <p:nvCxnSpPr>
            <p:cNvPr id="16" name="Straight Arrow Connector 15"/>
            <p:cNvCxnSpPr/>
            <p:nvPr/>
          </p:nvCxnSpPr>
          <p:spPr bwMode="auto">
            <a:xfrm>
              <a:off x="3721100" y="5473700"/>
              <a:ext cx="368300" cy="254000"/>
            </a:xfrm>
            <a:prstGeom prst="straightConnector1">
              <a:avLst/>
            </a:prstGeom>
            <a:noFill/>
            <a:ln w="19050" cap="flat" cmpd="sng" algn="ctr">
              <a:solidFill>
                <a:srgbClr val="FF0000"/>
              </a:solidFill>
              <a:prstDash val="solid"/>
              <a:round/>
              <a:headEnd type="none" w="med" len="med"/>
              <a:tailEnd type="arrow"/>
            </a:ln>
            <a:effectLst/>
          </p:spPr>
        </p:cxnSp>
        <p:cxnSp>
          <p:nvCxnSpPr>
            <p:cNvPr id="17" name="Straight Arrow Connector 16"/>
            <p:cNvCxnSpPr/>
            <p:nvPr/>
          </p:nvCxnSpPr>
          <p:spPr bwMode="auto">
            <a:xfrm>
              <a:off x="3670300" y="5778500"/>
              <a:ext cx="368300" cy="254000"/>
            </a:xfrm>
            <a:prstGeom prst="straightConnector1">
              <a:avLst/>
            </a:prstGeom>
            <a:noFill/>
            <a:ln w="19050" cap="flat" cmpd="sng" algn="ctr">
              <a:solidFill>
                <a:srgbClr val="FF0000"/>
              </a:solidFill>
              <a:prstDash val="solid"/>
              <a:round/>
              <a:headEnd type="none" w="med" len="med"/>
              <a:tailEnd type="arrow"/>
            </a:ln>
            <a:effectLst/>
          </p:spPr>
        </p:cxnSp>
        <p:cxnSp>
          <p:nvCxnSpPr>
            <p:cNvPr id="18" name="Straight Arrow Connector 17"/>
            <p:cNvCxnSpPr/>
            <p:nvPr/>
          </p:nvCxnSpPr>
          <p:spPr bwMode="auto">
            <a:xfrm>
              <a:off x="3683000" y="6032500"/>
              <a:ext cx="368300" cy="254000"/>
            </a:xfrm>
            <a:prstGeom prst="straightConnector1">
              <a:avLst/>
            </a:prstGeom>
            <a:noFill/>
            <a:ln w="19050" cap="flat" cmpd="sng" algn="ctr">
              <a:solidFill>
                <a:srgbClr val="FF0000"/>
              </a:solidFill>
              <a:prstDash val="solid"/>
              <a:round/>
              <a:headEnd type="none" w="med" len="med"/>
              <a:tailEnd type="arrow"/>
            </a:ln>
            <a:effectLst/>
          </p:spPr>
        </p:cxnSp>
        <p:sp>
          <p:nvSpPr>
            <p:cNvPr id="19" name="Rectangle 18"/>
            <p:cNvSpPr/>
            <p:nvPr/>
          </p:nvSpPr>
          <p:spPr bwMode="auto">
            <a:xfrm>
              <a:off x="3855308" y="3867665"/>
              <a:ext cx="1519881" cy="197708"/>
            </a:xfrm>
            <a:prstGeom prst="rect">
              <a:avLst/>
            </a:prstGeom>
            <a:solidFill>
              <a:schemeClr val="bg1"/>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pic>
          <p:nvPicPr>
            <p:cNvPr id="21" name="Picture 20"/>
            <p:cNvPicPr>
              <a:picLocks noChangeAspect="1" noChangeArrowheads="1"/>
            </p:cNvPicPr>
            <p:nvPr/>
          </p:nvPicPr>
          <p:blipFill>
            <a:blip r:embed="rId3" cstate="print"/>
            <a:srcRect l="85066" t="6944" r="808"/>
            <a:stretch>
              <a:fillRect/>
            </a:stretch>
          </p:blipFill>
          <p:spPr bwMode="auto">
            <a:xfrm>
              <a:off x="5360561" y="3582817"/>
              <a:ext cx="1700186" cy="3039323"/>
            </a:xfrm>
            <a:prstGeom prst="rect">
              <a:avLst/>
            </a:prstGeom>
            <a:noFill/>
            <a:ln w="9525">
              <a:noFill/>
              <a:miter lim="800000"/>
              <a:headEnd/>
              <a:tailEnd/>
            </a:ln>
          </p:spPr>
        </p:pic>
        <p:sp>
          <p:nvSpPr>
            <p:cNvPr id="22" name="Rectangle 21"/>
            <p:cNvSpPr/>
            <p:nvPr/>
          </p:nvSpPr>
          <p:spPr bwMode="auto">
            <a:xfrm>
              <a:off x="5478162" y="3896498"/>
              <a:ext cx="1519881" cy="197708"/>
            </a:xfrm>
            <a:prstGeom prst="rect">
              <a:avLst/>
            </a:prstGeom>
            <a:solidFill>
              <a:schemeClr val="bg1"/>
            </a:solidFill>
            <a:ln w="381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grpSp>
      <p:cxnSp>
        <p:nvCxnSpPr>
          <p:cNvPr id="8" name="Straight Arrow Connector 7"/>
          <p:cNvCxnSpPr/>
          <p:nvPr/>
        </p:nvCxnSpPr>
        <p:spPr bwMode="auto">
          <a:xfrm>
            <a:off x="4686300" y="3378200"/>
            <a:ext cx="360714" cy="243774"/>
          </a:xfrm>
          <a:prstGeom prst="straightConnector1">
            <a:avLst/>
          </a:prstGeom>
          <a:noFill/>
          <a:ln w="1905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888357020"/>
      </p:ext>
    </p:extLst>
  </p:cSld>
  <p:clrMapOvr>
    <a:masterClrMapping/>
  </p:clrMapOvr>
  <p:transition>
    <p:wipe dir="r"/>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of Syntax – </a:t>
            </a:r>
            <a:r>
              <a:rPr lang="en-US" dirty="0">
                <a:solidFill>
                  <a:schemeClr val="accent2"/>
                </a:solidFill>
              </a:rPr>
              <a:t>Examples </a:t>
            </a:r>
          </a:p>
        </p:txBody>
      </p:sp>
      <p:pic>
        <p:nvPicPr>
          <p:cNvPr id="5124" name="Picture 4"/>
          <p:cNvPicPr>
            <a:picLocks noChangeAspect="1" noChangeArrowheads="1"/>
          </p:cNvPicPr>
          <p:nvPr/>
        </p:nvPicPr>
        <p:blipFill>
          <a:blip r:embed="rId3" cstate="print"/>
          <a:srcRect l="6457" t="2968" b="9894"/>
          <a:stretch>
            <a:fillRect/>
          </a:stretch>
        </p:blipFill>
        <p:spPr bwMode="auto">
          <a:xfrm>
            <a:off x="303569" y="2875972"/>
            <a:ext cx="8514780" cy="3045119"/>
          </a:xfrm>
          <a:prstGeom prst="rect">
            <a:avLst/>
          </a:prstGeom>
          <a:noFill/>
          <a:ln w="9525">
            <a:noFill/>
            <a:miter lim="800000"/>
            <a:headEnd/>
            <a:tailEnd/>
          </a:ln>
        </p:spPr>
      </p:pic>
      <p:sp>
        <p:nvSpPr>
          <p:cNvPr id="6" name="Rectangle 5"/>
          <p:cNvSpPr/>
          <p:nvPr/>
        </p:nvSpPr>
        <p:spPr>
          <a:xfrm>
            <a:off x="494475" y="1374707"/>
            <a:ext cx="7848600" cy="1015663"/>
          </a:xfrm>
          <a:prstGeom prst="rect">
            <a:avLst/>
          </a:prstGeom>
        </p:spPr>
        <p:txBody>
          <a:bodyPr wrap="square">
            <a:spAutoFit/>
          </a:bodyPr>
          <a:lstStyle/>
          <a:p>
            <a:r>
              <a:rPr lang="en-US" altLang="zh-CN" sz="2000" dirty="0">
                <a:latin typeface="Arial" pitchFamily="34" charset="0"/>
                <a:ea typeface="宋体" pitchFamily="2" charset="-122"/>
                <a:cs typeface="Arial" pitchFamily="34" charset="0"/>
              </a:rPr>
              <a:t>Rule 8: When the injection and label portions of the inter-sample syntax are not specified, the current injection is used as the targeted result.</a:t>
            </a:r>
            <a:endParaRPr lang="en-US" sz="2000" dirty="0">
              <a:latin typeface="Arial" pitchFamily="34" charset="0"/>
              <a:cs typeface="Arial" pitchFamily="34" charset="0"/>
            </a:endParaRPr>
          </a:p>
        </p:txBody>
      </p:sp>
      <p:cxnSp>
        <p:nvCxnSpPr>
          <p:cNvPr id="8" name="Straight Arrow Connector 7"/>
          <p:cNvCxnSpPr/>
          <p:nvPr/>
        </p:nvCxnSpPr>
        <p:spPr bwMode="auto">
          <a:xfrm>
            <a:off x="6032665" y="2101932"/>
            <a:ext cx="668811" cy="774041"/>
          </a:xfrm>
          <a:prstGeom prst="straightConnector1">
            <a:avLst/>
          </a:prstGeom>
          <a:noFill/>
          <a:ln w="19050" cap="flat" cmpd="sng" algn="ctr">
            <a:solidFill>
              <a:srgbClr val="FF0000"/>
            </a:solidFill>
            <a:prstDash val="solid"/>
            <a:round/>
            <a:headEnd type="none" w="med" len="med"/>
            <a:tailEnd type="arrow"/>
          </a:ln>
          <a:effectLst/>
        </p:spPr>
      </p:cxnSp>
      <p:cxnSp>
        <p:nvCxnSpPr>
          <p:cNvPr id="9" name="Straight Arrow Connector 8"/>
          <p:cNvCxnSpPr/>
          <p:nvPr/>
        </p:nvCxnSpPr>
        <p:spPr bwMode="auto">
          <a:xfrm flipV="1">
            <a:off x="3920176" y="3533833"/>
            <a:ext cx="2580640" cy="0"/>
          </a:xfrm>
          <a:prstGeom prst="straightConnector1">
            <a:avLst/>
          </a:prstGeom>
          <a:noFill/>
          <a:ln w="28575"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4009008089"/>
      </p:ext>
    </p:extLst>
  </p:cSld>
  <p:clrMapOvr>
    <a:masterClrMapping/>
  </p:clrMapOvr>
  <p:transition>
    <p:wipe dir="r"/>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of Syntax – </a:t>
            </a:r>
            <a:r>
              <a:rPr lang="en-US" dirty="0">
                <a:solidFill>
                  <a:schemeClr val="accent2"/>
                </a:solidFill>
              </a:rPr>
              <a:t>Examples </a:t>
            </a:r>
            <a:endParaRPr lang="en-US" dirty="0"/>
          </a:p>
        </p:txBody>
      </p:sp>
      <p:grpSp>
        <p:nvGrpSpPr>
          <p:cNvPr id="3" name="Group 5"/>
          <p:cNvGrpSpPr/>
          <p:nvPr/>
        </p:nvGrpSpPr>
        <p:grpSpPr>
          <a:xfrm>
            <a:off x="317500" y="2727325"/>
            <a:ext cx="8402421" cy="3562350"/>
            <a:chOff x="317500" y="2727325"/>
            <a:chExt cx="8402421" cy="3562350"/>
          </a:xfrm>
        </p:grpSpPr>
        <p:pic>
          <p:nvPicPr>
            <p:cNvPr id="6146" name="Picture 2"/>
            <p:cNvPicPr>
              <a:picLocks noChangeAspect="1" noChangeArrowheads="1"/>
            </p:cNvPicPr>
            <p:nvPr/>
          </p:nvPicPr>
          <p:blipFill>
            <a:blip r:embed="rId3" cstate="print"/>
            <a:srcRect t="1011"/>
            <a:stretch>
              <a:fillRect/>
            </a:stretch>
          </p:blipFill>
          <p:spPr bwMode="auto">
            <a:xfrm>
              <a:off x="317500" y="2737925"/>
              <a:ext cx="6715125" cy="3526350"/>
            </a:xfrm>
            <a:prstGeom prst="rect">
              <a:avLst/>
            </a:prstGeom>
            <a:noFill/>
            <a:ln w="9525">
              <a:noFill/>
              <a:miter lim="800000"/>
              <a:headEnd/>
              <a:tailEnd/>
            </a:ln>
          </p:spPr>
        </p:pic>
        <p:pic>
          <p:nvPicPr>
            <p:cNvPr id="6147" name="Picture 3"/>
            <p:cNvPicPr>
              <a:picLocks noChangeAspect="1" noChangeArrowheads="1"/>
            </p:cNvPicPr>
            <p:nvPr/>
          </p:nvPicPr>
          <p:blipFill>
            <a:blip r:embed="rId4" cstate="print"/>
            <a:srcRect r="46701"/>
            <a:stretch>
              <a:fillRect/>
            </a:stretch>
          </p:blipFill>
          <p:spPr bwMode="auto">
            <a:xfrm>
              <a:off x="6953250" y="2727325"/>
              <a:ext cx="1766671" cy="3562350"/>
            </a:xfrm>
            <a:prstGeom prst="rect">
              <a:avLst/>
            </a:prstGeom>
            <a:noFill/>
            <a:ln w="9525">
              <a:noFill/>
              <a:miter lim="800000"/>
              <a:headEnd/>
              <a:tailEnd/>
            </a:ln>
          </p:spPr>
        </p:pic>
      </p:grpSp>
      <p:sp>
        <p:nvSpPr>
          <p:cNvPr id="7" name="Rectangle 6"/>
          <p:cNvSpPr/>
          <p:nvPr/>
        </p:nvSpPr>
        <p:spPr bwMode="auto">
          <a:xfrm>
            <a:off x="330200" y="5867400"/>
            <a:ext cx="4356100" cy="355600"/>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8" name="Rectangle 7"/>
          <p:cNvSpPr/>
          <p:nvPr/>
        </p:nvSpPr>
        <p:spPr bwMode="auto">
          <a:xfrm>
            <a:off x="6997700" y="2717800"/>
            <a:ext cx="1714500" cy="3187700"/>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9" name="Rectangle 8"/>
          <p:cNvSpPr/>
          <p:nvPr/>
        </p:nvSpPr>
        <p:spPr>
          <a:xfrm>
            <a:off x="381000" y="1296141"/>
            <a:ext cx="8445500" cy="1015663"/>
          </a:xfrm>
          <a:prstGeom prst="rect">
            <a:avLst/>
          </a:prstGeom>
        </p:spPr>
        <p:txBody>
          <a:bodyPr wrap="square">
            <a:spAutoFit/>
          </a:bodyPr>
          <a:lstStyle/>
          <a:p>
            <a:pPr indent="1588"/>
            <a:r>
              <a:rPr lang="en-US" sz="2000" dirty="0">
                <a:latin typeface="Arial" pitchFamily="34" charset="0"/>
                <a:cs typeface="Arial" pitchFamily="34" charset="0"/>
              </a:rPr>
              <a:t>Rule 2: When a SUMMARY function is specified, searching for targeted results continues until all search areas (inside the current result set and outside of the current result set) are exhausted.</a:t>
            </a:r>
          </a:p>
        </p:txBody>
      </p:sp>
      <p:cxnSp>
        <p:nvCxnSpPr>
          <p:cNvPr id="11" name="Straight Arrow Connector 10"/>
          <p:cNvCxnSpPr>
            <a:endCxn id="8" idx="0"/>
          </p:cNvCxnSpPr>
          <p:nvPr/>
        </p:nvCxnSpPr>
        <p:spPr bwMode="auto">
          <a:xfrm>
            <a:off x="6198919" y="1971304"/>
            <a:ext cx="1656031" cy="746496"/>
          </a:xfrm>
          <a:prstGeom prst="straightConnector1">
            <a:avLst/>
          </a:prstGeom>
          <a:noFill/>
          <a:ln w="1905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1226122157"/>
      </p:ext>
    </p:extLst>
  </p:cSld>
  <p:clrMapOvr>
    <a:masterClrMapping/>
  </p:clrMapOvr>
  <p:transition>
    <p:wipe dir="r"/>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of Syntax – </a:t>
            </a:r>
            <a:r>
              <a:rPr lang="en-US" dirty="0">
                <a:solidFill>
                  <a:schemeClr val="accent2"/>
                </a:solidFill>
              </a:rPr>
              <a:t>Examples </a:t>
            </a:r>
            <a:endParaRPr lang="en-US" dirty="0"/>
          </a:p>
        </p:txBody>
      </p:sp>
      <p:grpSp>
        <p:nvGrpSpPr>
          <p:cNvPr id="4" name="Group 4"/>
          <p:cNvGrpSpPr/>
          <p:nvPr/>
        </p:nvGrpSpPr>
        <p:grpSpPr>
          <a:xfrm>
            <a:off x="398250" y="2687638"/>
            <a:ext cx="8055188" cy="3209925"/>
            <a:chOff x="893550" y="2700338"/>
            <a:chExt cx="8055188" cy="3209925"/>
          </a:xfrm>
        </p:grpSpPr>
        <p:pic>
          <p:nvPicPr>
            <p:cNvPr id="3" name="Picture 2"/>
            <p:cNvPicPr>
              <a:picLocks noChangeAspect="1" noChangeArrowheads="1"/>
            </p:cNvPicPr>
            <p:nvPr/>
          </p:nvPicPr>
          <p:blipFill>
            <a:blip r:embed="rId3" cstate="print"/>
            <a:srcRect l="8578" t="1011" b="10106"/>
            <a:stretch>
              <a:fillRect/>
            </a:stretch>
          </p:blipFill>
          <p:spPr bwMode="auto">
            <a:xfrm>
              <a:off x="893550" y="2737925"/>
              <a:ext cx="6139075" cy="3166345"/>
            </a:xfrm>
            <a:prstGeom prst="rect">
              <a:avLst/>
            </a:prstGeom>
            <a:noFill/>
            <a:ln w="9525">
              <a:noFill/>
              <a:miter lim="800000"/>
              <a:headEnd/>
              <a:tailEnd/>
            </a:ln>
          </p:spPr>
        </p:pic>
        <p:pic>
          <p:nvPicPr>
            <p:cNvPr id="8194" name="Picture 2"/>
            <p:cNvPicPr>
              <a:picLocks noChangeAspect="1" noChangeArrowheads="1"/>
            </p:cNvPicPr>
            <p:nvPr/>
          </p:nvPicPr>
          <p:blipFill>
            <a:blip r:embed="rId4" cstate="print"/>
            <a:srcRect/>
            <a:stretch>
              <a:fillRect/>
            </a:stretch>
          </p:blipFill>
          <p:spPr bwMode="auto">
            <a:xfrm>
              <a:off x="6977063" y="2700338"/>
              <a:ext cx="1971675" cy="3209925"/>
            </a:xfrm>
            <a:prstGeom prst="rect">
              <a:avLst/>
            </a:prstGeom>
            <a:noFill/>
            <a:ln w="9525">
              <a:noFill/>
              <a:miter lim="800000"/>
              <a:headEnd/>
              <a:tailEnd/>
            </a:ln>
          </p:spPr>
        </p:pic>
      </p:grpSp>
      <p:sp>
        <p:nvSpPr>
          <p:cNvPr id="6" name="Rectangle 5"/>
          <p:cNvSpPr/>
          <p:nvPr/>
        </p:nvSpPr>
        <p:spPr bwMode="auto">
          <a:xfrm>
            <a:off x="2844800" y="3276600"/>
            <a:ext cx="647700" cy="132080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7" name="Right Brace 6"/>
          <p:cNvSpPr/>
          <p:nvPr/>
        </p:nvSpPr>
        <p:spPr bwMode="auto">
          <a:xfrm>
            <a:off x="4178300" y="3289300"/>
            <a:ext cx="330200" cy="1295400"/>
          </a:xfrm>
          <a:prstGeom prst="rightBrace">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US"/>
          </a:p>
        </p:txBody>
      </p:sp>
      <p:cxnSp>
        <p:nvCxnSpPr>
          <p:cNvPr id="9" name="Straight Arrow Connector 8"/>
          <p:cNvCxnSpPr/>
          <p:nvPr/>
        </p:nvCxnSpPr>
        <p:spPr bwMode="auto">
          <a:xfrm flipV="1">
            <a:off x="4584700" y="3924300"/>
            <a:ext cx="2832100" cy="25400"/>
          </a:xfrm>
          <a:prstGeom prst="straightConnector1">
            <a:avLst/>
          </a:prstGeom>
          <a:noFill/>
          <a:ln w="38100" cap="flat" cmpd="sng" algn="ctr">
            <a:solidFill>
              <a:srgbClr val="FF0000"/>
            </a:solidFill>
            <a:prstDash val="solid"/>
            <a:round/>
            <a:headEnd type="none" w="med" len="med"/>
            <a:tailEnd type="arrow"/>
          </a:ln>
          <a:effectLst/>
        </p:spPr>
      </p:cxnSp>
      <p:sp>
        <p:nvSpPr>
          <p:cNvPr id="10" name="Rectangle 9"/>
          <p:cNvSpPr/>
          <p:nvPr/>
        </p:nvSpPr>
        <p:spPr bwMode="auto">
          <a:xfrm>
            <a:off x="2857500" y="4572000"/>
            <a:ext cx="647700" cy="1320800"/>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11" name="Right Brace 10"/>
          <p:cNvSpPr/>
          <p:nvPr/>
        </p:nvSpPr>
        <p:spPr bwMode="auto">
          <a:xfrm>
            <a:off x="4191000" y="4597400"/>
            <a:ext cx="330200" cy="1295400"/>
          </a:xfrm>
          <a:prstGeom prst="rightBrace">
            <a:avLst/>
          </a:prstGeom>
          <a:noFill/>
          <a:ln w="38100" cap="flat" cmpd="sng" algn="ctr">
            <a:solidFill>
              <a:srgbClr val="0070C0"/>
            </a:solidFill>
            <a:prstDash val="solid"/>
            <a:round/>
            <a:headEnd type="none" w="med" len="med"/>
            <a:tailEnd type="none" w="med" len="med"/>
          </a:ln>
          <a:effectLst/>
        </p:spPr>
        <p:txBody>
          <a:bodyPr rtlCol="0" anchor="ctr"/>
          <a:lstStyle/>
          <a:p>
            <a:pPr algn="ctr"/>
            <a:endParaRPr lang="en-US"/>
          </a:p>
        </p:txBody>
      </p:sp>
      <p:cxnSp>
        <p:nvCxnSpPr>
          <p:cNvPr id="12" name="Straight Arrow Connector 11"/>
          <p:cNvCxnSpPr/>
          <p:nvPr/>
        </p:nvCxnSpPr>
        <p:spPr bwMode="auto">
          <a:xfrm flipV="1">
            <a:off x="4584700" y="5207000"/>
            <a:ext cx="2794000" cy="25400"/>
          </a:xfrm>
          <a:prstGeom prst="straightConnector1">
            <a:avLst/>
          </a:prstGeom>
          <a:noFill/>
          <a:ln w="38100" cap="flat" cmpd="sng" algn="ctr">
            <a:solidFill>
              <a:srgbClr val="0070C0"/>
            </a:solidFill>
            <a:prstDash val="solid"/>
            <a:round/>
            <a:headEnd type="none" w="med" len="med"/>
            <a:tailEnd type="arrow"/>
          </a:ln>
          <a:effectLst/>
        </p:spPr>
      </p:cxnSp>
      <p:sp>
        <p:nvSpPr>
          <p:cNvPr id="13" name="Rectangle 12"/>
          <p:cNvSpPr/>
          <p:nvPr/>
        </p:nvSpPr>
        <p:spPr>
          <a:xfrm>
            <a:off x="469900" y="1371766"/>
            <a:ext cx="7771576" cy="1015663"/>
          </a:xfrm>
          <a:prstGeom prst="rect">
            <a:avLst/>
          </a:prstGeom>
        </p:spPr>
        <p:txBody>
          <a:bodyPr wrap="square">
            <a:spAutoFit/>
          </a:bodyPr>
          <a:lstStyle/>
          <a:p>
            <a:pPr marL="4763" lvl="1"/>
            <a:r>
              <a:rPr lang="en-US" sz="2000" dirty="0">
                <a:latin typeface="Arial" pitchFamily="34" charset="0"/>
                <a:cs typeface="Arial" pitchFamily="34" charset="0"/>
              </a:rPr>
              <a:t>If SAME is used for the label part of the calculation, the software looks for a result with a label that matches the label of the current result.</a:t>
            </a:r>
          </a:p>
        </p:txBody>
      </p:sp>
      <p:cxnSp>
        <p:nvCxnSpPr>
          <p:cNvPr id="15" name="Straight Arrow Connector 14"/>
          <p:cNvCxnSpPr/>
          <p:nvPr/>
        </p:nvCxnSpPr>
        <p:spPr bwMode="auto">
          <a:xfrm>
            <a:off x="5462649" y="2054431"/>
            <a:ext cx="1330037" cy="795647"/>
          </a:xfrm>
          <a:prstGeom prst="straightConnector1">
            <a:avLst/>
          </a:prstGeom>
          <a:noFill/>
          <a:ln w="19050" cap="flat" cmpd="sng" algn="ctr">
            <a:solidFill>
              <a:srgbClr val="FF0000"/>
            </a:solidFill>
            <a:prstDash val="solid"/>
            <a:round/>
            <a:headEnd type="none" w="med" len="med"/>
            <a:tailEnd type="arrow"/>
          </a:ln>
          <a:effectLst/>
        </p:spPr>
      </p:cxnSp>
      <p:sp>
        <p:nvSpPr>
          <p:cNvPr id="16" name="Left Brace 15"/>
          <p:cNvSpPr/>
          <p:nvPr/>
        </p:nvSpPr>
        <p:spPr bwMode="auto">
          <a:xfrm>
            <a:off x="7505700" y="3314700"/>
            <a:ext cx="292100" cy="1206500"/>
          </a:xfrm>
          <a:prstGeom prst="leftBrace">
            <a:avLst/>
          </a:prstGeom>
          <a:noFill/>
          <a:ln w="38100" cap="flat" cmpd="sng" algn="ctr">
            <a:solidFill>
              <a:srgbClr val="FF0000"/>
            </a:solidFill>
            <a:prstDash val="solid"/>
            <a:round/>
            <a:headEnd type="none" w="med" len="med"/>
            <a:tailEnd type="none" w="med" len="med"/>
          </a:ln>
          <a:effectLst/>
        </p:spPr>
        <p:txBody>
          <a:bodyPr rtlCol="0" anchor="ctr"/>
          <a:lstStyle/>
          <a:p>
            <a:pPr algn="ctr"/>
            <a:endParaRPr lang="en-US"/>
          </a:p>
        </p:txBody>
      </p:sp>
      <p:sp>
        <p:nvSpPr>
          <p:cNvPr id="17" name="Left Brace 16"/>
          <p:cNvSpPr/>
          <p:nvPr/>
        </p:nvSpPr>
        <p:spPr bwMode="auto">
          <a:xfrm>
            <a:off x="7531100" y="4610100"/>
            <a:ext cx="292100" cy="1206500"/>
          </a:xfrm>
          <a:prstGeom prst="leftBrace">
            <a:avLst/>
          </a:prstGeom>
          <a:noFill/>
          <a:ln w="38100" cap="flat" cmpd="sng" algn="ctr">
            <a:solidFill>
              <a:srgbClr val="0070C0"/>
            </a:solidFill>
            <a:prstDash val="solid"/>
            <a:round/>
            <a:headEnd type="none" w="med" len="med"/>
            <a:tailEnd type="none" w="med" len="med"/>
          </a:ln>
          <a:effectLst/>
        </p:spPr>
        <p:txBody>
          <a:bodyPr rtlCol="0" anchor="ctr"/>
          <a:lstStyle/>
          <a:p>
            <a:pPr algn="ctr"/>
            <a:endParaRPr lang="en-US"/>
          </a:p>
        </p:txBody>
      </p:sp>
    </p:spTree>
    <p:extLst>
      <p:ext uri="{BB962C8B-B14F-4D97-AF65-F5344CB8AC3E}">
        <p14:creationId xmlns:p14="http://schemas.microsoft.com/office/powerpoint/2010/main" val="2373580275"/>
      </p:ext>
    </p:extLst>
  </p:cSld>
  <p:clrMapOvr>
    <a:masterClrMapping/>
  </p:clrMapOvr>
  <p:transition>
    <p:wipe dir="r"/>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3"/>
          <p:cNvSpPr>
            <a:spLocks noGrp="1" noChangeArrowheads="1"/>
          </p:cNvSpPr>
          <p:nvPr>
            <p:ph idx="1"/>
          </p:nvPr>
        </p:nvSpPr>
        <p:spPr>
          <a:xfrm>
            <a:off x="457200" y="1312000"/>
            <a:ext cx="4221678" cy="5029200"/>
          </a:xfrm>
        </p:spPr>
        <p:txBody>
          <a:bodyPr>
            <a:normAutofit/>
          </a:bodyPr>
          <a:lstStyle/>
          <a:p>
            <a:pPr eaLnBrk="1" hangingPunct="1">
              <a:spcAft>
                <a:spcPct val="20000"/>
              </a:spcAft>
            </a:pPr>
            <a:r>
              <a:rPr lang="en-US" altLang="zh-CN" dirty="0">
                <a:ea typeface="宋体" pitchFamily="2" charset="-122"/>
              </a:rPr>
              <a:t>When enabled, the software only calculates the custom field when the software can locate all targeted results. </a:t>
            </a:r>
          </a:p>
          <a:p>
            <a:pPr eaLnBrk="1" hangingPunct="1">
              <a:spcAft>
                <a:spcPct val="20000"/>
              </a:spcAft>
            </a:pPr>
            <a:r>
              <a:rPr lang="en-US" altLang="zh-CN" dirty="0">
                <a:ea typeface="宋体" pitchFamily="2" charset="-122"/>
              </a:rPr>
              <a:t>When disabled, calculation is performed regardless of all targeted results are found.</a:t>
            </a:r>
            <a:r>
              <a:rPr lang="en-US" altLang="zh-CN" dirty="0">
                <a:latin typeface="Times New Roman" pitchFamily="18" charset="0"/>
                <a:ea typeface="宋体" pitchFamily="2" charset="-122"/>
              </a:rPr>
              <a:t> </a:t>
            </a:r>
          </a:p>
          <a:p>
            <a:pPr eaLnBrk="1" hangingPunct="1">
              <a:spcAft>
                <a:spcPct val="20000"/>
              </a:spcAft>
            </a:pPr>
            <a:r>
              <a:rPr lang="en-US" altLang="zh-CN" dirty="0">
                <a:ea typeface="宋体" pitchFamily="2" charset="-122"/>
              </a:rPr>
              <a:t>Not applicable to a summary formula. </a:t>
            </a:r>
          </a:p>
          <a:p>
            <a:pPr eaLnBrk="1" hangingPunct="1">
              <a:spcAft>
                <a:spcPct val="20000"/>
              </a:spcAft>
            </a:pPr>
            <a:r>
              <a:rPr lang="en-US" altLang="zh-CN" dirty="0">
                <a:ea typeface="宋体" pitchFamily="2" charset="-122"/>
              </a:rPr>
              <a:t>If there is another inter-sample operation inside of a summary function, All or Nothing does apply to the inside portion.</a:t>
            </a:r>
          </a:p>
        </p:txBody>
      </p:sp>
      <p:sp>
        <p:nvSpPr>
          <p:cNvPr id="116738" name="Rectangle 2"/>
          <p:cNvSpPr>
            <a:spLocks noGrp="1" noChangeArrowheads="1"/>
          </p:cNvSpPr>
          <p:nvPr>
            <p:ph type="title"/>
          </p:nvPr>
        </p:nvSpPr>
        <p:spPr>
          <a:xfrm>
            <a:off x="457200" y="31468"/>
            <a:ext cx="7594270" cy="1005840"/>
          </a:xfrm>
        </p:spPr>
        <p:txBody>
          <a:bodyPr/>
          <a:lstStyle/>
          <a:p>
            <a:pPr eaLnBrk="1" hangingPunct="1">
              <a:defRPr/>
            </a:pPr>
            <a:r>
              <a:rPr lang="en-US" dirty="0" err="1"/>
              <a:t>Intersample</a:t>
            </a:r>
            <a:r>
              <a:rPr lang="en-US" dirty="0"/>
              <a:t> Custom Calculation – </a:t>
            </a:r>
            <a:r>
              <a:rPr lang="en-US" dirty="0">
                <a:solidFill>
                  <a:schemeClr val="accent2"/>
                </a:solidFill>
              </a:rPr>
              <a:t>All or Nothing</a:t>
            </a:r>
          </a:p>
        </p:txBody>
      </p:sp>
      <p:pic>
        <p:nvPicPr>
          <p:cNvPr id="5" name="Picture 2"/>
          <p:cNvPicPr>
            <a:picLocks noChangeAspect="1" noChangeArrowheads="1"/>
          </p:cNvPicPr>
          <p:nvPr/>
        </p:nvPicPr>
        <p:blipFill>
          <a:blip r:embed="rId3" cstate="print"/>
          <a:srcRect/>
          <a:stretch>
            <a:fillRect/>
          </a:stretch>
        </p:blipFill>
        <p:spPr bwMode="auto">
          <a:xfrm>
            <a:off x="5175744" y="1553885"/>
            <a:ext cx="3291363" cy="3042597"/>
          </a:xfrm>
          <a:prstGeom prst="rect">
            <a:avLst/>
          </a:prstGeom>
          <a:noFill/>
          <a:ln w="9525">
            <a:noFill/>
            <a:miter lim="800000"/>
            <a:headEnd/>
            <a:tailEnd/>
          </a:ln>
        </p:spPr>
      </p:pic>
      <p:pic>
        <p:nvPicPr>
          <p:cNvPr id="9218" name="Picture 2"/>
          <p:cNvPicPr>
            <a:picLocks noChangeAspect="1" noChangeArrowheads="1"/>
          </p:cNvPicPr>
          <p:nvPr/>
        </p:nvPicPr>
        <p:blipFill>
          <a:blip r:embed="rId4" cstate="print"/>
          <a:srcRect/>
          <a:stretch>
            <a:fillRect/>
          </a:stretch>
        </p:blipFill>
        <p:spPr bwMode="auto">
          <a:xfrm>
            <a:off x="4454996" y="4849329"/>
            <a:ext cx="4095238" cy="844249"/>
          </a:xfrm>
          <a:prstGeom prst="rect">
            <a:avLst/>
          </a:prstGeom>
          <a:noFill/>
          <a:ln w="9525">
            <a:noFill/>
            <a:miter lim="800000"/>
            <a:headEnd/>
            <a:tailEnd/>
          </a:ln>
        </p:spPr>
      </p:pic>
      <p:sp>
        <p:nvSpPr>
          <p:cNvPr id="7" name="Rectangle 6"/>
          <p:cNvSpPr/>
          <p:nvPr/>
        </p:nvSpPr>
        <p:spPr bwMode="auto">
          <a:xfrm>
            <a:off x="5955315" y="3061588"/>
            <a:ext cx="1445741" cy="29656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9" name="Straight Arrow Connector 8"/>
          <p:cNvCxnSpPr>
            <a:stCxn id="7" idx="2"/>
            <a:endCxn id="9218" idx="0"/>
          </p:cNvCxnSpPr>
          <p:nvPr/>
        </p:nvCxnSpPr>
        <p:spPr bwMode="auto">
          <a:xfrm flipH="1">
            <a:off x="6502615" y="3358150"/>
            <a:ext cx="175571" cy="1491179"/>
          </a:xfrm>
          <a:prstGeom prst="straightConnector1">
            <a:avLst/>
          </a:prstGeom>
          <a:noFill/>
          <a:ln w="38100" cap="flat" cmpd="sng" algn="ctr">
            <a:solidFill>
              <a:srgbClr val="FF0000"/>
            </a:solidFill>
            <a:prstDash val="solid"/>
            <a:round/>
            <a:headEnd type="none" w="med" len="med"/>
            <a:tailEnd type="arrow"/>
          </a:ln>
          <a:effectLst/>
        </p:spPr>
      </p:cxnSp>
      <p:sp>
        <p:nvSpPr>
          <p:cNvPr id="10" name="Rectangle 9"/>
          <p:cNvSpPr/>
          <p:nvPr/>
        </p:nvSpPr>
        <p:spPr bwMode="auto">
          <a:xfrm>
            <a:off x="6906784" y="5273448"/>
            <a:ext cx="1445741" cy="39541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168901970"/>
      </p:ext>
    </p:extLst>
  </p:cSld>
  <p:clrMapOvr>
    <a:masterClrMapping/>
  </p:clrMapOvr>
  <p:transition>
    <p:wipe dir="r"/>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Example Scenario: </a:t>
            </a:r>
          </a:p>
          <a:p>
            <a:pPr>
              <a:buNone/>
            </a:pPr>
            <a:r>
              <a:rPr lang="en-US" dirty="0"/>
              <a:t>		</a:t>
            </a:r>
            <a:r>
              <a:rPr lang="en-US" u="sng" dirty="0"/>
              <a:t>Sample</a:t>
            </a:r>
            <a:r>
              <a:rPr lang="en-US" dirty="0"/>
              <a:t>		</a:t>
            </a:r>
            <a:r>
              <a:rPr lang="en-US" u="sng" dirty="0"/>
              <a:t>Injection</a:t>
            </a:r>
            <a:r>
              <a:rPr lang="en-US" dirty="0"/>
              <a:t>	</a:t>
            </a:r>
          </a:p>
          <a:p>
            <a:pPr>
              <a:buNone/>
            </a:pPr>
            <a:r>
              <a:rPr lang="en-US" dirty="0"/>
              <a:t>		A		1, 2	</a:t>
            </a:r>
          </a:p>
          <a:p>
            <a:pPr>
              <a:buNone/>
            </a:pPr>
            <a:r>
              <a:rPr lang="en-US" dirty="0"/>
              <a:t>		B		1, 2		</a:t>
            </a:r>
          </a:p>
          <a:p>
            <a:pPr>
              <a:buNone/>
            </a:pPr>
            <a:r>
              <a:rPr lang="en-US" dirty="0"/>
              <a:t>		C		1, 2		</a:t>
            </a:r>
          </a:p>
          <a:p>
            <a:pPr>
              <a:buNone/>
            </a:pPr>
            <a:r>
              <a:rPr lang="en-US" dirty="0"/>
              <a:t>		D		1, 2</a:t>
            </a:r>
          </a:p>
          <a:p>
            <a:pPr>
              <a:buNone/>
            </a:pPr>
            <a:endParaRPr lang="en-US" dirty="0"/>
          </a:p>
          <a:p>
            <a:r>
              <a:rPr lang="en-US" dirty="0"/>
              <a:t>Calculate the average amount of duplicate injections for each sample.</a:t>
            </a:r>
          </a:p>
          <a:p>
            <a:r>
              <a:rPr lang="en-US" dirty="0"/>
              <a:t>Formula: </a:t>
            </a:r>
            <a:r>
              <a:rPr lang="en-US" dirty="0">
                <a:solidFill>
                  <a:srgbClr val="C00000"/>
                </a:solidFill>
              </a:rPr>
              <a:t>(.1.(Amount) + .2.(Amount))/2</a:t>
            </a:r>
          </a:p>
          <a:p>
            <a:endParaRPr lang="en-US" dirty="0"/>
          </a:p>
        </p:txBody>
      </p:sp>
      <p:sp>
        <p:nvSpPr>
          <p:cNvPr id="3" name="Title 2"/>
          <p:cNvSpPr>
            <a:spLocks noGrp="1"/>
          </p:cNvSpPr>
          <p:nvPr>
            <p:ph type="title"/>
          </p:nvPr>
        </p:nvSpPr>
        <p:spPr>
          <a:xfrm>
            <a:off x="457200" y="31468"/>
            <a:ext cx="7428016" cy="1005840"/>
          </a:xfrm>
        </p:spPr>
        <p:txBody>
          <a:bodyPr/>
          <a:lstStyle/>
          <a:p>
            <a:r>
              <a:rPr lang="en-US" dirty="0" err="1"/>
              <a:t>Intersample</a:t>
            </a:r>
            <a:r>
              <a:rPr lang="en-US" dirty="0"/>
              <a:t> Custom Calculation – </a:t>
            </a:r>
            <a:r>
              <a:rPr lang="en-US" dirty="0">
                <a:solidFill>
                  <a:schemeClr val="accent2"/>
                </a:solidFill>
              </a:rPr>
              <a:t>All or Nothing Ex</a:t>
            </a:r>
            <a:endParaRPr lang="en-US" dirty="0"/>
          </a:p>
        </p:txBody>
      </p:sp>
    </p:spTree>
    <p:extLst>
      <p:ext uri="{BB962C8B-B14F-4D97-AF65-F5344CB8AC3E}">
        <p14:creationId xmlns:p14="http://schemas.microsoft.com/office/powerpoint/2010/main" val="796010362"/>
      </p:ext>
    </p:extLst>
  </p:cSld>
  <p:clrMapOvr>
    <a:masterClrMapping/>
  </p:clrMapOvr>
  <p:transition>
    <p:wipe dir="r"/>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468"/>
            <a:ext cx="7594270" cy="1005840"/>
          </a:xfrm>
        </p:spPr>
        <p:txBody>
          <a:bodyPr/>
          <a:lstStyle/>
          <a:p>
            <a:r>
              <a:rPr lang="en-US" dirty="0" err="1"/>
              <a:t>Intersample</a:t>
            </a:r>
            <a:r>
              <a:rPr lang="en-US" dirty="0"/>
              <a:t> Custom Calculation – </a:t>
            </a:r>
            <a:r>
              <a:rPr lang="en-US" dirty="0">
                <a:solidFill>
                  <a:schemeClr val="accent2"/>
                </a:solidFill>
              </a:rPr>
              <a:t>All or Nothing Ex</a:t>
            </a:r>
            <a:endParaRPr lang="en-US" dirty="0"/>
          </a:p>
        </p:txBody>
      </p:sp>
      <p:grpSp>
        <p:nvGrpSpPr>
          <p:cNvPr id="5" name="Group 4"/>
          <p:cNvGrpSpPr/>
          <p:nvPr/>
        </p:nvGrpSpPr>
        <p:grpSpPr>
          <a:xfrm>
            <a:off x="292927" y="1647874"/>
            <a:ext cx="6800759" cy="2669528"/>
            <a:chOff x="260112" y="2839246"/>
            <a:chExt cx="7619011" cy="2901276"/>
          </a:xfrm>
        </p:grpSpPr>
        <p:pic>
          <p:nvPicPr>
            <p:cNvPr id="3" name="Picture 2"/>
            <p:cNvPicPr>
              <a:picLocks noChangeAspect="1" noChangeArrowheads="1"/>
            </p:cNvPicPr>
            <p:nvPr/>
          </p:nvPicPr>
          <p:blipFill>
            <a:blip r:embed="rId3" cstate="print"/>
            <a:srcRect l="67036" t="2185"/>
            <a:stretch>
              <a:fillRect/>
            </a:stretch>
          </p:blipFill>
          <p:spPr bwMode="auto">
            <a:xfrm>
              <a:off x="3609280" y="2839246"/>
              <a:ext cx="4269843" cy="2901276"/>
            </a:xfrm>
            <a:prstGeom prst="rect">
              <a:avLst/>
            </a:prstGeom>
            <a:noFill/>
            <a:ln w="9525">
              <a:noFill/>
              <a:miter lim="800000"/>
              <a:headEnd/>
              <a:tailEnd/>
            </a:ln>
          </p:spPr>
        </p:pic>
        <p:pic>
          <p:nvPicPr>
            <p:cNvPr id="4" name="Picture 3"/>
            <p:cNvPicPr>
              <a:picLocks noChangeAspect="1" noChangeArrowheads="1"/>
            </p:cNvPicPr>
            <p:nvPr/>
          </p:nvPicPr>
          <p:blipFill>
            <a:blip r:embed="rId3" cstate="print"/>
            <a:srcRect l="1751" t="2185" r="71538"/>
            <a:stretch>
              <a:fillRect/>
            </a:stretch>
          </p:blipFill>
          <p:spPr bwMode="auto">
            <a:xfrm>
              <a:off x="260112" y="2839246"/>
              <a:ext cx="3459890" cy="2901276"/>
            </a:xfrm>
            <a:prstGeom prst="rect">
              <a:avLst/>
            </a:prstGeom>
            <a:noFill/>
            <a:ln w="9525">
              <a:noFill/>
              <a:miter lim="800000"/>
              <a:headEnd/>
              <a:tailEnd/>
            </a:ln>
          </p:spPr>
        </p:pic>
      </p:grpSp>
      <p:sp>
        <p:nvSpPr>
          <p:cNvPr id="6" name="Rectangle 5"/>
          <p:cNvSpPr/>
          <p:nvPr/>
        </p:nvSpPr>
        <p:spPr bwMode="auto">
          <a:xfrm>
            <a:off x="3352800" y="1660991"/>
            <a:ext cx="1836717" cy="44094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8" name="Straight Arrow Connector 7"/>
          <p:cNvCxnSpPr>
            <a:stCxn id="9" idx="0"/>
          </p:cNvCxnSpPr>
          <p:nvPr/>
        </p:nvCxnSpPr>
        <p:spPr bwMode="auto">
          <a:xfrm flipH="1" flipV="1">
            <a:off x="3384472" y="2303815"/>
            <a:ext cx="482596" cy="2357048"/>
          </a:xfrm>
          <a:prstGeom prst="straightConnector1">
            <a:avLst/>
          </a:prstGeom>
          <a:noFill/>
          <a:ln w="19050" cap="flat" cmpd="sng" algn="ctr">
            <a:solidFill>
              <a:srgbClr val="FF0000"/>
            </a:solidFill>
            <a:prstDash val="solid"/>
            <a:round/>
            <a:headEnd type="none" w="med" len="med"/>
            <a:tailEnd type="arrow"/>
          </a:ln>
          <a:effectLst/>
        </p:spPr>
      </p:cxnSp>
      <p:sp>
        <p:nvSpPr>
          <p:cNvPr id="9" name="TextBox 8"/>
          <p:cNvSpPr txBox="1"/>
          <p:nvPr/>
        </p:nvSpPr>
        <p:spPr>
          <a:xfrm>
            <a:off x="2794000" y="4660863"/>
            <a:ext cx="2146135" cy="369332"/>
          </a:xfrm>
          <a:prstGeom prst="rect">
            <a:avLst/>
          </a:prstGeom>
          <a:noFill/>
        </p:spPr>
        <p:txBody>
          <a:bodyPr wrap="square" rtlCol="0">
            <a:spAutoFit/>
          </a:bodyPr>
          <a:lstStyle/>
          <a:p>
            <a:r>
              <a:rPr lang="en-US" sz="1800" dirty="0">
                <a:latin typeface="Arial" pitchFamily="34" charset="0"/>
                <a:cs typeface="Arial" pitchFamily="34" charset="0"/>
              </a:rPr>
              <a:t>(Amount of </a:t>
            </a:r>
            <a:r>
              <a:rPr lang="en-US" sz="1800" dirty="0" err="1">
                <a:latin typeface="Arial" pitchFamily="34" charset="0"/>
                <a:cs typeface="Arial" pitchFamily="34" charset="0"/>
              </a:rPr>
              <a:t>inj</a:t>
            </a:r>
            <a:r>
              <a:rPr lang="en-US" sz="1800" dirty="0">
                <a:latin typeface="Arial" pitchFamily="34" charset="0"/>
                <a:cs typeface="Arial" pitchFamily="34" charset="0"/>
              </a:rPr>
              <a:t> 1)/2</a:t>
            </a:r>
          </a:p>
        </p:txBody>
      </p:sp>
      <p:pic>
        <p:nvPicPr>
          <p:cNvPr id="3074" name="Picture 2"/>
          <p:cNvPicPr>
            <a:picLocks noChangeAspect="1" noChangeArrowheads="1"/>
          </p:cNvPicPr>
          <p:nvPr/>
        </p:nvPicPr>
        <p:blipFill>
          <a:blip r:embed="rId4" cstate="print"/>
          <a:srcRect l="2842" t="1071" r="2842" b="2141"/>
          <a:stretch>
            <a:fillRect/>
          </a:stretch>
        </p:blipFill>
        <p:spPr bwMode="auto">
          <a:xfrm>
            <a:off x="7007906" y="1644295"/>
            <a:ext cx="1957969" cy="2666447"/>
          </a:xfrm>
          <a:prstGeom prst="rect">
            <a:avLst/>
          </a:prstGeom>
          <a:noFill/>
          <a:ln w="9525">
            <a:noFill/>
            <a:miter lim="800000"/>
            <a:headEnd/>
            <a:tailEnd/>
          </a:ln>
        </p:spPr>
      </p:pic>
      <p:sp>
        <p:nvSpPr>
          <p:cNvPr id="12" name="TextBox 11"/>
          <p:cNvSpPr txBox="1"/>
          <p:nvPr/>
        </p:nvSpPr>
        <p:spPr>
          <a:xfrm>
            <a:off x="6044541" y="5352202"/>
            <a:ext cx="2820226" cy="923330"/>
          </a:xfrm>
          <a:prstGeom prst="rect">
            <a:avLst/>
          </a:prstGeom>
          <a:noFill/>
        </p:spPr>
        <p:txBody>
          <a:bodyPr wrap="square" rtlCol="0">
            <a:spAutoFit/>
          </a:bodyPr>
          <a:lstStyle/>
          <a:p>
            <a:r>
              <a:rPr lang="en-US" sz="1800" dirty="0">
                <a:latin typeface="Arial" pitchFamily="34" charset="0"/>
                <a:cs typeface="Arial" pitchFamily="34" charset="0"/>
              </a:rPr>
              <a:t>Same calculation but with “</a:t>
            </a:r>
            <a:r>
              <a:rPr lang="en-US" sz="1800" dirty="0">
                <a:solidFill>
                  <a:srgbClr val="C00000"/>
                </a:solidFill>
                <a:latin typeface="Arial" pitchFamily="34" charset="0"/>
                <a:cs typeface="Arial" pitchFamily="34" charset="0"/>
              </a:rPr>
              <a:t>Summarize Custom Fields</a:t>
            </a:r>
            <a:r>
              <a:rPr lang="en-US" sz="1800" dirty="0">
                <a:latin typeface="Arial" pitchFamily="34" charset="0"/>
                <a:cs typeface="Arial" pitchFamily="34" charset="0"/>
              </a:rPr>
              <a:t>” in Sample set</a:t>
            </a:r>
          </a:p>
        </p:txBody>
      </p:sp>
      <p:cxnSp>
        <p:nvCxnSpPr>
          <p:cNvPr id="14" name="Straight Arrow Connector 13"/>
          <p:cNvCxnSpPr/>
          <p:nvPr/>
        </p:nvCxnSpPr>
        <p:spPr bwMode="auto">
          <a:xfrm flipV="1">
            <a:off x="7707088" y="4322618"/>
            <a:ext cx="973774" cy="1033152"/>
          </a:xfrm>
          <a:prstGeom prst="straightConnector1">
            <a:avLst/>
          </a:prstGeom>
          <a:noFill/>
          <a:ln w="19050" cap="flat" cmpd="sng" algn="ctr">
            <a:solidFill>
              <a:srgbClr val="FF0000"/>
            </a:solidFill>
            <a:prstDash val="solid"/>
            <a:round/>
            <a:headEnd type="none" w="med" len="med"/>
            <a:tailEnd type="arrow"/>
          </a:ln>
          <a:effectLst/>
        </p:spPr>
      </p:cxnSp>
      <p:cxnSp>
        <p:nvCxnSpPr>
          <p:cNvPr id="16" name="Straight Arrow Connector 15"/>
          <p:cNvCxnSpPr/>
          <p:nvPr/>
        </p:nvCxnSpPr>
        <p:spPr bwMode="auto">
          <a:xfrm flipH="1" flipV="1">
            <a:off x="6804561" y="4334494"/>
            <a:ext cx="890652" cy="1033153"/>
          </a:xfrm>
          <a:prstGeom prst="straightConnector1">
            <a:avLst/>
          </a:prstGeom>
          <a:noFill/>
          <a:ln w="19050" cap="flat" cmpd="sng" algn="ctr">
            <a:solidFill>
              <a:srgbClr val="FF0000"/>
            </a:solidFill>
            <a:prstDash val="solid"/>
            <a:round/>
            <a:headEnd type="none" w="med" len="med"/>
            <a:tailEnd type="arrow"/>
          </a:ln>
          <a:effectLst/>
        </p:spPr>
      </p:cxnSp>
      <p:sp>
        <p:nvSpPr>
          <p:cNvPr id="17" name="Rectangle 16"/>
          <p:cNvSpPr/>
          <p:nvPr/>
        </p:nvSpPr>
        <p:spPr>
          <a:xfrm>
            <a:off x="432960" y="5202053"/>
            <a:ext cx="5384800" cy="1015663"/>
          </a:xfrm>
          <a:prstGeom prst="rect">
            <a:avLst/>
          </a:prstGeom>
        </p:spPr>
        <p:txBody>
          <a:bodyPr wrap="square">
            <a:spAutoFit/>
          </a:bodyPr>
          <a:lstStyle/>
          <a:p>
            <a:pPr indent="1588"/>
            <a:r>
              <a:rPr lang="en-US" altLang="zh-CN" sz="2000" dirty="0">
                <a:latin typeface="Arial" pitchFamily="34" charset="0"/>
                <a:ea typeface="宋体" pitchFamily="2" charset="-122"/>
                <a:cs typeface="Arial" pitchFamily="34" charset="0"/>
              </a:rPr>
              <a:t>Rule 3: No label assumes the current sample line of the current result set. </a:t>
            </a:r>
            <a:r>
              <a:rPr lang="en-US" sz="2000" dirty="0">
                <a:latin typeface="Arial" pitchFamily="34" charset="0"/>
                <a:cs typeface="Arial" pitchFamily="34" charset="0"/>
              </a:rPr>
              <a:t>The search order has no effect if a label is not specified.</a:t>
            </a:r>
          </a:p>
        </p:txBody>
      </p:sp>
      <p:sp>
        <p:nvSpPr>
          <p:cNvPr id="19" name="Rectangle 18"/>
          <p:cNvSpPr/>
          <p:nvPr/>
        </p:nvSpPr>
        <p:spPr bwMode="auto">
          <a:xfrm>
            <a:off x="5151915" y="1647136"/>
            <a:ext cx="1900049" cy="440942"/>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25" name="Straight Arrow Connector 24"/>
          <p:cNvCxnSpPr>
            <a:stCxn id="9" idx="0"/>
          </p:cNvCxnSpPr>
          <p:nvPr/>
        </p:nvCxnSpPr>
        <p:spPr bwMode="auto">
          <a:xfrm flipV="1">
            <a:off x="3867068" y="2232561"/>
            <a:ext cx="799935" cy="2428302"/>
          </a:xfrm>
          <a:prstGeom prst="straightConnector1">
            <a:avLst/>
          </a:prstGeom>
          <a:noFill/>
          <a:ln w="1905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4182457543"/>
      </p:ext>
    </p:extLst>
  </p:cSld>
  <p:clrMapOvr>
    <a:masterClrMapping/>
  </p:clrMapOvr>
  <p:transition>
    <p:wipe dir="r"/>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1468"/>
            <a:ext cx="7724899" cy="1005840"/>
          </a:xfrm>
        </p:spPr>
        <p:txBody>
          <a:bodyPr/>
          <a:lstStyle/>
          <a:p>
            <a:r>
              <a:rPr lang="en-US" dirty="0" err="1"/>
              <a:t>Intersample</a:t>
            </a:r>
            <a:r>
              <a:rPr lang="en-US" dirty="0"/>
              <a:t> Custom Calculation – </a:t>
            </a:r>
            <a:r>
              <a:rPr lang="en-US" dirty="0">
                <a:solidFill>
                  <a:schemeClr val="accent2"/>
                </a:solidFill>
              </a:rPr>
              <a:t>All or Nothing Ex</a:t>
            </a:r>
            <a:endParaRPr lang="en-US" dirty="0"/>
          </a:p>
        </p:txBody>
      </p:sp>
      <p:pic>
        <p:nvPicPr>
          <p:cNvPr id="9218" name="Picture 2"/>
          <p:cNvPicPr>
            <a:picLocks noChangeAspect="1" noChangeArrowheads="1"/>
          </p:cNvPicPr>
          <p:nvPr/>
        </p:nvPicPr>
        <p:blipFill>
          <a:blip r:embed="rId3" cstate="print"/>
          <a:srcRect/>
          <a:stretch>
            <a:fillRect/>
          </a:stretch>
        </p:blipFill>
        <p:spPr bwMode="auto">
          <a:xfrm>
            <a:off x="301501" y="1821236"/>
            <a:ext cx="8629197" cy="4516559"/>
          </a:xfrm>
          <a:prstGeom prst="rect">
            <a:avLst/>
          </a:prstGeom>
          <a:noFill/>
          <a:ln w="9525">
            <a:noFill/>
            <a:miter lim="800000"/>
            <a:headEnd/>
            <a:tailEnd/>
          </a:ln>
        </p:spPr>
      </p:pic>
      <p:sp>
        <p:nvSpPr>
          <p:cNvPr id="4" name="Rectangle 3"/>
          <p:cNvSpPr/>
          <p:nvPr/>
        </p:nvSpPr>
        <p:spPr>
          <a:xfrm>
            <a:off x="540658" y="1215614"/>
            <a:ext cx="7973950" cy="400110"/>
          </a:xfrm>
          <a:prstGeom prst="rect">
            <a:avLst/>
          </a:prstGeom>
        </p:spPr>
        <p:txBody>
          <a:bodyPr wrap="square">
            <a:spAutoFit/>
          </a:bodyPr>
          <a:lstStyle/>
          <a:p>
            <a:pPr marL="342900" indent="-342900"/>
            <a:r>
              <a:rPr lang="en-US" altLang="zh-CN" sz="2000" dirty="0">
                <a:latin typeface="Arial" pitchFamily="34" charset="0"/>
                <a:ea typeface="宋体" pitchFamily="2" charset="-122"/>
                <a:cs typeface="Arial" pitchFamily="34" charset="0"/>
              </a:rPr>
              <a:t>Rule 4: No channel name always refers to the current channel name.</a:t>
            </a:r>
          </a:p>
        </p:txBody>
      </p:sp>
      <p:cxnSp>
        <p:nvCxnSpPr>
          <p:cNvPr id="6" name="Straight Arrow Connector 5"/>
          <p:cNvCxnSpPr>
            <a:stCxn id="4" idx="2"/>
          </p:cNvCxnSpPr>
          <p:nvPr/>
        </p:nvCxnSpPr>
        <p:spPr bwMode="auto">
          <a:xfrm>
            <a:off x="4527633" y="1615724"/>
            <a:ext cx="163120" cy="296204"/>
          </a:xfrm>
          <a:prstGeom prst="straightConnector1">
            <a:avLst/>
          </a:prstGeom>
          <a:noFill/>
          <a:ln w="19050" cap="flat" cmpd="sng" algn="ctr">
            <a:solidFill>
              <a:srgbClr val="FF0000"/>
            </a:solidFill>
            <a:prstDash val="solid"/>
            <a:round/>
            <a:headEnd type="none" w="med" len="med"/>
            <a:tailEnd type="arrow"/>
          </a:ln>
          <a:effectLst/>
        </p:spPr>
      </p:cxnSp>
      <p:sp>
        <p:nvSpPr>
          <p:cNvPr id="7" name="Right Brace 6"/>
          <p:cNvSpPr/>
          <p:nvPr/>
        </p:nvSpPr>
        <p:spPr bwMode="auto">
          <a:xfrm>
            <a:off x="4352801" y="2280062"/>
            <a:ext cx="349827" cy="724395"/>
          </a:xfrm>
          <a:prstGeom prst="rightBrace">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lang="en-US"/>
          </a:p>
        </p:txBody>
      </p:sp>
      <p:cxnSp>
        <p:nvCxnSpPr>
          <p:cNvPr id="9" name="Straight Arrow Connector 8"/>
          <p:cNvCxnSpPr>
            <a:stCxn id="7" idx="1"/>
          </p:cNvCxnSpPr>
          <p:nvPr/>
        </p:nvCxnSpPr>
        <p:spPr bwMode="auto">
          <a:xfrm>
            <a:off x="4702628" y="2642260"/>
            <a:ext cx="996373" cy="203035"/>
          </a:xfrm>
          <a:prstGeom prst="straightConnector1">
            <a:avLst/>
          </a:prstGeom>
          <a:noFill/>
          <a:ln w="19050" cap="flat" cmpd="sng" algn="ctr">
            <a:solidFill>
              <a:srgbClr val="FF0000"/>
            </a:solidFill>
            <a:prstDash val="solid"/>
            <a:round/>
            <a:headEnd type="none" w="med" len="med"/>
            <a:tailEnd type="arrow"/>
          </a:ln>
          <a:effectLst/>
        </p:spPr>
      </p:cxnSp>
      <p:cxnSp>
        <p:nvCxnSpPr>
          <p:cNvPr id="11" name="Straight Arrow Connector 10"/>
          <p:cNvCxnSpPr>
            <a:stCxn id="7" idx="1"/>
          </p:cNvCxnSpPr>
          <p:nvPr/>
        </p:nvCxnSpPr>
        <p:spPr bwMode="auto">
          <a:xfrm>
            <a:off x="4702628" y="2642260"/>
            <a:ext cx="3701473" cy="215735"/>
          </a:xfrm>
          <a:prstGeom prst="straightConnector1">
            <a:avLst/>
          </a:prstGeom>
          <a:noFill/>
          <a:ln w="19050" cap="flat" cmpd="sng" algn="ctr">
            <a:solidFill>
              <a:srgbClr val="FF0000"/>
            </a:solidFill>
            <a:prstDash val="solid"/>
            <a:round/>
            <a:headEnd type="none" w="med" len="med"/>
            <a:tailEnd type="arrow"/>
          </a:ln>
          <a:effectLst/>
        </p:spPr>
      </p:cxnSp>
      <p:sp>
        <p:nvSpPr>
          <p:cNvPr id="12" name="Right Brace 11"/>
          <p:cNvSpPr/>
          <p:nvPr/>
        </p:nvSpPr>
        <p:spPr bwMode="auto">
          <a:xfrm>
            <a:off x="4441701" y="2553195"/>
            <a:ext cx="355930" cy="700644"/>
          </a:xfrm>
          <a:prstGeom prst="rightBrace">
            <a:avLst/>
          </a:prstGeom>
          <a:noFill/>
          <a:ln w="28575" cap="flat" cmpd="sng" algn="ctr">
            <a:solidFill>
              <a:srgbClr val="0070C0"/>
            </a:solidFill>
            <a:prstDash val="solid"/>
            <a:round/>
            <a:headEnd type="none" w="med" len="med"/>
            <a:tailEnd type="none" w="med" len="med"/>
          </a:ln>
          <a:effectLst/>
        </p:spPr>
        <p:txBody>
          <a:bodyPr rtlCol="0" anchor="ctr"/>
          <a:lstStyle/>
          <a:p>
            <a:pPr algn="ctr"/>
            <a:endParaRPr lang="en-US"/>
          </a:p>
        </p:txBody>
      </p:sp>
      <p:cxnSp>
        <p:nvCxnSpPr>
          <p:cNvPr id="14" name="Straight Arrow Connector 13"/>
          <p:cNvCxnSpPr>
            <a:stCxn id="12" idx="1"/>
          </p:cNvCxnSpPr>
          <p:nvPr/>
        </p:nvCxnSpPr>
        <p:spPr bwMode="auto">
          <a:xfrm>
            <a:off x="4797631" y="2903517"/>
            <a:ext cx="952170" cy="221178"/>
          </a:xfrm>
          <a:prstGeom prst="straightConnector1">
            <a:avLst/>
          </a:prstGeom>
          <a:noFill/>
          <a:ln w="19050" cap="flat" cmpd="sng" algn="ctr">
            <a:solidFill>
              <a:srgbClr val="0070C0"/>
            </a:solidFill>
            <a:prstDash val="solid"/>
            <a:round/>
            <a:headEnd type="none" w="med" len="med"/>
            <a:tailEnd type="arrow"/>
          </a:ln>
          <a:effectLst/>
        </p:spPr>
      </p:cxnSp>
    </p:spTree>
    <p:extLst>
      <p:ext uri="{BB962C8B-B14F-4D97-AF65-F5344CB8AC3E}">
        <p14:creationId xmlns:p14="http://schemas.microsoft.com/office/powerpoint/2010/main" val="812153147"/>
      </p:ext>
    </p:extLst>
  </p:cSld>
  <p:clrMapOvr>
    <a:masterClrMapping/>
  </p:clrMapOvr>
  <p:transition>
    <p:wipe dir="r"/>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err="1"/>
              <a:t>Intersample</a:t>
            </a:r>
            <a:r>
              <a:rPr lang="en-US" dirty="0"/>
              <a:t> Summary Calculations</a:t>
            </a:r>
          </a:p>
        </p:txBody>
      </p:sp>
    </p:spTree>
    <p:extLst>
      <p:ext uri="{BB962C8B-B14F-4D97-AF65-F5344CB8AC3E}">
        <p14:creationId xmlns:p14="http://schemas.microsoft.com/office/powerpoint/2010/main" val="4181187160"/>
      </p:ext>
    </p:extLst>
  </p:cSld>
  <p:clrMapOvr>
    <a:masterClrMapping/>
  </p:clrMapOvr>
  <p:transition>
    <p:wipe dir="r"/>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idx="1"/>
          </p:nvPr>
        </p:nvSpPr>
        <p:spPr/>
        <p:txBody>
          <a:bodyPr>
            <a:normAutofit/>
          </a:bodyPr>
          <a:lstStyle/>
          <a:p>
            <a:r>
              <a:rPr lang="en-US" dirty="0"/>
              <a:t>Syntax:</a:t>
            </a:r>
          </a:p>
          <a:p>
            <a:pPr algn="ctr">
              <a:buNone/>
            </a:pPr>
            <a:r>
              <a:rPr lang="en-US" dirty="0" err="1"/>
              <a:t>Label.Injection.Channel.Function</a:t>
            </a:r>
            <a:r>
              <a:rPr lang="en-US" dirty="0"/>
              <a:t>(Field) </a:t>
            </a:r>
          </a:p>
          <a:p>
            <a:pPr algn="ctr">
              <a:buNone/>
            </a:pPr>
            <a:endParaRPr lang="en-US" dirty="0"/>
          </a:p>
          <a:p>
            <a:pPr algn="ctr">
              <a:buNone/>
            </a:pPr>
            <a:r>
              <a:rPr lang="en-US" dirty="0"/>
              <a:t>S0101.1.ACQUITY TUV ChA.AVE(Area)</a:t>
            </a:r>
          </a:p>
          <a:p>
            <a:endParaRPr lang="en-US" dirty="0"/>
          </a:p>
          <a:p>
            <a:r>
              <a:rPr lang="en-US" dirty="0"/>
              <a:t>Example syntaxes:</a:t>
            </a:r>
          </a:p>
          <a:p>
            <a:pPr lvl="1"/>
            <a:r>
              <a:rPr lang="en-US" dirty="0"/>
              <a:t>A…AVE(CCompRef1[Area])</a:t>
            </a:r>
          </a:p>
          <a:p>
            <a:pPr lvl="1"/>
            <a:r>
              <a:rPr lang="en-US" dirty="0"/>
              <a:t>Std.%..MIN(Retention Time) </a:t>
            </a:r>
          </a:p>
          <a:p>
            <a:pPr lvl="1"/>
            <a:r>
              <a:rPr lang="en-US" dirty="0"/>
              <a:t>?1…SUM(Amount)</a:t>
            </a:r>
          </a:p>
          <a:p>
            <a:endParaRPr lang="en-US" dirty="0"/>
          </a:p>
          <a:p>
            <a:r>
              <a:rPr lang="en-US" dirty="0"/>
              <a:t>Note: Summary functions include SUM, AVE, MIN, MAX, %RSD, PROD</a:t>
            </a:r>
          </a:p>
          <a:p>
            <a:endParaRPr lang="en-US" dirty="0"/>
          </a:p>
        </p:txBody>
      </p:sp>
      <p:sp>
        <p:nvSpPr>
          <p:cNvPr id="22530" name="Rectangle 1026"/>
          <p:cNvSpPr>
            <a:spLocks noGrp="1" noChangeArrowheads="1"/>
          </p:cNvSpPr>
          <p:nvPr>
            <p:ph type="title"/>
          </p:nvPr>
        </p:nvSpPr>
        <p:spPr/>
        <p:txBody>
          <a:bodyPr/>
          <a:lstStyle/>
          <a:p>
            <a:r>
              <a:rPr lang="en-US" dirty="0" err="1"/>
              <a:t>Intersample</a:t>
            </a:r>
            <a:r>
              <a:rPr lang="en-US" dirty="0"/>
              <a:t> Summary Custom - </a:t>
            </a:r>
            <a:r>
              <a:rPr lang="en-US" dirty="0">
                <a:solidFill>
                  <a:schemeClr val="accent2"/>
                </a:solidFill>
              </a:rPr>
              <a:t>Calculation</a:t>
            </a:r>
          </a:p>
        </p:txBody>
      </p:sp>
      <p:sp>
        <p:nvSpPr>
          <p:cNvPr id="22531" name="Text Box 1027"/>
          <p:cNvSpPr txBox="1">
            <a:spLocks noChangeArrowheads="1"/>
          </p:cNvSpPr>
          <p:nvPr/>
        </p:nvSpPr>
        <p:spPr bwMode="auto">
          <a:xfrm>
            <a:off x="1355725" y="3927475"/>
            <a:ext cx="184150" cy="457200"/>
          </a:xfrm>
          <a:prstGeom prst="rect">
            <a:avLst/>
          </a:prstGeom>
          <a:noFill/>
          <a:ln w="9525">
            <a:noFill/>
            <a:miter lim="800000"/>
            <a:headEnd/>
            <a:tailEnd/>
          </a:ln>
        </p:spPr>
        <p:txBody>
          <a:bodyPr wrap="none">
            <a:spAutoFit/>
          </a:bodyPr>
          <a:lstStyle/>
          <a:p>
            <a:endParaRPr lang="en-US" sz="2400">
              <a:latin typeface="Times New Roman" pitchFamily="18" charset="0"/>
            </a:endParaRPr>
          </a:p>
        </p:txBody>
      </p:sp>
      <p:cxnSp>
        <p:nvCxnSpPr>
          <p:cNvPr id="6" name="Straight Arrow Connector 5"/>
          <p:cNvCxnSpPr/>
          <p:nvPr/>
        </p:nvCxnSpPr>
        <p:spPr bwMode="auto">
          <a:xfrm>
            <a:off x="2666171" y="2110759"/>
            <a:ext cx="17652" cy="406810"/>
          </a:xfrm>
          <a:prstGeom prst="straightConnector1">
            <a:avLst/>
          </a:prstGeom>
          <a:noFill/>
          <a:ln w="38100" cap="flat" cmpd="sng" algn="ctr">
            <a:solidFill>
              <a:srgbClr val="FF0000"/>
            </a:solidFill>
            <a:prstDash val="solid"/>
            <a:round/>
            <a:headEnd type="none" w="med" len="med"/>
            <a:tailEnd type="arrow"/>
          </a:ln>
          <a:effectLst/>
        </p:spPr>
      </p:cxnSp>
      <p:cxnSp>
        <p:nvCxnSpPr>
          <p:cNvPr id="8" name="Straight Arrow Connector 7"/>
          <p:cNvCxnSpPr/>
          <p:nvPr/>
        </p:nvCxnSpPr>
        <p:spPr bwMode="auto">
          <a:xfrm flipH="1">
            <a:off x="3262827" y="2113808"/>
            <a:ext cx="145391" cy="424623"/>
          </a:xfrm>
          <a:prstGeom prst="straightConnector1">
            <a:avLst/>
          </a:prstGeom>
          <a:noFill/>
          <a:ln w="38100" cap="flat" cmpd="sng" algn="ctr">
            <a:solidFill>
              <a:srgbClr val="FF0000"/>
            </a:solidFill>
            <a:prstDash val="solid"/>
            <a:round/>
            <a:headEnd type="none" w="med" len="med"/>
            <a:tailEnd type="arrow"/>
          </a:ln>
          <a:effectLst/>
        </p:spPr>
      </p:cxnSp>
      <p:cxnSp>
        <p:nvCxnSpPr>
          <p:cNvPr id="10" name="Straight Arrow Connector 9"/>
          <p:cNvCxnSpPr/>
          <p:nvPr/>
        </p:nvCxnSpPr>
        <p:spPr bwMode="auto">
          <a:xfrm>
            <a:off x="4626562" y="2083637"/>
            <a:ext cx="28565" cy="481433"/>
          </a:xfrm>
          <a:prstGeom prst="straightConnector1">
            <a:avLst/>
          </a:prstGeom>
          <a:noFill/>
          <a:ln w="38100" cap="flat" cmpd="sng" algn="ctr">
            <a:solidFill>
              <a:srgbClr val="FF0000"/>
            </a:solidFill>
            <a:prstDash val="solid"/>
            <a:round/>
            <a:headEnd type="none" w="med" len="med"/>
            <a:tailEnd type="arrow"/>
          </a:ln>
          <a:effectLst/>
        </p:spPr>
      </p:cxnSp>
      <p:cxnSp>
        <p:nvCxnSpPr>
          <p:cNvPr id="12" name="Straight Arrow Connector 11"/>
          <p:cNvCxnSpPr/>
          <p:nvPr/>
        </p:nvCxnSpPr>
        <p:spPr bwMode="auto">
          <a:xfrm>
            <a:off x="5812490" y="2084601"/>
            <a:ext cx="125172" cy="444843"/>
          </a:xfrm>
          <a:prstGeom prst="straightConnector1">
            <a:avLst/>
          </a:prstGeom>
          <a:noFill/>
          <a:ln w="38100" cap="flat" cmpd="sng" algn="ctr">
            <a:solidFill>
              <a:srgbClr val="FF0000"/>
            </a:solidFill>
            <a:prstDash val="solid"/>
            <a:round/>
            <a:headEnd type="none" w="med" len="med"/>
            <a:tailEnd type="arrow"/>
          </a:ln>
          <a:effectLst/>
        </p:spPr>
      </p:cxnSp>
      <p:cxnSp>
        <p:nvCxnSpPr>
          <p:cNvPr id="14" name="Straight Arrow Connector 13"/>
          <p:cNvCxnSpPr/>
          <p:nvPr/>
        </p:nvCxnSpPr>
        <p:spPr bwMode="auto">
          <a:xfrm>
            <a:off x="6527577" y="2097921"/>
            <a:ext cx="27602" cy="467149"/>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164934636"/>
      </p:ext>
    </p:extLst>
  </p:cSld>
  <p:clrMapOvr>
    <a:masterClrMapping/>
  </p:clrMapOvr>
  <p:transition>
    <p:wipe dir="r"/>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Intersample Summary Functions</a:t>
            </a:r>
          </a:p>
        </p:txBody>
      </p:sp>
      <p:graphicFrame>
        <p:nvGraphicFramePr>
          <p:cNvPr id="4" name="Content Placeholder 3"/>
          <p:cNvGraphicFramePr>
            <a:graphicFrameLocks noGrp="1"/>
          </p:cNvGraphicFramePr>
          <p:nvPr>
            <p:ph idx="4294967295"/>
          </p:nvPr>
        </p:nvGraphicFramePr>
        <p:xfrm>
          <a:off x="961902" y="1568203"/>
          <a:ext cx="7408227" cy="2621280"/>
        </p:xfrm>
        <a:graphic>
          <a:graphicData uri="http://schemas.openxmlformats.org/drawingml/2006/table">
            <a:tbl>
              <a:tblPr firstRow="1" bandRow="1">
                <a:tableStyleId>{5C22544A-7EE6-4342-B048-85BDC9FD1C3A}</a:tableStyleId>
              </a:tblPr>
              <a:tblGrid>
                <a:gridCol w="2945080">
                  <a:extLst>
                    <a:ext uri="{9D8B030D-6E8A-4147-A177-3AD203B41FA5}">
                      <a16:colId xmlns:a16="http://schemas.microsoft.com/office/drawing/2014/main" val="20000"/>
                    </a:ext>
                  </a:extLst>
                </a:gridCol>
                <a:gridCol w="4463147">
                  <a:extLst>
                    <a:ext uri="{9D8B030D-6E8A-4147-A177-3AD203B41FA5}">
                      <a16:colId xmlns:a16="http://schemas.microsoft.com/office/drawing/2014/main" val="20001"/>
                    </a:ext>
                  </a:extLst>
                </a:gridCol>
              </a:tblGrid>
              <a:tr h="370840">
                <a:tc>
                  <a:txBody>
                    <a:bodyPr/>
                    <a:lstStyle/>
                    <a:p>
                      <a:pPr algn="ctr"/>
                      <a:r>
                        <a:rPr lang="en-US" sz="2000" dirty="0">
                          <a:latin typeface="Arial" pitchFamily="34" charset="0"/>
                          <a:cs typeface="Arial" pitchFamily="34" charset="0"/>
                        </a:rPr>
                        <a:t>Operator or function</a:t>
                      </a:r>
                    </a:p>
                  </a:txBody>
                  <a:tcPr anchor="ctr"/>
                </a:tc>
                <a:tc>
                  <a:txBody>
                    <a:bodyPr/>
                    <a:lstStyle/>
                    <a:p>
                      <a:pPr algn="ctr"/>
                      <a:r>
                        <a:rPr lang="en-US" sz="2000" dirty="0">
                          <a:latin typeface="Arial" pitchFamily="34" charset="0"/>
                          <a:cs typeface="Arial" pitchFamily="34" charset="0"/>
                        </a:rPr>
                        <a:t>Meaning</a:t>
                      </a:r>
                    </a:p>
                  </a:txBody>
                  <a:tcPr anchor="ctr"/>
                </a:tc>
                <a:extLst>
                  <a:ext uri="{0D108BD9-81ED-4DB2-BD59-A6C34878D82A}">
                    <a16:rowId xmlns:a16="http://schemas.microsoft.com/office/drawing/2014/main" val="10000"/>
                  </a:ext>
                </a:extLst>
              </a:tr>
              <a:tr h="370840">
                <a:tc>
                  <a:txBody>
                    <a:bodyPr/>
                    <a:lstStyle/>
                    <a:p>
                      <a:r>
                        <a:rPr lang="en-US">
                          <a:latin typeface="Arial" pitchFamily="34" charset="0"/>
                          <a:cs typeface="Arial" pitchFamily="34" charset="0"/>
                        </a:rPr>
                        <a:t>AVE(</a:t>
                      </a:r>
                    </a:p>
                  </a:txBody>
                  <a:tcPr anchor="ctr"/>
                </a:tc>
                <a:tc>
                  <a:txBody>
                    <a:bodyPr/>
                    <a:lstStyle/>
                    <a:p>
                      <a:r>
                        <a:rPr lang="en-US">
                          <a:latin typeface="Arial" pitchFamily="34" charset="0"/>
                          <a:cs typeface="Arial" pitchFamily="34" charset="0"/>
                        </a:rPr>
                        <a:t>Average</a:t>
                      </a:r>
                    </a:p>
                  </a:txBody>
                  <a:tcPr anchor="ctr"/>
                </a:tc>
                <a:extLst>
                  <a:ext uri="{0D108BD9-81ED-4DB2-BD59-A6C34878D82A}">
                    <a16:rowId xmlns:a16="http://schemas.microsoft.com/office/drawing/2014/main" val="10001"/>
                  </a:ext>
                </a:extLst>
              </a:tr>
              <a:tr h="370840">
                <a:tc>
                  <a:txBody>
                    <a:bodyPr/>
                    <a:lstStyle/>
                    <a:p>
                      <a:r>
                        <a:rPr lang="en-US">
                          <a:latin typeface="Arial" pitchFamily="34" charset="0"/>
                          <a:cs typeface="Arial" pitchFamily="34" charset="0"/>
                        </a:rPr>
                        <a:t>MAX(</a:t>
                      </a:r>
                    </a:p>
                  </a:txBody>
                  <a:tcPr anchor="ctr"/>
                </a:tc>
                <a:tc>
                  <a:txBody>
                    <a:bodyPr/>
                    <a:lstStyle/>
                    <a:p>
                      <a:r>
                        <a:rPr lang="en-US">
                          <a:latin typeface="Arial" pitchFamily="34" charset="0"/>
                          <a:cs typeface="Arial" pitchFamily="34" charset="0"/>
                        </a:rPr>
                        <a:t>Maximum value</a:t>
                      </a:r>
                    </a:p>
                  </a:txBody>
                  <a:tcPr anchor="ctr"/>
                </a:tc>
                <a:extLst>
                  <a:ext uri="{0D108BD9-81ED-4DB2-BD59-A6C34878D82A}">
                    <a16:rowId xmlns:a16="http://schemas.microsoft.com/office/drawing/2014/main" val="10002"/>
                  </a:ext>
                </a:extLst>
              </a:tr>
              <a:tr h="370840">
                <a:tc>
                  <a:txBody>
                    <a:bodyPr/>
                    <a:lstStyle/>
                    <a:p>
                      <a:r>
                        <a:rPr lang="en-US" dirty="0">
                          <a:latin typeface="Arial" pitchFamily="34" charset="0"/>
                          <a:cs typeface="Arial" pitchFamily="34" charset="0"/>
                        </a:rPr>
                        <a:t>MIN(</a:t>
                      </a:r>
                    </a:p>
                  </a:txBody>
                  <a:tcPr anchor="ctr"/>
                </a:tc>
                <a:tc>
                  <a:txBody>
                    <a:bodyPr/>
                    <a:lstStyle/>
                    <a:p>
                      <a:r>
                        <a:rPr lang="en-US">
                          <a:latin typeface="Arial" pitchFamily="34" charset="0"/>
                          <a:cs typeface="Arial" pitchFamily="34" charset="0"/>
                        </a:rPr>
                        <a:t>Minimum value</a:t>
                      </a:r>
                    </a:p>
                  </a:txBody>
                  <a:tcPr anchor="ctr"/>
                </a:tc>
                <a:extLst>
                  <a:ext uri="{0D108BD9-81ED-4DB2-BD59-A6C34878D82A}">
                    <a16:rowId xmlns:a16="http://schemas.microsoft.com/office/drawing/2014/main" val="10003"/>
                  </a:ext>
                </a:extLst>
              </a:tr>
              <a:tr h="370840">
                <a:tc>
                  <a:txBody>
                    <a:bodyPr/>
                    <a:lstStyle/>
                    <a:p>
                      <a:r>
                        <a:rPr lang="en-US">
                          <a:latin typeface="Arial" pitchFamily="34" charset="0"/>
                          <a:cs typeface="Arial" pitchFamily="34" charset="0"/>
                        </a:rPr>
                        <a:t>SUM(</a:t>
                      </a:r>
                    </a:p>
                  </a:txBody>
                  <a:tcPr anchor="ctr"/>
                </a:tc>
                <a:tc>
                  <a:txBody>
                    <a:bodyPr/>
                    <a:lstStyle/>
                    <a:p>
                      <a:r>
                        <a:rPr lang="en-US">
                          <a:latin typeface="Arial" pitchFamily="34" charset="0"/>
                          <a:cs typeface="Arial" pitchFamily="34" charset="0"/>
                        </a:rPr>
                        <a:t>Summation</a:t>
                      </a:r>
                    </a:p>
                  </a:txBody>
                  <a:tcPr anchor="ctr"/>
                </a:tc>
                <a:extLst>
                  <a:ext uri="{0D108BD9-81ED-4DB2-BD59-A6C34878D82A}">
                    <a16:rowId xmlns:a16="http://schemas.microsoft.com/office/drawing/2014/main" val="10004"/>
                  </a:ext>
                </a:extLst>
              </a:tr>
              <a:tr h="370840">
                <a:tc>
                  <a:txBody>
                    <a:bodyPr/>
                    <a:lstStyle/>
                    <a:p>
                      <a:r>
                        <a:rPr lang="en-US" dirty="0">
                          <a:latin typeface="Arial" pitchFamily="34" charset="0"/>
                          <a:cs typeface="Arial" pitchFamily="34" charset="0"/>
                        </a:rPr>
                        <a:t>%RSD(</a:t>
                      </a:r>
                    </a:p>
                  </a:txBody>
                  <a:tcPr anchor="ctr"/>
                </a:tc>
                <a:tc>
                  <a:txBody>
                    <a:bodyPr/>
                    <a:lstStyle/>
                    <a:p>
                      <a:r>
                        <a:rPr lang="en-US" dirty="0">
                          <a:latin typeface="Arial" pitchFamily="34" charset="0"/>
                          <a:cs typeface="Arial" pitchFamily="34" charset="0"/>
                        </a:rPr>
                        <a:t>Percent Relative Standard Deviation</a:t>
                      </a:r>
                    </a:p>
                  </a:txBody>
                  <a:tcPr anchor="ctr"/>
                </a:tc>
                <a:extLst>
                  <a:ext uri="{0D108BD9-81ED-4DB2-BD59-A6C34878D82A}">
                    <a16:rowId xmlns:a16="http://schemas.microsoft.com/office/drawing/2014/main" val="10005"/>
                  </a:ext>
                </a:extLst>
              </a:tr>
              <a:tr h="370840">
                <a:tc>
                  <a:txBody>
                    <a:bodyPr/>
                    <a:lstStyle/>
                    <a:p>
                      <a:r>
                        <a:rPr lang="en-US">
                          <a:latin typeface="Arial" pitchFamily="34" charset="0"/>
                          <a:cs typeface="Arial" pitchFamily="34" charset="0"/>
                        </a:rPr>
                        <a:t>PROD(</a:t>
                      </a:r>
                    </a:p>
                  </a:txBody>
                  <a:tcPr anchor="ctr"/>
                </a:tc>
                <a:tc>
                  <a:txBody>
                    <a:bodyPr/>
                    <a:lstStyle/>
                    <a:p>
                      <a:r>
                        <a:rPr lang="en-US" dirty="0">
                          <a:latin typeface="Arial" pitchFamily="34" charset="0"/>
                          <a:cs typeface="Arial" pitchFamily="34" charset="0"/>
                        </a:rPr>
                        <a:t>Multiplication</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25541067"/>
      </p:ext>
    </p:extLst>
  </p:cSld>
  <p:clrMapOvr>
    <a:masterClrMapping/>
  </p:clrMapOvr>
  <p:transition>
    <p:wipe dir="r"/>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1311999"/>
            <a:ext cx="8360228" cy="5278805"/>
          </a:xfrm>
        </p:spPr>
        <p:txBody>
          <a:bodyPr>
            <a:normAutofit lnSpcReduction="10000"/>
          </a:bodyPr>
          <a:lstStyle/>
          <a:p>
            <a:pPr marL="457200" lvl="0" indent="-457200">
              <a:spcAft>
                <a:spcPts val="600"/>
              </a:spcAft>
              <a:buFont typeface="+mj-lt"/>
              <a:buAutoNum type="arabicPeriod" startAt="10"/>
            </a:pPr>
            <a:r>
              <a:rPr lang="en-US" dirty="0"/>
              <a:t>The software calculates inter-sample summary fields </a:t>
            </a:r>
            <a:r>
              <a:rPr lang="en-US" dirty="0">
                <a:solidFill>
                  <a:srgbClr val="C00000"/>
                </a:solidFill>
              </a:rPr>
              <a:t>after the individual result within the sample set have been processed</a:t>
            </a:r>
            <a:r>
              <a:rPr lang="en-US" dirty="0"/>
              <a:t>.  You can therefore target results that are processed after the current result, but within the result set.</a:t>
            </a:r>
          </a:p>
          <a:p>
            <a:pPr marL="457200" lvl="0" indent="-457200">
              <a:spcAft>
                <a:spcPts val="600"/>
              </a:spcAft>
              <a:buFont typeface="+mj-lt"/>
              <a:buAutoNum type="arabicPeriod" startAt="10"/>
            </a:pPr>
            <a:r>
              <a:rPr lang="en-US" dirty="0"/>
              <a:t>When a SUMMARY function is specified, searching for targeted results continues until all search areas (inside the current result set and outside of the current result set) are exhausted. The search area is defined by the Search Order drop down list. More than one result can be targeted when using the summary functionality.</a:t>
            </a:r>
          </a:p>
          <a:p>
            <a:pPr marL="457200" lvl="0" indent="-457200">
              <a:spcAft>
                <a:spcPts val="600"/>
              </a:spcAft>
              <a:buFont typeface="+mj-lt"/>
              <a:buAutoNum type="arabicPeriod" startAt="10"/>
            </a:pPr>
            <a:r>
              <a:rPr lang="en-US" dirty="0"/>
              <a:t>A result that is outside of the result set (and has been previously processed) can be referenced only if the Label portion of the syntax is included and the Search Order field is set to Result Set First or Outside First.  If no label is specified, or if Result Set Only or Outside Only is used, the software will not look outside of the result set when performing this type of calculation.</a:t>
            </a:r>
          </a:p>
        </p:txBody>
      </p:sp>
      <p:sp>
        <p:nvSpPr>
          <p:cNvPr id="2" name="Title 1"/>
          <p:cNvSpPr>
            <a:spLocks noGrp="1"/>
          </p:cNvSpPr>
          <p:nvPr>
            <p:ph type="title"/>
          </p:nvPr>
        </p:nvSpPr>
        <p:spPr>
          <a:xfrm>
            <a:off x="457200" y="31468"/>
            <a:ext cx="5159829" cy="1005840"/>
          </a:xfrm>
        </p:spPr>
        <p:txBody>
          <a:bodyPr/>
          <a:lstStyle/>
          <a:p>
            <a:r>
              <a:rPr lang="en-US" dirty="0" err="1"/>
              <a:t>Intersample</a:t>
            </a:r>
            <a:r>
              <a:rPr lang="en-US" dirty="0"/>
              <a:t> Summary Calculation – </a:t>
            </a:r>
            <a:r>
              <a:rPr lang="en-US" dirty="0">
                <a:solidFill>
                  <a:schemeClr val="accent2"/>
                </a:solidFill>
              </a:rPr>
              <a:t>Rules of Syntax</a:t>
            </a:r>
            <a:endParaRPr lang="en-US" dirty="0"/>
          </a:p>
        </p:txBody>
      </p:sp>
    </p:spTree>
    <p:extLst>
      <p:ext uri="{BB962C8B-B14F-4D97-AF65-F5344CB8AC3E}">
        <p14:creationId xmlns:p14="http://schemas.microsoft.com/office/powerpoint/2010/main" val="3611931476"/>
      </p:ext>
    </p:extLst>
  </p:cSld>
  <p:clrMapOvr>
    <a:masterClrMapping/>
  </p:clrMapOvr>
  <p:transition>
    <p:wipe dir="r"/>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marL="457200" indent="-457200">
              <a:buFont typeface="+mj-lt"/>
              <a:buAutoNum type="arabicPeriod" startAt="13"/>
            </a:pPr>
            <a:r>
              <a:rPr lang="en-US" dirty="0"/>
              <a:t>When processing individual results and using an inter-sample summary, the Label portion of the syntax must be used and the Search Order must be set to either Result Set First or Outside First.  If no label is specified, or if Result Set Only or Outside Only is used, the software will not produce any results for this field.</a:t>
            </a:r>
          </a:p>
          <a:p>
            <a:pPr marL="457200" lvl="0" indent="-457200">
              <a:buFont typeface="+mj-lt"/>
              <a:buAutoNum type="arabicPeriod" startAt="13"/>
            </a:pPr>
            <a:r>
              <a:rPr lang="en-US" dirty="0"/>
              <a:t>When processing individual results and using an inter-sample summary, results that are processed after the current result are not considered as a targeted result.</a:t>
            </a:r>
          </a:p>
          <a:p>
            <a:pPr marL="457200" indent="-457200">
              <a:buFont typeface="+mj-lt"/>
              <a:buAutoNum type="arabicPeriod" startAt="13"/>
            </a:pPr>
            <a:r>
              <a:rPr lang="en-US" dirty="0"/>
              <a:t>If a label but no injection is specified, the software uses the most recent unique matching result(s) as the targeted result(s) i.e. the most recent injection 1, injection 2, and injection 3, etc. (the ones that have the highest Result ID that is not higher than the current result’s Result ID) matching the label and channel are used.  The current result is excluded as a targeted result.</a:t>
            </a:r>
          </a:p>
        </p:txBody>
      </p:sp>
      <p:sp>
        <p:nvSpPr>
          <p:cNvPr id="2" name="Title 1"/>
          <p:cNvSpPr>
            <a:spLocks noGrp="1"/>
          </p:cNvSpPr>
          <p:nvPr>
            <p:ph type="title"/>
          </p:nvPr>
        </p:nvSpPr>
        <p:spPr>
          <a:xfrm>
            <a:off x="457200" y="31468"/>
            <a:ext cx="5278582" cy="1005840"/>
          </a:xfrm>
        </p:spPr>
        <p:txBody>
          <a:bodyPr/>
          <a:lstStyle/>
          <a:p>
            <a:r>
              <a:rPr lang="en-US" dirty="0" err="1"/>
              <a:t>Intersample</a:t>
            </a:r>
            <a:r>
              <a:rPr lang="en-US" dirty="0"/>
              <a:t> Summary Calculation – </a:t>
            </a:r>
            <a:r>
              <a:rPr lang="en-US" dirty="0">
                <a:solidFill>
                  <a:schemeClr val="accent2"/>
                </a:solidFill>
              </a:rPr>
              <a:t>Rules of Syntax</a:t>
            </a:r>
            <a:endParaRPr lang="en-US" dirty="0"/>
          </a:p>
        </p:txBody>
      </p:sp>
    </p:spTree>
    <p:extLst>
      <p:ext uri="{BB962C8B-B14F-4D97-AF65-F5344CB8AC3E}">
        <p14:creationId xmlns:p14="http://schemas.microsoft.com/office/powerpoint/2010/main" val="1801245923"/>
      </p:ext>
    </p:extLst>
  </p:cSld>
  <p:clrMapOvr>
    <a:masterClrMapping/>
  </p:clrMapOvr>
  <p:transition>
    <p:wipe dir="r"/>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lvl="0" indent="-457200">
              <a:buFont typeface="+mj-lt"/>
              <a:buAutoNum type="arabicPeriod" startAt="16"/>
            </a:pPr>
            <a:r>
              <a:rPr lang="en-US" dirty="0"/>
              <a:t>All or Nothing functionality is not applied to a summary formula. If you use another type of mathematical operation inside of a summary function, the All or Nothing functionality does apply to that portion of the calculation.</a:t>
            </a:r>
          </a:p>
          <a:p>
            <a:pPr marL="457200" lvl="0" indent="-457200">
              <a:buFont typeface="+mj-lt"/>
              <a:buAutoNum type="arabicPeriod" startAt="16"/>
            </a:pPr>
            <a:r>
              <a:rPr lang="en-US" dirty="0"/>
              <a:t>A new function called Summarize Custom Fields is required at the end of the sample set in order to process a summary custom field in a result set. </a:t>
            </a:r>
          </a:p>
          <a:p>
            <a:pPr marL="566737" lvl="1" indent="-342900"/>
            <a:r>
              <a:rPr lang="en-US" dirty="0"/>
              <a:t>Found in the Function column in Run Samples or Alter Sample. </a:t>
            </a:r>
          </a:p>
          <a:p>
            <a:pPr marL="566737" lvl="1" indent="-342900"/>
            <a:r>
              <a:rPr lang="en-US" dirty="0"/>
              <a:t>When processing individual samples, this function is not required, however a rolling summary is calculated rather than an overall summary. It is therefore generally recommended to process sample sets (and therefore create result sets) when using inter-sample summary calculations.</a:t>
            </a:r>
          </a:p>
          <a:p>
            <a:endParaRPr lang="en-US" dirty="0"/>
          </a:p>
        </p:txBody>
      </p:sp>
      <p:sp>
        <p:nvSpPr>
          <p:cNvPr id="3" name="Title 2"/>
          <p:cNvSpPr>
            <a:spLocks noGrp="1"/>
          </p:cNvSpPr>
          <p:nvPr>
            <p:ph type="title"/>
          </p:nvPr>
        </p:nvSpPr>
        <p:spPr>
          <a:xfrm>
            <a:off x="457200" y="31468"/>
            <a:ext cx="5539839" cy="1005840"/>
          </a:xfrm>
        </p:spPr>
        <p:txBody>
          <a:bodyPr/>
          <a:lstStyle/>
          <a:p>
            <a:r>
              <a:rPr lang="en-US" dirty="0" err="1"/>
              <a:t>Intersample</a:t>
            </a:r>
            <a:r>
              <a:rPr lang="en-US" dirty="0"/>
              <a:t> Summary Calculation – </a:t>
            </a:r>
            <a:r>
              <a:rPr lang="en-US" dirty="0">
                <a:solidFill>
                  <a:schemeClr val="accent2"/>
                </a:solidFill>
              </a:rPr>
              <a:t>Rules of Syntax</a:t>
            </a:r>
            <a:endParaRPr lang="en-US" dirty="0"/>
          </a:p>
        </p:txBody>
      </p:sp>
    </p:spTree>
    <p:extLst>
      <p:ext uri="{BB962C8B-B14F-4D97-AF65-F5344CB8AC3E}">
        <p14:creationId xmlns:p14="http://schemas.microsoft.com/office/powerpoint/2010/main" val="1690395275"/>
      </p:ext>
    </p:extLst>
  </p:cSld>
  <p:clrMapOvr>
    <a:masterClrMapping/>
  </p:clrMapOvr>
  <p:transition>
    <p:wipe dir="r"/>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2"/>
                </a:solidFill>
              </a:rPr>
              <a:t>Summarize Custom Fields </a:t>
            </a:r>
            <a:r>
              <a:rPr lang="en-US" dirty="0"/>
              <a:t>Function</a:t>
            </a:r>
          </a:p>
        </p:txBody>
      </p:sp>
      <p:grpSp>
        <p:nvGrpSpPr>
          <p:cNvPr id="6" name="Group 5"/>
          <p:cNvGrpSpPr/>
          <p:nvPr/>
        </p:nvGrpSpPr>
        <p:grpSpPr>
          <a:xfrm>
            <a:off x="602689" y="1905000"/>
            <a:ext cx="7931711" cy="3382317"/>
            <a:chOff x="602689" y="1905000"/>
            <a:chExt cx="7931711" cy="3382317"/>
          </a:xfrm>
        </p:grpSpPr>
        <p:pic>
          <p:nvPicPr>
            <p:cNvPr id="3" name="Picture 2" descr="ScreenHunter_02 Jul. 23 09.04.jpg"/>
            <p:cNvPicPr>
              <a:picLocks noChangeAspect="1"/>
            </p:cNvPicPr>
            <p:nvPr/>
          </p:nvPicPr>
          <p:blipFill>
            <a:blip r:embed="rId3" cstate="print"/>
            <a:srcRect t="3105" r="60997"/>
            <a:stretch>
              <a:fillRect/>
            </a:stretch>
          </p:blipFill>
          <p:spPr>
            <a:xfrm>
              <a:off x="602689" y="1905000"/>
              <a:ext cx="3594746" cy="3382317"/>
            </a:xfrm>
            <a:prstGeom prst="rect">
              <a:avLst/>
            </a:prstGeom>
          </p:spPr>
        </p:pic>
        <p:pic>
          <p:nvPicPr>
            <p:cNvPr id="5" name="Picture 4" descr="ScreenHunter_02 Jul. 23 09.04.jpg"/>
            <p:cNvPicPr>
              <a:picLocks noChangeAspect="1"/>
            </p:cNvPicPr>
            <p:nvPr/>
          </p:nvPicPr>
          <p:blipFill>
            <a:blip r:embed="rId3" cstate="print"/>
            <a:srcRect l="52185" t="3105"/>
            <a:stretch>
              <a:fillRect/>
            </a:stretch>
          </p:blipFill>
          <p:spPr>
            <a:xfrm>
              <a:off x="4127500" y="1905000"/>
              <a:ext cx="4406900" cy="3382317"/>
            </a:xfrm>
            <a:prstGeom prst="rect">
              <a:avLst/>
            </a:prstGeom>
          </p:spPr>
        </p:pic>
        <p:sp>
          <p:nvSpPr>
            <p:cNvPr id="4" name="Rectangle 3"/>
            <p:cNvSpPr/>
            <p:nvPr/>
          </p:nvSpPr>
          <p:spPr bwMode="auto">
            <a:xfrm>
              <a:off x="4133728" y="5025594"/>
              <a:ext cx="1454272" cy="25760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grpSp>
    </p:spTree>
    <p:extLst>
      <p:ext uri="{BB962C8B-B14F-4D97-AF65-F5344CB8AC3E}">
        <p14:creationId xmlns:p14="http://schemas.microsoft.com/office/powerpoint/2010/main" val="810590355"/>
      </p:ext>
    </p:extLst>
  </p:cSld>
  <p:clrMapOvr>
    <a:masterClrMapping/>
  </p:clrMapOvr>
  <p:transition>
    <p:wipe dir="r"/>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solidFill>
                  <a:srgbClr val="C00000"/>
                </a:solidFill>
              </a:rPr>
              <a:t>Summarize Custom Fields </a:t>
            </a:r>
          </a:p>
          <a:p>
            <a:pPr lvl="1"/>
            <a:r>
              <a:rPr lang="en-US" dirty="0"/>
              <a:t>Add this function at the end of a sample set to calculate summary results using </a:t>
            </a:r>
            <a:r>
              <a:rPr lang="en-US" dirty="0">
                <a:solidFill>
                  <a:schemeClr val="accent2"/>
                </a:solidFill>
              </a:rPr>
              <a:t>all samples above this table row </a:t>
            </a:r>
            <a:r>
              <a:rPr lang="en-US" dirty="0"/>
              <a:t>in the sample set. </a:t>
            </a:r>
          </a:p>
          <a:p>
            <a:pPr lvl="1"/>
            <a:r>
              <a:rPr lang="en-US" dirty="0"/>
              <a:t>This function stores its summary value for all samples above its table row in the sample set.</a:t>
            </a:r>
            <a:br>
              <a:rPr lang="en-US" dirty="0"/>
            </a:br>
            <a:endParaRPr lang="en-US" dirty="0"/>
          </a:p>
          <a:p>
            <a:r>
              <a:rPr lang="en-US" dirty="0">
                <a:solidFill>
                  <a:srgbClr val="C00000"/>
                </a:solidFill>
              </a:rPr>
              <a:t>Summarize Custom Fields (Exclude Faulted) </a:t>
            </a:r>
          </a:p>
          <a:p>
            <a:pPr lvl="1"/>
            <a:r>
              <a:rPr lang="en-US" dirty="0"/>
              <a:t>Add this function at the end of a sample set to calculate summary results using all samples above its row that match the custom field syntax, </a:t>
            </a:r>
            <a:r>
              <a:rPr lang="en-US" dirty="0">
                <a:solidFill>
                  <a:srgbClr val="C00000"/>
                </a:solidFill>
              </a:rPr>
              <a:t>excluding </a:t>
            </a:r>
            <a:r>
              <a:rPr lang="en-US" dirty="0"/>
              <a:t>from its calculation those injections whose individual faulted results fell outside of system suitability limits.</a:t>
            </a:r>
            <a:br>
              <a:rPr lang="en-US" dirty="0"/>
            </a:br>
            <a:endParaRPr lang="en-US" dirty="0"/>
          </a:p>
        </p:txBody>
      </p:sp>
      <p:sp>
        <p:nvSpPr>
          <p:cNvPr id="2" name="Title 1"/>
          <p:cNvSpPr>
            <a:spLocks noGrp="1"/>
          </p:cNvSpPr>
          <p:nvPr>
            <p:ph type="title"/>
          </p:nvPr>
        </p:nvSpPr>
        <p:spPr/>
        <p:txBody>
          <a:bodyPr/>
          <a:lstStyle/>
          <a:p>
            <a:r>
              <a:rPr lang="en-US" dirty="0"/>
              <a:t>Summarize Custom Fields Functions</a:t>
            </a:r>
          </a:p>
        </p:txBody>
      </p:sp>
    </p:spTree>
    <p:extLst>
      <p:ext uri="{BB962C8B-B14F-4D97-AF65-F5344CB8AC3E}">
        <p14:creationId xmlns:p14="http://schemas.microsoft.com/office/powerpoint/2010/main" val="976098458"/>
      </p:ext>
    </p:extLst>
  </p:cSld>
  <p:clrMapOvr>
    <a:masterClrMapping/>
  </p:clrMapOvr>
  <p:transition>
    <p:wipe dir="r"/>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rgbClr val="C00000"/>
                </a:solidFill>
              </a:rPr>
              <a:t>Summarize Custom Fields Incrementally </a:t>
            </a:r>
          </a:p>
          <a:p>
            <a:pPr lvl="1"/>
            <a:r>
              <a:rPr lang="en-US" dirty="0"/>
              <a:t>Add one or more functions in a sample set to calculate </a:t>
            </a:r>
            <a:r>
              <a:rPr lang="en-US" dirty="0">
                <a:solidFill>
                  <a:schemeClr val="accent2"/>
                </a:solidFill>
              </a:rPr>
              <a:t>incremental summary results </a:t>
            </a:r>
            <a:r>
              <a:rPr lang="en-US" dirty="0"/>
              <a:t>using all samples above its function row that match the custom field syntax. </a:t>
            </a:r>
          </a:p>
          <a:p>
            <a:pPr lvl="1"/>
            <a:r>
              <a:rPr lang="en-US" dirty="0"/>
              <a:t>However, the result of this field is only stored in the results listed above this table row and below any previous Summarize Custom Fields function rows.  </a:t>
            </a:r>
          </a:p>
          <a:p>
            <a:pPr lvl="1"/>
            <a:r>
              <a:rPr lang="en-US" dirty="0"/>
              <a:t>Previous results determined using previous Summarize Custom Fields function rows remain unchanged.</a:t>
            </a:r>
            <a:br>
              <a:rPr lang="en-US" dirty="0"/>
            </a:br>
            <a:endParaRPr lang="en-US" dirty="0"/>
          </a:p>
          <a:p>
            <a:r>
              <a:rPr lang="en-US" dirty="0">
                <a:solidFill>
                  <a:srgbClr val="C00000"/>
                </a:solidFill>
              </a:rPr>
              <a:t>Summarize Custom Fields Incrementally (Excluded Faulted) </a:t>
            </a:r>
          </a:p>
          <a:p>
            <a:pPr lvl="1"/>
            <a:r>
              <a:rPr lang="en-US" dirty="0"/>
              <a:t>Add one or more functions in a sample set to calculate incremental summary results using all samples above its function row, </a:t>
            </a:r>
            <a:r>
              <a:rPr lang="en-US" dirty="0">
                <a:solidFill>
                  <a:srgbClr val="C00000"/>
                </a:solidFill>
              </a:rPr>
              <a:t>excluding </a:t>
            </a:r>
            <a:r>
              <a:rPr lang="en-US" dirty="0"/>
              <a:t>from its calculation those injections whose individual results fell outside of system suitability limits. </a:t>
            </a:r>
            <a:endParaRPr lang="en-US" dirty="0">
              <a:solidFill>
                <a:srgbClr val="FF0000"/>
              </a:solidFill>
            </a:endParaRPr>
          </a:p>
          <a:p>
            <a:endParaRPr lang="en-US" dirty="0"/>
          </a:p>
          <a:p>
            <a:endParaRPr lang="en-US" dirty="0"/>
          </a:p>
        </p:txBody>
      </p:sp>
      <p:sp>
        <p:nvSpPr>
          <p:cNvPr id="2" name="Title 1"/>
          <p:cNvSpPr>
            <a:spLocks noGrp="1"/>
          </p:cNvSpPr>
          <p:nvPr>
            <p:ph type="title"/>
          </p:nvPr>
        </p:nvSpPr>
        <p:spPr/>
        <p:txBody>
          <a:bodyPr/>
          <a:lstStyle/>
          <a:p>
            <a:r>
              <a:rPr lang="en-US" dirty="0"/>
              <a:t>Summarize Custom Fields Functions</a:t>
            </a:r>
          </a:p>
        </p:txBody>
      </p:sp>
    </p:spTree>
    <p:extLst>
      <p:ext uri="{BB962C8B-B14F-4D97-AF65-F5344CB8AC3E}">
        <p14:creationId xmlns:p14="http://schemas.microsoft.com/office/powerpoint/2010/main" val="56759632"/>
      </p:ext>
    </p:extLst>
  </p:cSld>
  <p:clrMapOvr>
    <a:masterClrMapping/>
  </p:clrMapOvr>
  <p:transition>
    <p:wipe dir="r"/>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Summarize Custom Fields </a:t>
            </a:r>
            <a:r>
              <a:rPr lang="en-US" dirty="0">
                <a:solidFill>
                  <a:schemeClr val="accent2"/>
                </a:solidFill>
              </a:rPr>
              <a:t>Incrementally</a:t>
            </a:r>
          </a:p>
        </p:txBody>
      </p:sp>
      <p:pic>
        <p:nvPicPr>
          <p:cNvPr id="3" name="Picture 2" descr="ScreenHunter_01 Jul. 23 09.03.jpg"/>
          <p:cNvPicPr>
            <a:picLocks noChangeAspect="1"/>
          </p:cNvPicPr>
          <p:nvPr/>
        </p:nvPicPr>
        <p:blipFill>
          <a:blip r:embed="rId3" cstate="print"/>
          <a:srcRect t="2589" r="13636"/>
          <a:stretch>
            <a:fillRect/>
          </a:stretch>
        </p:blipFill>
        <p:spPr>
          <a:xfrm>
            <a:off x="522514" y="1581150"/>
            <a:ext cx="8198587" cy="3442112"/>
          </a:xfrm>
          <a:prstGeom prst="rect">
            <a:avLst/>
          </a:prstGeom>
        </p:spPr>
      </p:pic>
      <p:sp>
        <p:nvSpPr>
          <p:cNvPr id="4" name="Rectangle 3"/>
          <p:cNvSpPr/>
          <p:nvPr/>
        </p:nvSpPr>
        <p:spPr bwMode="auto">
          <a:xfrm>
            <a:off x="5158395" y="2942077"/>
            <a:ext cx="2073207" cy="240055"/>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5" name="Rectangle 4"/>
          <p:cNvSpPr/>
          <p:nvPr/>
        </p:nvSpPr>
        <p:spPr bwMode="auto">
          <a:xfrm>
            <a:off x="5141264" y="4771082"/>
            <a:ext cx="2073207" cy="240055"/>
          </a:xfrm>
          <a:prstGeom prst="rect">
            <a:avLst/>
          </a:prstGeom>
          <a:no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6" name="Right Brace 5"/>
          <p:cNvSpPr/>
          <p:nvPr/>
        </p:nvSpPr>
        <p:spPr bwMode="auto">
          <a:xfrm>
            <a:off x="3055507" y="2059332"/>
            <a:ext cx="272791" cy="916575"/>
          </a:xfrm>
          <a:prstGeom prst="rightBrace">
            <a:avLst/>
          </a:prstGeom>
          <a:noFill/>
          <a:ln w="19050" cap="flat" cmpd="sng" algn="ctr">
            <a:solidFill>
              <a:srgbClr val="FF0000"/>
            </a:solidFill>
            <a:prstDash val="solid"/>
            <a:round/>
            <a:headEnd type="none" w="med" len="med"/>
            <a:tailEnd type="none" w="med" len="med"/>
          </a:ln>
          <a:effectLst/>
        </p:spPr>
        <p:txBody>
          <a:bodyPr rtlCol="0" anchor="ctr"/>
          <a:lstStyle/>
          <a:p>
            <a:pPr algn="ctr"/>
            <a:endParaRPr lang="en-US"/>
          </a:p>
        </p:txBody>
      </p:sp>
      <p:cxnSp>
        <p:nvCxnSpPr>
          <p:cNvPr id="8" name="Straight Arrow Connector 7"/>
          <p:cNvCxnSpPr>
            <a:stCxn id="6" idx="1"/>
            <a:endCxn id="4" idx="1"/>
          </p:cNvCxnSpPr>
          <p:nvPr/>
        </p:nvCxnSpPr>
        <p:spPr bwMode="auto">
          <a:xfrm>
            <a:off x="3328298" y="2517620"/>
            <a:ext cx="1830097" cy="544485"/>
          </a:xfrm>
          <a:prstGeom prst="straightConnector1">
            <a:avLst/>
          </a:prstGeom>
          <a:noFill/>
          <a:ln w="19050" cap="flat" cmpd="sng" algn="ctr">
            <a:solidFill>
              <a:srgbClr val="FF0000"/>
            </a:solidFill>
            <a:prstDash val="solid"/>
            <a:round/>
            <a:headEnd type="none" w="med" len="med"/>
            <a:tailEnd type="arrow"/>
          </a:ln>
          <a:effectLst/>
        </p:spPr>
      </p:cxnSp>
      <p:sp>
        <p:nvSpPr>
          <p:cNvPr id="9" name="Right Brace 8"/>
          <p:cNvSpPr/>
          <p:nvPr/>
        </p:nvSpPr>
        <p:spPr bwMode="auto">
          <a:xfrm>
            <a:off x="3039741" y="2058018"/>
            <a:ext cx="272791" cy="2733358"/>
          </a:xfrm>
          <a:prstGeom prst="rightBrace">
            <a:avLst/>
          </a:prstGeom>
          <a:noFill/>
          <a:ln w="19050" cap="flat" cmpd="sng" algn="ctr">
            <a:solidFill>
              <a:srgbClr val="0070C0"/>
            </a:solidFill>
            <a:prstDash val="solid"/>
            <a:round/>
            <a:headEnd type="none" w="med" len="med"/>
            <a:tailEnd type="none" w="med" len="med"/>
          </a:ln>
          <a:effectLst/>
        </p:spPr>
        <p:txBody>
          <a:bodyPr rtlCol="0" anchor="ctr"/>
          <a:lstStyle/>
          <a:p>
            <a:pPr algn="ctr"/>
            <a:endParaRPr lang="en-US"/>
          </a:p>
        </p:txBody>
      </p:sp>
      <p:cxnSp>
        <p:nvCxnSpPr>
          <p:cNvPr id="11" name="Straight Arrow Connector 10"/>
          <p:cNvCxnSpPr>
            <a:stCxn id="9" idx="1"/>
            <a:endCxn id="5" idx="1"/>
          </p:cNvCxnSpPr>
          <p:nvPr/>
        </p:nvCxnSpPr>
        <p:spPr bwMode="auto">
          <a:xfrm>
            <a:off x="3312532" y="3424697"/>
            <a:ext cx="1828732" cy="1466413"/>
          </a:xfrm>
          <a:prstGeom prst="straightConnector1">
            <a:avLst/>
          </a:prstGeom>
          <a:noFill/>
          <a:ln w="19050" cap="flat" cmpd="sng" algn="ctr">
            <a:solidFill>
              <a:srgbClr val="0070C0"/>
            </a:solidFill>
            <a:prstDash val="solid"/>
            <a:round/>
            <a:headEnd type="none" w="med" len="med"/>
            <a:tailEnd type="arrow"/>
          </a:ln>
          <a:effectLst/>
        </p:spPr>
      </p:cxnSp>
    </p:spTree>
    <p:extLst>
      <p:ext uri="{BB962C8B-B14F-4D97-AF65-F5344CB8AC3E}">
        <p14:creationId xmlns:p14="http://schemas.microsoft.com/office/powerpoint/2010/main" val="1367171936"/>
      </p:ext>
    </p:extLst>
  </p:cSld>
  <p:clrMapOvr>
    <a:masterClrMapping/>
  </p:clrMapOvr>
  <p:transition>
    <p:wipe dir="r"/>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468"/>
            <a:ext cx="7558644" cy="1005840"/>
          </a:xfrm>
        </p:spPr>
        <p:txBody>
          <a:bodyPr/>
          <a:lstStyle/>
          <a:p>
            <a:r>
              <a:rPr lang="en-US" dirty="0"/>
              <a:t>Summarize Custom Fields </a:t>
            </a:r>
            <a:r>
              <a:rPr lang="en-US" dirty="0">
                <a:solidFill>
                  <a:schemeClr val="accent2"/>
                </a:solidFill>
              </a:rPr>
              <a:t>Incrementally</a:t>
            </a:r>
            <a:r>
              <a:rPr lang="en-US" dirty="0">
                <a:solidFill>
                  <a:srgbClr val="C00000"/>
                </a:solidFill>
              </a:rPr>
              <a:t> Example</a:t>
            </a:r>
          </a:p>
        </p:txBody>
      </p:sp>
      <p:pic>
        <p:nvPicPr>
          <p:cNvPr id="11266" name="Picture 2"/>
          <p:cNvPicPr>
            <a:picLocks noChangeAspect="1" noChangeArrowheads="1"/>
          </p:cNvPicPr>
          <p:nvPr/>
        </p:nvPicPr>
        <p:blipFill>
          <a:blip r:embed="rId3" cstate="print"/>
          <a:srcRect/>
          <a:stretch>
            <a:fillRect/>
          </a:stretch>
        </p:blipFill>
        <p:spPr bwMode="auto">
          <a:xfrm>
            <a:off x="850916" y="1527818"/>
            <a:ext cx="6024782" cy="4908612"/>
          </a:xfrm>
          <a:prstGeom prst="rect">
            <a:avLst/>
          </a:prstGeom>
          <a:noFill/>
          <a:ln w="9525">
            <a:noFill/>
            <a:miter lim="800000"/>
            <a:headEnd/>
            <a:tailEnd/>
          </a:ln>
        </p:spPr>
      </p:pic>
      <p:sp>
        <p:nvSpPr>
          <p:cNvPr id="4" name="TextBox 3"/>
          <p:cNvSpPr txBox="1"/>
          <p:nvPr/>
        </p:nvSpPr>
        <p:spPr>
          <a:xfrm>
            <a:off x="3333749" y="1166223"/>
            <a:ext cx="3514725" cy="338554"/>
          </a:xfrm>
          <a:prstGeom prst="rect">
            <a:avLst/>
          </a:prstGeom>
          <a:noFill/>
          <a:ln w="28575">
            <a:solidFill>
              <a:schemeClr val="tx2">
                <a:lumMod val="75000"/>
              </a:schemeClr>
            </a:solidFill>
          </a:ln>
        </p:spPr>
        <p:txBody>
          <a:bodyPr wrap="square" rtlCol="0">
            <a:spAutoFit/>
          </a:bodyPr>
          <a:lstStyle/>
          <a:p>
            <a:pPr algn="ctr"/>
            <a:r>
              <a:rPr lang="en-US" dirty="0">
                <a:latin typeface="Arial" pitchFamily="34" charset="0"/>
                <a:cs typeface="Arial" pitchFamily="34" charset="0"/>
              </a:rPr>
              <a:t>AVE of 2 injections</a:t>
            </a:r>
          </a:p>
        </p:txBody>
      </p:sp>
      <p:sp>
        <p:nvSpPr>
          <p:cNvPr id="6" name="TextBox 5"/>
          <p:cNvSpPr txBox="1"/>
          <p:nvPr/>
        </p:nvSpPr>
        <p:spPr>
          <a:xfrm>
            <a:off x="7292516" y="2521120"/>
            <a:ext cx="1115177" cy="338554"/>
          </a:xfrm>
          <a:prstGeom prst="rect">
            <a:avLst/>
          </a:prstGeom>
          <a:noFill/>
        </p:spPr>
        <p:txBody>
          <a:bodyPr wrap="none" rtlCol="0">
            <a:spAutoFit/>
          </a:bodyPr>
          <a:lstStyle/>
          <a:p>
            <a:r>
              <a:rPr lang="en-US" dirty="0">
                <a:latin typeface="Arial" pitchFamily="34" charset="0"/>
                <a:cs typeface="Arial" pitchFamily="34" charset="0"/>
              </a:rPr>
              <a:t>AVE Std´s</a:t>
            </a:r>
          </a:p>
        </p:txBody>
      </p:sp>
      <p:sp>
        <p:nvSpPr>
          <p:cNvPr id="7" name="TextBox 6"/>
          <p:cNvSpPr txBox="1"/>
          <p:nvPr/>
        </p:nvSpPr>
        <p:spPr>
          <a:xfrm>
            <a:off x="7281390" y="2176735"/>
            <a:ext cx="1171283" cy="338554"/>
          </a:xfrm>
          <a:prstGeom prst="rect">
            <a:avLst/>
          </a:prstGeom>
          <a:noFill/>
        </p:spPr>
        <p:txBody>
          <a:bodyPr wrap="none" rtlCol="0">
            <a:spAutoFit/>
          </a:bodyPr>
          <a:lstStyle/>
          <a:p>
            <a:r>
              <a:rPr lang="en-US" dirty="0">
                <a:latin typeface="Arial" pitchFamily="34" charset="0"/>
                <a:cs typeface="Arial" pitchFamily="34" charset="0"/>
              </a:rPr>
              <a:t>AVE </a:t>
            </a:r>
            <a:r>
              <a:rPr lang="en-US" dirty="0" err="1">
                <a:latin typeface="Arial" pitchFamily="34" charset="0"/>
                <a:cs typeface="Arial" pitchFamily="34" charset="0"/>
              </a:rPr>
              <a:t>Unk´s</a:t>
            </a:r>
            <a:endParaRPr lang="en-US" dirty="0">
              <a:latin typeface="Arial" pitchFamily="34" charset="0"/>
              <a:cs typeface="Arial" pitchFamily="34" charset="0"/>
            </a:endParaRPr>
          </a:p>
        </p:txBody>
      </p:sp>
      <p:sp>
        <p:nvSpPr>
          <p:cNvPr id="8" name="Right Bracket 7"/>
          <p:cNvSpPr/>
          <p:nvPr/>
        </p:nvSpPr>
        <p:spPr bwMode="auto">
          <a:xfrm>
            <a:off x="3261732" y="1783000"/>
            <a:ext cx="138693" cy="2174324"/>
          </a:xfrm>
          <a:prstGeom prst="rightBracket">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lang="en-US"/>
          </a:p>
        </p:txBody>
      </p:sp>
      <p:sp>
        <p:nvSpPr>
          <p:cNvPr id="9" name="Rectangle 8"/>
          <p:cNvSpPr/>
          <p:nvPr/>
        </p:nvSpPr>
        <p:spPr bwMode="auto">
          <a:xfrm>
            <a:off x="4180114" y="1799771"/>
            <a:ext cx="690089" cy="2154716"/>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sp>
        <p:nvSpPr>
          <p:cNvPr id="10" name="Right Bracket 9"/>
          <p:cNvSpPr/>
          <p:nvPr/>
        </p:nvSpPr>
        <p:spPr bwMode="auto">
          <a:xfrm>
            <a:off x="3767367" y="1784921"/>
            <a:ext cx="195034" cy="4371486"/>
          </a:xfrm>
          <a:prstGeom prst="rightBracket">
            <a:avLst/>
          </a:prstGeom>
          <a:noFill/>
          <a:ln w="38100" cap="flat" cmpd="sng" algn="ctr">
            <a:solidFill>
              <a:srgbClr val="0070C0"/>
            </a:solidFill>
            <a:prstDash val="solid"/>
            <a:round/>
            <a:headEnd type="none" w="med" len="med"/>
            <a:tailEnd type="none" w="med" len="med"/>
          </a:ln>
          <a:effectLst/>
        </p:spPr>
        <p:txBody>
          <a:bodyPr rtlCol="0" anchor="ctr"/>
          <a:lstStyle/>
          <a:p>
            <a:pPr algn="ctr"/>
            <a:endParaRPr lang="en-US"/>
          </a:p>
        </p:txBody>
      </p:sp>
      <p:sp>
        <p:nvSpPr>
          <p:cNvPr id="11" name="Rectangle 10"/>
          <p:cNvSpPr/>
          <p:nvPr/>
        </p:nvSpPr>
        <p:spPr bwMode="auto">
          <a:xfrm>
            <a:off x="4139993" y="1774613"/>
            <a:ext cx="765835" cy="4412435"/>
          </a:xfrm>
          <a:prstGeom prst="rect">
            <a:avLst/>
          </a:prstGeom>
          <a:noFill/>
          <a:ln w="381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Verdana" pitchFamily="34" charset="0"/>
            </a:endParaRPr>
          </a:p>
        </p:txBody>
      </p:sp>
      <p:cxnSp>
        <p:nvCxnSpPr>
          <p:cNvPr id="12" name="Straight Arrow Connector 11"/>
          <p:cNvCxnSpPr>
            <a:endCxn id="7" idx="1"/>
          </p:cNvCxnSpPr>
          <p:nvPr/>
        </p:nvCxnSpPr>
        <p:spPr bwMode="auto">
          <a:xfrm>
            <a:off x="6451507" y="1769354"/>
            <a:ext cx="829883" cy="576658"/>
          </a:xfrm>
          <a:prstGeom prst="straightConnector1">
            <a:avLst/>
          </a:prstGeom>
          <a:noFill/>
          <a:ln w="19050" cap="flat" cmpd="sng" algn="ctr">
            <a:solidFill>
              <a:srgbClr val="FF0000"/>
            </a:solidFill>
            <a:prstDash val="solid"/>
            <a:round/>
            <a:headEnd type="none" w="med" len="med"/>
            <a:tailEnd type="arrow"/>
          </a:ln>
          <a:effectLst/>
        </p:spPr>
      </p:cxnSp>
      <p:cxnSp>
        <p:nvCxnSpPr>
          <p:cNvPr id="15" name="Straight Arrow Connector 14"/>
          <p:cNvCxnSpPr>
            <a:endCxn id="6" idx="1"/>
          </p:cNvCxnSpPr>
          <p:nvPr/>
        </p:nvCxnSpPr>
        <p:spPr bwMode="auto">
          <a:xfrm>
            <a:off x="5582629" y="1779250"/>
            <a:ext cx="1709887" cy="911147"/>
          </a:xfrm>
          <a:prstGeom prst="straightConnector1">
            <a:avLst/>
          </a:prstGeom>
          <a:noFill/>
          <a:ln w="1905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078767005"/>
      </p:ext>
    </p:extLst>
  </p:cSld>
  <p:clrMapOvr>
    <a:masterClrMapping/>
  </p:clrMapOvr>
  <p:transition>
    <p:wipe dir="r"/>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dirty="0"/>
              <a:t>A custom field is a </a:t>
            </a:r>
            <a:r>
              <a:rPr lang="en-US" dirty="0">
                <a:solidFill>
                  <a:srgbClr val="C00000"/>
                </a:solidFill>
              </a:rPr>
              <a:t>user-defined type of sample data</a:t>
            </a:r>
            <a:r>
              <a:rPr lang="en-US" dirty="0"/>
              <a:t>, as opposed to a predefined field established by Waters. Thus, these custom fields contain information that is important to you and may be specific to a particular application.</a:t>
            </a:r>
          </a:p>
          <a:p>
            <a:r>
              <a:rPr lang="en-US" dirty="0"/>
              <a:t>Custom Calculations can be used to replace external calculations in for example Excel.</a:t>
            </a:r>
          </a:p>
          <a:p>
            <a:r>
              <a:rPr lang="en-US" dirty="0"/>
              <a:t>By using Boolean and Enumerated function, a value can be translated into a pass/fail answer.</a:t>
            </a:r>
          </a:p>
          <a:p>
            <a:r>
              <a:rPr lang="en-US" dirty="0"/>
              <a:t>Calculations between samples can be done with </a:t>
            </a:r>
            <a:r>
              <a:rPr lang="en-US" dirty="0">
                <a:solidFill>
                  <a:srgbClr val="C00000"/>
                </a:solidFill>
              </a:rPr>
              <a:t>intersample and intersample summary</a:t>
            </a:r>
            <a:r>
              <a:rPr lang="en-US" dirty="0"/>
              <a:t> calculations.</a:t>
            </a:r>
          </a:p>
        </p:txBody>
      </p:sp>
      <p:sp>
        <p:nvSpPr>
          <p:cNvPr id="3" name="Title 2"/>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604270330"/>
      </p:ext>
    </p:extLst>
  </p:cSld>
  <p:clrMapOvr>
    <a:masterClrMapping/>
  </p:clrMapOvr>
  <p:transition>
    <p:wipe dir="r"/>
  </p:transition>
</p:sld>
</file>

<file path=ppt/theme/theme1.xml><?xml version="1.0" encoding="utf-8"?>
<a:theme xmlns:a="http://schemas.openxmlformats.org/drawingml/2006/main" name="2017 Waters standard 4-3">
  <a:themeElements>
    <a:clrScheme name="Waters Brand Colors">
      <a:dk1>
        <a:srgbClr val="000000"/>
      </a:dk1>
      <a:lt1>
        <a:srgbClr val="FFFFFF"/>
      </a:lt1>
      <a:dk2>
        <a:srgbClr val="3377DD"/>
      </a:dk2>
      <a:lt2>
        <a:srgbClr val="888888"/>
      </a:lt2>
      <a:accent1>
        <a:srgbClr val="0077BB"/>
      </a:accent1>
      <a:accent2>
        <a:srgbClr val="EE7700"/>
      </a:accent2>
      <a:accent3>
        <a:srgbClr val="AAAA00"/>
      </a:accent3>
      <a:accent4>
        <a:srgbClr val="119988"/>
      </a:accent4>
      <a:accent5>
        <a:srgbClr val="993355"/>
      </a:accent5>
      <a:accent6>
        <a:srgbClr val="550088"/>
      </a:accent6>
      <a:hlink>
        <a:srgbClr val="006DAC"/>
      </a:hlink>
      <a:folHlink>
        <a:srgbClr val="40008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3374D4"/>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rgbClr val="3374D4"/>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Verdana" pitchFamily="34" charset="0"/>
          </a:defRPr>
        </a:defPPr>
      </a:lstStyle>
    </a:lnDef>
    <a:txDef>
      <a:spPr>
        <a:noFill/>
      </a:spPr>
      <a:bodyPr wrap="none" rtlCol="0">
        <a:spAutoFit/>
      </a:bodyPr>
      <a:lstStyle>
        <a:defPPr>
          <a:defRPr dirty="0">
            <a:latin typeface="Arial"/>
            <a:cs typeface="Arial"/>
          </a:defRPr>
        </a:defPPr>
      </a:lstStyle>
    </a:txDef>
  </a:objectDefaults>
  <a:extraClrSchemeLst>
    <a:extraClrScheme>
      <a:clrScheme name="Waters_PPT_template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Waters_PPT_template_white 2">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Waters_PPT_template_white 3">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Waters_PPT_template_white 4">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Waters_PPT_template_white 5">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Waters_PPT_template_white 6">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Waters_PPT_template_white 7">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Waters_PPT_template_white 8">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Waters_PPT_template_white 9">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Waters_PPT_template_white 10">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Waters_PPT_template_white 11">
        <a:dk1>
          <a:srgbClr val="000000"/>
        </a:dk1>
        <a:lt1>
          <a:srgbClr val="FFFFFF"/>
        </a:lt1>
        <a:dk2>
          <a:srgbClr val="331E4C"/>
        </a:dk2>
        <a:lt2>
          <a:srgbClr val="808080"/>
        </a:lt2>
        <a:accent1>
          <a:srgbClr val="00628D"/>
        </a:accent1>
        <a:accent2>
          <a:srgbClr val="788000"/>
        </a:accent2>
        <a:accent3>
          <a:srgbClr val="FFFFFF"/>
        </a:accent3>
        <a:accent4>
          <a:srgbClr val="000000"/>
        </a:accent4>
        <a:accent5>
          <a:srgbClr val="AAB7C5"/>
        </a:accent5>
        <a:accent6>
          <a:srgbClr val="6C7300"/>
        </a:accent6>
        <a:hlink>
          <a:srgbClr val="3F1948"/>
        </a:hlink>
        <a:folHlink>
          <a:srgbClr val="A63F10"/>
        </a:folHlink>
      </a:clrScheme>
      <a:clrMap bg1="lt1" tx1="dk1" bg2="lt2" tx2="dk2" accent1="accent1" accent2="accent2" accent3="accent3" accent4="accent4" accent5="accent5" accent6="accent6" hlink="hlink" folHlink="folHlink"/>
    </a:extraClrScheme>
    <a:extraClrScheme>
      <a:clrScheme name="Waters_PPT_template_white 12">
        <a:dk1>
          <a:srgbClr val="000000"/>
        </a:dk1>
        <a:lt1>
          <a:srgbClr val="FFFFFF"/>
        </a:lt1>
        <a:dk2>
          <a:srgbClr val="331E4C"/>
        </a:dk2>
        <a:lt2>
          <a:srgbClr val="808080"/>
        </a:lt2>
        <a:accent1>
          <a:srgbClr val="90B4E6"/>
        </a:accent1>
        <a:accent2>
          <a:srgbClr val="A7B400"/>
        </a:accent2>
        <a:accent3>
          <a:srgbClr val="FFFFFF"/>
        </a:accent3>
        <a:accent4>
          <a:srgbClr val="000000"/>
        </a:accent4>
        <a:accent5>
          <a:srgbClr val="C6D6F0"/>
        </a:accent5>
        <a:accent6>
          <a:srgbClr val="97A300"/>
        </a:accent6>
        <a:hlink>
          <a:srgbClr val="956DC5"/>
        </a:hlink>
        <a:folHlink>
          <a:srgbClr val="F9A350"/>
        </a:folHlink>
      </a:clrScheme>
      <a:clrMap bg1="lt1" tx1="dk1" bg2="lt2" tx2="dk2" accent1="accent1" accent2="accent2" accent3="accent3" accent4="accent4" accent5="accent5" accent6="accent6" hlink="hlink" folHlink="folHlink"/>
    </a:extraClrScheme>
    <a:extraClrScheme>
      <a:clrScheme name="Waters White Logo Template 2008 1">
        <a:dk1>
          <a:srgbClr val="000000"/>
        </a:dk1>
        <a:lt1>
          <a:srgbClr val="FFFFFF"/>
        </a:lt1>
        <a:dk2>
          <a:srgbClr val="4BACC6"/>
        </a:dk2>
        <a:lt2>
          <a:srgbClr val="B2B2B2"/>
        </a:lt2>
        <a:accent1>
          <a:srgbClr val="4F81BD"/>
        </a:accent1>
        <a:accent2>
          <a:srgbClr val="C0504D"/>
        </a:accent2>
        <a:accent3>
          <a:srgbClr val="FFFFFF"/>
        </a:accent3>
        <a:accent4>
          <a:srgbClr val="000000"/>
        </a:accent4>
        <a:accent5>
          <a:srgbClr val="B2C1DB"/>
        </a:accent5>
        <a:accent6>
          <a:srgbClr val="AE4845"/>
        </a:accent6>
        <a:hlink>
          <a:srgbClr val="9BBB59"/>
        </a:hlink>
        <a:folHlink>
          <a:srgbClr val="8064A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17 template jam3 edit.potx" id="{6223A88A-F586-443B-9E39-43CD8FB04109}" vid="{298CF72F-0540-4552-927B-B8E872E8C4CA}"/>
    </a:ext>
  </a:extLst>
</a:theme>
</file>

<file path=ppt/theme/theme2.xml><?xml version="1.0" encoding="utf-8"?>
<a:theme xmlns:a="http://schemas.openxmlformats.org/drawingml/2006/main" name="2017 Waters Br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17 template jam3 edit.potx" id="{6223A88A-F586-443B-9E39-43CD8FB04109}" vid="{21F9D1CC-3A98-40B7-82BC-EF73CA55290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EAA1541FCE7D4982CF92B2328A0EC7" ma:contentTypeVersion="20" ma:contentTypeDescription="Create a new document." ma:contentTypeScope="" ma:versionID="dfc86cdfd70b89a3cbe38febdede139b">
  <xsd:schema xmlns:xsd="http://www.w3.org/2001/XMLSchema" xmlns:xs="http://www.w3.org/2001/XMLSchema" xmlns:p="http://schemas.microsoft.com/office/2006/metadata/properties" xmlns:ns2="59bf4d80-c49b-4ba2-95f8-78f17c6ab967" xmlns:ns3="d5d0a76b-fedf-4c82-b234-dae540d844ae" targetNamespace="http://schemas.microsoft.com/office/2006/metadata/properties" ma:root="true" ma:fieldsID="00ce424d2825bd231b27500e2a50905b" ns2:_="" ns3:_="">
    <xsd:import namespace="59bf4d80-c49b-4ba2-95f8-78f17c6ab967"/>
    <xsd:import namespace="d5d0a76b-fedf-4c82-b234-dae540d844a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_xc870__xd68c_"/>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_Flow_SignoffStatus" minOccurs="0"/>
                <xsd:element ref="ns2:_x0032_021OCT10" minOccurs="0"/>
                <xsd:element ref="ns2:_xd558__xb4dc__xce74__xd53c__xbcf8_"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bf4d80-c49b-4ba2-95f8-78f17c6ab9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xc870__xd68c_" ma:index="12" ma:displayName="조회" ma:list="{59bf4d80-c49b-4ba2-95f8-78f17c6ab967}" ma:internalName="_xc870__xd68c_" ma:showField="Title">
      <xsd:simpleType>
        <xsd:restriction base="dms:Lookup"/>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_Flow_SignoffStatus" ma:index="19" nillable="true" ma:displayName="Sign-off status" ma:internalName="Sign_x002d_off_x0020_status">
      <xsd:simpleType>
        <xsd:restriction base="dms:Text"/>
      </xsd:simpleType>
    </xsd:element>
    <xsd:element name="_x0032_021OCT10" ma:index="20" nillable="true" ma:displayName="2021 OCT 10" ma:format="Dropdown" ma:internalName="_x0032_021OCT10">
      <xsd:simpleType>
        <xsd:restriction base="dms:Text">
          <xsd:maxLength value="255"/>
        </xsd:restriction>
      </xsd:simpleType>
    </xsd:element>
    <xsd:element name="_xd558__xb4dc__xce74__xd53c__xbcf8_" ma:index="21" nillable="true" ma:displayName="하드카피본" ma:default="1" ma:format="Dropdown" ma:internalName="_xd558__xb4dc__xce74__xd53c__xbcf8_">
      <xsd:simpleType>
        <xsd:restriction base="dms:Boolea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4f1e1c04-e0b2-478f-aa7b-3f8b6006d64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5d0a76b-fedf-4c82-b234-dae540d844a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1c60911-2e45-4d88-bb51-809794525d53}" ma:internalName="TaxCatchAll" ma:showField="CatchAllData" ma:web="d5d0a76b-fedf-4c82-b234-dae540d844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59bf4d80-c49b-4ba2-95f8-78f17c6ab967" xsi:nil="true"/>
    <_xc870__xd68c_ xmlns="59bf4d80-c49b-4ba2-95f8-78f17c6ab967"/>
    <TaxCatchAll xmlns="d5d0a76b-fedf-4c82-b234-dae540d844ae" xsi:nil="true"/>
    <_x0032_021OCT10 xmlns="59bf4d80-c49b-4ba2-95f8-78f17c6ab967" xsi:nil="true"/>
    <_xd558__xb4dc__xce74__xd53c__xbcf8_ xmlns="59bf4d80-c49b-4ba2-95f8-78f17c6ab967">true</_xd558__xb4dc__xce74__xd53c__xbcf8_>
    <lcf76f155ced4ddcb4097134ff3c332f xmlns="59bf4d80-c49b-4ba2-95f8-78f17c6ab967">
      <Terms xmlns="http://schemas.microsoft.com/office/infopath/2007/PartnerControls"/>
    </lcf76f155ced4ddcb4097134ff3c332f>
    <SharedWithUsers xmlns="d5d0a76b-fedf-4c82-b234-dae540d844ae">
      <UserInfo>
        <DisplayName/>
        <AccountId xsi:nil="true"/>
        <AccountType/>
      </UserInfo>
    </SharedWithUsers>
    <MediaLengthInSeconds xmlns="59bf4d80-c49b-4ba2-95f8-78f17c6ab967" xsi:nil="true"/>
  </documentManagement>
</p:properties>
</file>

<file path=customXml/itemProps1.xml><?xml version="1.0" encoding="utf-8"?>
<ds:datastoreItem xmlns:ds="http://schemas.openxmlformats.org/officeDocument/2006/customXml" ds:itemID="{EEEB33A5-F670-4DDE-8CC6-59376890C3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bf4d80-c49b-4ba2-95f8-78f17c6ab967"/>
    <ds:schemaRef ds:uri="d5d0a76b-fedf-4c82-b234-dae540d844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032CBAD-5321-46BF-9905-017E2E9A0AED}">
  <ds:schemaRefs>
    <ds:schemaRef ds:uri="http://schemas.microsoft.com/sharepoint/v3/contenttype/forms"/>
  </ds:schemaRefs>
</ds:datastoreItem>
</file>

<file path=customXml/itemProps3.xml><?xml version="1.0" encoding="utf-8"?>
<ds:datastoreItem xmlns:ds="http://schemas.openxmlformats.org/officeDocument/2006/customXml" ds:itemID="{D1B1554C-A10A-4AB0-923C-B18EDC69EC75}">
  <ds:schemaRefs>
    <ds:schemaRef ds:uri="http://schemas.microsoft.com/office/2006/metadata/properties"/>
    <ds:schemaRef ds:uri="http://schemas.microsoft.com/office/infopath/2007/PartnerControls"/>
    <ds:schemaRef ds:uri="59bf4d80-c49b-4ba2-95f8-78f17c6ab967"/>
    <ds:schemaRef ds:uri="d5d0a76b-fedf-4c82-b234-dae540d844ae"/>
  </ds:schemaRefs>
</ds:datastoreItem>
</file>

<file path=docProps/app.xml><?xml version="1.0" encoding="utf-8"?>
<Properties xmlns="http://schemas.openxmlformats.org/officeDocument/2006/extended-properties" xmlns:vt="http://schemas.openxmlformats.org/officeDocument/2006/docPropsVTypes">
  <Template>2017 Waters standard 4-3 Edit</Template>
  <TotalTime>3642</TotalTime>
  <Words>15530</Words>
  <Application>Microsoft Office PowerPoint</Application>
  <PresentationFormat>On-screen Show (4:3)</PresentationFormat>
  <Paragraphs>2829</Paragraphs>
  <Slides>219</Slides>
  <Notes>194</Notes>
  <HiddenSlides>0</HiddenSlides>
  <MMClips>0</MMClips>
  <ScaleCrop>false</ScaleCrop>
  <HeadingPairs>
    <vt:vector size="4" baseType="variant">
      <vt:variant>
        <vt:lpstr>Theme</vt:lpstr>
      </vt:variant>
      <vt:variant>
        <vt:i4>2</vt:i4>
      </vt:variant>
      <vt:variant>
        <vt:lpstr>Slide Titles</vt:lpstr>
      </vt:variant>
      <vt:variant>
        <vt:i4>219</vt:i4>
      </vt:variant>
    </vt:vector>
  </HeadingPairs>
  <TitlesOfParts>
    <vt:vector size="221" baseType="lpstr">
      <vt:lpstr>2017 Waters standard 4-3</vt:lpstr>
      <vt:lpstr>2017 Waters Brand</vt:lpstr>
      <vt:lpstr>Custom Fields: An Introduction</vt:lpstr>
      <vt:lpstr>Content</vt:lpstr>
      <vt:lpstr>Understanding Custom Fields</vt:lpstr>
      <vt:lpstr> What is a Custom Field?</vt:lpstr>
      <vt:lpstr>Why Use a Custom Field?</vt:lpstr>
      <vt:lpstr>Custom Fields</vt:lpstr>
      <vt:lpstr>Creating Custom Fields</vt:lpstr>
      <vt:lpstr>Default Custom Fields</vt:lpstr>
      <vt:lpstr>PowerPoint Presentation</vt:lpstr>
      <vt:lpstr>PowerPoint Presentation</vt:lpstr>
      <vt:lpstr>What Type of Field to Create?</vt:lpstr>
      <vt:lpstr> Types of Custom Fields</vt:lpstr>
      <vt:lpstr> Field Type: Sample</vt:lpstr>
      <vt:lpstr>Sample: Custom Field Type</vt:lpstr>
      <vt:lpstr>Sample: Custom Field Type</vt:lpstr>
      <vt:lpstr> Field Type: Sample Set</vt:lpstr>
      <vt:lpstr>Sample Set: Custom Field Type</vt:lpstr>
      <vt:lpstr>Sample Set: Custom Field Type</vt:lpstr>
      <vt:lpstr>Field Type: Peak</vt:lpstr>
      <vt:lpstr>Field Type: Peak Syntax</vt:lpstr>
      <vt:lpstr>Peak: Custom Field Type</vt:lpstr>
      <vt:lpstr>Peak: Custom Field Type</vt:lpstr>
      <vt:lpstr> Field Type: Result</vt:lpstr>
      <vt:lpstr>Result: Custom Field Type</vt:lpstr>
      <vt:lpstr>Result: Custom Field Type</vt:lpstr>
      <vt:lpstr> Field Type: Component</vt:lpstr>
      <vt:lpstr>Component: Custom Field Type</vt:lpstr>
      <vt:lpstr>Component: Custom Field Type</vt:lpstr>
      <vt:lpstr> Field Type: Distribution</vt:lpstr>
      <vt:lpstr>Distribution: Custom Field Type</vt:lpstr>
      <vt:lpstr>PowerPoint Presentation</vt:lpstr>
      <vt:lpstr> What Data Type is your Field?</vt:lpstr>
      <vt:lpstr> Data Types</vt:lpstr>
      <vt:lpstr> Data Types</vt:lpstr>
      <vt:lpstr>Boolean Custom Fields Example</vt:lpstr>
      <vt:lpstr>Boolean Custom Fields Example</vt:lpstr>
      <vt:lpstr> Data Types</vt:lpstr>
      <vt:lpstr>Enumerated - Sample Custom Fields EX</vt:lpstr>
      <vt:lpstr>Enumerated - Sample Custom Fields EX</vt:lpstr>
      <vt:lpstr>Enumerated - Sample Custom Fields EX</vt:lpstr>
      <vt:lpstr>Enumerated - Calculated Custom Fields EX</vt:lpstr>
      <vt:lpstr>Enumerated - Calculated Custom Fields EX</vt:lpstr>
      <vt:lpstr>Enumerated - Calculated Custom Fields EX</vt:lpstr>
      <vt:lpstr>PowerPoint Presentation</vt:lpstr>
      <vt:lpstr>New Custom Field: Data Source Selection</vt:lpstr>
      <vt:lpstr>New Custom Field: Data Source Selection</vt:lpstr>
      <vt:lpstr>New Custom Field: Data Entry / Default Value</vt:lpstr>
      <vt:lpstr>New Custom Field: Data Entry / Default Value</vt:lpstr>
      <vt:lpstr>New Custom Field: Sample Type / Peak Type</vt:lpstr>
      <vt:lpstr>New Custom Field: Sample Type </vt:lpstr>
      <vt:lpstr>New Custom Field: Peak Type</vt:lpstr>
      <vt:lpstr>Calculations, Formula Entry</vt:lpstr>
      <vt:lpstr>Custom Fields Operators</vt:lpstr>
      <vt:lpstr>PowerPoint Presentation</vt:lpstr>
      <vt:lpstr>Creating Custom Fields</vt:lpstr>
      <vt:lpstr> Creating Custom Fields</vt:lpstr>
      <vt:lpstr> Creating Custom Fields</vt:lpstr>
      <vt:lpstr>PowerPoint Presentation</vt:lpstr>
      <vt:lpstr>Create New Sample Type Field</vt:lpstr>
      <vt:lpstr> Create New Sample Type Field</vt:lpstr>
      <vt:lpstr> Create New Sample Type Field</vt:lpstr>
      <vt:lpstr> Create New Sample Type Field</vt:lpstr>
      <vt:lpstr> Create New Sample Type Field</vt:lpstr>
      <vt:lpstr> Entering: Sample Type Custom Field Info</vt:lpstr>
      <vt:lpstr>Create New Sample Set Type Field</vt:lpstr>
      <vt:lpstr> Create New Sample Set Type Field</vt:lpstr>
      <vt:lpstr> Create New Sample Set Type Field</vt:lpstr>
      <vt:lpstr> Create New Sample Set Type Field</vt:lpstr>
      <vt:lpstr> Create New Sample Set Type Field</vt:lpstr>
      <vt:lpstr> Entering: Sample Set Type Custom Field Info</vt:lpstr>
      <vt:lpstr> Create New Component Type Field</vt:lpstr>
      <vt:lpstr> Create New Component Type Field</vt:lpstr>
      <vt:lpstr> Create New Component Type Field</vt:lpstr>
      <vt:lpstr> Create New Component Type Field</vt:lpstr>
      <vt:lpstr> Create New Component Type Field</vt:lpstr>
      <vt:lpstr> Entering: Component Type Custom Fields Info</vt:lpstr>
      <vt:lpstr>Create New Peak Type Field</vt:lpstr>
      <vt:lpstr> Create New Peak Type Field</vt:lpstr>
      <vt:lpstr> Create New Peak Type Field</vt:lpstr>
      <vt:lpstr> Create New Peak Type Field</vt:lpstr>
      <vt:lpstr> Create New Peak Type Field</vt:lpstr>
      <vt:lpstr> Create New Peak Type Field</vt:lpstr>
      <vt:lpstr> Viewing: Result of Peak Type CF Calculation</vt:lpstr>
      <vt:lpstr>  Viewing: Result of Peak Type CF Calculation</vt:lpstr>
      <vt:lpstr> Create New Peak Type Field (Bool)</vt:lpstr>
      <vt:lpstr>Custom Fields Operators</vt:lpstr>
      <vt:lpstr>Boolean Operators</vt:lpstr>
      <vt:lpstr>Create New Peak Type Field (Bool)</vt:lpstr>
      <vt:lpstr>Create New Peak Type Field (Bool)</vt:lpstr>
      <vt:lpstr> Create New Peak Type Field (Bool)</vt:lpstr>
      <vt:lpstr> Create New Peak Type Field (Bool)</vt:lpstr>
      <vt:lpstr>Create New Peak Type Field (Bool)</vt:lpstr>
      <vt:lpstr>Viewing: Results for a Peak (Bool) CF</vt:lpstr>
      <vt:lpstr>Possible Issues</vt:lpstr>
      <vt:lpstr>Possible Issues – Unclear Wording</vt:lpstr>
      <vt:lpstr>Possible Issues – Removing Use of RANGE</vt:lpstr>
      <vt:lpstr>Possible Issues – Removing Use of RANGE</vt:lpstr>
      <vt:lpstr>Possible Issues – Greater Clarity</vt:lpstr>
      <vt:lpstr>Create New Result Type Field</vt:lpstr>
      <vt:lpstr> Create New Result Type Field</vt:lpstr>
      <vt:lpstr> Create New Result Type Field</vt:lpstr>
      <vt:lpstr> Create New Result Type Field</vt:lpstr>
      <vt:lpstr> Create New Result Type Field</vt:lpstr>
      <vt:lpstr> Create New Result Type Field</vt:lpstr>
      <vt:lpstr>Viewing: Results for a Result Type CF</vt:lpstr>
      <vt:lpstr>Viewing: Results for a Result Type CF</vt:lpstr>
      <vt:lpstr>PowerPoint Presentation</vt:lpstr>
      <vt:lpstr>Peak Type Field with Reference to Peak Name</vt:lpstr>
      <vt:lpstr>Peak Type Field with Reference to Peak Name</vt:lpstr>
      <vt:lpstr>Viewing: Results of Peak Type CF</vt:lpstr>
      <vt:lpstr>Using Corrected Area as Y-Value in Calibration</vt:lpstr>
      <vt:lpstr>Using Corrected Area as Y-Value in Calibration</vt:lpstr>
      <vt:lpstr>Creating Generic CF referring to Specific Peaks</vt:lpstr>
      <vt:lpstr>Creating Generic CF referring to Specific Peaks</vt:lpstr>
      <vt:lpstr>Create New Peak Type Field</vt:lpstr>
      <vt:lpstr> Create New Peak Type Field</vt:lpstr>
      <vt:lpstr> Create New Peak Type Field</vt:lpstr>
      <vt:lpstr> Create New Peak Type Field</vt:lpstr>
      <vt:lpstr> Create New Peak Type Field</vt:lpstr>
      <vt:lpstr> Create New Peak Type Field</vt:lpstr>
      <vt:lpstr>Where do We Input Data for…</vt:lpstr>
      <vt:lpstr>Where do We Input Data for…</vt:lpstr>
      <vt:lpstr>Input Data in Run Samples or Alter Data</vt:lpstr>
      <vt:lpstr> Important Info when Figuring out a CF? </vt:lpstr>
      <vt:lpstr> Summary</vt:lpstr>
      <vt:lpstr>Custom Fields: Advanced</vt:lpstr>
      <vt:lpstr>Content</vt:lpstr>
      <vt:lpstr>Custom Field (Examples)</vt:lpstr>
      <vt:lpstr>PowerPoint Presentation</vt:lpstr>
      <vt:lpstr> Boolean Custom Fields</vt:lpstr>
      <vt:lpstr>Boolean Custom Fields</vt:lpstr>
      <vt:lpstr>Boolean Custom Fields – Examples </vt:lpstr>
      <vt:lpstr>Example 1 Boolean CF</vt:lpstr>
      <vt:lpstr>Example 1 Boolean CF</vt:lpstr>
      <vt:lpstr>Example 1 Boolean CF</vt:lpstr>
      <vt:lpstr>Example 1 Boolean CF</vt:lpstr>
      <vt:lpstr>Example 1 Boolean CF</vt:lpstr>
      <vt:lpstr>Example 1 Boolean CF</vt:lpstr>
      <vt:lpstr>Example 1 Boolean CF</vt:lpstr>
      <vt:lpstr>Example 1 Boolean CF</vt:lpstr>
      <vt:lpstr>PowerPoint Presentation</vt:lpstr>
      <vt:lpstr>Example 2: Enumerated Custom Field</vt:lpstr>
      <vt:lpstr>Example 2: Enumerated Custom Field</vt:lpstr>
      <vt:lpstr>Example 2: Enumerated Custom Field</vt:lpstr>
      <vt:lpstr>Example 2: Enumerated Custom Field</vt:lpstr>
      <vt:lpstr>Example 2: Enumerated Custom Field</vt:lpstr>
      <vt:lpstr>Example 3 Boolean CF Area_Limit/Area_GT05 (Explanation of Use As)</vt:lpstr>
      <vt:lpstr>Example 3 Boolean CF Area_Limit/Area_GT05</vt:lpstr>
      <vt:lpstr>Example 3 Boolean CF Area_Limit/Area_GT05</vt:lpstr>
      <vt:lpstr>Example 3 Boolean CF Area_Limit/Area_GT05</vt:lpstr>
      <vt:lpstr>Example 3 Boolean CF Area_Limit/Area_GT05</vt:lpstr>
      <vt:lpstr>Example 3 Boolean CF Area_Limit/Area_GT05</vt:lpstr>
      <vt:lpstr>Example 3 Boolean CF Area_Limit/Area_GT05</vt:lpstr>
      <vt:lpstr>Example 3 Boolean CF Area_Limit/Area_GT05</vt:lpstr>
      <vt:lpstr>Example 3 Boolean CF Area_Limit/Area_GT05</vt:lpstr>
      <vt:lpstr>Example 3 Boolean CF Area_Limit/Area_GT05</vt:lpstr>
      <vt:lpstr>Example 3 Boolean CF Area_Limit/Area_GT05 Use As Position</vt:lpstr>
      <vt:lpstr>Example 3 Boolean CF Area_Limit/Area_GT05</vt:lpstr>
      <vt:lpstr>Example 3 Boolean CF Area_Limit/Area_GT05</vt:lpstr>
      <vt:lpstr>Use as function</vt:lpstr>
      <vt:lpstr>Use as Function</vt:lpstr>
      <vt:lpstr>Use as Function</vt:lpstr>
      <vt:lpstr>Use as Function</vt:lpstr>
      <vt:lpstr>Use as Function Summary</vt:lpstr>
      <vt:lpstr>Example 3 Boolean CF Area_Limit/Area_GT05</vt:lpstr>
      <vt:lpstr>Example 3 Boolean CF Area_Limit/Area_GT05</vt:lpstr>
      <vt:lpstr>Example 3 Boolean CF Area_Limit/Area_GT05</vt:lpstr>
      <vt:lpstr>Example 3 Boolean CF Area_Limit/Area_GT05</vt:lpstr>
      <vt:lpstr>Example 3 Boolean CF Area_Limit/Area_GT05</vt:lpstr>
      <vt:lpstr>(fc) in Boolean/Enumerator Expressions Use As Field</vt:lpstr>
      <vt:lpstr>Example 4 (fc) in Boolean Expressions Use As Field</vt:lpstr>
      <vt:lpstr>Example 4 (fc) in Boolean Expressions Use As Field</vt:lpstr>
      <vt:lpstr>Example 5 (fc) in Enumerated Expressions Use As Field</vt:lpstr>
      <vt:lpstr>Example 5 (fc) in Enumerated Expressions Use As Field</vt:lpstr>
      <vt:lpstr>Example 5 (fc) in Enumerated Expressions Use As Field</vt:lpstr>
      <vt:lpstr>Round Function</vt:lpstr>
      <vt:lpstr>Round Example: Plate_Count</vt:lpstr>
      <vt:lpstr>Round Example: Plate_Count</vt:lpstr>
      <vt:lpstr>Example 7: Round Used with Boolean</vt:lpstr>
      <vt:lpstr>Replace Function</vt:lpstr>
      <vt:lpstr>Example 8 Replace</vt:lpstr>
      <vt:lpstr>Example 8 Replace</vt:lpstr>
      <vt:lpstr>Example 8 Replace</vt:lpstr>
      <vt:lpstr>Custom Field Calculations Special Values</vt:lpstr>
      <vt:lpstr>Example 9 Custom Fields – Special Values</vt:lpstr>
      <vt:lpstr>Example 9 Custom Fields – Special Values</vt:lpstr>
      <vt:lpstr>PowerPoint Presentation</vt:lpstr>
      <vt:lpstr>Outline</vt:lpstr>
      <vt:lpstr>Intersample Calculations – Syntax &amp; Rules</vt:lpstr>
      <vt:lpstr>Intersample Calculations – Syntax &amp; Rules</vt:lpstr>
      <vt:lpstr>Intersample Calculations – Syntax &amp; Rules</vt:lpstr>
      <vt:lpstr>Intersample Calculation Example 1 Blank Area Subtraction</vt:lpstr>
      <vt:lpstr>Intersample Calculation Example 1 Blank Area Subtraction</vt:lpstr>
      <vt:lpstr>Intersample Calculation Example 1 Blank Area Subtraction</vt:lpstr>
      <vt:lpstr>Intersample Calculation Example 1 Blank Area Subtraction</vt:lpstr>
      <vt:lpstr>Intersample Custom Calculation – Search Order</vt:lpstr>
      <vt:lpstr>Intersample Calculation – Rules of Syntax</vt:lpstr>
      <vt:lpstr>Intersample Calculation – Rules of Syntax</vt:lpstr>
      <vt:lpstr>Rules of Syntax – Examples </vt:lpstr>
      <vt:lpstr>Rules of Syntax – Examples </vt:lpstr>
      <vt:lpstr>Rules of Syntax – Examples </vt:lpstr>
      <vt:lpstr>Rules of Syntax – Examples </vt:lpstr>
      <vt:lpstr>Rules of Syntax – Examples </vt:lpstr>
      <vt:lpstr>Intersample Custom Calculation – All or Nothing</vt:lpstr>
      <vt:lpstr>Intersample Custom Calculation – All or Nothing Ex</vt:lpstr>
      <vt:lpstr>Intersample Custom Calculation – All or Nothing Ex</vt:lpstr>
      <vt:lpstr>Intersample Custom Calculation – All or Nothing Ex</vt:lpstr>
      <vt:lpstr>PowerPoint Presentation</vt:lpstr>
      <vt:lpstr>Intersample Summary Custom - Calculation</vt:lpstr>
      <vt:lpstr>Intersample Summary Functions</vt:lpstr>
      <vt:lpstr>Intersample Summary Calculation – Rules of Syntax</vt:lpstr>
      <vt:lpstr>Intersample Summary Calculation – Rules of Syntax</vt:lpstr>
      <vt:lpstr>Intersample Summary Calculation – Rules of Syntax</vt:lpstr>
      <vt:lpstr>Summarize Custom Fields Function</vt:lpstr>
      <vt:lpstr>Summarize Custom Fields Functions</vt:lpstr>
      <vt:lpstr>Summarize Custom Fields Functions</vt:lpstr>
      <vt:lpstr>Summarize Custom Fields Incrementally</vt:lpstr>
      <vt:lpstr>Summarize Custom Fields Incrementally Example</vt:lpstr>
      <vt:lpstr>Summary</vt:lpstr>
    </vt:vector>
  </TitlesOfParts>
  <Company>Waters Corp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 Fields</dc:title>
  <dc:creator>Rich McNeill</dc:creator>
  <cp:lastModifiedBy>Joseph Han</cp:lastModifiedBy>
  <cp:revision>250</cp:revision>
  <cp:lastPrinted>2011-01-07T13:12:30Z</cp:lastPrinted>
  <dcterms:created xsi:type="dcterms:W3CDTF">2011-08-17T19:43:10Z</dcterms:created>
  <dcterms:modified xsi:type="dcterms:W3CDTF">2025-11-08T11:17:48Z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0x01010045EAA1541FCE7D4982CF92B2328A0EC7</vt:lpwstr>
  </property>
  <property fmtid="{D5CDD505-2E9C-101B-9397-08002B2CF9AE}" pid="3" name="Order">
    <vt:r8>1613100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TriggerFlowInfo">
    <vt:lpwstr/>
  </property>
  <property fmtid="{D5CDD505-2E9C-101B-9397-08002B2CF9AE}" pid="12" name="MediaServiceImageTags">
    <vt:lpwstr/>
  </property>
</Properties>
</file>